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metadata/core-properties" Target="docProps/core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9" r:id="rId69"/>
    <p:sldId id="320" r:id="rId70"/>
    <p:sldId id="321" r:id="rId71"/>
    <p:sldId id="322" r:id="rId72"/>
    <p:sldId id="323" r:id="rId73"/>
    <p:sldId id="324" r:id="rId74"/>
    <p:sldId id="325" r:id="rId75"/>
    <p:sldId id="326" r:id="rId76"/>
    <p:sldId id="327" r:id="rId77"/>
    <p:sldId id="328" r:id="rId78"/>
  </p:sldIdLst>
  <p:sldSz cx="12192000" cy="6858000"/>
  <p:notesSz cx="7559675" cy="106918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508873-77DE-4D93-90F6-995E2B80193B}" v="58" dt="2026-04-27T21:25:47.094"/>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Stile chiaro 3 - Color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Stile medio 1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Bonfanti" userId="c30ac399-0397-4b02-b9ad-714907a1cb7e" providerId="ADAL" clId="{AE5FC6BA-E2F5-4FA6-9481-3C093B3FB630}"/>
    <pc:docChg chg="undo custSel addSld modSld">
      <pc:chgData name="Luca Bonfanti" userId="c30ac399-0397-4b02-b9ad-714907a1cb7e" providerId="ADAL" clId="{AE5FC6BA-E2F5-4FA6-9481-3C093B3FB630}" dt="2026-04-28T15:49:44.242" v="475" actId="6549"/>
      <pc:docMkLst>
        <pc:docMk/>
      </pc:docMkLst>
      <pc:sldChg chg="modSp mod">
        <pc:chgData name="Luca Bonfanti" userId="c30ac399-0397-4b02-b9ad-714907a1cb7e" providerId="ADAL" clId="{AE5FC6BA-E2F5-4FA6-9481-3C093B3FB630}" dt="2026-04-27T21:26:13.898" v="453" actId="1076"/>
        <pc:sldMkLst>
          <pc:docMk/>
          <pc:sldMk cId="0" sldId="256"/>
        </pc:sldMkLst>
        <pc:spChg chg="mod">
          <ac:chgData name="Luca Bonfanti" userId="c30ac399-0397-4b02-b9ad-714907a1cb7e" providerId="ADAL" clId="{AE5FC6BA-E2F5-4FA6-9481-3C093B3FB630}" dt="2026-04-27T20:18:14.841" v="1" actId="1076"/>
          <ac:spMkLst>
            <pc:docMk/>
            <pc:sldMk cId="0" sldId="256"/>
            <ac:spMk id="11" creationId="{00000000-0000-0000-0000-000000000000}"/>
          </ac:spMkLst>
        </pc:spChg>
        <pc:spChg chg="mod">
          <ac:chgData name="Luca Bonfanti" userId="c30ac399-0397-4b02-b9ad-714907a1cb7e" providerId="ADAL" clId="{AE5FC6BA-E2F5-4FA6-9481-3C093B3FB630}" dt="2026-04-27T21:26:13.898" v="453" actId="1076"/>
          <ac:spMkLst>
            <pc:docMk/>
            <pc:sldMk cId="0" sldId="256"/>
            <ac:spMk id="12" creationId="{00000000-0000-0000-0000-000000000000}"/>
          </ac:spMkLst>
        </pc:spChg>
        <pc:spChg chg="mod">
          <ac:chgData name="Luca Bonfanti" userId="c30ac399-0397-4b02-b9ad-714907a1cb7e" providerId="ADAL" clId="{AE5FC6BA-E2F5-4FA6-9481-3C093B3FB630}" dt="2026-04-27T20:18:29.338" v="5" actId="1076"/>
          <ac:spMkLst>
            <pc:docMk/>
            <pc:sldMk cId="0" sldId="256"/>
            <ac:spMk id="13" creationId="{00000000-0000-0000-0000-000000000000}"/>
          </ac:spMkLst>
        </pc:spChg>
        <pc:spChg chg="mod">
          <ac:chgData name="Luca Bonfanti" userId="c30ac399-0397-4b02-b9ad-714907a1cb7e" providerId="ADAL" clId="{AE5FC6BA-E2F5-4FA6-9481-3C093B3FB630}" dt="2026-04-27T20:18:36.027" v="7" actId="1076"/>
          <ac:spMkLst>
            <pc:docMk/>
            <pc:sldMk cId="0" sldId="256"/>
            <ac:spMk id="16" creationId="{00000000-0000-0000-0000-000000000000}"/>
          </ac:spMkLst>
        </pc:spChg>
        <pc:picChg chg="mod">
          <ac:chgData name="Luca Bonfanti" userId="c30ac399-0397-4b02-b9ad-714907a1cb7e" providerId="ADAL" clId="{AE5FC6BA-E2F5-4FA6-9481-3C093B3FB630}" dt="2026-04-27T20:18:32.580" v="6" actId="1076"/>
          <ac:picMkLst>
            <pc:docMk/>
            <pc:sldMk cId="0" sldId="256"/>
            <ac:picMk id="10" creationId="{00000000-0000-0000-0000-000000000000}"/>
          </ac:picMkLst>
        </pc:picChg>
      </pc:sldChg>
      <pc:sldChg chg="modSp mod">
        <pc:chgData name="Luca Bonfanti" userId="c30ac399-0397-4b02-b9ad-714907a1cb7e" providerId="ADAL" clId="{AE5FC6BA-E2F5-4FA6-9481-3C093B3FB630}" dt="2026-04-27T20:19:03.614" v="8" actId="1076"/>
        <pc:sldMkLst>
          <pc:docMk/>
          <pc:sldMk cId="0" sldId="266"/>
        </pc:sldMkLst>
        <pc:spChg chg="mod">
          <ac:chgData name="Luca Bonfanti" userId="c30ac399-0397-4b02-b9ad-714907a1cb7e" providerId="ADAL" clId="{AE5FC6BA-E2F5-4FA6-9481-3C093B3FB630}" dt="2026-04-27T20:19:03.614" v="8" actId="1076"/>
          <ac:spMkLst>
            <pc:docMk/>
            <pc:sldMk cId="0" sldId="266"/>
            <ac:spMk id="205"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06"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11"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33"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37"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41"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59"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62"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63" creationId="{00000000-0000-0000-0000-000000000000}"/>
          </ac:spMkLst>
        </pc:spChg>
        <pc:spChg chg="mod">
          <ac:chgData name="Luca Bonfanti" userId="c30ac399-0397-4b02-b9ad-714907a1cb7e" providerId="ADAL" clId="{AE5FC6BA-E2F5-4FA6-9481-3C093B3FB630}" dt="2026-04-27T20:19:03.614" v="8" actId="1076"/>
          <ac:spMkLst>
            <pc:docMk/>
            <pc:sldMk cId="0" sldId="266"/>
            <ac:spMk id="268" creationId="{00000000-0000-0000-0000-000000000000}"/>
          </ac:spMkLst>
        </pc:spChg>
      </pc:sldChg>
      <pc:sldChg chg="delSp modSp mod">
        <pc:chgData name="Luca Bonfanti" userId="c30ac399-0397-4b02-b9ad-714907a1cb7e" providerId="ADAL" clId="{AE5FC6BA-E2F5-4FA6-9481-3C093B3FB630}" dt="2026-04-27T20:50:34.949" v="162"/>
        <pc:sldMkLst>
          <pc:docMk/>
          <pc:sldMk cId="0" sldId="269"/>
        </pc:sldMkLst>
        <pc:spChg chg="mod">
          <ac:chgData name="Luca Bonfanti" userId="c30ac399-0397-4b02-b9ad-714907a1cb7e" providerId="ADAL" clId="{AE5FC6BA-E2F5-4FA6-9481-3C093B3FB630}" dt="2026-04-27T20:25:06.005" v="36" actId="1076"/>
          <ac:spMkLst>
            <pc:docMk/>
            <pc:sldMk cId="0" sldId="269"/>
            <ac:spMk id="318" creationId="{00000000-0000-0000-0000-000000000000}"/>
          </ac:spMkLst>
        </pc:spChg>
        <pc:spChg chg="mod">
          <ac:chgData name="Luca Bonfanti" userId="c30ac399-0397-4b02-b9ad-714907a1cb7e" providerId="ADAL" clId="{AE5FC6BA-E2F5-4FA6-9481-3C093B3FB630}" dt="2026-04-27T20:25:02.041" v="35" actId="1076"/>
          <ac:spMkLst>
            <pc:docMk/>
            <pc:sldMk cId="0" sldId="269"/>
            <ac:spMk id="319" creationId="{00000000-0000-0000-0000-000000000000}"/>
          </ac:spMkLst>
        </pc:spChg>
        <pc:spChg chg="mod">
          <ac:chgData name="Luca Bonfanti" userId="c30ac399-0397-4b02-b9ad-714907a1cb7e" providerId="ADAL" clId="{AE5FC6BA-E2F5-4FA6-9481-3C093B3FB630}" dt="2026-04-27T20:21:39.426" v="9"/>
          <ac:spMkLst>
            <pc:docMk/>
            <pc:sldMk cId="0" sldId="269"/>
            <ac:spMk id="322" creationId="{00000000-0000-0000-0000-000000000000}"/>
          </ac:spMkLst>
        </pc:spChg>
        <pc:spChg chg="mod">
          <ac:chgData name="Luca Bonfanti" userId="c30ac399-0397-4b02-b9ad-714907a1cb7e" providerId="ADAL" clId="{AE5FC6BA-E2F5-4FA6-9481-3C093B3FB630}" dt="2026-04-27T20:22:05.673" v="10"/>
          <ac:spMkLst>
            <pc:docMk/>
            <pc:sldMk cId="0" sldId="269"/>
            <ac:spMk id="323" creationId="{00000000-0000-0000-0000-000000000000}"/>
          </ac:spMkLst>
        </pc:spChg>
        <pc:spChg chg="del">
          <ac:chgData name="Luca Bonfanti" userId="c30ac399-0397-4b02-b9ad-714907a1cb7e" providerId="ADAL" clId="{AE5FC6BA-E2F5-4FA6-9481-3C093B3FB630}" dt="2026-04-27T20:23:25.568" v="17" actId="478"/>
          <ac:spMkLst>
            <pc:docMk/>
            <pc:sldMk cId="0" sldId="269"/>
            <ac:spMk id="324" creationId="{00000000-0000-0000-0000-000000000000}"/>
          </ac:spMkLst>
        </pc:spChg>
        <pc:spChg chg="mod">
          <ac:chgData name="Luca Bonfanti" userId="c30ac399-0397-4b02-b9ad-714907a1cb7e" providerId="ADAL" clId="{AE5FC6BA-E2F5-4FA6-9481-3C093B3FB630}" dt="2026-04-27T20:50:34.949" v="162"/>
          <ac:spMkLst>
            <pc:docMk/>
            <pc:sldMk cId="0" sldId="269"/>
            <ac:spMk id="325" creationId="{00000000-0000-0000-0000-000000000000}"/>
          </ac:spMkLst>
        </pc:spChg>
        <pc:spChg chg="del">
          <ac:chgData name="Luca Bonfanti" userId="c30ac399-0397-4b02-b9ad-714907a1cb7e" providerId="ADAL" clId="{AE5FC6BA-E2F5-4FA6-9481-3C093B3FB630}" dt="2026-04-27T20:23:25.568" v="17" actId="478"/>
          <ac:spMkLst>
            <pc:docMk/>
            <pc:sldMk cId="0" sldId="269"/>
            <ac:spMk id="326" creationId="{00000000-0000-0000-0000-000000000000}"/>
          </ac:spMkLst>
        </pc:spChg>
        <pc:spChg chg="del mod">
          <ac:chgData name="Luca Bonfanti" userId="c30ac399-0397-4b02-b9ad-714907a1cb7e" providerId="ADAL" clId="{AE5FC6BA-E2F5-4FA6-9481-3C093B3FB630}" dt="2026-04-27T20:23:25.568" v="17" actId="478"/>
          <ac:spMkLst>
            <pc:docMk/>
            <pc:sldMk cId="0" sldId="269"/>
            <ac:spMk id="327" creationId="{00000000-0000-0000-0000-000000000000}"/>
          </ac:spMkLst>
        </pc:spChg>
        <pc:spChg chg="del">
          <ac:chgData name="Luca Bonfanti" userId="c30ac399-0397-4b02-b9ad-714907a1cb7e" providerId="ADAL" clId="{AE5FC6BA-E2F5-4FA6-9481-3C093B3FB630}" dt="2026-04-27T20:23:25.568" v="17" actId="478"/>
          <ac:spMkLst>
            <pc:docMk/>
            <pc:sldMk cId="0" sldId="269"/>
            <ac:spMk id="328" creationId="{00000000-0000-0000-0000-000000000000}"/>
          </ac:spMkLst>
        </pc:spChg>
        <pc:spChg chg="del">
          <ac:chgData name="Luca Bonfanti" userId="c30ac399-0397-4b02-b9ad-714907a1cb7e" providerId="ADAL" clId="{AE5FC6BA-E2F5-4FA6-9481-3C093B3FB630}" dt="2026-04-27T20:23:25.568" v="17" actId="478"/>
          <ac:spMkLst>
            <pc:docMk/>
            <pc:sldMk cId="0" sldId="269"/>
            <ac:spMk id="329" creationId="{00000000-0000-0000-0000-000000000000}"/>
          </ac:spMkLst>
        </pc:spChg>
        <pc:spChg chg="del">
          <ac:chgData name="Luca Bonfanti" userId="c30ac399-0397-4b02-b9ad-714907a1cb7e" providerId="ADAL" clId="{AE5FC6BA-E2F5-4FA6-9481-3C093B3FB630}" dt="2026-04-27T20:23:25.568" v="17" actId="478"/>
          <ac:spMkLst>
            <pc:docMk/>
            <pc:sldMk cId="0" sldId="269"/>
            <ac:spMk id="330" creationId="{00000000-0000-0000-0000-000000000000}"/>
          </ac:spMkLst>
        </pc:spChg>
        <pc:spChg chg="del">
          <ac:chgData name="Luca Bonfanti" userId="c30ac399-0397-4b02-b9ad-714907a1cb7e" providerId="ADAL" clId="{AE5FC6BA-E2F5-4FA6-9481-3C093B3FB630}" dt="2026-04-27T20:23:32.700" v="18" actId="478"/>
          <ac:spMkLst>
            <pc:docMk/>
            <pc:sldMk cId="0" sldId="269"/>
            <ac:spMk id="331" creationId="{00000000-0000-0000-0000-000000000000}"/>
          </ac:spMkLst>
        </pc:spChg>
        <pc:spChg chg="del">
          <ac:chgData name="Luca Bonfanti" userId="c30ac399-0397-4b02-b9ad-714907a1cb7e" providerId="ADAL" clId="{AE5FC6BA-E2F5-4FA6-9481-3C093B3FB630}" dt="2026-04-27T20:23:32.700" v="18" actId="478"/>
          <ac:spMkLst>
            <pc:docMk/>
            <pc:sldMk cId="0" sldId="269"/>
            <ac:spMk id="332" creationId="{00000000-0000-0000-0000-000000000000}"/>
          </ac:spMkLst>
        </pc:spChg>
        <pc:spChg chg="del">
          <ac:chgData name="Luca Bonfanti" userId="c30ac399-0397-4b02-b9ad-714907a1cb7e" providerId="ADAL" clId="{AE5FC6BA-E2F5-4FA6-9481-3C093B3FB630}" dt="2026-04-27T20:23:32.700" v="18" actId="478"/>
          <ac:spMkLst>
            <pc:docMk/>
            <pc:sldMk cId="0" sldId="269"/>
            <ac:spMk id="333" creationId="{00000000-0000-0000-0000-000000000000}"/>
          </ac:spMkLst>
        </pc:spChg>
        <pc:spChg chg="del">
          <ac:chgData name="Luca Bonfanti" userId="c30ac399-0397-4b02-b9ad-714907a1cb7e" providerId="ADAL" clId="{AE5FC6BA-E2F5-4FA6-9481-3C093B3FB630}" dt="2026-04-27T20:23:32.700" v="18" actId="478"/>
          <ac:spMkLst>
            <pc:docMk/>
            <pc:sldMk cId="0" sldId="269"/>
            <ac:spMk id="334" creationId="{00000000-0000-0000-0000-000000000000}"/>
          </ac:spMkLst>
        </pc:spChg>
        <pc:spChg chg="del">
          <ac:chgData name="Luca Bonfanti" userId="c30ac399-0397-4b02-b9ad-714907a1cb7e" providerId="ADAL" clId="{AE5FC6BA-E2F5-4FA6-9481-3C093B3FB630}" dt="2026-04-27T20:23:32.700" v="18" actId="478"/>
          <ac:spMkLst>
            <pc:docMk/>
            <pc:sldMk cId="0" sldId="269"/>
            <ac:spMk id="335" creationId="{00000000-0000-0000-0000-000000000000}"/>
          </ac:spMkLst>
        </pc:spChg>
        <pc:spChg chg="mod">
          <ac:chgData name="Luca Bonfanti" userId="c30ac399-0397-4b02-b9ad-714907a1cb7e" providerId="ADAL" clId="{AE5FC6BA-E2F5-4FA6-9481-3C093B3FB630}" dt="2026-04-27T20:26:19.590" v="42" actId="14100"/>
          <ac:spMkLst>
            <pc:docMk/>
            <pc:sldMk cId="0" sldId="269"/>
            <ac:spMk id="337" creationId="{00000000-0000-0000-0000-000000000000}"/>
          </ac:spMkLst>
        </pc:spChg>
      </pc:sldChg>
      <pc:sldChg chg="modSp">
        <pc:chgData name="Luca Bonfanti" userId="c30ac399-0397-4b02-b9ad-714907a1cb7e" providerId="ADAL" clId="{AE5FC6BA-E2F5-4FA6-9481-3C093B3FB630}" dt="2026-04-27T20:31:24.403" v="44"/>
        <pc:sldMkLst>
          <pc:docMk/>
          <pc:sldMk cId="0" sldId="271"/>
        </pc:sldMkLst>
        <pc:spChg chg="mod">
          <ac:chgData name="Luca Bonfanti" userId="c30ac399-0397-4b02-b9ad-714907a1cb7e" providerId="ADAL" clId="{AE5FC6BA-E2F5-4FA6-9481-3C093B3FB630}" dt="2026-04-27T20:31:07.197" v="43"/>
          <ac:spMkLst>
            <pc:docMk/>
            <pc:sldMk cId="0" sldId="271"/>
            <ac:spMk id="409" creationId="{00000000-0000-0000-0000-000000000000}"/>
          </ac:spMkLst>
        </pc:spChg>
        <pc:spChg chg="mod">
          <ac:chgData name="Luca Bonfanti" userId="c30ac399-0397-4b02-b9ad-714907a1cb7e" providerId="ADAL" clId="{AE5FC6BA-E2F5-4FA6-9481-3C093B3FB630}" dt="2026-04-27T20:31:24.403" v="44"/>
          <ac:spMkLst>
            <pc:docMk/>
            <pc:sldMk cId="0" sldId="271"/>
            <ac:spMk id="411" creationId="{00000000-0000-0000-0000-000000000000}"/>
          </ac:spMkLst>
        </pc:spChg>
      </pc:sldChg>
      <pc:sldChg chg="modSp mod">
        <pc:chgData name="Luca Bonfanti" userId="c30ac399-0397-4b02-b9ad-714907a1cb7e" providerId="ADAL" clId="{AE5FC6BA-E2F5-4FA6-9481-3C093B3FB630}" dt="2026-04-27T20:31:41.515" v="45" actId="1076"/>
        <pc:sldMkLst>
          <pc:docMk/>
          <pc:sldMk cId="0" sldId="273"/>
        </pc:sldMkLst>
        <pc:spChg chg="mod">
          <ac:chgData name="Luca Bonfanti" userId="c30ac399-0397-4b02-b9ad-714907a1cb7e" providerId="ADAL" clId="{AE5FC6BA-E2F5-4FA6-9481-3C093B3FB630}" dt="2026-04-27T20:31:41.515" v="45" actId="1076"/>
          <ac:spMkLst>
            <pc:docMk/>
            <pc:sldMk cId="0" sldId="273"/>
            <ac:spMk id="465"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481"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488"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494"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497"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508"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510"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511"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513" creationId="{00000000-0000-0000-0000-000000000000}"/>
          </ac:spMkLst>
        </pc:spChg>
        <pc:spChg chg="mod">
          <ac:chgData name="Luca Bonfanti" userId="c30ac399-0397-4b02-b9ad-714907a1cb7e" providerId="ADAL" clId="{AE5FC6BA-E2F5-4FA6-9481-3C093B3FB630}" dt="2026-04-27T20:31:41.515" v="45" actId="1076"/>
          <ac:spMkLst>
            <pc:docMk/>
            <pc:sldMk cId="0" sldId="273"/>
            <ac:spMk id="521" creationId="{00000000-0000-0000-0000-000000000000}"/>
          </ac:spMkLst>
        </pc:spChg>
      </pc:sldChg>
      <pc:sldChg chg="modSp">
        <pc:chgData name="Luca Bonfanti" userId="c30ac399-0397-4b02-b9ad-714907a1cb7e" providerId="ADAL" clId="{AE5FC6BA-E2F5-4FA6-9481-3C093B3FB630}" dt="2026-04-27T20:32:26.016" v="46"/>
        <pc:sldMkLst>
          <pc:docMk/>
          <pc:sldMk cId="0" sldId="282"/>
        </pc:sldMkLst>
        <pc:spChg chg="mod">
          <ac:chgData name="Luca Bonfanti" userId="c30ac399-0397-4b02-b9ad-714907a1cb7e" providerId="ADAL" clId="{AE5FC6BA-E2F5-4FA6-9481-3C093B3FB630}" dt="2026-04-27T20:32:26.016" v="46"/>
          <ac:spMkLst>
            <pc:docMk/>
            <pc:sldMk cId="0" sldId="282"/>
            <ac:spMk id="704" creationId="{00000000-0000-0000-0000-000000000000}"/>
          </ac:spMkLst>
        </pc:spChg>
      </pc:sldChg>
      <pc:sldChg chg="modSp">
        <pc:chgData name="Luca Bonfanti" userId="c30ac399-0397-4b02-b9ad-714907a1cb7e" providerId="ADAL" clId="{AE5FC6BA-E2F5-4FA6-9481-3C093B3FB630}" dt="2026-04-27T20:32:41.758" v="47"/>
        <pc:sldMkLst>
          <pc:docMk/>
          <pc:sldMk cId="0" sldId="283"/>
        </pc:sldMkLst>
        <pc:spChg chg="mod">
          <ac:chgData name="Luca Bonfanti" userId="c30ac399-0397-4b02-b9ad-714907a1cb7e" providerId="ADAL" clId="{AE5FC6BA-E2F5-4FA6-9481-3C093B3FB630}" dt="2026-04-27T20:32:41.758" v="47"/>
          <ac:spMkLst>
            <pc:docMk/>
            <pc:sldMk cId="0" sldId="283"/>
            <ac:spMk id="723" creationId="{00000000-0000-0000-0000-000000000000}"/>
          </ac:spMkLst>
        </pc:spChg>
      </pc:sldChg>
      <pc:sldChg chg="addSp delSp modSp mod">
        <pc:chgData name="Luca Bonfanti" userId="c30ac399-0397-4b02-b9ad-714907a1cb7e" providerId="ADAL" clId="{AE5FC6BA-E2F5-4FA6-9481-3C093B3FB630}" dt="2026-04-27T20:39:12.096" v="71" actId="1076"/>
        <pc:sldMkLst>
          <pc:docMk/>
          <pc:sldMk cId="0" sldId="284"/>
        </pc:sldMkLst>
        <pc:spChg chg="mod">
          <ac:chgData name="Luca Bonfanti" userId="c30ac399-0397-4b02-b9ad-714907a1cb7e" providerId="ADAL" clId="{AE5FC6BA-E2F5-4FA6-9481-3C093B3FB630}" dt="2026-04-27T20:33:08.490" v="49"/>
          <ac:spMkLst>
            <pc:docMk/>
            <pc:sldMk cId="0" sldId="284"/>
            <ac:spMk id="742"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52"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53"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59"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78"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80"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85"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88" creationId="{00000000-0000-0000-0000-000000000000}"/>
          </ac:spMkLst>
        </pc:spChg>
        <pc:spChg chg="del">
          <ac:chgData name="Luca Bonfanti" userId="c30ac399-0397-4b02-b9ad-714907a1cb7e" providerId="ADAL" clId="{AE5FC6BA-E2F5-4FA6-9481-3C093B3FB630}" dt="2026-04-27T20:32:58.512" v="48" actId="478"/>
          <ac:spMkLst>
            <pc:docMk/>
            <pc:sldMk cId="0" sldId="284"/>
            <ac:spMk id="790" creationId="{00000000-0000-0000-0000-000000000000}"/>
          </ac:spMkLst>
        </pc:spChg>
        <pc:spChg chg="del">
          <ac:chgData name="Luca Bonfanti" userId="c30ac399-0397-4b02-b9ad-714907a1cb7e" providerId="ADAL" clId="{AE5FC6BA-E2F5-4FA6-9481-3C093B3FB630}" dt="2026-04-27T20:32:58.512" v="48" actId="478"/>
          <ac:spMkLst>
            <pc:docMk/>
            <pc:sldMk cId="0" sldId="284"/>
            <ac:spMk id="806" creationId="{00000000-0000-0000-0000-000000000000}"/>
          </ac:spMkLst>
        </pc:spChg>
        <pc:spChg chg="del">
          <ac:chgData name="Luca Bonfanti" userId="c30ac399-0397-4b02-b9ad-714907a1cb7e" providerId="ADAL" clId="{AE5FC6BA-E2F5-4FA6-9481-3C093B3FB630}" dt="2026-04-27T20:32:58.512" v="48" actId="478"/>
          <ac:spMkLst>
            <pc:docMk/>
            <pc:sldMk cId="0" sldId="284"/>
            <ac:spMk id="808" creationId="{00000000-0000-0000-0000-000000000000}"/>
          </ac:spMkLst>
        </pc:spChg>
        <pc:graphicFrameChg chg="add mod modGraphic">
          <ac:chgData name="Luca Bonfanti" userId="c30ac399-0397-4b02-b9ad-714907a1cb7e" providerId="ADAL" clId="{AE5FC6BA-E2F5-4FA6-9481-3C093B3FB630}" dt="2026-04-27T20:39:12.096" v="71" actId="1076"/>
          <ac:graphicFrameMkLst>
            <pc:docMk/>
            <pc:sldMk cId="0" sldId="284"/>
            <ac:graphicFrameMk id="2" creationId="{9FE37EC0-7F7C-45DC-C032-B8CDB72D0E98}"/>
          </ac:graphicFrameMkLst>
        </pc:graphicFrameChg>
      </pc:sldChg>
      <pc:sldChg chg="modSp mod">
        <pc:chgData name="Luca Bonfanti" userId="c30ac399-0397-4b02-b9ad-714907a1cb7e" providerId="ADAL" clId="{AE5FC6BA-E2F5-4FA6-9481-3C093B3FB630}" dt="2026-04-27T20:40:25.165" v="74" actId="1076"/>
        <pc:sldMkLst>
          <pc:docMk/>
          <pc:sldMk cId="0" sldId="288"/>
        </pc:sldMkLst>
        <pc:spChg chg="mod">
          <ac:chgData name="Luca Bonfanti" userId="c30ac399-0397-4b02-b9ad-714907a1cb7e" providerId="ADAL" clId="{AE5FC6BA-E2F5-4FA6-9481-3C093B3FB630}" dt="2026-04-27T20:40:16.234" v="73" actId="1076"/>
          <ac:spMkLst>
            <pc:docMk/>
            <pc:sldMk cId="0" sldId="288"/>
            <ac:spMk id="870"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75"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76"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77"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79"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83"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84"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85"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87"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88" creationId="{00000000-0000-0000-0000-000000000000}"/>
          </ac:spMkLst>
        </pc:spChg>
        <pc:spChg chg="mod">
          <ac:chgData name="Luca Bonfanti" userId="c30ac399-0397-4b02-b9ad-714907a1cb7e" providerId="ADAL" clId="{AE5FC6BA-E2F5-4FA6-9481-3C093B3FB630}" dt="2026-04-27T20:40:25.165" v="74" actId="1076"/>
          <ac:spMkLst>
            <pc:docMk/>
            <pc:sldMk cId="0" sldId="288"/>
            <ac:spMk id="890" creationId="{00000000-0000-0000-0000-000000000000}"/>
          </ac:spMkLst>
        </pc:spChg>
      </pc:sldChg>
      <pc:sldChg chg="modSp mod">
        <pc:chgData name="Luca Bonfanti" userId="c30ac399-0397-4b02-b9ad-714907a1cb7e" providerId="ADAL" clId="{AE5FC6BA-E2F5-4FA6-9481-3C093B3FB630}" dt="2026-04-28T15:49:44.242" v="475" actId="6549"/>
        <pc:sldMkLst>
          <pc:docMk/>
          <pc:sldMk cId="0" sldId="289"/>
        </pc:sldMkLst>
        <pc:spChg chg="mod">
          <ac:chgData name="Luca Bonfanti" userId="c30ac399-0397-4b02-b9ad-714907a1cb7e" providerId="ADAL" clId="{AE5FC6BA-E2F5-4FA6-9481-3C093B3FB630}" dt="2026-04-28T15:49:35.521" v="465" actId="6549"/>
          <ac:spMkLst>
            <pc:docMk/>
            <pc:sldMk cId="0" sldId="289"/>
            <ac:spMk id="903" creationId="{00000000-0000-0000-0000-000000000000}"/>
          </ac:spMkLst>
        </pc:spChg>
        <pc:spChg chg="mod">
          <ac:chgData name="Luca Bonfanti" userId="c30ac399-0397-4b02-b9ad-714907a1cb7e" providerId="ADAL" clId="{AE5FC6BA-E2F5-4FA6-9481-3C093B3FB630}" dt="2026-04-28T15:49:44.242" v="475" actId="6549"/>
          <ac:spMkLst>
            <pc:docMk/>
            <pc:sldMk cId="0" sldId="289"/>
            <ac:spMk id="904" creationId="{00000000-0000-0000-0000-000000000000}"/>
          </ac:spMkLst>
        </pc:spChg>
      </pc:sldChg>
      <pc:sldChg chg="delSp modSp mod">
        <pc:chgData name="Luca Bonfanti" userId="c30ac399-0397-4b02-b9ad-714907a1cb7e" providerId="ADAL" clId="{AE5FC6BA-E2F5-4FA6-9481-3C093B3FB630}" dt="2026-04-27T20:50:34.949" v="162"/>
        <pc:sldMkLst>
          <pc:docMk/>
          <pc:sldMk cId="0" sldId="291"/>
        </pc:sldMkLst>
        <pc:spChg chg="mod">
          <ac:chgData name="Luca Bonfanti" userId="c30ac399-0397-4b02-b9ad-714907a1cb7e" providerId="ADAL" clId="{AE5FC6BA-E2F5-4FA6-9481-3C093B3FB630}" dt="2026-04-27T20:50:34.949" v="162"/>
          <ac:spMkLst>
            <pc:docMk/>
            <pc:sldMk cId="0" sldId="291"/>
            <ac:spMk id="937" creationId="{00000000-0000-0000-0000-000000000000}"/>
          </ac:spMkLst>
        </pc:spChg>
        <pc:spChg chg="mod">
          <ac:chgData name="Luca Bonfanti" userId="c30ac399-0397-4b02-b9ad-714907a1cb7e" providerId="ADAL" clId="{AE5FC6BA-E2F5-4FA6-9481-3C093B3FB630}" dt="2026-04-27T20:41:12.141" v="76" actId="1076"/>
          <ac:spMkLst>
            <pc:docMk/>
            <pc:sldMk cId="0" sldId="291"/>
            <ac:spMk id="940" creationId="{00000000-0000-0000-0000-000000000000}"/>
          </ac:spMkLst>
        </pc:spChg>
        <pc:spChg chg="mod">
          <ac:chgData name="Luca Bonfanti" userId="c30ac399-0397-4b02-b9ad-714907a1cb7e" providerId="ADAL" clId="{AE5FC6BA-E2F5-4FA6-9481-3C093B3FB630}" dt="2026-04-27T20:41:12.141" v="76" actId="1076"/>
          <ac:spMkLst>
            <pc:docMk/>
            <pc:sldMk cId="0" sldId="291"/>
            <ac:spMk id="941" creationId="{00000000-0000-0000-0000-000000000000}"/>
          </ac:spMkLst>
        </pc:spChg>
        <pc:spChg chg="mod">
          <ac:chgData name="Luca Bonfanti" userId="c30ac399-0397-4b02-b9ad-714907a1cb7e" providerId="ADAL" clId="{AE5FC6BA-E2F5-4FA6-9481-3C093B3FB630}" dt="2026-04-27T20:41:12.141" v="76" actId="1076"/>
          <ac:spMkLst>
            <pc:docMk/>
            <pc:sldMk cId="0" sldId="291"/>
            <ac:spMk id="943" creationId="{00000000-0000-0000-0000-000000000000}"/>
          </ac:spMkLst>
        </pc:spChg>
        <pc:spChg chg="mod">
          <ac:chgData name="Luca Bonfanti" userId="c30ac399-0397-4b02-b9ad-714907a1cb7e" providerId="ADAL" clId="{AE5FC6BA-E2F5-4FA6-9481-3C093B3FB630}" dt="2026-04-27T20:41:12.141" v="76" actId="1076"/>
          <ac:spMkLst>
            <pc:docMk/>
            <pc:sldMk cId="0" sldId="291"/>
            <ac:spMk id="944" creationId="{00000000-0000-0000-0000-000000000000}"/>
          </ac:spMkLst>
        </pc:spChg>
        <pc:spChg chg="mod">
          <ac:chgData name="Luca Bonfanti" userId="c30ac399-0397-4b02-b9ad-714907a1cb7e" providerId="ADAL" clId="{AE5FC6BA-E2F5-4FA6-9481-3C093B3FB630}" dt="2026-04-27T20:41:12.141" v="76" actId="1076"/>
          <ac:spMkLst>
            <pc:docMk/>
            <pc:sldMk cId="0" sldId="291"/>
            <ac:spMk id="945" creationId="{00000000-0000-0000-0000-000000000000}"/>
          </ac:spMkLst>
        </pc:spChg>
        <pc:spChg chg="mod">
          <ac:chgData name="Luca Bonfanti" userId="c30ac399-0397-4b02-b9ad-714907a1cb7e" providerId="ADAL" clId="{AE5FC6BA-E2F5-4FA6-9481-3C093B3FB630}" dt="2026-04-27T20:41:12.141" v="76" actId="1076"/>
          <ac:spMkLst>
            <pc:docMk/>
            <pc:sldMk cId="0" sldId="291"/>
            <ac:spMk id="946"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47"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52"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56"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57"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61"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68"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74"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80"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83" creationId="{00000000-0000-0000-0000-000000000000}"/>
          </ac:spMkLst>
        </pc:spChg>
        <pc:spChg chg="del">
          <ac:chgData name="Luca Bonfanti" userId="c30ac399-0397-4b02-b9ad-714907a1cb7e" providerId="ADAL" clId="{AE5FC6BA-E2F5-4FA6-9481-3C093B3FB630}" dt="2026-04-27T20:41:03.103" v="75" actId="478"/>
          <ac:spMkLst>
            <pc:docMk/>
            <pc:sldMk cId="0" sldId="291"/>
            <ac:spMk id="984" creationId="{00000000-0000-0000-0000-000000000000}"/>
          </ac:spMkLst>
        </pc:spChg>
      </pc:sldChg>
      <pc:sldChg chg="modSp mod">
        <pc:chgData name="Luca Bonfanti" userId="c30ac399-0397-4b02-b9ad-714907a1cb7e" providerId="ADAL" clId="{AE5FC6BA-E2F5-4FA6-9481-3C093B3FB630}" dt="2026-04-27T20:45:03.690" v="125"/>
        <pc:sldMkLst>
          <pc:docMk/>
          <pc:sldMk cId="0" sldId="292"/>
        </pc:sldMkLst>
        <pc:spChg chg="mod">
          <ac:chgData name="Luca Bonfanti" userId="c30ac399-0397-4b02-b9ad-714907a1cb7e" providerId="ADAL" clId="{AE5FC6BA-E2F5-4FA6-9481-3C093B3FB630}" dt="2026-04-27T20:44:31.111" v="123" actId="1076"/>
          <ac:spMkLst>
            <pc:docMk/>
            <pc:sldMk cId="0" sldId="292"/>
            <ac:spMk id="994"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999"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10"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11"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18"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27"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28"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42" creationId="{00000000-0000-0000-0000-000000000000}"/>
          </ac:spMkLst>
        </pc:spChg>
        <pc:spChg chg="mod">
          <ac:chgData name="Luca Bonfanti" userId="c30ac399-0397-4b02-b9ad-714907a1cb7e" providerId="ADAL" clId="{AE5FC6BA-E2F5-4FA6-9481-3C093B3FB630}" dt="2026-04-27T20:44:23.203" v="122" actId="1076"/>
          <ac:spMkLst>
            <pc:docMk/>
            <pc:sldMk cId="0" sldId="292"/>
            <ac:spMk id="1048"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51" creationId="{00000000-0000-0000-0000-000000000000}"/>
          </ac:spMkLst>
        </pc:spChg>
        <pc:spChg chg="mod">
          <ac:chgData name="Luca Bonfanti" userId="c30ac399-0397-4b02-b9ad-714907a1cb7e" providerId="ADAL" clId="{AE5FC6BA-E2F5-4FA6-9481-3C093B3FB630}" dt="2026-04-27T20:44:31.111" v="123" actId="1076"/>
          <ac:spMkLst>
            <pc:docMk/>
            <pc:sldMk cId="0" sldId="292"/>
            <ac:spMk id="1069" creationId="{00000000-0000-0000-0000-000000000000}"/>
          </ac:spMkLst>
        </pc:spChg>
        <pc:spChg chg="mod">
          <ac:chgData name="Luca Bonfanti" userId="c30ac399-0397-4b02-b9ad-714907a1cb7e" providerId="ADAL" clId="{AE5FC6BA-E2F5-4FA6-9481-3C093B3FB630}" dt="2026-04-27T20:45:03.690" v="125"/>
          <ac:spMkLst>
            <pc:docMk/>
            <pc:sldMk cId="0" sldId="292"/>
            <ac:spMk id="1071" creationId="{00000000-0000-0000-0000-000000000000}"/>
          </ac:spMkLst>
        </pc:spChg>
      </pc:sldChg>
      <pc:sldChg chg="modSp">
        <pc:chgData name="Luca Bonfanti" userId="c30ac399-0397-4b02-b9ad-714907a1cb7e" providerId="ADAL" clId="{AE5FC6BA-E2F5-4FA6-9481-3C093B3FB630}" dt="2026-04-27T20:45:28.263" v="126"/>
        <pc:sldMkLst>
          <pc:docMk/>
          <pc:sldMk cId="0" sldId="295"/>
        </pc:sldMkLst>
        <pc:spChg chg="mod">
          <ac:chgData name="Luca Bonfanti" userId="c30ac399-0397-4b02-b9ad-714907a1cb7e" providerId="ADAL" clId="{AE5FC6BA-E2F5-4FA6-9481-3C093B3FB630}" dt="2026-04-27T20:45:28.263" v="126"/>
          <ac:spMkLst>
            <pc:docMk/>
            <pc:sldMk cId="0" sldId="295"/>
            <ac:spMk id="1107" creationId="{00000000-0000-0000-0000-000000000000}"/>
          </ac:spMkLst>
        </pc:spChg>
      </pc:sldChg>
      <pc:sldChg chg="modSp mod">
        <pc:chgData name="Luca Bonfanti" userId="c30ac399-0397-4b02-b9ad-714907a1cb7e" providerId="ADAL" clId="{AE5FC6BA-E2F5-4FA6-9481-3C093B3FB630}" dt="2026-04-27T20:46:00.324" v="130" actId="207"/>
        <pc:sldMkLst>
          <pc:docMk/>
          <pc:sldMk cId="0" sldId="296"/>
        </pc:sldMkLst>
        <pc:spChg chg="mod">
          <ac:chgData name="Luca Bonfanti" userId="c30ac399-0397-4b02-b9ad-714907a1cb7e" providerId="ADAL" clId="{AE5FC6BA-E2F5-4FA6-9481-3C093B3FB630}" dt="2026-04-27T20:45:39.340" v="127" actId="207"/>
          <ac:spMkLst>
            <pc:docMk/>
            <pc:sldMk cId="0" sldId="296"/>
            <ac:spMk id="1197" creationId="{00000000-0000-0000-0000-000000000000}"/>
          </ac:spMkLst>
        </pc:spChg>
        <pc:spChg chg="mod">
          <ac:chgData name="Luca Bonfanti" userId="c30ac399-0397-4b02-b9ad-714907a1cb7e" providerId="ADAL" clId="{AE5FC6BA-E2F5-4FA6-9481-3C093B3FB630}" dt="2026-04-27T20:45:45.108" v="128" actId="207"/>
          <ac:spMkLst>
            <pc:docMk/>
            <pc:sldMk cId="0" sldId="296"/>
            <ac:spMk id="1198" creationId="{00000000-0000-0000-0000-000000000000}"/>
          </ac:spMkLst>
        </pc:spChg>
        <pc:spChg chg="mod">
          <ac:chgData name="Luca Bonfanti" userId="c30ac399-0397-4b02-b9ad-714907a1cb7e" providerId="ADAL" clId="{AE5FC6BA-E2F5-4FA6-9481-3C093B3FB630}" dt="2026-04-27T20:45:55.011" v="129" actId="207"/>
          <ac:spMkLst>
            <pc:docMk/>
            <pc:sldMk cId="0" sldId="296"/>
            <ac:spMk id="1199" creationId="{00000000-0000-0000-0000-000000000000}"/>
          </ac:spMkLst>
        </pc:spChg>
        <pc:spChg chg="mod">
          <ac:chgData name="Luca Bonfanti" userId="c30ac399-0397-4b02-b9ad-714907a1cb7e" providerId="ADAL" clId="{AE5FC6BA-E2F5-4FA6-9481-3C093B3FB630}" dt="2026-04-27T20:46:00.324" v="130" actId="207"/>
          <ac:spMkLst>
            <pc:docMk/>
            <pc:sldMk cId="0" sldId="296"/>
            <ac:spMk id="1200" creationId="{00000000-0000-0000-0000-000000000000}"/>
          </ac:spMkLst>
        </pc:spChg>
      </pc:sldChg>
      <pc:sldChg chg="modSp">
        <pc:chgData name="Luca Bonfanti" userId="c30ac399-0397-4b02-b9ad-714907a1cb7e" providerId="ADAL" clId="{AE5FC6BA-E2F5-4FA6-9481-3C093B3FB630}" dt="2026-04-27T20:46:41.930" v="131"/>
        <pc:sldMkLst>
          <pc:docMk/>
          <pc:sldMk cId="0" sldId="299"/>
        </pc:sldMkLst>
        <pc:spChg chg="mod">
          <ac:chgData name="Luca Bonfanti" userId="c30ac399-0397-4b02-b9ad-714907a1cb7e" providerId="ADAL" clId="{AE5FC6BA-E2F5-4FA6-9481-3C093B3FB630}" dt="2026-04-27T20:46:41.930" v="131"/>
          <ac:spMkLst>
            <pc:docMk/>
            <pc:sldMk cId="0" sldId="299"/>
            <ac:spMk id="1272" creationId="{00000000-0000-0000-0000-000000000000}"/>
          </ac:spMkLst>
        </pc:spChg>
      </pc:sldChg>
      <pc:sldChg chg="delSp modSp mod">
        <pc:chgData name="Luca Bonfanti" userId="c30ac399-0397-4b02-b9ad-714907a1cb7e" providerId="ADAL" clId="{AE5FC6BA-E2F5-4FA6-9481-3C093B3FB630}" dt="2026-04-27T20:48:08.313" v="138" actId="1076"/>
        <pc:sldMkLst>
          <pc:docMk/>
          <pc:sldMk cId="0" sldId="302"/>
        </pc:sldMkLst>
        <pc:spChg chg="mod">
          <ac:chgData name="Luca Bonfanti" userId="c30ac399-0397-4b02-b9ad-714907a1cb7e" providerId="ADAL" clId="{AE5FC6BA-E2F5-4FA6-9481-3C093B3FB630}" dt="2026-04-27T20:47:27.709" v="132" actId="207"/>
          <ac:spMkLst>
            <pc:docMk/>
            <pc:sldMk cId="0" sldId="302"/>
            <ac:spMk id="1324" creationId="{00000000-0000-0000-0000-000000000000}"/>
          </ac:spMkLst>
        </pc:spChg>
        <pc:spChg chg="mod">
          <ac:chgData name="Luca Bonfanti" userId="c30ac399-0397-4b02-b9ad-714907a1cb7e" providerId="ADAL" clId="{AE5FC6BA-E2F5-4FA6-9481-3C093B3FB630}" dt="2026-04-27T20:47:27.709" v="132" actId="207"/>
          <ac:spMkLst>
            <pc:docMk/>
            <pc:sldMk cId="0" sldId="302"/>
            <ac:spMk id="1325" creationId="{00000000-0000-0000-0000-000000000000}"/>
          </ac:spMkLst>
        </pc:spChg>
        <pc:spChg chg="mod">
          <ac:chgData name="Luca Bonfanti" userId="c30ac399-0397-4b02-b9ad-714907a1cb7e" providerId="ADAL" clId="{AE5FC6BA-E2F5-4FA6-9481-3C093B3FB630}" dt="2026-04-27T20:47:27.709" v="132" actId="207"/>
          <ac:spMkLst>
            <pc:docMk/>
            <pc:sldMk cId="0" sldId="302"/>
            <ac:spMk id="1326" creationId="{00000000-0000-0000-0000-000000000000}"/>
          </ac:spMkLst>
        </pc:spChg>
        <pc:spChg chg="mod">
          <ac:chgData name="Luca Bonfanti" userId="c30ac399-0397-4b02-b9ad-714907a1cb7e" providerId="ADAL" clId="{AE5FC6BA-E2F5-4FA6-9481-3C093B3FB630}" dt="2026-04-27T20:47:37.073" v="133" actId="207"/>
          <ac:spMkLst>
            <pc:docMk/>
            <pc:sldMk cId="0" sldId="302"/>
            <ac:spMk id="1340" creationId="{00000000-0000-0000-0000-000000000000}"/>
          </ac:spMkLst>
        </pc:spChg>
        <pc:spChg chg="mod">
          <ac:chgData name="Luca Bonfanti" userId="c30ac399-0397-4b02-b9ad-714907a1cb7e" providerId="ADAL" clId="{AE5FC6BA-E2F5-4FA6-9481-3C093B3FB630}" dt="2026-04-27T20:47:37.073" v="133" actId="207"/>
          <ac:spMkLst>
            <pc:docMk/>
            <pc:sldMk cId="0" sldId="302"/>
            <ac:spMk id="1342" creationId="{00000000-0000-0000-0000-000000000000}"/>
          </ac:spMkLst>
        </pc:spChg>
        <pc:spChg chg="mod">
          <ac:chgData name="Luca Bonfanti" userId="c30ac399-0397-4b02-b9ad-714907a1cb7e" providerId="ADAL" clId="{AE5FC6BA-E2F5-4FA6-9481-3C093B3FB630}" dt="2026-04-27T20:47:37.073" v="133" actId="207"/>
          <ac:spMkLst>
            <pc:docMk/>
            <pc:sldMk cId="0" sldId="302"/>
            <ac:spMk id="1344" creationId="{00000000-0000-0000-0000-000000000000}"/>
          </ac:spMkLst>
        </pc:spChg>
        <pc:spChg chg="mod">
          <ac:chgData name="Luca Bonfanti" userId="c30ac399-0397-4b02-b9ad-714907a1cb7e" providerId="ADAL" clId="{AE5FC6BA-E2F5-4FA6-9481-3C093B3FB630}" dt="2026-04-27T20:47:37.073" v="133" actId="207"/>
          <ac:spMkLst>
            <pc:docMk/>
            <pc:sldMk cId="0" sldId="302"/>
            <ac:spMk id="1377" creationId="{00000000-0000-0000-0000-000000000000}"/>
          </ac:spMkLst>
        </pc:spChg>
        <pc:spChg chg="mod">
          <ac:chgData name="Luca Bonfanti" userId="c30ac399-0397-4b02-b9ad-714907a1cb7e" providerId="ADAL" clId="{AE5FC6BA-E2F5-4FA6-9481-3C093B3FB630}" dt="2026-04-27T20:47:37.073" v="133" actId="207"/>
          <ac:spMkLst>
            <pc:docMk/>
            <pc:sldMk cId="0" sldId="302"/>
            <ac:spMk id="1378" creationId="{00000000-0000-0000-0000-000000000000}"/>
          </ac:spMkLst>
        </pc:spChg>
        <pc:spChg chg="mod">
          <ac:chgData name="Luca Bonfanti" userId="c30ac399-0397-4b02-b9ad-714907a1cb7e" providerId="ADAL" clId="{AE5FC6BA-E2F5-4FA6-9481-3C093B3FB630}" dt="2026-04-27T20:48:08.313" v="138" actId="1076"/>
          <ac:spMkLst>
            <pc:docMk/>
            <pc:sldMk cId="0" sldId="302"/>
            <ac:spMk id="1399" creationId="{00000000-0000-0000-0000-000000000000}"/>
          </ac:spMkLst>
        </pc:spChg>
        <pc:spChg chg="mod">
          <ac:chgData name="Luca Bonfanti" userId="c30ac399-0397-4b02-b9ad-714907a1cb7e" providerId="ADAL" clId="{AE5FC6BA-E2F5-4FA6-9481-3C093B3FB630}" dt="2026-04-27T20:47:54.297" v="135" actId="1076"/>
          <ac:spMkLst>
            <pc:docMk/>
            <pc:sldMk cId="0" sldId="302"/>
            <ac:spMk id="1400" creationId="{00000000-0000-0000-0000-000000000000}"/>
          </ac:spMkLst>
        </pc:spChg>
        <pc:spChg chg="mod">
          <ac:chgData name="Luca Bonfanti" userId="c30ac399-0397-4b02-b9ad-714907a1cb7e" providerId="ADAL" clId="{AE5FC6BA-E2F5-4FA6-9481-3C093B3FB630}" dt="2026-04-27T20:47:54.297" v="135" actId="1076"/>
          <ac:spMkLst>
            <pc:docMk/>
            <pc:sldMk cId="0" sldId="302"/>
            <ac:spMk id="1401" creationId="{00000000-0000-0000-0000-000000000000}"/>
          </ac:spMkLst>
        </pc:spChg>
        <pc:spChg chg="mod">
          <ac:chgData name="Luca Bonfanti" userId="c30ac399-0397-4b02-b9ad-714907a1cb7e" providerId="ADAL" clId="{AE5FC6BA-E2F5-4FA6-9481-3C093B3FB630}" dt="2026-04-27T20:47:54.297" v="135" actId="1076"/>
          <ac:spMkLst>
            <pc:docMk/>
            <pc:sldMk cId="0" sldId="302"/>
            <ac:spMk id="1402" creationId="{00000000-0000-0000-0000-000000000000}"/>
          </ac:spMkLst>
        </pc:spChg>
        <pc:spChg chg="mod">
          <ac:chgData name="Luca Bonfanti" userId="c30ac399-0397-4b02-b9ad-714907a1cb7e" providerId="ADAL" clId="{AE5FC6BA-E2F5-4FA6-9481-3C093B3FB630}" dt="2026-04-27T20:47:54.297" v="135" actId="1076"/>
          <ac:spMkLst>
            <pc:docMk/>
            <pc:sldMk cId="0" sldId="302"/>
            <ac:spMk id="1403" creationId="{00000000-0000-0000-0000-000000000000}"/>
          </ac:spMkLst>
        </pc:spChg>
        <pc:spChg chg="mod">
          <ac:chgData name="Luca Bonfanti" userId="c30ac399-0397-4b02-b9ad-714907a1cb7e" providerId="ADAL" clId="{AE5FC6BA-E2F5-4FA6-9481-3C093B3FB630}" dt="2026-04-27T20:47:54.297" v="135" actId="1076"/>
          <ac:spMkLst>
            <pc:docMk/>
            <pc:sldMk cId="0" sldId="302"/>
            <ac:spMk id="1404" creationId="{00000000-0000-0000-0000-000000000000}"/>
          </ac:spMkLst>
        </pc:spChg>
        <pc:spChg chg="del mod">
          <ac:chgData name="Luca Bonfanti" userId="c30ac399-0397-4b02-b9ad-714907a1cb7e" providerId="ADAL" clId="{AE5FC6BA-E2F5-4FA6-9481-3C093B3FB630}" dt="2026-04-27T20:47:58.983" v="136" actId="478"/>
          <ac:spMkLst>
            <pc:docMk/>
            <pc:sldMk cId="0" sldId="302"/>
            <ac:spMk id="1405" creationId="{00000000-0000-0000-0000-000000000000}"/>
          </ac:spMkLst>
        </pc:spChg>
        <pc:spChg chg="mod">
          <ac:chgData name="Luca Bonfanti" userId="c30ac399-0397-4b02-b9ad-714907a1cb7e" providerId="ADAL" clId="{AE5FC6BA-E2F5-4FA6-9481-3C093B3FB630}" dt="2026-04-27T20:48:03.305" v="137" actId="1076"/>
          <ac:spMkLst>
            <pc:docMk/>
            <pc:sldMk cId="0" sldId="302"/>
            <ac:spMk id="1406" creationId="{00000000-0000-0000-0000-000000000000}"/>
          </ac:spMkLst>
        </pc:spChg>
      </pc:sldChg>
      <pc:sldChg chg="delSp modSp mod">
        <pc:chgData name="Luca Bonfanti" userId="c30ac399-0397-4b02-b9ad-714907a1cb7e" providerId="ADAL" clId="{AE5FC6BA-E2F5-4FA6-9481-3C093B3FB630}" dt="2026-04-27T20:48:47.724" v="142" actId="478"/>
        <pc:sldMkLst>
          <pc:docMk/>
          <pc:sldMk cId="0" sldId="303"/>
        </pc:sldMkLst>
        <pc:spChg chg="del mod">
          <ac:chgData name="Luca Bonfanti" userId="c30ac399-0397-4b02-b9ad-714907a1cb7e" providerId="ADAL" clId="{AE5FC6BA-E2F5-4FA6-9481-3C093B3FB630}" dt="2026-04-27T20:48:47.724" v="142" actId="478"/>
          <ac:spMkLst>
            <pc:docMk/>
            <pc:sldMk cId="0" sldId="303"/>
            <ac:spMk id="1412" creationId="{00000000-0000-0000-0000-000000000000}"/>
          </ac:spMkLst>
        </pc:spChg>
        <pc:spChg chg="del">
          <ac:chgData name="Luca Bonfanti" userId="c30ac399-0397-4b02-b9ad-714907a1cb7e" providerId="ADAL" clId="{AE5FC6BA-E2F5-4FA6-9481-3C093B3FB630}" dt="2026-04-27T20:48:45.045" v="141" actId="478"/>
          <ac:spMkLst>
            <pc:docMk/>
            <pc:sldMk cId="0" sldId="303"/>
            <ac:spMk id="1429" creationId="{00000000-0000-0000-0000-000000000000}"/>
          </ac:spMkLst>
        </pc:spChg>
        <pc:spChg chg="del mod">
          <ac:chgData name="Luca Bonfanti" userId="c30ac399-0397-4b02-b9ad-714907a1cb7e" providerId="ADAL" clId="{AE5FC6BA-E2F5-4FA6-9481-3C093B3FB630}" dt="2026-04-27T20:48:45.045" v="141" actId="478"/>
          <ac:spMkLst>
            <pc:docMk/>
            <pc:sldMk cId="0" sldId="303"/>
            <ac:spMk id="1431" creationId="{00000000-0000-0000-0000-000000000000}"/>
          </ac:spMkLst>
        </pc:spChg>
      </pc:sldChg>
      <pc:sldChg chg="addSp delSp modSp mod">
        <pc:chgData name="Luca Bonfanti" userId="c30ac399-0397-4b02-b9ad-714907a1cb7e" providerId="ADAL" clId="{AE5FC6BA-E2F5-4FA6-9481-3C093B3FB630}" dt="2026-04-27T20:56:08.331" v="225" actId="113"/>
        <pc:sldMkLst>
          <pc:docMk/>
          <pc:sldMk cId="0" sldId="304"/>
        </pc:sldMkLst>
        <pc:spChg chg="add del">
          <ac:chgData name="Luca Bonfanti" userId="c30ac399-0397-4b02-b9ad-714907a1cb7e" providerId="ADAL" clId="{AE5FC6BA-E2F5-4FA6-9481-3C093B3FB630}" dt="2026-04-27T20:51:39.130" v="167" actId="22"/>
          <ac:spMkLst>
            <pc:docMk/>
            <pc:sldMk cId="0" sldId="304"/>
            <ac:spMk id="3" creationId="{1F64C147-C7F7-0120-9E05-24983DF1AF49}"/>
          </ac:spMkLst>
        </pc:spChg>
        <pc:spChg chg="mod">
          <ac:chgData name="Luca Bonfanti" userId="c30ac399-0397-4b02-b9ad-714907a1cb7e" providerId="ADAL" clId="{AE5FC6BA-E2F5-4FA6-9481-3C093B3FB630}" dt="2026-04-27T20:50:42.484" v="164" actId="1076"/>
          <ac:spMkLst>
            <pc:docMk/>
            <pc:sldMk cId="0" sldId="304"/>
            <ac:spMk id="1436" creationId="{00000000-0000-0000-0000-000000000000}"/>
          </ac:spMkLst>
        </pc:spChg>
        <pc:spChg chg="mod">
          <ac:chgData name="Luca Bonfanti" userId="c30ac399-0397-4b02-b9ad-714907a1cb7e" providerId="ADAL" clId="{AE5FC6BA-E2F5-4FA6-9481-3C093B3FB630}" dt="2026-04-27T20:50:34.949" v="162"/>
          <ac:spMkLst>
            <pc:docMk/>
            <pc:sldMk cId="0" sldId="304"/>
            <ac:spMk id="1437" creationId="{00000000-0000-0000-0000-000000000000}"/>
          </ac:spMkLst>
        </pc:spChg>
        <pc:spChg chg="del mod">
          <ac:chgData name="Luca Bonfanti" userId="c30ac399-0397-4b02-b9ad-714907a1cb7e" providerId="ADAL" clId="{AE5FC6BA-E2F5-4FA6-9481-3C093B3FB630}" dt="2026-04-27T20:49:27.327" v="147" actId="478"/>
          <ac:spMkLst>
            <pc:docMk/>
            <pc:sldMk cId="0" sldId="304"/>
            <ac:spMk id="1439"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46"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47"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48"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58"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60"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69"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75"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77" creationId="{00000000-0000-0000-0000-000000000000}"/>
          </ac:spMkLst>
        </pc:spChg>
        <pc:spChg chg="mod">
          <ac:chgData name="Luca Bonfanti" userId="c30ac399-0397-4b02-b9ad-714907a1cb7e" providerId="ADAL" clId="{AE5FC6BA-E2F5-4FA6-9481-3C093B3FB630}" dt="2026-04-27T20:55:31.853" v="193" actId="20577"/>
          <ac:spMkLst>
            <pc:docMk/>
            <pc:sldMk cId="0" sldId="304"/>
            <ac:spMk id="1483" creationId="{00000000-0000-0000-0000-000000000000}"/>
          </ac:spMkLst>
        </pc:spChg>
        <pc:spChg chg="mod">
          <ac:chgData name="Luca Bonfanti" userId="c30ac399-0397-4b02-b9ad-714907a1cb7e" providerId="ADAL" clId="{AE5FC6BA-E2F5-4FA6-9481-3C093B3FB630}" dt="2026-04-27T20:56:00.718" v="224" actId="114"/>
          <ac:spMkLst>
            <pc:docMk/>
            <pc:sldMk cId="0" sldId="304"/>
            <ac:spMk id="1484" creationId="{00000000-0000-0000-0000-000000000000}"/>
          </ac:spMkLst>
        </pc:spChg>
        <pc:spChg chg="del mod">
          <ac:chgData name="Luca Bonfanti" userId="c30ac399-0397-4b02-b9ad-714907a1cb7e" providerId="ADAL" clId="{AE5FC6BA-E2F5-4FA6-9481-3C093B3FB630}" dt="2026-04-27T20:49:27.327" v="147" actId="478"/>
          <ac:spMkLst>
            <pc:docMk/>
            <pc:sldMk cId="0" sldId="304"/>
            <ac:spMk id="1485" creationId="{00000000-0000-0000-0000-000000000000}"/>
          </ac:spMkLst>
        </pc:spChg>
        <pc:spChg chg="del mod">
          <ac:chgData name="Luca Bonfanti" userId="c30ac399-0397-4b02-b9ad-714907a1cb7e" providerId="ADAL" clId="{AE5FC6BA-E2F5-4FA6-9481-3C093B3FB630}" dt="2026-04-27T20:49:27.327" v="147" actId="478"/>
          <ac:spMkLst>
            <pc:docMk/>
            <pc:sldMk cId="0" sldId="304"/>
            <ac:spMk id="1486" creationId="{00000000-0000-0000-0000-000000000000}"/>
          </ac:spMkLst>
        </pc:spChg>
        <pc:spChg chg="del mod">
          <ac:chgData name="Luca Bonfanti" userId="c30ac399-0397-4b02-b9ad-714907a1cb7e" providerId="ADAL" clId="{AE5FC6BA-E2F5-4FA6-9481-3C093B3FB630}" dt="2026-04-27T20:49:27.327" v="147" actId="478"/>
          <ac:spMkLst>
            <pc:docMk/>
            <pc:sldMk cId="0" sldId="304"/>
            <ac:spMk id="1487" creationId="{00000000-0000-0000-0000-000000000000}"/>
          </ac:spMkLst>
        </pc:spChg>
        <pc:spChg chg="del mod">
          <ac:chgData name="Luca Bonfanti" userId="c30ac399-0397-4b02-b9ad-714907a1cb7e" providerId="ADAL" clId="{AE5FC6BA-E2F5-4FA6-9481-3C093B3FB630}" dt="2026-04-27T20:49:27.327" v="147" actId="478"/>
          <ac:spMkLst>
            <pc:docMk/>
            <pc:sldMk cId="0" sldId="304"/>
            <ac:spMk id="1488" creationId="{00000000-0000-0000-0000-000000000000}"/>
          </ac:spMkLst>
        </pc:spChg>
        <pc:spChg chg="del mod">
          <ac:chgData name="Luca Bonfanti" userId="c30ac399-0397-4b02-b9ad-714907a1cb7e" providerId="ADAL" clId="{AE5FC6BA-E2F5-4FA6-9481-3C093B3FB630}" dt="2026-04-27T20:49:27.327" v="147" actId="478"/>
          <ac:spMkLst>
            <pc:docMk/>
            <pc:sldMk cId="0" sldId="304"/>
            <ac:spMk id="1489" creationId="{00000000-0000-0000-0000-000000000000}"/>
          </ac:spMkLst>
        </pc:spChg>
        <pc:spChg chg="del mod">
          <ac:chgData name="Luca Bonfanti" userId="c30ac399-0397-4b02-b9ad-714907a1cb7e" providerId="ADAL" clId="{AE5FC6BA-E2F5-4FA6-9481-3C093B3FB630}" dt="2026-04-27T20:49:27.327" v="147" actId="478"/>
          <ac:spMkLst>
            <pc:docMk/>
            <pc:sldMk cId="0" sldId="304"/>
            <ac:spMk id="1490"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499" creationId="{00000000-0000-0000-0000-000000000000}"/>
          </ac:spMkLst>
        </pc:spChg>
        <pc:spChg chg="del">
          <ac:chgData name="Luca Bonfanti" userId="c30ac399-0397-4b02-b9ad-714907a1cb7e" providerId="ADAL" clId="{AE5FC6BA-E2F5-4FA6-9481-3C093B3FB630}" dt="2026-04-27T20:50:47.072" v="165" actId="478"/>
          <ac:spMkLst>
            <pc:docMk/>
            <pc:sldMk cId="0" sldId="304"/>
            <ac:spMk id="1512" creationId="{00000000-0000-0000-0000-000000000000}"/>
          </ac:spMkLst>
        </pc:spChg>
        <pc:graphicFrameChg chg="add mod modGraphic">
          <ac:chgData name="Luca Bonfanti" userId="c30ac399-0397-4b02-b9ad-714907a1cb7e" providerId="ADAL" clId="{AE5FC6BA-E2F5-4FA6-9481-3C093B3FB630}" dt="2026-04-27T20:56:08.331" v="225" actId="113"/>
          <ac:graphicFrameMkLst>
            <pc:docMk/>
            <pc:sldMk cId="0" sldId="304"/>
            <ac:graphicFrameMk id="4" creationId="{8EDE60AA-C2E5-B022-B42C-45CF4F837694}"/>
          </ac:graphicFrameMkLst>
        </pc:graphicFrameChg>
        <pc:graphicFrameChg chg="add mod">
          <ac:chgData name="Luca Bonfanti" userId="c30ac399-0397-4b02-b9ad-714907a1cb7e" providerId="ADAL" clId="{AE5FC6BA-E2F5-4FA6-9481-3C093B3FB630}" dt="2026-04-27T20:55:35.556" v="194"/>
          <ac:graphicFrameMkLst>
            <pc:docMk/>
            <pc:sldMk cId="0" sldId="304"/>
            <ac:graphicFrameMk id="5" creationId="{12B01F7C-77BD-4AA8-FF19-39E504C8D2ED}"/>
          </ac:graphicFrameMkLst>
        </pc:graphicFrameChg>
      </pc:sldChg>
      <pc:sldChg chg="modSp">
        <pc:chgData name="Luca Bonfanti" userId="c30ac399-0397-4b02-b9ad-714907a1cb7e" providerId="ADAL" clId="{AE5FC6BA-E2F5-4FA6-9481-3C093B3FB630}" dt="2026-04-27T20:57:31.153" v="226"/>
        <pc:sldMkLst>
          <pc:docMk/>
          <pc:sldMk cId="0" sldId="307"/>
        </pc:sldMkLst>
        <pc:spChg chg="mod">
          <ac:chgData name="Luca Bonfanti" userId="c30ac399-0397-4b02-b9ad-714907a1cb7e" providerId="ADAL" clId="{AE5FC6BA-E2F5-4FA6-9481-3C093B3FB630}" dt="2026-04-27T20:57:31.153" v="226"/>
          <ac:spMkLst>
            <pc:docMk/>
            <pc:sldMk cId="0" sldId="307"/>
            <ac:spMk id="1572" creationId="{00000000-0000-0000-0000-000000000000}"/>
          </ac:spMkLst>
        </pc:spChg>
      </pc:sldChg>
      <pc:sldChg chg="modSp">
        <pc:chgData name="Luca Bonfanti" userId="c30ac399-0397-4b02-b9ad-714907a1cb7e" providerId="ADAL" clId="{AE5FC6BA-E2F5-4FA6-9481-3C093B3FB630}" dt="2026-04-27T20:58:04.576" v="228"/>
        <pc:sldMkLst>
          <pc:docMk/>
          <pc:sldMk cId="0" sldId="308"/>
        </pc:sldMkLst>
        <pc:spChg chg="mod">
          <ac:chgData name="Luca Bonfanti" userId="c30ac399-0397-4b02-b9ad-714907a1cb7e" providerId="ADAL" clId="{AE5FC6BA-E2F5-4FA6-9481-3C093B3FB630}" dt="2026-04-27T20:57:51.620" v="227"/>
          <ac:spMkLst>
            <pc:docMk/>
            <pc:sldMk cId="0" sldId="308"/>
            <ac:spMk id="1592" creationId="{00000000-0000-0000-0000-000000000000}"/>
          </ac:spMkLst>
        </pc:spChg>
        <pc:spChg chg="mod">
          <ac:chgData name="Luca Bonfanti" userId="c30ac399-0397-4b02-b9ad-714907a1cb7e" providerId="ADAL" clId="{AE5FC6BA-E2F5-4FA6-9481-3C093B3FB630}" dt="2026-04-27T20:58:04.576" v="228"/>
          <ac:spMkLst>
            <pc:docMk/>
            <pc:sldMk cId="0" sldId="308"/>
            <ac:spMk id="1595" creationId="{00000000-0000-0000-0000-000000000000}"/>
          </ac:spMkLst>
        </pc:spChg>
      </pc:sldChg>
      <pc:sldChg chg="addSp delSp modSp mod">
        <pc:chgData name="Luca Bonfanti" userId="c30ac399-0397-4b02-b9ad-714907a1cb7e" providerId="ADAL" clId="{AE5FC6BA-E2F5-4FA6-9481-3C093B3FB630}" dt="2026-04-27T21:00:27.521" v="285" actId="1076"/>
        <pc:sldMkLst>
          <pc:docMk/>
          <pc:sldMk cId="0" sldId="312"/>
        </pc:sldMkLst>
        <pc:spChg chg="add mod">
          <ac:chgData name="Luca Bonfanti" userId="c30ac399-0397-4b02-b9ad-714907a1cb7e" providerId="ADAL" clId="{AE5FC6BA-E2F5-4FA6-9481-3C093B3FB630}" dt="2026-04-27T20:59:58.408" v="282" actId="20577"/>
          <ac:spMkLst>
            <pc:docMk/>
            <pc:sldMk cId="0" sldId="312"/>
            <ac:spMk id="2" creationId="{AE28B9DB-575D-421D-857C-EB2DAE4F34F5}"/>
          </ac:spMkLst>
        </pc:spChg>
        <pc:spChg chg="mod">
          <ac:chgData name="Luca Bonfanti" userId="c30ac399-0397-4b02-b9ad-714907a1cb7e" providerId="ADAL" clId="{AE5FC6BA-E2F5-4FA6-9481-3C093B3FB630}" dt="2026-04-27T20:58:43.936" v="230" actId="1076"/>
          <ac:spMkLst>
            <pc:docMk/>
            <pc:sldMk cId="0" sldId="312"/>
            <ac:spMk id="1663" creationId="{00000000-0000-0000-0000-000000000000}"/>
          </ac:spMkLst>
        </pc:spChg>
        <pc:spChg chg="mod">
          <ac:chgData name="Luca Bonfanti" userId="c30ac399-0397-4b02-b9ad-714907a1cb7e" providerId="ADAL" clId="{AE5FC6BA-E2F5-4FA6-9481-3C093B3FB630}" dt="2026-04-27T20:58:41.171" v="229" actId="1076"/>
          <ac:spMkLst>
            <pc:docMk/>
            <pc:sldMk cId="0" sldId="312"/>
            <ac:spMk id="1664" creationId="{00000000-0000-0000-0000-000000000000}"/>
          </ac:spMkLst>
        </pc:spChg>
        <pc:spChg chg="mod">
          <ac:chgData name="Luca Bonfanti" userId="c30ac399-0397-4b02-b9ad-714907a1cb7e" providerId="ADAL" clId="{AE5FC6BA-E2F5-4FA6-9481-3C093B3FB630}" dt="2026-04-27T21:00:27.521" v="285" actId="1076"/>
          <ac:spMkLst>
            <pc:docMk/>
            <pc:sldMk cId="0" sldId="312"/>
            <ac:spMk id="1665" creationId="{00000000-0000-0000-0000-000000000000}"/>
          </ac:spMkLst>
        </pc:spChg>
        <pc:spChg chg="mod">
          <ac:chgData name="Luca Bonfanti" userId="c30ac399-0397-4b02-b9ad-714907a1cb7e" providerId="ADAL" clId="{AE5FC6BA-E2F5-4FA6-9481-3C093B3FB630}" dt="2026-04-27T21:00:27.521" v="285" actId="1076"/>
          <ac:spMkLst>
            <pc:docMk/>
            <pc:sldMk cId="0" sldId="312"/>
            <ac:spMk id="1666" creationId="{00000000-0000-0000-0000-000000000000}"/>
          </ac:spMkLst>
        </pc:spChg>
        <pc:spChg chg="mod">
          <ac:chgData name="Luca Bonfanti" userId="c30ac399-0397-4b02-b9ad-714907a1cb7e" providerId="ADAL" clId="{AE5FC6BA-E2F5-4FA6-9481-3C093B3FB630}" dt="2026-04-27T20:58:54.662" v="231" actId="1076"/>
          <ac:spMkLst>
            <pc:docMk/>
            <pc:sldMk cId="0" sldId="312"/>
            <ac:spMk id="1668" creationId="{00000000-0000-0000-0000-000000000000}"/>
          </ac:spMkLst>
        </pc:spChg>
        <pc:spChg chg="mod">
          <ac:chgData name="Luca Bonfanti" userId="c30ac399-0397-4b02-b9ad-714907a1cb7e" providerId="ADAL" clId="{AE5FC6BA-E2F5-4FA6-9481-3C093B3FB630}" dt="2026-04-27T20:58:54.662" v="231" actId="1076"/>
          <ac:spMkLst>
            <pc:docMk/>
            <pc:sldMk cId="0" sldId="312"/>
            <ac:spMk id="1669" creationId="{00000000-0000-0000-0000-000000000000}"/>
          </ac:spMkLst>
        </pc:spChg>
        <pc:spChg chg="mod">
          <ac:chgData name="Luca Bonfanti" userId="c30ac399-0397-4b02-b9ad-714907a1cb7e" providerId="ADAL" clId="{AE5FC6BA-E2F5-4FA6-9481-3C093B3FB630}" dt="2026-04-27T20:58:54.662" v="231" actId="1076"/>
          <ac:spMkLst>
            <pc:docMk/>
            <pc:sldMk cId="0" sldId="312"/>
            <ac:spMk id="1672" creationId="{00000000-0000-0000-0000-000000000000}"/>
          </ac:spMkLst>
        </pc:spChg>
        <pc:spChg chg="mod">
          <ac:chgData name="Luca Bonfanti" userId="c30ac399-0397-4b02-b9ad-714907a1cb7e" providerId="ADAL" clId="{AE5FC6BA-E2F5-4FA6-9481-3C093B3FB630}" dt="2026-04-27T20:58:54.662" v="231" actId="1076"/>
          <ac:spMkLst>
            <pc:docMk/>
            <pc:sldMk cId="0" sldId="312"/>
            <ac:spMk id="1674" creationId="{00000000-0000-0000-0000-000000000000}"/>
          </ac:spMkLst>
        </pc:spChg>
        <pc:spChg chg="mod">
          <ac:chgData name="Luca Bonfanti" userId="c30ac399-0397-4b02-b9ad-714907a1cb7e" providerId="ADAL" clId="{AE5FC6BA-E2F5-4FA6-9481-3C093B3FB630}" dt="2026-04-27T20:58:54.662" v="231" actId="1076"/>
          <ac:spMkLst>
            <pc:docMk/>
            <pc:sldMk cId="0" sldId="312"/>
            <ac:spMk id="1675" creationId="{00000000-0000-0000-0000-000000000000}"/>
          </ac:spMkLst>
        </pc:spChg>
        <pc:spChg chg="mod">
          <ac:chgData name="Luca Bonfanti" userId="c30ac399-0397-4b02-b9ad-714907a1cb7e" providerId="ADAL" clId="{AE5FC6BA-E2F5-4FA6-9481-3C093B3FB630}" dt="2026-04-27T20:58:54.662" v="231" actId="1076"/>
          <ac:spMkLst>
            <pc:docMk/>
            <pc:sldMk cId="0" sldId="312"/>
            <ac:spMk id="1676" creationId="{00000000-0000-0000-0000-000000000000}"/>
          </ac:spMkLst>
        </pc:spChg>
        <pc:spChg chg="mod">
          <ac:chgData name="Luca Bonfanti" userId="c30ac399-0397-4b02-b9ad-714907a1cb7e" providerId="ADAL" clId="{AE5FC6BA-E2F5-4FA6-9481-3C093B3FB630}" dt="2026-04-27T20:58:54.662" v="231" actId="1076"/>
          <ac:spMkLst>
            <pc:docMk/>
            <pc:sldMk cId="0" sldId="312"/>
            <ac:spMk id="1677" creationId="{00000000-0000-0000-0000-000000000000}"/>
          </ac:spMkLst>
        </pc:spChg>
        <pc:spChg chg="mod">
          <ac:chgData name="Luca Bonfanti" userId="c30ac399-0397-4b02-b9ad-714907a1cb7e" providerId="ADAL" clId="{AE5FC6BA-E2F5-4FA6-9481-3C093B3FB630}" dt="2026-04-27T21:00:04.310" v="284" actId="313"/>
          <ac:spMkLst>
            <pc:docMk/>
            <pc:sldMk cId="0" sldId="312"/>
            <ac:spMk id="1680" creationId="{00000000-0000-0000-0000-000000000000}"/>
          </ac:spMkLst>
        </pc:spChg>
        <pc:spChg chg="del">
          <ac:chgData name="Luca Bonfanti" userId="c30ac399-0397-4b02-b9ad-714907a1cb7e" providerId="ADAL" clId="{AE5FC6BA-E2F5-4FA6-9481-3C093B3FB630}" dt="2026-04-27T20:59:12.192" v="234" actId="478"/>
          <ac:spMkLst>
            <pc:docMk/>
            <pc:sldMk cId="0" sldId="312"/>
            <ac:spMk id="1681" creationId="{00000000-0000-0000-0000-000000000000}"/>
          </ac:spMkLst>
        </pc:spChg>
        <pc:spChg chg="del">
          <ac:chgData name="Luca Bonfanti" userId="c30ac399-0397-4b02-b9ad-714907a1cb7e" providerId="ADAL" clId="{AE5FC6BA-E2F5-4FA6-9481-3C093B3FB630}" dt="2026-04-27T20:59:12.192" v="234" actId="478"/>
          <ac:spMkLst>
            <pc:docMk/>
            <pc:sldMk cId="0" sldId="312"/>
            <ac:spMk id="1682" creationId="{00000000-0000-0000-0000-000000000000}"/>
          </ac:spMkLst>
        </pc:spChg>
        <pc:spChg chg="del">
          <ac:chgData name="Luca Bonfanti" userId="c30ac399-0397-4b02-b9ad-714907a1cb7e" providerId="ADAL" clId="{AE5FC6BA-E2F5-4FA6-9481-3C093B3FB630}" dt="2026-04-27T20:59:12.192" v="234" actId="478"/>
          <ac:spMkLst>
            <pc:docMk/>
            <pc:sldMk cId="0" sldId="312"/>
            <ac:spMk id="1683" creationId="{00000000-0000-0000-0000-000000000000}"/>
          </ac:spMkLst>
        </pc:spChg>
        <pc:spChg chg="del">
          <ac:chgData name="Luca Bonfanti" userId="c30ac399-0397-4b02-b9ad-714907a1cb7e" providerId="ADAL" clId="{AE5FC6BA-E2F5-4FA6-9481-3C093B3FB630}" dt="2026-04-27T20:59:12.192" v="234" actId="478"/>
          <ac:spMkLst>
            <pc:docMk/>
            <pc:sldMk cId="0" sldId="312"/>
            <ac:spMk id="1684" creationId="{00000000-0000-0000-0000-000000000000}"/>
          </ac:spMkLst>
        </pc:spChg>
        <pc:spChg chg="del">
          <ac:chgData name="Luca Bonfanti" userId="c30ac399-0397-4b02-b9ad-714907a1cb7e" providerId="ADAL" clId="{AE5FC6BA-E2F5-4FA6-9481-3C093B3FB630}" dt="2026-04-27T20:59:12.192" v="234" actId="478"/>
          <ac:spMkLst>
            <pc:docMk/>
            <pc:sldMk cId="0" sldId="312"/>
            <ac:spMk id="1685" creationId="{00000000-0000-0000-0000-000000000000}"/>
          </ac:spMkLst>
        </pc:spChg>
        <pc:spChg chg="del">
          <ac:chgData name="Luca Bonfanti" userId="c30ac399-0397-4b02-b9ad-714907a1cb7e" providerId="ADAL" clId="{AE5FC6BA-E2F5-4FA6-9481-3C093B3FB630}" dt="2026-04-27T20:59:12.192" v="234" actId="478"/>
          <ac:spMkLst>
            <pc:docMk/>
            <pc:sldMk cId="0" sldId="312"/>
            <ac:spMk id="1686" creationId="{00000000-0000-0000-0000-000000000000}"/>
          </ac:spMkLst>
        </pc:spChg>
        <pc:spChg chg="del mod">
          <ac:chgData name="Luca Bonfanti" userId="c30ac399-0397-4b02-b9ad-714907a1cb7e" providerId="ADAL" clId="{AE5FC6BA-E2F5-4FA6-9481-3C093B3FB630}" dt="2026-04-27T20:59:14.771" v="235" actId="478"/>
          <ac:spMkLst>
            <pc:docMk/>
            <pc:sldMk cId="0" sldId="312"/>
            <ac:spMk id="1687" creationId="{00000000-0000-0000-0000-000000000000}"/>
          </ac:spMkLst>
        </pc:spChg>
        <pc:spChg chg="del">
          <ac:chgData name="Luca Bonfanti" userId="c30ac399-0397-4b02-b9ad-714907a1cb7e" providerId="ADAL" clId="{AE5FC6BA-E2F5-4FA6-9481-3C093B3FB630}" dt="2026-04-27T20:59:12.192" v="234" actId="478"/>
          <ac:spMkLst>
            <pc:docMk/>
            <pc:sldMk cId="0" sldId="312"/>
            <ac:spMk id="1688" creationId="{00000000-0000-0000-0000-000000000000}"/>
          </ac:spMkLst>
        </pc:spChg>
        <pc:spChg chg="del">
          <ac:chgData name="Luca Bonfanti" userId="c30ac399-0397-4b02-b9ad-714907a1cb7e" providerId="ADAL" clId="{AE5FC6BA-E2F5-4FA6-9481-3C093B3FB630}" dt="2026-04-27T20:59:25.710" v="236" actId="478"/>
          <ac:spMkLst>
            <pc:docMk/>
            <pc:sldMk cId="0" sldId="312"/>
            <ac:spMk id="1689" creationId="{00000000-0000-0000-0000-000000000000}"/>
          </ac:spMkLst>
        </pc:spChg>
        <pc:spChg chg="del mod">
          <ac:chgData name="Luca Bonfanti" userId="c30ac399-0397-4b02-b9ad-714907a1cb7e" providerId="ADAL" clId="{AE5FC6BA-E2F5-4FA6-9481-3C093B3FB630}" dt="2026-04-27T20:58:58.381" v="232" actId="478"/>
          <ac:spMkLst>
            <pc:docMk/>
            <pc:sldMk cId="0" sldId="312"/>
            <ac:spMk id="1690" creationId="{00000000-0000-0000-0000-000000000000}"/>
          </ac:spMkLst>
        </pc:spChg>
        <pc:spChg chg="mod">
          <ac:chgData name="Luca Bonfanti" userId="c30ac399-0397-4b02-b9ad-714907a1cb7e" providerId="ADAL" clId="{AE5FC6BA-E2F5-4FA6-9481-3C093B3FB630}" dt="2026-04-27T20:59:01.883" v="233" actId="1076"/>
          <ac:spMkLst>
            <pc:docMk/>
            <pc:sldMk cId="0" sldId="312"/>
            <ac:spMk id="1691" creationId="{00000000-0000-0000-0000-000000000000}"/>
          </ac:spMkLst>
        </pc:spChg>
      </pc:sldChg>
      <pc:sldChg chg="delSp mod">
        <pc:chgData name="Luca Bonfanti" userId="c30ac399-0397-4b02-b9ad-714907a1cb7e" providerId="ADAL" clId="{AE5FC6BA-E2F5-4FA6-9481-3C093B3FB630}" dt="2026-04-27T21:03:13.071" v="287" actId="478"/>
        <pc:sldMkLst>
          <pc:docMk/>
          <pc:sldMk cId="0" sldId="313"/>
        </pc:sldMkLst>
        <pc:spChg chg="del">
          <ac:chgData name="Luca Bonfanti" userId="c30ac399-0397-4b02-b9ad-714907a1cb7e" providerId="ADAL" clId="{AE5FC6BA-E2F5-4FA6-9481-3C093B3FB630}" dt="2026-04-27T21:03:08.220" v="286" actId="478"/>
          <ac:spMkLst>
            <pc:docMk/>
            <pc:sldMk cId="0" sldId="313"/>
            <ac:spMk id="1768" creationId="{00000000-0000-0000-0000-000000000000}"/>
          </ac:spMkLst>
        </pc:spChg>
        <pc:spChg chg="del">
          <ac:chgData name="Luca Bonfanti" userId="c30ac399-0397-4b02-b9ad-714907a1cb7e" providerId="ADAL" clId="{AE5FC6BA-E2F5-4FA6-9481-3C093B3FB630}" dt="2026-04-27T21:03:13.071" v="287" actId="478"/>
          <ac:spMkLst>
            <pc:docMk/>
            <pc:sldMk cId="0" sldId="313"/>
            <ac:spMk id="1769" creationId="{00000000-0000-0000-0000-000000000000}"/>
          </ac:spMkLst>
        </pc:spChg>
      </pc:sldChg>
      <pc:sldChg chg="modSp mod">
        <pc:chgData name="Luca Bonfanti" userId="c30ac399-0397-4b02-b9ad-714907a1cb7e" providerId="ADAL" clId="{AE5FC6BA-E2F5-4FA6-9481-3C093B3FB630}" dt="2026-04-27T21:04:35.209" v="300"/>
        <pc:sldMkLst>
          <pc:docMk/>
          <pc:sldMk cId="0" sldId="314"/>
        </pc:sldMkLst>
        <pc:spChg chg="mod">
          <ac:chgData name="Luca Bonfanti" userId="c30ac399-0397-4b02-b9ad-714907a1cb7e" providerId="ADAL" clId="{AE5FC6BA-E2F5-4FA6-9481-3C093B3FB630}" dt="2026-04-27T21:03:45.787" v="298" actId="6549"/>
          <ac:spMkLst>
            <pc:docMk/>
            <pc:sldMk cId="0" sldId="314"/>
            <ac:spMk id="1779" creationId="{00000000-0000-0000-0000-000000000000}"/>
          </ac:spMkLst>
        </pc:spChg>
        <pc:spChg chg="mod">
          <ac:chgData name="Luca Bonfanti" userId="c30ac399-0397-4b02-b9ad-714907a1cb7e" providerId="ADAL" clId="{AE5FC6BA-E2F5-4FA6-9481-3C093B3FB630}" dt="2026-04-27T21:03:57.958" v="299"/>
          <ac:spMkLst>
            <pc:docMk/>
            <pc:sldMk cId="0" sldId="314"/>
            <ac:spMk id="1780" creationId="{00000000-0000-0000-0000-000000000000}"/>
          </ac:spMkLst>
        </pc:spChg>
        <pc:spChg chg="mod">
          <ac:chgData name="Luca Bonfanti" userId="c30ac399-0397-4b02-b9ad-714907a1cb7e" providerId="ADAL" clId="{AE5FC6BA-E2F5-4FA6-9481-3C093B3FB630}" dt="2026-04-27T21:04:35.209" v="300"/>
          <ac:spMkLst>
            <pc:docMk/>
            <pc:sldMk cId="0" sldId="314"/>
            <ac:spMk id="1786" creationId="{00000000-0000-0000-0000-000000000000}"/>
          </ac:spMkLst>
        </pc:spChg>
      </pc:sldChg>
      <pc:sldChg chg="modSp">
        <pc:chgData name="Luca Bonfanti" userId="c30ac399-0397-4b02-b9ad-714907a1cb7e" providerId="ADAL" clId="{AE5FC6BA-E2F5-4FA6-9481-3C093B3FB630}" dt="2026-04-27T21:05:46.866" v="301"/>
        <pc:sldMkLst>
          <pc:docMk/>
          <pc:sldMk cId="0" sldId="315"/>
        </pc:sldMkLst>
        <pc:spChg chg="mod">
          <ac:chgData name="Luca Bonfanti" userId="c30ac399-0397-4b02-b9ad-714907a1cb7e" providerId="ADAL" clId="{AE5FC6BA-E2F5-4FA6-9481-3C093B3FB630}" dt="2026-04-27T21:05:46.866" v="301"/>
          <ac:spMkLst>
            <pc:docMk/>
            <pc:sldMk cId="0" sldId="315"/>
            <ac:spMk id="1806" creationId="{00000000-0000-0000-0000-000000000000}"/>
          </ac:spMkLst>
        </pc:spChg>
      </pc:sldChg>
      <pc:sldChg chg="modSp">
        <pc:chgData name="Luca Bonfanti" userId="c30ac399-0397-4b02-b9ad-714907a1cb7e" providerId="ADAL" clId="{AE5FC6BA-E2F5-4FA6-9481-3C093B3FB630}" dt="2026-04-27T21:06:09.885" v="302"/>
        <pc:sldMkLst>
          <pc:docMk/>
          <pc:sldMk cId="0" sldId="316"/>
        </pc:sldMkLst>
        <pc:spChg chg="mod">
          <ac:chgData name="Luca Bonfanti" userId="c30ac399-0397-4b02-b9ad-714907a1cb7e" providerId="ADAL" clId="{AE5FC6BA-E2F5-4FA6-9481-3C093B3FB630}" dt="2026-04-27T21:06:09.885" v="302"/>
          <ac:spMkLst>
            <pc:docMk/>
            <pc:sldMk cId="0" sldId="316"/>
            <ac:spMk id="1831" creationId="{00000000-0000-0000-0000-000000000000}"/>
          </ac:spMkLst>
        </pc:spChg>
      </pc:sldChg>
      <pc:sldChg chg="delSp modSp mod">
        <pc:chgData name="Luca Bonfanti" userId="c30ac399-0397-4b02-b9ad-714907a1cb7e" providerId="ADAL" clId="{AE5FC6BA-E2F5-4FA6-9481-3C093B3FB630}" dt="2026-04-27T21:06:51.373" v="306" actId="1076"/>
        <pc:sldMkLst>
          <pc:docMk/>
          <pc:sldMk cId="0" sldId="317"/>
        </pc:sldMkLst>
        <pc:spChg chg="mod">
          <ac:chgData name="Luca Bonfanti" userId="c30ac399-0397-4b02-b9ad-714907a1cb7e" providerId="ADAL" clId="{AE5FC6BA-E2F5-4FA6-9481-3C093B3FB630}" dt="2026-04-27T21:06:47.852" v="305" actId="1076"/>
          <ac:spMkLst>
            <pc:docMk/>
            <pc:sldMk cId="0" sldId="317"/>
            <ac:spMk id="1856" creationId="{00000000-0000-0000-0000-000000000000}"/>
          </ac:spMkLst>
        </pc:spChg>
        <pc:spChg chg="mod">
          <ac:chgData name="Luca Bonfanti" userId="c30ac399-0397-4b02-b9ad-714907a1cb7e" providerId="ADAL" clId="{AE5FC6BA-E2F5-4FA6-9481-3C093B3FB630}" dt="2026-04-27T21:06:51.373" v="306" actId="1076"/>
          <ac:spMkLst>
            <pc:docMk/>
            <pc:sldMk cId="0" sldId="317"/>
            <ac:spMk id="1871" creationId="{00000000-0000-0000-0000-000000000000}"/>
          </ac:spMkLst>
        </pc:spChg>
        <pc:spChg chg="del">
          <ac:chgData name="Luca Bonfanti" userId="c30ac399-0397-4b02-b9ad-714907a1cb7e" providerId="ADAL" clId="{AE5FC6BA-E2F5-4FA6-9481-3C093B3FB630}" dt="2026-04-27T21:06:33.516" v="303" actId="478"/>
          <ac:spMkLst>
            <pc:docMk/>
            <pc:sldMk cId="0" sldId="317"/>
            <ac:spMk id="1873" creationId="{00000000-0000-0000-0000-000000000000}"/>
          </ac:spMkLst>
        </pc:spChg>
      </pc:sldChg>
      <pc:sldChg chg="delSp modSp mod">
        <pc:chgData name="Luca Bonfanti" userId="c30ac399-0397-4b02-b9ad-714907a1cb7e" providerId="ADAL" clId="{AE5FC6BA-E2F5-4FA6-9481-3C093B3FB630}" dt="2026-04-27T21:10:04.877" v="329" actId="20577"/>
        <pc:sldMkLst>
          <pc:docMk/>
          <pc:sldMk cId="0" sldId="319"/>
        </pc:sldMkLst>
        <pc:spChg chg="mod">
          <ac:chgData name="Luca Bonfanti" userId="c30ac399-0397-4b02-b9ad-714907a1cb7e" providerId="ADAL" clId="{AE5FC6BA-E2F5-4FA6-9481-3C093B3FB630}" dt="2026-04-27T21:10:04.877" v="329" actId="20577"/>
          <ac:spMkLst>
            <pc:docMk/>
            <pc:sldMk cId="0" sldId="319"/>
            <ac:spMk id="1942" creationId="{00000000-0000-0000-0000-000000000000}"/>
          </ac:spMkLst>
        </pc:spChg>
        <pc:spChg chg="mod">
          <ac:chgData name="Luca Bonfanti" userId="c30ac399-0397-4b02-b9ad-714907a1cb7e" providerId="ADAL" clId="{AE5FC6BA-E2F5-4FA6-9481-3C093B3FB630}" dt="2026-04-27T20:50:34.949" v="162"/>
          <ac:spMkLst>
            <pc:docMk/>
            <pc:sldMk cId="0" sldId="319"/>
            <ac:spMk id="1947" creationId="{00000000-0000-0000-0000-000000000000}"/>
          </ac:spMkLst>
        </pc:spChg>
        <pc:spChg chg="mod">
          <ac:chgData name="Luca Bonfanti" userId="c30ac399-0397-4b02-b9ad-714907a1cb7e" providerId="ADAL" clId="{AE5FC6BA-E2F5-4FA6-9481-3C093B3FB630}" dt="2026-04-27T21:08:04.970" v="314" actId="20577"/>
          <ac:spMkLst>
            <pc:docMk/>
            <pc:sldMk cId="0" sldId="319"/>
            <ac:spMk id="1953" creationId="{00000000-0000-0000-0000-000000000000}"/>
          </ac:spMkLst>
        </pc:spChg>
        <pc:spChg chg="mod">
          <ac:chgData name="Luca Bonfanti" userId="c30ac399-0397-4b02-b9ad-714907a1cb7e" providerId="ADAL" clId="{AE5FC6BA-E2F5-4FA6-9481-3C093B3FB630}" dt="2026-04-27T21:08:22.149" v="324" actId="6549"/>
          <ac:spMkLst>
            <pc:docMk/>
            <pc:sldMk cId="0" sldId="319"/>
            <ac:spMk id="1955" creationId="{00000000-0000-0000-0000-000000000000}"/>
          </ac:spMkLst>
        </pc:spChg>
        <pc:spChg chg="del mod">
          <ac:chgData name="Luca Bonfanti" userId="c30ac399-0397-4b02-b9ad-714907a1cb7e" providerId="ADAL" clId="{AE5FC6BA-E2F5-4FA6-9481-3C093B3FB630}" dt="2026-04-27T21:07:26.121" v="308" actId="478"/>
          <ac:spMkLst>
            <pc:docMk/>
            <pc:sldMk cId="0" sldId="319"/>
            <ac:spMk id="1957" creationId="{00000000-0000-0000-0000-000000000000}"/>
          </ac:spMkLst>
        </pc:spChg>
      </pc:sldChg>
      <pc:sldChg chg="delSp modSp mod">
        <pc:chgData name="Luca Bonfanti" userId="c30ac399-0397-4b02-b9ad-714907a1cb7e" providerId="ADAL" clId="{AE5FC6BA-E2F5-4FA6-9481-3C093B3FB630}" dt="2026-04-27T21:18:11.800" v="401" actId="1076"/>
        <pc:sldMkLst>
          <pc:docMk/>
          <pc:sldMk cId="0" sldId="320"/>
        </pc:sldMkLst>
        <pc:spChg chg="mod">
          <ac:chgData name="Luca Bonfanti" userId="c30ac399-0397-4b02-b9ad-714907a1cb7e" providerId="ADAL" clId="{AE5FC6BA-E2F5-4FA6-9481-3C093B3FB630}" dt="2026-04-27T21:18:11.800" v="401" actId="1076"/>
          <ac:spMkLst>
            <pc:docMk/>
            <pc:sldMk cId="0" sldId="320"/>
            <ac:spMk id="1961" creationId="{00000000-0000-0000-0000-000000000000}"/>
          </ac:spMkLst>
        </pc:spChg>
        <pc:spChg chg="del mod">
          <ac:chgData name="Luca Bonfanti" userId="c30ac399-0397-4b02-b9ad-714907a1cb7e" providerId="ADAL" clId="{AE5FC6BA-E2F5-4FA6-9481-3C093B3FB630}" dt="2026-04-27T21:15:19.084" v="366" actId="478"/>
          <ac:spMkLst>
            <pc:docMk/>
            <pc:sldMk cId="0" sldId="320"/>
            <ac:spMk id="1967"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68"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69"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70"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71"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75"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76"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77"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79"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80" creationId="{00000000-0000-0000-0000-000000000000}"/>
          </ac:spMkLst>
        </pc:spChg>
        <pc:spChg chg="del">
          <ac:chgData name="Luca Bonfanti" userId="c30ac399-0397-4b02-b9ad-714907a1cb7e" providerId="ADAL" clId="{AE5FC6BA-E2F5-4FA6-9481-3C093B3FB630}" dt="2026-04-27T21:15:11.236" v="363" actId="478"/>
          <ac:spMkLst>
            <pc:docMk/>
            <pc:sldMk cId="0" sldId="320"/>
            <ac:spMk id="1982" creationId="{00000000-0000-0000-0000-000000000000}"/>
          </ac:spMkLst>
        </pc:spChg>
      </pc:sldChg>
      <pc:sldChg chg="delSp modSp mod">
        <pc:chgData name="Luca Bonfanti" userId="c30ac399-0397-4b02-b9ad-714907a1cb7e" providerId="ADAL" clId="{AE5FC6BA-E2F5-4FA6-9481-3C093B3FB630}" dt="2026-04-27T21:19:18.722" v="405"/>
        <pc:sldMkLst>
          <pc:docMk/>
          <pc:sldMk cId="0" sldId="321"/>
        </pc:sldMkLst>
        <pc:spChg chg="mod">
          <ac:chgData name="Luca Bonfanti" userId="c30ac399-0397-4b02-b9ad-714907a1cb7e" providerId="ADAL" clId="{AE5FC6BA-E2F5-4FA6-9481-3C093B3FB630}" dt="2026-04-27T21:19:18.722" v="405"/>
          <ac:spMkLst>
            <pc:docMk/>
            <pc:sldMk cId="0" sldId="321"/>
            <ac:spMk id="2006"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12"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13"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14"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15"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17"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18"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19"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20"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21" creationId="{00000000-0000-0000-0000-000000000000}"/>
          </ac:spMkLst>
        </pc:spChg>
        <pc:spChg chg="del">
          <ac:chgData name="Luca Bonfanti" userId="c30ac399-0397-4b02-b9ad-714907a1cb7e" providerId="ADAL" clId="{AE5FC6BA-E2F5-4FA6-9481-3C093B3FB630}" dt="2026-04-27T21:18:53.078" v="403" actId="478"/>
          <ac:spMkLst>
            <pc:docMk/>
            <pc:sldMk cId="0" sldId="321"/>
            <ac:spMk id="2023" creationId="{00000000-0000-0000-0000-000000000000}"/>
          </ac:spMkLst>
        </pc:spChg>
        <pc:spChg chg="del">
          <ac:chgData name="Luca Bonfanti" userId="c30ac399-0397-4b02-b9ad-714907a1cb7e" providerId="ADAL" clId="{AE5FC6BA-E2F5-4FA6-9481-3C093B3FB630}" dt="2026-04-27T21:18:49.097" v="402" actId="478"/>
          <ac:spMkLst>
            <pc:docMk/>
            <pc:sldMk cId="0" sldId="321"/>
            <ac:spMk id="2024" creationId="{00000000-0000-0000-0000-000000000000}"/>
          </ac:spMkLst>
        </pc:spChg>
        <pc:spChg chg="del">
          <ac:chgData name="Luca Bonfanti" userId="c30ac399-0397-4b02-b9ad-714907a1cb7e" providerId="ADAL" clId="{AE5FC6BA-E2F5-4FA6-9481-3C093B3FB630}" dt="2026-04-27T21:18:56.162" v="404" actId="478"/>
          <ac:spMkLst>
            <pc:docMk/>
            <pc:sldMk cId="0" sldId="321"/>
            <ac:spMk id="2026" creationId="{00000000-0000-0000-0000-000000000000}"/>
          </ac:spMkLst>
        </pc:spChg>
      </pc:sldChg>
      <pc:sldChg chg="delSp modSp mod">
        <pc:chgData name="Luca Bonfanti" userId="c30ac399-0397-4b02-b9ad-714907a1cb7e" providerId="ADAL" clId="{AE5FC6BA-E2F5-4FA6-9481-3C093B3FB630}" dt="2026-04-27T21:19:48.167" v="410" actId="478"/>
        <pc:sldMkLst>
          <pc:docMk/>
          <pc:sldMk cId="0" sldId="322"/>
        </pc:sldMkLst>
        <pc:spChg chg="del mod">
          <ac:chgData name="Luca Bonfanti" userId="c30ac399-0397-4b02-b9ad-714907a1cb7e" providerId="ADAL" clId="{AE5FC6BA-E2F5-4FA6-9481-3C093B3FB630}" dt="2026-04-27T21:19:48.167" v="410" actId="478"/>
          <ac:spMkLst>
            <pc:docMk/>
            <pc:sldMk cId="0" sldId="322"/>
            <ac:spMk id="2052" creationId="{00000000-0000-0000-0000-000000000000}"/>
          </ac:spMkLst>
        </pc:spChg>
      </pc:sldChg>
      <pc:sldChg chg="modSp">
        <pc:chgData name="Luca Bonfanti" userId="c30ac399-0397-4b02-b9ad-714907a1cb7e" providerId="ADAL" clId="{AE5FC6BA-E2F5-4FA6-9481-3C093B3FB630}" dt="2026-04-27T21:20:33.274" v="411"/>
        <pc:sldMkLst>
          <pc:docMk/>
          <pc:sldMk cId="0" sldId="325"/>
        </pc:sldMkLst>
        <pc:spChg chg="mod">
          <ac:chgData name="Luca Bonfanti" userId="c30ac399-0397-4b02-b9ad-714907a1cb7e" providerId="ADAL" clId="{AE5FC6BA-E2F5-4FA6-9481-3C093B3FB630}" dt="2026-04-27T21:20:33.274" v="411"/>
          <ac:spMkLst>
            <pc:docMk/>
            <pc:sldMk cId="0" sldId="325"/>
            <ac:spMk id="2088" creationId="{00000000-0000-0000-0000-000000000000}"/>
          </ac:spMkLst>
        </pc:spChg>
      </pc:sldChg>
      <pc:sldChg chg="modSp mod">
        <pc:chgData name="Luca Bonfanti" userId="c30ac399-0397-4b02-b9ad-714907a1cb7e" providerId="ADAL" clId="{AE5FC6BA-E2F5-4FA6-9481-3C093B3FB630}" dt="2026-04-27T21:25:13.207" v="451" actId="313"/>
        <pc:sldMkLst>
          <pc:docMk/>
          <pc:sldMk cId="0" sldId="326"/>
        </pc:sldMkLst>
        <pc:spChg chg="mod">
          <ac:chgData name="Luca Bonfanti" userId="c30ac399-0397-4b02-b9ad-714907a1cb7e" providerId="ADAL" clId="{AE5FC6BA-E2F5-4FA6-9481-3C093B3FB630}" dt="2026-04-27T21:25:13.207" v="451" actId="313"/>
          <ac:spMkLst>
            <pc:docMk/>
            <pc:sldMk cId="0" sldId="326"/>
            <ac:spMk id="2106" creationId="{00000000-0000-0000-0000-000000000000}"/>
          </ac:spMkLst>
        </pc:spChg>
        <pc:spChg chg="mod">
          <ac:chgData name="Luca Bonfanti" userId="c30ac399-0397-4b02-b9ad-714907a1cb7e" providerId="ADAL" clId="{AE5FC6BA-E2F5-4FA6-9481-3C093B3FB630}" dt="2026-04-27T21:20:57.461" v="412"/>
          <ac:spMkLst>
            <pc:docMk/>
            <pc:sldMk cId="0" sldId="326"/>
            <ac:spMk id="2107" creationId="{00000000-0000-0000-0000-000000000000}"/>
          </ac:spMkLst>
        </pc:spChg>
      </pc:sldChg>
      <pc:sldChg chg="modSp">
        <pc:chgData name="Luca Bonfanti" userId="c30ac399-0397-4b02-b9ad-714907a1cb7e" providerId="ADAL" clId="{AE5FC6BA-E2F5-4FA6-9481-3C093B3FB630}" dt="2026-04-27T21:25:47.094" v="452"/>
        <pc:sldMkLst>
          <pc:docMk/>
          <pc:sldMk cId="0" sldId="327"/>
        </pc:sldMkLst>
        <pc:spChg chg="mod">
          <ac:chgData name="Luca Bonfanti" userId="c30ac399-0397-4b02-b9ad-714907a1cb7e" providerId="ADAL" clId="{AE5FC6BA-E2F5-4FA6-9481-3C093B3FB630}" dt="2026-04-27T21:25:47.094" v="452"/>
          <ac:spMkLst>
            <pc:docMk/>
            <pc:sldMk cId="0" sldId="327"/>
            <ac:spMk id="2139" creationId="{00000000-0000-0000-0000-000000000000}"/>
          </ac:spMkLst>
        </pc:spChg>
      </pc:sldChg>
      <pc:sldChg chg="delSp modSp add mod">
        <pc:chgData name="Luca Bonfanti" userId="c30ac399-0397-4b02-b9ad-714907a1cb7e" providerId="ADAL" clId="{AE5FC6BA-E2F5-4FA6-9481-3C093B3FB630}" dt="2026-04-27T21:13:37.394" v="362" actId="114"/>
        <pc:sldMkLst>
          <pc:docMk/>
          <pc:sldMk cId="1443272472" sldId="329"/>
        </pc:sldMkLst>
        <pc:spChg chg="mod">
          <ac:chgData name="Luca Bonfanti" userId="c30ac399-0397-4b02-b9ad-714907a1cb7e" providerId="ADAL" clId="{AE5FC6BA-E2F5-4FA6-9481-3C093B3FB630}" dt="2026-04-27T21:13:37.394" v="362" actId="114"/>
          <ac:spMkLst>
            <pc:docMk/>
            <pc:sldMk cId="1443272472" sldId="329"/>
            <ac:spMk id="1937" creationId="{28F5D1AE-4D38-0C37-410A-7036EC803E7E}"/>
          </ac:spMkLst>
        </pc:spChg>
        <pc:spChg chg="del">
          <ac:chgData name="Luca Bonfanti" userId="c30ac399-0397-4b02-b9ad-714907a1cb7e" providerId="ADAL" clId="{AE5FC6BA-E2F5-4FA6-9481-3C093B3FB630}" dt="2026-04-27T21:10:19.895" v="333" actId="478"/>
          <ac:spMkLst>
            <pc:docMk/>
            <pc:sldMk cId="1443272472" sldId="329"/>
            <ac:spMk id="1941" creationId="{A453BE43-35B4-D89D-0FCC-7F926AE6AC60}"/>
          </ac:spMkLst>
        </pc:spChg>
        <pc:spChg chg="mod">
          <ac:chgData name="Luca Bonfanti" userId="c30ac399-0397-4b02-b9ad-714907a1cb7e" providerId="ADAL" clId="{AE5FC6BA-E2F5-4FA6-9481-3C093B3FB630}" dt="2026-04-27T21:10:12.674" v="332" actId="20577"/>
          <ac:spMkLst>
            <pc:docMk/>
            <pc:sldMk cId="1443272472" sldId="329"/>
            <ac:spMk id="1942" creationId="{EE89EB9E-A8C6-372E-6295-B84B2F42695D}"/>
          </ac:spMkLst>
        </pc:spChg>
        <pc:spChg chg="del">
          <ac:chgData name="Luca Bonfanti" userId="c30ac399-0397-4b02-b9ad-714907a1cb7e" providerId="ADAL" clId="{AE5FC6BA-E2F5-4FA6-9481-3C093B3FB630}" dt="2026-04-27T21:10:19.895" v="333" actId="478"/>
          <ac:spMkLst>
            <pc:docMk/>
            <pc:sldMk cId="1443272472" sldId="329"/>
            <ac:spMk id="1944" creationId="{523AEC12-4B3D-7734-A995-CC67EF0162F3}"/>
          </ac:spMkLst>
        </pc:spChg>
        <pc:spChg chg="del">
          <ac:chgData name="Luca Bonfanti" userId="c30ac399-0397-4b02-b9ad-714907a1cb7e" providerId="ADAL" clId="{AE5FC6BA-E2F5-4FA6-9481-3C093B3FB630}" dt="2026-04-27T21:10:19.895" v="333" actId="478"/>
          <ac:spMkLst>
            <pc:docMk/>
            <pc:sldMk cId="1443272472" sldId="329"/>
            <ac:spMk id="1945" creationId="{9A941F99-9B21-20E4-4BE2-18086B2637DB}"/>
          </ac:spMkLst>
        </pc:spChg>
        <pc:spChg chg="del">
          <ac:chgData name="Luca Bonfanti" userId="c30ac399-0397-4b02-b9ad-714907a1cb7e" providerId="ADAL" clId="{AE5FC6BA-E2F5-4FA6-9481-3C093B3FB630}" dt="2026-04-27T21:10:19.895" v="333" actId="478"/>
          <ac:spMkLst>
            <pc:docMk/>
            <pc:sldMk cId="1443272472" sldId="329"/>
            <ac:spMk id="1948" creationId="{CFDC9F8A-8BA7-5E1B-C9D3-DF9A39763F35}"/>
          </ac:spMkLst>
        </pc:spChg>
        <pc:spChg chg="del">
          <ac:chgData name="Luca Bonfanti" userId="c30ac399-0397-4b02-b9ad-714907a1cb7e" providerId="ADAL" clId="{AE5FC6BA-E2F5-4FA6-9481-3C093B3FB630}" dt="2026-04-27T21:10:19.895" v="333" actId="478"/>
          <ac:spMkLst>
            <pc:docMk/>
            <pc:sldMk cId="1443272472" sldId="329"/>
            <ac:spMk id="1950" creationId="{139B2EA6-A7C0-6455-37DE-63A926E9960E}"/>
          </ac:spMkLst>
        </pc:spChg>
        <pc:spChg chg="del">
          <ac:chgData name="Luca Bonfanti" userId="c30ac399-0397-4b02-b9ad-714907a1cb7e" providerId="ADAL" clId="{AE5FC6BA-E2F5-4FA6-9481-3C093B3FB630}" dt="2026-04-27T21:10:19.895" v="333" actId="478"/>
          <ac:spMkLst>
            <pc:docMk/>
            <pc:sldMk cId="1443272472" sldId="329"/>
            <ac:spMk id="1951" creationId="{D5A5D964-8B16-56BF-376F-DFEDA6F1D8A5}"/>
          </ac:spMkLst>
        </pc:spChg>
        <pc:spChg chg="del">
          <ac:chgData name="Luca Bonfanti" userId="c30ac399-0397-4b02-b9ad-714907a1cb7e" providerId="ADAL" clId="{AE5FC6BA-E2F5-4FA6-9481-3C093B3FB630}" dt="2026-04-27T21:10:19.895" v="333" actId="478"/>
          <ac:spMkLst>
            <pc:docMk/>
            <pc:sldMk cId="1443272472" sldId="329"/>
            <ac:spMk id="1953" creationId="{6310F688-09A4-CF6B-169F-7CD77D32EC22}"/>
          </ac:spMkLst>
        </pc:spChg>
        <pc:spChg chg="del">
          <ac:chgData name="Luca Bonfanti" userId="c30ac399-0397-4b02-b9ad-714907a1cb7e" providerId="ADAL" clId="{AE5FC6BA-E2F5-4FA6-9481-3C093B3FB630}" dt="2026-04-27T21:10:19.895" v="333" actId="478"/>
          <ac:spMkLst>
            <pc:docMk/>
            <pc:sldMk cId="1443272472" sldId="329"/>
            <ac:spMk id="1954" creationId="{2F936D45-0FA9-92FE-7C26-4E387439EBB3}"/>
          </ac:spMkLst>
        </pc:spChg>
        <pc:spChg chg="del">
          <ac:chgData name="Luca Bonfanti" userId="c30ac399-0397-4b02-b9ad-714907a1cb7e" providerId="ADAL" clId="{AE5FC6BA-E2F5-4FA6-9481-3C093B3FB630}" dt="2026-04-27T21:10:19.895" v="333" actId="478"/>
          <ac:spMkLst>
            <pc:docMk/>
            <pc:sldMk cId="1443272472" sldId="329"/>
            <ac:spMk id="1955" creationId="{754F62AD-E64C-F33F-1985-D52AA55894DB}"/>
          </ac:spMkLst>
        </pc:spChg>
        <pc:spChg chg="del">
          <ac:chgData name="Luca Bonfanti" userId="c30ac399-0397-4b02-b9ad-714907a1cb7e" providerId="ADAL" clId="{AE5FC6BA-E2F5-4FA6-9481-3C093B3FB630}" dt="2026-04-27T21:10:19.895" v="333" actId="478"/>
          <ac:spMkLst>
            <pc:docMk/>
            <pc:sldMk cId="1443272472" sldId="329"/>
            <ac:spMk id="1956" creationId="{3AD405F0-4139-2C67-8FD5-11095A14E0C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spAutoFit/>
          </a:bodyPr>
          <a:lstStyle/>
          <a:p>
            <a:pPr indent="0" algn="ctr">
              <a:buNone/>
            </a:pPr>
            <a:endParaRPr lang="it-IT"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520280"/>
            <a:ext cx="10972080" cy="3768480"/>
          </a:xfrm>
          <a:prstGeom prst="rect">
            <a:avLst/>
          </a:prstGeom>
          <a:noFill/>
          <a:ln w="0">
            <a:noFill/>
          </a:ln>
        </p:spPr>
        <p:txBody>
          <a:bodyPr lIns="0" tIns="0" rIns="0" bIns="0" anchor="ctr">
            <a:spAutoFit/>
          </a:bodyPr>
          <a:lstStyle/>
          <a:p>
            <a:pPr indent="0" algn="ctr">
              <a:buNone/>
            </a:pPr>
            <a:endParaRPr lang="it-IT" sz="32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page3">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it-IT" sz="4400" b="0" u="none" strike="noStrike">
                <a:solidFill>
                  <a:srgbClr val="000000"/>
                </a:solidFill>
                <a:effectLst/>
                <a:uFillTx/>
                <a:latin typeface="Arial"/>
              </a:rPr>
              <a:t>Fai clic per modificare il formato del testo del titolo</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it-IT" sz="3200" b="0" u="none" strike="noStrike">
                <a:solidFill>
                  <a:srgbClr val="000000"/>
                </a:solidFill>
                <a:effectLst/>
                <a:uFillTx/>
                <a:latin typeface="Arial"/>
              </a:rPr>
              <a:t>Fai clic per modificare il formato del testo della struttura</a:t>
            </a:r>
          </a:p>
          <a:p>
            <a:pPr marL="864000" lvl="1" indent="-324000">
              <a:spcBef>
                <a:spcPts val="1134"/>
              </a:spcBef>
              <a:buClr>
                <a:srgbClr val="000000"/>
              </a:buClr>
              <a:buSzPct val="75000"/>
              <a:buFont typeface="Symbol" charset="2"/>
              <a:buChar char=""/>
            </a:pPr>
            <a:r>
              <a:rPr lang="it-IT" sz="2800" b="0" u="none" strike="noStrike">
                <a:solidFill>
                  <a:srgbClr val="000000"/>
                </a:solidFill>
                <a:effectLst/>
                <a:uFillTx/>
                <a:latin typeface="Arial"/>
              </a:rPr>
              <a:t>Secondo livello struttura</a:t>
            </a:r>
          </a:p>
          <a:p>
            <a:pPr marL="1296000" lvl="2" indent="-288000">
              <a:spcBef>
                <a:spcPts val="850"/>
              </a:spcBef>
              <a:buClr>
                <a:srgbClr val="000000"/>
              </a:buClr>
              <a:buSzPct val="45000"/>
              <a:buFont typeface="Wingdings" charset="2"/>
              <a:buChar char=""/>
            </a:pPr>
            <a:r>
              <a:rPr lang="it-IT" sz="2400" b="0" u="none" strike="noStrike">
                <a:solidFill>
                  <a:srgbClr val="000000"/>
                </a:solidFill>
                <a:effectLst/>
                <a:uFillTx/>
                <a:latin typeface="Arial"/>
              </a:rPr>
              <a:t>Terzo livello struttura</a:t>
            </a:r>
          </a:p>
          <a:p>
            <a:pPr marL="1728000" lvl="3" indent="-216000">
              <a:spcBef>
                <a:spcPts val="567"/>
              </a:spcBef>
              <a:buClr>
                <a:srgbClr val="000000"/>
              </a:buClr>
              <a:buSzPct val="75000"/>
              <a:buFont typeface="Symbol" charset="2"/>
              <a:buChar char=""/>
            </a:pPr>
            <a:r>
              <a:rPr lang="it-IT" sz="2000" b="0" u="none" strike="noStrike">
                <a:solidFill>
                  <a:srgbClr val="000000"/>
                </a:solidFill>
                <a:effectLst/>
                <a:uFillTx/>
                <a:latin typeface="Arial"/>
              </a:rPr>
              <a:t>Quarto livello struttura</a:t>
            </a:r>
          </a:p>
          <a:p>
            <a:pPr marL="2160000" lvl="4" indent="-216000">
              <a:spcBef>
                <a:spcPts val="283"/>
              </a:spcBef>
              <a:buClr>
                <a:srgbClr val="000000"/>
              </a:buClr>
              <a:buSzPct val="45000"/>
              <a:buFont typeface="Wingdings" charset="2"/>
              <a:buChar char=""/>
            </a:pPr>
            <a:r>
              <a:rPr lang="it-IT" sz="2000" b="0" u="none" strike="noStrike">
                <a:solidFill>
                  <a:srgbClr val="000000"/>
                </a:solidFill>
                <a:effectLst/>
                <a:uFillTx/>
                <a:latin typeface="Arial"/>
              </a:rPr>
              <a:t>Quinto livello struttura</a:t>
            </a:r>
          </a:p>
          <a:p>
            <a:pPr marL="2592000" lvl="5" indent="-216000">
              <a:spcBef>
                <a:spcPts val="283"/>
              </a:spcBef>
              <a:buClr>
                <a:srgbClr val="000000"/>
              </a:buClr>
              <a:buSzPct val="45000"/>
              <a:buFont typeface="Wingdings" charset="2"/>
              <a:buChar char=""/>
            </a:pPr>
            <a:r>
              <a:rPr lang="it-IT" sz="2000" b="0" u="none" strike="noStrike">
                <a:solidFill>
                  <a:srgbClr val="000000"/>
                </a:solidFill>
                <a:effectLst/>
                <a:uFillTx/>
                <a:latin typeface="Arial"/>
              </a:rPr>
              <a:t>Sesto livello struttura</a:t>
            </a:r>
          </a:p>
          <a:p>
            <a:pPr marL="3024000" lvl="6" indent="-216000">
              <a:spcBef>
                <a:spcPts val="283"/>
              </a:spcBef>
              <a:buClr>
                <a:srgbClr val="000000"/>
              </a:buClr>
              <a:buSzPct val="45000"/>
              <a:buFont typeface="Wingdings" charset="2"/>
              <a:buChar char=""/>
            </a:pPr>
            <a:r>
              <a:rPr lang="it-IT" sz="2000" b="0" u="none" strike="noStrike">
                <a:solidFill>
                  <a:srgbClr val="000000"/>
                </a:solidFill>
                <a:effectLst/>
                <a:uFillTx/>
                <a:latin typeface="Arial"/>
              </a:rPr>
              <a:t>Settimo livello struttura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fragolab.github.io/MDT-lezioni/2026-04-28/Compensazione/Cass_27045_2007(parcheggi).pdf" TargetMode="External"/><Relationship Id="rId2" Type="http://schemas.openxmlformats.org/officeDocument/2006/relationships/hyperlink" Target="https://www.iris.unict.it/retrieve/dfe4d227-dfec-bb0a-e053-d805fe0a78d9/Guidara_QE_44-2012.pdf" TargetMode="External"/><Relationship Id="rId1" Type="http://schemas.openxmlformats.org/officeDocument/2006/relationships/slideLayout" Target="../slideLayouts/slideLayout2.xml"/><Relationship Id="rId6" Type="http://schemas.openxmlformats.org/officeDocument/2006/relationships/hyperlink" Target="https://fragolab.github.io/MDT-lezioni/2026-04-28/Compensazione/Cass.%202701_2014(rit_dir_quasi_comp).pdf" TargetMode="External"/><Relationship Id="rId5" Type="http://schemas.openxmlformats.org/officeDocument/2006/relationships/hyperlink" Target="https://fragolab.github.io/MDT-lezioni/2026-04-28/Compensazione/Cass_6903_2014(ritenuta_diretta).pdf)" TargetMode="External"/><Relationship Id="rId4" Type="http://schemas.openxmlformats.org/officeDocument/2006/relationships/hyperlink" Target="https://fragolab.github.io/MDT-lezioni/2026-04-28/Compensazione/Cass_2851_1983(indisponibilita_credito_trasformazione).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fragolab.github.io/MDT-lezioni/2026-04-28/Compensazione/Cass_2010-23787(comp_principio_immanente).pdf" TargetMode="External"/><Relationship Id="rId2" Type="http://schemas.openxmlformats.org/officeDocument/2006/relationships/hyperlink" Target="https://fragolab.github.io/MDT-lezioni/2026-04-28/Compensazione/Cass_2017_16532(no_comp_Iva_registro).pd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fragolab.github.io/MDT-lezioni/2026-04-28/Compensazione/Trib_Milano_2022_7823(no_comp_INPS).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agenziaentrate.gov.it/portale/schede/pagamenti/f24/modello-e-istruzioni-f24"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agenziaentrate.gov.it/portale/documents/20143/9680917/Risposta+n.+50_2026/663f77a7-e1c6-ba90-94e2-032bc627a954"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fragolab.github.io/MDT-lezioni/2026-04-28/Compensazione/Cass_2025_32848(comp_soc_persone).pdf"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fragolab.github.io/MDT-lezioni/2026-04-28/Compensazione/Cass_2020-23424.pdf" TargetMode="External"/><Relationship Id="rId2" Type="http://schemas.openxmlformats.org/officeDocument/2006/relationships/hyperlink" Target="https://fragolab.github.io/MDT-lezioni/2026-04-28/Compensazione/Cass_2021-39667.pdf"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cortecostituzionale.it/actionSchedaPronuncia.do?anno=1972&amp;numero=67"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fragolab.github.io/MDT-lezioni/2026-04-28/Compensazione/Cass_2020-2320.pdf" TargetMode="External"/><Relationship Id="rId2" Type="http://schemas.openxmlformats.org/officeDocument/2006/relationships/hyperlink" Target="https://fragolab.github.io/MDT-lezioni/2026-04-28/Compensazione/Cass2021_6395(compensazione_giudiziale_IVA).pdf"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fragolab.github.io/MDT-lezioni/2026-04-28/Compensazione/Cass_2021-354.pdf" TargetMode="External"/><Relationship Id="rId2" Type="http://schemas.openxmlformats.org/officeDocument/2006/relationships/hyperlink" Target="https://fragolab.github.io/MDT-lezioni/2026-04-28/Compensazione/Cass_2020-24093.pdf" TargetMode="External"/><Relationship Id="rId1" Type="http://schemas.openxmlformats.org/officeDocument/2006/relationships/slideLayout" Target="../slideLayouts/slideLayout2.xml"/><Relationship Id="rId6" Type="http://schemas.openxmlformats.org/officeDocument/2006/relationships/hyperlink" Target="https://fragolab.github.io/MDT-lezioni/2026-04-28/Compensazione/Cass_2021-34445.pdf" TargetMode="External"/><Relationship Id="rId5" Type="http://schemas.openxmlformats.org/officeDocument/2006/relationships/hyperlink" Target="https://fragolab.github.io/MDT-lezioni/2026-04-28/Compensazione/Cass_2021-34444.pdf" TargetMode="External"/><Relationship Id="rId4" Type="http://schemas.openxmlformats.org/officeDocument/2006/relationships/hyperlink" Target="https://fragolab.github.io/MDT-lezioni/2026-04-28/Compensazione/Cass_2021-34443.pdf" TargetMode="External"/></Relationships>
</file>

<file path=ppt/slides/_rels/slide60.xml.rels><?xml version="1.0" encoding="UTF-8" standalone="yes"?>
<Relationships xmlns="http://schemas.openxmlformats.org/package/2006/relationships"><Relationship Id="rId2" Type="http://schemas.openxmlformats.org/officeDocument/2006/relationships/hyperlink" Target="https://www.cortedicassazione.it/resources/cms/documents/34419_12_2023_civ_noindex.pdf"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www.cortedicassazione.it/resources/cms/documents/34452_12_2023_civ_noindex.pdf"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www.cortecostituzionale.it/actionSchedaPronuncia.do?anno=2018&amp;numero=35" TargetMode="External"/><Relationship Id="rId2" Type="http://schemas.openxmlformats.org/officeDocument/2006/relationships/hyperlink" Target="https://fragolab.github.io/MDT-lezioni/2026-04-28/Compensazione/Cass_2025-29949.pdf"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fragolab.github.io/MDT-lezioni/2026-04-28/Compensazione/Cass_2024-30092.pdf" TargetMode="External"/><Relationship Id="rId2" Type="http://schemas.openxmlformats.org/officeDocument/2006/relationships/hyperlink" Target="https://fragolab.github.io/MDT-lezioni/2026-04-28/Compensazione/Cass_2025-3374.pdf" TargetMode="External"/><Relationship Id="rId1" Type="http://schemas.openxmlformats.org/officeDocument/2006/relationships/slideLayout" Target="../slideLayouts/slideLayout2.xml"/><Relationship Id="rId4" Type="http://schemas.openxmlformats.org/officeDocument/2006/relationships/hyperlink" Target="https://fragolab.github.io/MDT-lezioni/2026-04-28/Compensazione/Cass_2025-1757.pdf"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fragolab.github.io/MDT-lezioni/2026-04-28/Compensazione/Cass_2023-34421.pdf" TargetMode="External"/><Relationship Id="rId2" Type="http://schemas.openxmlformats.org/officeDocument/2006/relationships/hyperlink" Target="https://fragolab.github.io/MDT-lezioni/2026-04-28/Compensazione/Cass_2025-24882.pdf" TargetMode="External"/><Relationship Id="rId1" Type="http://schemas.openxmlformats.org/officeDocument/2006/relationships/slideLayout" Target="../slideLayouts/slideLayout2.xml"/><Relationship Id="rId4" Type="http://schemas.openxmlformats.org/officeDocument/2006/relationships/hyperlink" Target="https://fragolab.github.io/MDT-lezioni/2026-04-28/Compensazione/Cass_2025-31865.pdf" TargetMode="External"/></Relationships>
</file>

<file path=ppt/slides/_rels/slide67.xml.rels><?xml version="1.0" encoding="UTF-8" standalone="yes"?>
<Relationships xmlns="http://schemas.openxmlformats.org/package/2006/relationships"><Relationship Id="rId2" Type="http://schemas.openxmlformats.org/officeDocument/2006/relationships/hyperlink" Target="https://www.finanze.gov.it/it/archivi/notizie/dettaglio-notizie/Atto-di-indirizzo-in-materia-di-crediti-dimposta-non-spettanti-o-inesistenti/"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fragolab.github.io/MDT-lezioni/2026-04-28/Compensazione/Cass2025_3930(accollo_compensazione).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agenziaentrate.gov.it/portale/documents/20143/9425539/Risposta+n.+291_2025.pdf/bed38459-b95f-8057-3af6-fbd6cad1e13a" TargetMode="External"/><Relationship Id="rId2" Type="http://schemas.openxmlformats.org/officeDocument/2006/relationships/hyperlink" Target="https://www.agenziaentrate.gov.it/portale/documents/20143/9295119/Risposta+n.+246_2025/b786ec05-98c8-ebc6-347f-8758f37d3f29"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fragolab.github.io/MDT-lezioni/2026-04-28/Compensazione/Cass_2025-7512.pdf"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igura a mano libera: forma 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 name="Figura a mano libera: forma 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 name="Figura a mano libera: forma 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 name="Figura a mano libera: forma 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pic>
        <p:nvPicPr>
          <p:cNvPr id="10" name="Immagine 9"/>
          <p:cNvPicPr/>
          <p:nvPr/>
        </p:nvPicPr>
        <p:blipFill>
          <a:blip r:embed="rId2"/>
          <a:stretch/>
        </p:blipFill>
        <p:spPr>
          <a:xfrm>
            <a:off x="4817699" y="1230882"/>
            <a:ext cx="2856960" cy="1285560"/>
          </a:xfrm>
          <a:prstGeom prst="rect">
            <a:avLst/>
          </a:prstGeom>
          <a:noFill/>
          <a:ln w="0">
            <a:noFill/>
          </a:ln>
        </p:spPr>
      </p:pic>
      <p:sp>
        <p:nvSpPr>
          <p:cNvPr id="11" name="CasellaDiTesto 10"/>
          <p:cNvSpPr txBox="1"/>
          <p:nvPr/>
        </p:nvSpPr>
        <p:spPr>
          <a:xfrm>
            <a:off x="3926979" y="2791122"/>
            <a:ext cx="4642361" cy="553998"/>
          </a:xfrm>
          <a:prstGeom prst="rect">
            <a:avLst/>
          </a:prstGeom>
          <a:noFill/>
          <a:ln w="0">
            <a:noFill/>
          </a:ln>
        </p:spPr>
        <p:txBody>
          <a:bodyPr wrap="none" lIns="0" tIns="0" rIns="0" bIns="0" anchor="t">
            <a:spAutoFit/>
          </a:bodyPr>
          <a:lstStyle/>
          <a:p>
            <a:r>
              <a:rPr lang="it-IT" sz="3600" b="1" u="none" strike="noStrike" dirty="0">
                <a:solidFill>
                  <a:srgbClr val="003366"/>
                </a:solidFill>
                <a:effectLst/>
                <a:uFillTx/>
                <a:latin typeface="SegoeUI"/>
                <a:ea typeface="SegoeUI"/>
              </a:rPr>
              <a:t>LA COMPENSAZIONE</a:t>
            </a:r>
            <a:endParaRPr lang="it-IT" sz="3600" b="0" u="none" strike="noStrike" dirty="0">
              <a:solidFill>
                <a:srgbClr val="000000"/>
              </a:solidFill>
              <a:effectLst/>
              <a:uFillTx/>
              <a:latin typeface="Times New Roman"/>
            </a:endParaRPr>
          </a:p>
        </p:txBody>
      </p:sp>
      <p:sp>
        <p:nvSpPr>
          <p:cNvPr id="12" name="CasellaDiTesto 11"/>
          <p:cNvSpPr txBox="1"/>
          <p:nvPr/>
        </p:nvSpPr>
        <p:spPr>
          <a:xfrm>
            <a:off x="3248744" y="3364319"/>
            <a:ext cx="5751511" cy="553998"/>
          </a:xfrm>
          <a:prstGeom prst="rect">
            <a:avLst/>
          </a:prstGeom>
          <a:noFill/>
          <a:ln w="0">
            <a:noFill/>
          </a:ln>
        </p:spPr>
        <p:txBody>
          <a:bodyPr wrap="none" lIns="0" tIns="0" rIns="0" bIns="0" anchor="t">
            <a:spAutoFit/>
          </a:bodyPr>
          <a:lstStyle/>
          <a:p>
            <a:r>
              <a:rPr lang="it-IT" sz="3600" b="1" u="none" strike="noStrike" dirty="0">
                <a:solidFill>
                  <a:srgbClr val="003366"/>
                </a:solidFill>
                <a:effectLst/>
                <a:uFillTx/>
                <a:latin typeface="SegoeUI"/>
                <a:ea typeface="SegoeUI"/>
              </a:rPr>
              <a:t> NEL DIRITTO TRIBUTARIO</a:t>
            </a:r>
            <a:endParaRPr lang="it-IT" sz="3600" b="0" u="none" strike="noStrike" dirty="0">
              <a:solidFill>
                <a:srgbClr val="000000"/>
              </a:solidFill>
              <a:effectLst/>
              <a:uFillTx/>
              <a:latin typeface="Times New Roman"/>
            </a:endParaRPr>
          </a:p>
        </p:txBody>
      </p:sp>
      <p:sp>
        <p:nvSpPr>
          <p:cNvPr id="13" name="CasellaDiTesto 12"/>
          <p:cNvSpPr txBox="1"/>
          <p:nvPr/>
        </p:nvSpPr>
        <p:spPr>
          <a:xfrm>
            <a:off x="4268879" y="4281840"/>
            <a:ext cx="3954600" cy="306720"/>
          </a:xfrm>
          <a:prstGeom prst="rect">
            <a:avLst/>
          </a:prstGeom>
          <a:noFill/>
          <a:ln w="0">
            <a:noFill/>
          </a:ln>
        </p:spPr>
        <p:txBody>
          <a:bodyPr wrap="none" lIns="0" tIns="0" rIns="0" bIns="0" anchor="t">
            <a:spAutoFit/>
          </a:bodyPr>
          <a:lstStyle/>
          <a:p>
            <a:r>
              <a:rPr lang="it-IT" sz="1810" b="1" i="1" u="none" strike="noStrike" dirty="0">
                <a:solidFill>
                  <a:srgbClr val="495057"/>
                </a:solidFill>
                <a:effectLst/>
                <a:uFillTx/>
                <a:latin typeface="SegoeUI"/>
                <a:ea typeface="SegoeUI"/>
              </a:rPr>
              <a:t>Struttura, limiti applicativi, casistica</a:t>
            </a:r>
            <a:endParaRPr lang="it-IT" sz="1810" b="0" u="none" strike="noStrike" dirty="0">
              <a:solidFill>
                <a:srgbClr val="000000"/>
              </a:solidFill>
              <a:effectLst/>
              <a:uFillTx/>
              <a:latin typeface="Times New Roman"/>
            </a:endParaRPr>
          </a:p>
        </p:txBody>
      </p:sp>
      <p:sp>
        <p:nvSpPr>
          <p:cNvPr id="14" name="CasellaDiTesto 13"/>
          <p:cNvSpPr txBox="1"/>
          <p:nvPr/>
        </p:nvSpPr>
        <p:spPr>
          <a:xfrm>
            <a:off x="3574440" y="4764960"/>
            <a:ext cx="53470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Università Cattolica di Milano - Master in Diritto Tributario</a:t>
            </a:r>
            <a:endParaRPr lang="it-IT" sz="1650" b="0" u="none" strike="noStrike">
              <a:solidFill>
                <a:srgbClr val="000000"/>
              </a:solidFill>
              <a:effectLst/>
              <a:uFillTx/>
              <a:latin typeface="Times New Roman"/>
            </a:endParaRPr>
          </a:p>
        </p:txBody>
      </p:sp>
      <p:sp>
        <p:nvSpPr>
          <p:cNvPr id="15" name="Figura a mano libera: forma 1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 name="CasellaDiTesto 15"/>
          <p:cNvSpPr txBox="1"/>
          <p:nvPr/>
        </p:nvSpPr>
        <p:spPr>
          <a:xfrm>
            <a:off x="5622119" y="5088960"/>
            <a:ext cx="1248120" cy="277920"/>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Luca Bonfanti</a:t>
            </a:r>
            <a:endParaRPr lang="it-IT" sz="1650" b="0" u="none" strike="noStrike" dirty="0">
              <a:solidFill>
                <a:srgbClr val="000000"/>
              </a:solidFill>
              <a:effectLst/>
              <a:uFillTx/>
              <a:latin typeface="Times New Roman"/>
            </a:endParaRPr>
          </a:p>
        </p:txBody>
      </p:sp>
      <p:sp>
        <p:nvSpPr>
          <p:cNvPr id="17" name="Figura a mano libera: forma 16"/>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 name="CasellaDiTesto 17"/>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9" name="CasellaDiTesto 18"/>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 / 73</a:t>
            </a:r>
            <a:endParaRPr lang="it-IT" sz="98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igura a mano libera: forma 1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 name="Figura a mano libera: forma 2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 name="Figura a mano libera: forma 2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 name="Figura a mano libera: forma 2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4" name="Figura a mano libera: forma 23"/>
          <p:cNvSpPr/>
          <p:nvPr/>
        </p:nvSpPr>
        <p:spPr>
          <a:xfrm>
            <a:off x="971280" y="2143080"/>
            <a:ext cx="10554120" cy="19800"/>
          </a:xfrm>
          <a:custGeom>
            <a:avLst/>
            <a:gdLst/>
            <a:ahLst/>
            <a:cxnLst/>
            <a:rect l="0" t="0" r="r" b="b"/>
            <a:pathLst>
              <a:path w="29317" h="55">
                <a:moveTo>
                  <a:pt x="0" y="0"/>
                </a:moveTo>
                <a:lnTo>
                  <a:pt x="29317" y="0"/>
                </a:lnTo>
                <a:lnTo>
                  <a:pt x="29317" y="55"/>
                </a:lnTo>
                <a:lnTo>
                  <a:pt x="0" y="55"/>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5" name="Figura a mano libera: forma 24"/>
          <p:cNvSpPr/>
          <p:nvPr/>
        </p:nvSpPr>
        <p:spPr>
          <a:xfrm>
            <a:off x="1028520" y="2390760"/>
            <a:ext cx="76680" cy="76320"/>
          </a:xfrm>
          <a:custGeom>
            <a:avLst/>
            <a:gdLst/>
            <a:ahLst/>
            <a:cxnLst/>
            <a:rect l="0" t="0" r="r" b="b"/>
            <a:pathLst>
              <a:path w="213" h="212">
                <a:moveTo>
                  <a:pt x="213" y="106"/>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1"/>
                  <a:pt x="31" y="32"/>
                </a:cubicBezTo>
                <a:cubicBezTo>
                  <a:pt x="41" y="22"/>
                  <a:pt x="52" y="14"/>
                  <a:pt x="65" y="9"/>
                </a:cubicBezTo>
                <a:cubicBezTo>
                  <a:pt x="78" y="2"/>
                  <a:pt x="92" y="0"/>
                  <a:pt x="106" y="0"/>
                </a:cubicBezTo>
                <a:cubicBezTo>
                  <a:pt x="120" y="0"/>
                  <a:pt x="133" y="2"/>
                  <a:pt x="146" y="9"/>
                </a:cubicBezTo>
                <a:cubicBezTo>
                  <a:pt x="159" y="14"/>
                  <a:pt x="171" y="22"/>
                  <a:pt x="181" y="32"/>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6" name="CasellaDiTesto 25"/>
          <p:cNvSpPr txBox="1"/>
          <p:nvPr/>
        </p:nvSpPr>
        <p:spPr>
          <a:xfrm>
            <a:off x="971640" y="1533600"/>
            <a:ext cx="444924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OBIETTIVI DELLA LEZIONE</a:t>
            </a:r>
            <a:endParaRPr lang="it-IT" sz="2850" b="0" u="none" strike="noStrike">
              <a:solidFill>
                <a:srgbClr val="000000"/>
              </a:solidFill>
              <a:effectLst/>
              <a:uFillTx/>
              <a:latin typeface="Times New Roman"/>
            </a:endParaRPr>
          </a:p>
        </p:txBody>
      </p:sp>
      <p:sp>
        <p:nvSpPr>
          <p:cNvPr id="27" name="CasellaDiTesto 26"/>
          <p:cNvSpPr txBox="1"/>
          <p:nvPr/>
        </p:nvSpPr>
        <p:spPr>
          <a:xfrm>
            <a:off x="1238400" y="2279880"/>
            <a:ext cx="102391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ricostruire</a:t>
            </a:r>
            <a:r>
              <a:rPr lang="it-IT" sz="1580" b="0" u="none" strike="noStrike">
                <a:solidFill>
                  <a:srgbClr val="343A40"/>
                </a:solidFill>
                <a:effectLst/>
                <a:uFillTx/>
                <a:latin typeface="SegoeUI"/>
                <a:ea typeface="SegoeUI"/>
              </a:rPr>
              <a:t> la disciplina civilistica della compensazione (artt. 1241-1252 c.c.) e individuarne i tratti distintivi rispetto al</a:t>
            </a:r>
            <a:endParaRPr lang="it-IT" sz="1580" b="0" u="none" strike="noStrike">
              <a:solidFill>
                <a:srgbClr val="000000"/>
              </a:solidFill>
              <a:effectLst/>
              <a:uFillTx/>
              <a:latin typeface="Times New Roman"/>
            </a:endParaRPr>
          </a:p>
        </p:txBody>
      </p:sp>
      <p:sp>
        <p:nvSpPr>
          <p:cNvPr id="28" name="Figura a mano libera: forma 27"/>
          <p:cNvSpPr/>
          <p:nvPr/>
        </p:nvSpPr>
        <p:spPr>
          <a:xfrm>
            <a:off x="1028520" y="3181320"/>
            <a:ext cx="76680" cy="76320"/>
          </a:xfrm>
          <a:custGeom>
            <a:avLst/>
            <a:gdLst/>
            <a:ahLst/>
            <a:cxnLst/>
            <a:rect l="0" t="0" r="r" b="b"/>
            <a:pathLst>
              <a:path w="213" h="212">
                <a:moveTo>
                  <a:pt x="213" y="105"/>
                </a:moveTo>
                <a:cubicBezTo>
                  <a:pt x="213" y="119"/>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19"/>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9" name="CasellaDiTesto 28"/>
          <p:cNvSpPr txBox="1"/>
          <p:nvPr/>
        </p:nvSpPr>
        <p:spPr>
          <a:xfrm>
            <a:off x="1238400" y="2594160"/>
            <a:ext cx="1643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modello tributario;</a:t>
            </a:r>
            <a:endParaRPr lang="it-IT" sz="1580" b="0" u="none" strike="noStrike">
              <a:solidFill>
                <a:srgbClr val="000000"/>
              </a:solidFill>
              <a:effectLst/>
              <a:uFillTx/>
              <a:latin typeface="Times New Roman"/>
            </a:endParaRPr>
          </a:p>
        </p:txBody>
      </p:sp>
      <p:sp>
        <p:nvSpPr>
          <p:cNvPr id="30" name="CasellaDiTesto 29"/>
          <p:cNvSpPr txBox="1"/>
          <p:nvPr/>
        </p:nvSpPr>
        <p:spPr>
          <a:xfrm>
            <a:off x="1238400" y="3070440"/>
            <a:ext cx="102492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maneggiare</a:t>
            </a:r>
            <a:r>
              <a:rPr lang="it-IT" sz="1580" b="0" u="none" strike="noStrike">
                <a:solidFill>
                  <a:srgbClr val="343A40"/>
                </a:solidFill>
                <a:effectLst/>
                <a:uFillTx/>
                <a:latin typeface="SegoeUI"/>
                <a:ea typeface="SegoeUI"/>
              </a:rPr>
              <a:t> l'articolato sistema della compensazione "fiscale" oggi riallocato nel D.Lgs. n. 33/2025 (già art. 17 D.Lgs.</a:t>
            </a:r>
            <a:endParaRPr lang="it-IT" sz="1580" b="0" u="none" strike="noStrike">
              <a:solidFill>
                <a:srgbClr val="000000"/>
              </a:solidFill>
              <a:effectLst/>
              <a:uFillTx/>
              <a:latin typeface="Times New Roman"/>
            </a:endParaRPr>
          </a:p>
        </p:txBody>
      </p:sp>
      <p:sp>
        <p:nvSpPr>
          <p:cNvPr id="31" name="Figura a mano libera: forma 30"/>
          <p:cNvSpPr/>
          <p:nvPr/>
        </p:nvSpPr>
        <p:spPr>
          <a:xfrm>
            <a:off x="1028520" y="398124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2"/>
                  <a:pt x="31" y="32"/>
                </a:cubicBezTo>
                <a:cubicBezTo>
                  <a:pt x="41" y="22"/>
                  <a:pt x="52" y="14"/>
                  <a:pt x="65" y="8"/>
                </a:cubicBezTo>
                <a:cubicBezTo>
                  <a:pt x="78" y="3"/>
                  <a:pt x="92" y="0"/>
                  <a:pt x="106" y="0"/>
                </a:cubicBezTo>
                <a:cubicBezTo>
                  <a:pt x="120" y="0"/>
                  <a:pt x="133" y="3"/>
                  <a:pt x="146" y="8"/>
                </a:cubicBezTo>
                <a:cubicBezTo>
                  <a:pt x="159" y="14"/>
                  <a:pt x="171" y="22"/>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2" name="CasellaDiTesto 31"/>
          <p:cNvSpPr txBox="1"/>
          <p:nvPr/>
        </p:nvSpPr>
        <p:spPr>
          <a:xfrm>
            <a:off x="1238400" y="3384720"/>
            <a:ext cx="11462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n. 241/1997);</a:t>
            </a:r>
            <a:endParaRPr lang="it-IT" sz="1580" b="0" u="none" strike="noStrike">
              <a:solidFill>
                <a:srgbClr val="000000"/>
              </a:solidFill>
              <a:effectLst/>
              <a:uFillTx/>
              <a:latin typeface="Times New Roman"/>
            </a:endParaRPr>
          </a:p>
        </p:txBody>
      </p:sp>
      <p:sp>
        <p:nvSpPr>
          <p:cNvPr id="33" name="CasellaDiTesto 32"/>
          <p:cNvSpPr txBox="1"/>
          <p:nvPr/>
        </p:nvSpPr>
        <p:spPr>
          <a:xfrm>
            <a:off x="1238400" y="3870360"/>
            <a:ext cx="101271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collocare</a:t>
            </a:r>
            <a:r>
              <a:rPr lang="it-IT" sz="1580" b="0" u="none" strike="noStrike">
                <a:solidFill>
                  <a:srgbClr val="343A40"/>
                </a:solidFill>
                <a:effectLst/>
                <a:uFillTx/>
                <a:latin typeface="SegoeUI"/>
                <a:ea typeface="SegoeUI"/>
              </a:rPr>
              <a:t> la nuova disciplina sanzionatoria dei crediti inesistenti e non spettanti dopo il D.Lgs. n. 87/2024 e il D.Lgs.</a:t>
            </a:r>
            <a:endParaRPr lang="it-IT" sz="1580" b="0" u="none" strike="noStrike">
              <a:solidFill>
                <a:srgbClr val="000000"/>
              </a:solidFill>
              <a:effectLst/>
              <a:uFillTx/>
              <a:latin typeface="Times New Roman"/>
            </a:endParaRPr>
          </a:p>
        </p:txBody>
      </p:sp>
      <p:sp>
        <p:nvSpPr>
          <p:cNvPr id="34" name="Figura a mano libera: forma 33"/>
          <p:cNvSpPr/>
          <p:nvPr/>
        </p:nvSpPr>
        <p:spPr>
          <a:xfrm>
            <a:off x="1028520" y="4771800"/>
            <a:ext cx="76680" cy="76680"/>
          </a:xfrm>
          <a:custGeom>
            <a:avLst/>
            <a:gdLst/>
            <a:ahLst/>
            <a:cxnLst/>
            <a:rect l="0" t="0" r="r" b="b"/>
            <a:pathLst>
              <a:path w="213" h="213">
                <a:moveTo>
                  <a:pt x="213" y="106"/>
                </a:moveTo>
                <a:cubicBezTo>
                  <a:pt x="213" y="120"/>
                  <a:pt x="210" y="133"/>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5" name="CasellaDiTesto 34"/>
          <p:cNvSpPr txBox="1"/>
          <p:nvPr/>
        </p:nvSpPr>
        <p:spPr>
          <a:xfrm>
            <a:off x="1238400" y="4175280"/>
            <a:ext cx="10861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n. 173/2024;</a:t>
            </a:r>
            <a:endParaRPr lang="it-IT" sz="1580" b="0" u="none" strike="noStrike">
              <a:solidFill>
                <a:srgbClr val="000000"/>
              </a:solidFill>
              <a:effectLst/>
              <a:uFillTx/>
              <a:latin typeface="Times New Roman"/>
            </a:endParaRPr>
          </a:p>
        </p:txBody>
      </p:sp>
      <p:sp>
        <p:nvSpPr>
          <p:cNvPr id="36" name="Figura a mano libera: forma 35"/>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 name="CasellaDiTesto 36"/>
          <p:cNvSpPr txBox="1"/>
          <p:nvPr/>
        </p:nvSpPr>
        <p:spPr>
          <a:xfrm>
            <a:off x="1238400" y="4660920"/>
            <a:ext cx="68104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analizzare</a:t>
            </a:r>
            <a:r>
              <a:rPr lang="it-IT" sz="1580" b="0" u="none" strike="noStrike">
                <a:solidFill>
                  <a:srgbClr val="343A40"/>
                </a:solidFill>
                <a:effectLst/>
                <a:uFillTx/>
                <a:latin typeface="SegoeUI"/>
                <a:ea typeface="SegoeUI"/>
              </a:rPr>
              <a:t> la giurisprudenza di legittimità più recente e alcuni casi applicativi.</a:t>
            </a:r>
            <a:endParaRPr lang="it-IT" sz="1580" b="0" u="none" strike="noStrike">
              <a:solidFill>
                <a:srgbClr val="000000"/>
              </a:solidFill>
              <a:effectLst/>
              <a:uFillTx/>
              <a:latin typeface="Times New Roman"/>
            </a:endParaRPr>
          </a:p>
        </p:txBody>
      </p:sp>
      <p:sp>
        <p:nvSpPr>
          <p:cNvPr id="38" name="Figura a mano libera: forma 37"/>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9" name="CasellaDiTesto 38"/>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40" name="CasellaDiTesto 39"/>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 / 73</a:t>
            </a:r>
            <a:endParaRPr lang="it-IT" sz="98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igura a mano libera: forma 4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2" name="Figura a mano libera: forma 4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3" name="Figura a mano libera: forma 42"/>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 name="Figura a mano libera: forma 43"/>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5" name="Figura a mano libera: forma 44"/>
          <p:cNvSpPr/>
          <p:nvPr/>
        </p:nvSpPr>
        <p:spPr>
          <a:xfrm>
            <a:off x="971280" y="164772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 name="CasellaDiTesto 45"/>
          <p:cNvSpPr txBox="1"/>
          <p:nvPr/>
        </p:nvSpPr>
        <p:spPr>
          <a:xfrm>
            <a:off x="971640" y="1038240"/>
            <a:ext cx="40017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MAPPA DEL PERCORSO</a:t>
            </a:r>
            <a:endParaRPr lang="it-IT" sz="2850" b="0" u="none" strike="noStrike">
              <a:solidFill>
                <a:srgbClr val="000000"/>
              </a:solidFill>
              <a:effectLst/>
              <a:uFillTx/>
              <a:latin typeface="Times New Roman"/>
            </a:endParaRPr>
          </a:p>
        </p:txBody>
      </p:sp>
      <p:sp>
        <p:nvSpPr>
          <p:cNvPr id="47" name="CasellaDiTesto 46"/>
          <p:cNvSpPr txBox="1"/>
          <p:nvPr/>
        </p:nvSpPr>
        <p:spPr>
          <a:xfrm>
            <a:off x="1184400" y="1784520"/>
            <a:ext cx="45403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Il modello </a:t>
            </a:r>
            <a:r>
              <a:rPr lang="it-IT" sz="1580" b="1" u="none" strike="noStrike">
                <a:solidFill>
                  <a:srgbClr val="00509E"/>
                </a:solidFill>
                <a:effectLst/>
                <a:uFillTx/>
                <a:latin typeface="SegoeUI"/>
                <a:ea typeface="SegoeUI"/>
              </a:rPr>
              <a:t>civilistico</a:t>
            </a:r>
            <a:r>
              <a:rPr lang="it-IT" sz="1580" b="0" u="none" strike="noStrike">
                <a:solidFill>
                  <a:srgbClr val="343A40"/>
                </a:solidFill>
                <a:effectLst/>
                <a:uFillTx/>
                <a:latin typeface="SegoeUI"/>
                <a:ea typeface="SegoeUI"/>
              </a:rPr>
              <a:t> — premessa comparatistica.</a:t>
            </a:r>
            <a:endParaRPr lang="it-IT" sz="1580" b="0" u="none" strike="noStrike">
              <a:solidFill>
                <a:srgbClr val="000000"/>
              </a:solidFill>
              <a:effectLst/>
              <a:uFillTx/>
              <a:latin typeface="Times New Roman"/>
            </a:endParaRPr>
          </a:p>
        </p:txBody>
      </p:sp>
      <p:sp>
        <p:nvSpPr>
          <p:cNvPr id="48" name="CasellaDiTesto 47"/>
          <p:cNvSpPr txBox="1"/>
          <p:nvPr/>
        </p:nvSpPr>
        <p:spPr>
          <a:xfrm>
            <a:off x="1184400" y="2270160"/>
            <a:ext cx="5722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La compensazione </a:t>
            </a:r>
            <a:r>
              <a:rPr lang="it-IT" sz="1580" b="1" u="none" strike="noStrike">
                <a:solidFill>
                  <a:srgbClr val="00509E"/>
                </a:solidFill>
                <a:effectLst/>
                <a:uFillTx/>
                <a:latin typeface="SegoeUI"/>
                <a:ea typeface="SegoeUI"/>
              </a:rPr>
              <a:t>tributaria</a:t>
            </a:r>
            <a:r>
              <a:rPr lang="it-IT" sz="1580" b="0" u="none" strike="noStrike">
                <a:solidFill>
                  <a:srgbClr val="343A40"/>
                </a:solidFill>
                <a:effectLst/>
                <a:uFillTx/>
                <a:latin typeface="SegoeUI"/>
                <a:ea typeface="SegoeUI"/>
              </a:rPr>
              <a:t>: cornice generale e art. 8 Statuto.</a:t>
            </a:r>
            <a:endParaRPr lang="it-IT" sz="1580" b="0" u="none" strike="noStrike">
              <a:solidFill>
                <a:srgbClr val="000000"/>
              </a:solidFill>
              <a:effectLst/>
              <a:uFillTx/>
              <a:latin typeface="Times New Roman"/>
            </a:endParaRPr>
          </a:p>
        </p:txBody>
      </p:sp>
      <p:sp>
        <p:nvSpPr>
          <p:cNvPr id="49" name="CasellaDiTesto 48"/>
          <p:cNvSpPr txBox="1"/>
          <p:nvPr/>
        </p:nvSpPr>
        <p:spPr>
          <a:xfrm>
            <a:off x="1184400" y="2746440"/>
            <a:ext cx="83005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3. La compensazione </a:t>
            </a:r>
            <a:r>
              <a:rPr lang="it-IT" sz="1580" b="1" u="none" strike="noStrike">
                <a:solidFill>
                  <a:srgbClr val="00509E"/>
                </a:solidFill>
                <a:effectLst/>
                <a:uFillTx/>
                <a:latin typeface="SegoeUI"/>
                <a:ea typeface="SegoeUI"/>
              </a:rPr>
              <a:t>orizzontale</a:t>
            </a:r>
            <a:r>
              <a:rPr lang="it-IT" sz="1580" b="0" u="none" strike="noStrike">
                <a:solidFill>
                  <a:srgbClr val="343A40"/>
                </a:solidFill>
                <a:effectLst/>
                <a:uFillTx/>
                <a:latin typeface="SegoeUI"/>
                <a:ea typeface="SegoeUI"/>
              </a:rPr>
              <a:t>: l'art. 17 D.Lgs. n. 241/1997 (domani art. 3 D.Lgs. n. 33/2025).</a:t>
            </a:r>
            <a:endParaRPr lang="it-IT" sz="1580" b="0" u="none" strike="noStrike">
              <a:solidFill>
                <a:srgbClr val="000000"/>
              </a:solidFill>
              <a:effectLst/>
              <a:uFillTx/>
              <a:latin typeface="Times New Roman"/>
            </a:endParaRPr>
          </a:p>
        </p:txBody>
      </p:sp>
      <p:sp>
        <p:nvSpPr>
          <p:cNvPr id="50" name="CasellaDiTesto 49"/>
          <p:cNvSpPr txBox="1"/>
          <p:nvPr/>
        </p:nvSpPr>
        <p:spPr>
          <a:xfrm>
            <a:off x="1184400" y="3232080"/>
            <a:ext cx="10225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4. </a:t>
            </a:r>
            <a:r>
              <a:rPr lang="it-IT" sz="1580" b="1" u="none" strike="noStrike">
                <a:solidFill>
                  <a:srgbClr val="00509E"/>
                </a:solidFill>
                <a:effectLst/>
                <a:uFillTx/>
                <a:latin typeface="SegoeUI"/>
                <a:ea typeface="SegoeUI"/>
              </a:rPr>
              <a:t>Limiti e divieti</a:t>
            </a:r>
            <a:r>
              <a:rPr lang="it-IT" sz="1580" b="0" u="none" strike="noStrike">
                <a:solidFill>
                  <a:srgbClr val="343A40"/>
                </a:solidFill>
                <a:effectLst/>
                <a:uFillTx/>
                <a:latin typeface="SegoeUI"/>
                <a:ea typeface="SegoeUI"/>
              </a:rPr>
              <a:t>: art. 31 D.L. 78/2010; soglia 50.000 € (Legge Bilancio 2026); sospensione deleghe "a rischio"; DURF.</a:t>
            </a:r>
            <a:endParaRPr lang="it-IT" sz="1580" b="0" u="none" strike="noStrike">
              <a:solidFill>
                <a:srgbClr val="000000"/>
              </a:solidFill>
              <a:effectLst/>
              <a:uFillTx/>
              <a:latin typeface="Times New Roman"/>
            </a:endParaRPr>
          </a:p>
        </p:txBody>
      </p:sp>
      <p:sp>
        <p:nvSpPr>
          <p:cNvPr id="51" name="CasellaDiTesto 50"/>
          <p:cNvSpPr txBox="1"/>
          <p:nvPr/>
        </p:nvSpPr>
        <p:spPr>
          <a:xfrm>
            <a:off x="1184400" y="3708360"/>
            <a:ext cx="55454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5. La compensazione "</a:t>
            </a:r>
            <a:r>
              <a:rPr lang="it-IT" sz="1580" b="1" u="none" strike="noStrike">
                <a:solidFill>
                  <a:srgbClr val="00509E"/>
                </a:solidFill>
                <a:effectLst/>
                <a:uFillTx/>
                <a:latin typeface="SegoeUI"/>
                <a:ea typeface="SegoeUI"/>
              </a:rPr>
              <a:t>verticale</a:t>
            </a:r>
            <a:r>
              <a:rPr lang="it-IT" sz="1580" b="0" u="none" strike="noStrike">
                <a:solidFill>
                  <a:srgbClr val="343A40"/>
                </a:solidFill>
                <a:effectLst/>
                <a:uFillTx/>
                <a:latin typeface="SegoeUI"/>
                <a:ea typeface="SegoeUI"/>
              </a:rPr>
              <a:t>": la disciplina nei singoli tributi.</a:t>
            </a:r>
            <a:endParaRPr lang="it-IT" sz="1580" b="0" u="none" strike="noStrike">
              <a:solidFill>
                <a:srgbClr val="000000"/>
              </a:solidFill>
              <a:effectLst/>
              <a:uFillTx/>
              <a:latin typeface="Times New Roman"/>
            </a:endParaRPr>
          </a:p>
        </p:txBody>
      </p:sp>
      <p:sp>
        <p:nvSpPr>
          <p:cNvPr id="52" name="CasellaDiTesto 51"/>
          <p:cNvSpPr txBox="1"/>
          <p:nvPr/>
        </p:nvSpPr>
        <p:spPr>
          <a:xfrm>
            <a:off x="1184400" y="4194360"/>
            <a:ext cx="67971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6. La compensazione di crediti extra-fiscali e quella per il pagamento dei ruoli</a:t>
            </a:r>
            <a:endParaRPr lang="it-IT" sz="1580" b="0" u="none" strike="noStrike">
              <a:solidFill>
                <a:srgbClr val="000000"/>
              </a:solidFill>
              <a:effectLst/>
              <a:uFillTx/>
              <a:latin typeface="Times New Roman"/>
            </a:endParaRPr>
          </a:p>
        </p:txBody>
      </p:sp>
      <p:sp>
        <p:nvSpPr>
          <p:cNvPr id="53" name="CasellaDiTesto 52"/>
          <p:cNvSpPr txBox="1"/>
          <p:nvPr/>
        </p:nvSpPr>
        <p:spPr>
          <a:xfrm>
            <a:off x="1184400" y="4670640"/>
            <a:ext cx="7675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7. La natura dei crediti d'imposta e la distinzione tra crediti </a:t>
            </a:r>
            <a:r>
              <a:rPr lang="it-IT" sz="1580" b="1" u="none" strike="noStrike">
                <a:solidFill>
                  <a:srgbClr val="00509E"/>
                </a:solidFill>
                <a:effectLst/>
                <a:uFillTx/>
                <a:latin typeface="SegoeUI"/>
                <a:ea typeface="SegoeUI"/>
              </a:rPr>
              <a:t>inesistenti e non spettanti</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54" name="Figura a mano libera: forma 53"/>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5" name="CasellaDiTesto 54"/>
          <p:cNvSpPr txBox="1"/>
          <p:nvPr/>
        </p:nvSpPr>
        <p:spPr>
          <a:xfrm>
            <a:off x="1184400" y="5156280"/>
            <a:ext cx="66301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8. </a:t>
            </a:r>
            <a:r>
              <a:rPr lang="it-IT" sz="1580" b="1" u="none" strike="noStrike">
                <a:solidFill>
                  <a:srgbClr val="00509E"/>
                </a:solidFill>
                <a:effectLst/>
                <a:uFillTx/>
                <a:latin typeface="SegoeUI"/>
                <a:ea typeface="SegoeUI"/>
              </a:rPr>
              <a:t>Casistica</a:t>
            </a:r>
            <a:r>
              <a:rPr lang="it-IT" sz="1580" b="0" u="none" strike="noStrike">
                <a:solidFill>
                  <a:srgbClr val="343A40"/>
                </a:solidFill>
                <a:effectLst/>
                <a:uFillTx/>
                <a:latin typeface="SegoeUI"/>
                <a:ea typeface="SegoeUI"/>
              </a:rPr>
              <a:t>: accollo, procedure concorsuali, rimborsi, fermo amministrativo.</a:t>
            </a:r>
            <a:endParaRPr lang="it-IT" sz="1580" b="0" u="none" strike="noStrike">
              <a:solidFill>
                <a:srgbClr val="000000"/>
              </a:solidFill>
              <a:effectLst/>
              <a:uFillTx/>
              <a:latin typeface="Times New Roman"/>
            </a:endParaRPr>
          </a:p>
        </p:txBody>
      </p:sp>
      <p:sp>
        <p:nvSpPr>
          <p:cNvPr id="56" name="Figura a mano libera: forma 55"/>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7" name="CasellaDiTesto 56"/>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58" name="CasellaDiTesto 57"/>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 / 73</a:t>
            </a:r>
            <a:endParaRPr lang="it-IT" sz="98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igura a mano libera: forma 5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0" name="Figura a mano libera: forma 5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1" name="Figura a mano libera: forma 60"/>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2" name="Figura a mano libera: forma 61"/>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3" name="CasellaDiTesto 62"/>
          <p:cNvSpPr txBox="1"/>
          <p:nvPr/>
        </p:nvSpPr>
        <p:spPr>
          <a:xfrm>
            <a:off x="3470400" y="2697480"/>
            <a:ext cx="537012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IL MODELLO CIVILISTICO</a:t>
            </a:r>
            <a:endParaRPr lang="it-IT" sz="3600" b="0" u="none" strike="noStrike">
              <a:solidFill>
                <a:srgbClr val="000000"/>
              </a:solidFill>
              <a:effectLst/>
              <a:uFillTx/>
              <a:latin typeface="Times New Roman"/>
            </a:endParaRPr>
          </a:p>
        </p:txBody>
      </p:sp>
      <p:sp>
        <p:nvSpPr>
          <p:cNvPr id="64" name="Figura a mano libera: forma 63"/>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5" name="CasellaDiTesto 64"/>
          <p:cNvSpPr txBox="1"/>
          <p:nvPr/>
        </p:nvSpPr>
        <p:spPr>
          <a:xfrm>
            <a:off x="4963320" y="3647160"/>
            <a:ext cx="2691720" cy="306720"/>
          </a:xfrm>
          <a:prstGeom prst="rect">
            <a:avLst/>
          </a:prstGeom>
          <a:noFill/>
          <a:ln w="0">
            <a:noFill/>
          </a:ln>
        </p:spPr>
        <p:txBody>
          <a:bodyPr wrap="none" lIns="0" tIns="0" rIns="0" bIns="0" anchor="t">
            <a:spAutoFit/>
          </a:bodyPr>
          <a:lstStyle/>
          <a:p>
            <a:r>
              <a:rPr lang="it-IT" sz="1810" b="1" i="1" u="none" strike="noStrike">
                <a:solidFill>
                  <a:srgbClr val="495057"/>
                </a:solidFill>
                <a:effectLst/>
                <a:uFillTx/>
                <a:latin typeface="SegoeUI"/>
                <a:ea typeface="SegoeUI"/>
              </a:rPr>
              <a:t>premessa comparatistica</a:t>
            </a:r>
            <a:endParaRPr lang="it-IT" sz="1810" b="0" u="none" strike="noStrike">
              <a:solidFill>
                <a:srgbClr val="000000"/>
              </a:solidFill>
              <a:effectLst/>
              <a:uFillTx/>
              <a:latin typeface="Times New Roman"/>
            </a:endParaRPr>
          </a:p>
        </p:txBody>
      </p:sp>
      <p:sp>
        <p:nvSpPr>
          <p:cNvPr id="66" name="Figura a mano libera: forma 65"/>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7" name="CasellaDiTesto 66"/>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68" name="CasellaDiTesto 67"/>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 / 73</a:t>
            </a:r>
            <a:endParaRPr lang="it-IT" sz="98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igura a mano libera: forma 6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0" name="Figura a mano libera: forma 6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1" name="Figura a mano libera: forma 70"/>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2" name="Figura a mano libera: forma 71"/>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3" name="Figura a mano libera: forma 72"/>
          <p:cNvSpPr/>
          <p:nvPr/>
        </p:nvSpPr>
        <p:spPr>
          <a:xfrm>
            <a:off x="971280" y="196200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4" name="CasellaDiTesto 73"/>
          <p:cNvSpPr txBox="1"/>
          <p:nvPr/>
        </p:nvSpPr>
        <p:spPr>
          <a:xfrm>
            <a:off x="971640" y="1343160"/>
            <a:ext cx="64177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NEL CODICE CIVILE</a:t>
            </a:r>
            <a:endParaRPr lang="it-IT" sz="2850" b="0" u="none" strike="noStrike">
              <a:solidFill>
                <a:srgbClr val="000000"/>
              </a:solidFill>
              <a:effectLst/>
              <a:uFillTx/>
              <a:latin typeface="Times New Roman"/>
            </a:endParaRPr>
          </a:p>
        </p:txBody>
      </p:sp>
      <p:sp>
        <p:nvSpPr>
          <p:cNvPr id="75" name="Figura a mano libera: forma 74"/>
          <p:cNvSpPr/>
          <p:nvPr/>
        </p:nvSpPr>
        <p:spPr>
          <a:xfrm>
            <a:off x="1028520" y="28954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6" name="CasellaDiTesto 75"/>
          <p:cNvSpPr txBox="1"/>
          <p:nvPr/>
        </p:nvSpPr>
        <p:spPr>
          <a:xfrm>
            <a:off x="971640" y="2067840"/>
            <a:ext cx="457452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Natura ed Efficienza Economica (art. 1241 c.c.)</a:t>
            </a:r>
            <a:endParaRPr lang="it-IT" sz="1800" b="0" u="none" strike="noStrike">
              <a:solidFill>
                <a:srgbClr val="000000"/>
              </a:solidFill>
              <a:effectLst/>
              <a:uFillTx/>
              <a:latin typeface="Times New Roman"/>
            </a:endParaRPr>
          </a:p>
        </p:txBody>
      </p:sp>
      <p:sp>
        <p:nvSpPr>
          <p:cNvPr id="77" name="Figura a mano libera: forma 76"/>
          <p:cNvSpPr/>
          <p:nvPr/>
        </p:nvSpPr>
        <p:spPr>
          <a:xfrm>
            <a:off x="1028520" y="337176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1"/>
                  <a:pt x="52" y="13"/>
                  <a:pt x="65" y="8"/>
                </a:cubicBezTo>
                <a:cubicBezTo>
                  <a:pt x="78" y="2"/>
                  <a:pt x="92" y="0"/>
                  <a:pt x="106" y="0"/>
                </a:cubicBezTo>
                <a:cubicBezTo>
                  <a:pt x="120" y="0"/>
                  <a:pt x="133" y="2"/>
                  <a:pt x="146" y="8"/>
                </a:cubicBezTo>
                <a:cubicBezTo>
                  <a:pt x="159" y="13"/>
                  <a:pt x="171" y="21"/>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8" name="CasellaDiTesto 77"/>
          <p:cNvSpPr txBox="1"/>
          <p:nvPr/>
        </p:nvSpPr>
        <p:spPr>
          <a:xfrm>
            <a:off x="1238400" y="2784600"/>
            <a:ext cx="81108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Struttura:</a:t>
            </a:r>
            <a:r>
              <a:rPr lang="it-IT" sz="1580" b="0" u="none" strike="noStrike">
                <a:solidFill>
                  <a:srgbClr val="343A40"/>
                </a:solidFill>
                <a:effectLst/>
                <a:uFillTx/>
                <a:latin typeface="SegoeUI"/>
                <a:ea typeface="SegoeUI"/>
              </a:rPr>
              <a:t> Elisione di due reciproche posizioni debitorie fino al limite della loro concorrenza.</a:t>
            </a:r>
            <a:endParaRPr lang="it-IT" sz="1580" b="0" u="none" strike="noStrike">
              <a:solidFill>
                <a:srgbClr val="000000"/>
              </a:solidFill>
              <a:effectLst/>
              <a:uFillTx/>
              <a:latin typeface="Times New Roman"/>
            </a:endParaRPr>
          </a:p>
        </p:txBody>
      </p:sp>
      <p:sp>
        <p:nvSpPr>
          <p:cNvPr id="79" name="CasellaDiTesto 78"/>
          <p:cNvSpPr txBox="1"/>
          <p:nvPr/>
        </p:nvSpPr>
        <p:spPr>
          <a:xfrm>
            <a:off x="1238400" y="3260880"/>
            <a:ext cx="101253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Efficienza (Transaction Costs):</a:t>
            </a:r>
            <a:r>
              <a:rPr lang="it-IT" sz="1580" b="0" u="none" strike="noStrike">
                <a:solidFill>
                  <a:srgbClr val="343A40"/>
                </a:solidFill>
                <a:effectLst/>
                <a:uFillTx/>
                <a:latin typeface="SegoeUI"/>
                <a:ea typeface="SegoeUI"/>
              </a:rPr>
              <a:t> Evita trasferimenti finanziari speculari e riduce i costi di transazione semplificando i</a:t>
            </a:r>
            <a:endParaRPr lang="it-IT" sz="1580" b="0" u="none" strike="noStrike">
              <a:solidFill>
                <a:srgbClr val="000000"/>
              </a:solidFill>
              <a:effectLst/>
              <a:uFillTx/>
              <a:latin typeface="Times New Roman"/>
            </a:endParaRPr>
          </a:p>
        </p:txBody>
      </p:sp>
      <p:sp>
        <p:nvSpPr>
          <p:cNvPr id="80" name="Figura a mano libera: forma 79"/>
          <p:cNvSpPr/>
          <p:nvPr/>
        </p:nvSpPr>
        <p:spPr>
          <a:xfrm>
            <a:off x="1028520" y="4162320"/>
            <a:ext cx="76680" cy="76320"/>
          </a:xfrm>
          <a:custGeom>
            <a:avLst/>
            <a:gdLst/>
            <a:ahLst/>
            <a:cxnLst/>
            <a:rect l="0" t="0" r="r" b="b"/>
            <a:pathLst>
              <a:path w="213" h="212">
                <a:moveTo>
                  <a:pt x="213" y="106"/>
                </a:moveTo>
                <a:cubicBezTo>
                  <a:pt x="213" y="120"/>
                  <a:pt x="210" y="133"/>
                  <a:pt x="205" y="146"/>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1" name="CasellaDiTesto 80"/>
          <p:cNvSpPr txBox="1"/>
          <p:nvPr/>
        </p:nvSpPr>
        <p:spPr>
          <a:xfrm>
            <a:off x="1238400" y="3575160"/>
            <a:ext cx="18597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rapporti patrimoniali.</a:t>
            </a:r>
            <a:endParaRPr lang="it-IT" sz="1580" b="0" u="none" strike="noStrike">
              <a:solidFill>
                <a:srgbClr val="000000"/>
              </a:solidFill>
              <a:effectLst/>
              <a:uFillTx/>
              <a:latin typeface="Times New Roman"/>
            </a:endParaRPr>
          </a:p>
        </p:txBody>
      </p:sp>
      <p:sp>
        <p:nvSpPr>
          <p:cNvPr id="82" name="CasellaDiTesto 81"/>
          <p:cNvSpPr txBox="1"/>
          <p:nvPr/>
        </p:nvSpPr>
        <p:spPr>
          <a:xfrm>
            <a:off x="1238400" y="4051440"/>
            <a:ext cx="101170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Credit Risk Mitigation:</a:t>
            </a:r>
            <a:r>
              <a:rPr lang="it-IT" sz="1580" b="0" u="none" strike="noStrike">
                <a:solidFill>
                  <a:srgbClr val="343A40"/>
                </a:solidFill>
                <a:effectLst/>
                <a:uFillTx/>
                <a:latin typeface="SegoeUI"/>
                <a:ea typeface="SegoeUI"/>
              </a:rPr>
              <a:t> Funzione di garanzia contro il rischio di controparte. Evita che il debitore solvibile adempia</a:t>
            </a:r>
            <a:endParaRPr lang="it-IT" sz="1580" b="0" u="none" strike="noStrike">
              <a:solidFill>
                <a:srgbClr val="000000"/>
              </a:solidFill>
              <a:effectLst/>
              <a:uFillTx/>
              <a:latin typeface="Times New Roman"/>
            </a:endParaRPr>
          </a:p>
        </p:txBody>
      </p:sp>
      <p:sp>
        <p:nvSpPr>
          <p:cNvPr id="83" name="Figura a mano libera: forma 82"/>
          <p:cNvSpPr/>
          <p:nvPr/>
        </p:nvSpPr>
        <p:spPr>
          <a:xfrm>
            <a:off x="1028520" y="49528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6"/>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4" name="CasellaDiTesto 83"/>
          <p:cNvSpPr txBox="1"/>
          <p:nvPr/>
        </p:nvSpPr>
        <p:spPr>
          <a:xfrm>
            <a:off x="1238400" y="4365720"/>
            <a:ext cx="31942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senza ottenere la controprestazione.</a:t>
            </a:r>
            <a:endParaRPr lang="it-IT" sz="1580" b="0" u="none" strike="noStrike">
              <a:solidFill>
                <a:srgbClr val="000000"/>
              </a:solidFill>
              <a:effectLst/>
              <a:uFillTx/>
              <a:latin typeface="Times New Roman"/>
            </a:endParaRPr>
          </a:p>
        </p:txBody>
      </p:sp>
      <p:sp>
        <p:nvSpPr>
          <p:cNvPr id="85" name="Figura a mano libera: forma 8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6" name="CasellaDiTesto 85"/>
          <p:cNvSpPr txBox="1"/>
          <p:nvPr/>
        </p:nvSpPr>
        <p:spPr>
          <a:xfrm>
            <a:off x="1238400" y="4842000"/>
            <a:ext cx="94230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Natura Giuridica:</a:t>
            </a:r>
            <a:r>
              <a:rPr lang="it-IT" sz="1580" b="0" u="none" strike="noStrike">
                <a:solidFill>
                  <a:srgbClr val="343A40"/>
                </a:solidFill>
                <a:effectLst/>
                <a:uFillTx/>
                <a:latin typeface="SegoeUI"/>
                <a:ea typeface="SegoeUI"/>
              </a:rPr>
              <a:t> Modo satisfattivo di estinzione dell'obbligazione, privo di </a:t>
            </a:r>
            <a:r>
              <a:rPr lang="it-IT" sz="1580" b="0" i="1" u="none" strike="noStrike">
                <a:solidFill>
                  <a:srgbClr val="495057"/>
                </a:solidFill>
                <a:effectLst/>
                <a:uFillTx/>
                <a:latin typeface="SegoeUI"/>
                <a:ea typeface="SegoeUI"/>
              </a:rPr>
              <a:t>traditio</a:t>
            </a:r>
            <a:r>
              <a:rPr lang="it-IT" sz="1580" b="0" u="none" strike="noStrike">
                <a:solidFill>
                  <a:srgbClr val="343A40"/>
                </a:solidFill>
                <a:effectLst/>
                <a:uFillTx/>
                <a:latin typeface="SegoeUI"/>
                <a:ea typeface="SegoeUI"/>
              </a:rPr>
              <a:t> (esecuzione materiale).</a:t>
            </a:r>
            <a:endParaRPr lang="it-IT" sz="1580" b="0" u="none" strike="noStrike">
              <a:solidFill>
                <a:srgbClr val="000000"/>
              </a:solidFill>
              <a:effectLst/>
              <a:uFillTx/>
              <a:latin typeface="Times New Roman"/>
            </a:endParaRPr>
          </a:p>
        </p:txBody>
      </p:sp>
      <p:sp>
        <p:nvSpPr>
          <p:cNvPr id="87" name="Figura a mano libera: forma 86"/>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8" name="CasellaDiTesto 87"/>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89" name="CasellaDiTesto 88"/>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 / 73</a:t>
            </a:r>
            <a:endParaRPr lang="it-IT" sz="980" b="0" u="none" strike="noStrike">
              <a:solidFill>
                <a:srgbClr val="000000"/>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Figura a mano libera: forma 8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1" name="Figura a mano libera: forma 9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2" name="Figura a mano libera: forma 9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3" name="Figura a mano libera: forma 9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4" name="Figura a mano libera: forma 93"/>
          <p:cNvSpPr/>
          <p:nvPr/>
        </p:nvSpPr>
        <p:spPr>
          <a:xfrm>
            <a:off x="971280" y="1809720"/>
            <a:ext cx="10554120" cy="19080"/>
          </a:xfrm>
          <a:custGeom>
            <a:avLst/>
            <a:gdLst/>
            <a:ahLst/>
            <a:cxnLst/>
            <a:rect l="0" t="0" r="r" b="b"/>
            <a:pathLst>
              <a:path w="29317" h="53">
                <a:moveTo>
                  <a:pt x="0" y="0"/>
                </a:moveTo>
                <a:lnTo>
                  <a:pt x="29317" y="0"/>
                </a:lnTo>
                <a:lnTo>
                  <a:pt x="29317" y="53"/>
                </a:lnTo>
                <a:lnTo>
                  <a:pt x="0" y="53"/>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5" name="Figura a mano libera: forma 94"/>
          <p:cNvSpPr/>
          <p:nvPr/>
        </p:nvSpPr>
        <p:spPr>
          <a:xfrm>
            <a:off x="975960" y="4214520"/>
            <a:ext cx="10544760" cy="1238760"/>
          </a:xfrm>
          <a:custGeom>
            <a:avLst/>
            <a:gdLst/>
            <a:ahLst/>
            <a:cxnLst/>
            <a:rect l="0" t="0" r="r" b="b"/>
            <a:pathLst>
              <a:path w="29291" h="3441">
                <a:moveTo>
                  <a:pt x="0" y="334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3348"/>
                </a:lnTo>
                <a:cubicBezTo>
                  <a:pt x="29291" y="3361"/>
                  <a:pt x="29288" y="3372"/>
                  <a:pt x="29284" y="3384"/>
                </a:cubicBezTo>
                <a:cubicBezTo>
                  <a:pt x="29279" y="3395"/>
                  <a:pt x="29272" y="3405"/>
                  <a:pt x="29264" y="3414"/>
                </a:cubicBezTo>
                <a:cubicBezTo>
                  <a:pt x="29255" y="3422"/>
                  <a:pt x="29245" y="3429"/>
                  <a:pt x="29234" y="3434"/>
                </a:cubicBezTo>
                <a:cubicBezTo>
                  <a:pt x="29222" y="3439"/>
                  <a:pt x="29211" y="3441"/>
                  <a:pt x="29198" y="3441"/>
                </a:cubicBezTo>
                <a:lnTo>
                  <a:pt x="93" y="3441"/>
                </a:lnTo>
                <a:cubicBezTo>
                  <a:pt x="81" y="3441"/>
                  <a:pt x="69" y="3439"/>
                  <a:pt x="58" y="3434"/>
                </a:cubicBezTo>
                <a:cubicBezTo>
                  <a:pt x="46" y="3429"/>
                  <a:pt x="36" y="3422"/>
                  <a:pt x="28" y="3414"/>
                </a:cubicBezTo>
                <a:cubicBezTo>
                  <a:pt x="19" y="3405"/>
                  <a:pt x="12" y="3395"/>
                  <a:pt x="8" y="3384"/>
                </a:cubicBezTo>
                <a:cubicBezTo>
                  <a:pt x="3" y="3372"/>
                  <a:pt x="0" y="3361"/>
                  <a:pt x="0" y="334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6" name="Figura a mano libera: forma 95"/>
          <p:cNvSpPr/>
          <p:nvPr/>
        </p:nvSpPr>
        <p:spPr>
          <a:xfrm>
            <a:off x="975960" y="4214520"/>
            <a:ext cx="10544760" cy="1238760"/>
          </a:xfrm>
          <a:custGeom>
            <a:avLst/>
            <a:gdLst/>
            <a:ahLst/>
            <a:cxnLst/>
            <a:rect l="0" t="0" r="r" b="b"/>
            <a:pathLst>
              <a:path w="29291" h="3441">
                <a:moveTo>
                  <a:pt x="0" y="334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3348"/>
                </a:lnTo>
                <a:cubicBezTo>
                  <a:pt x="29291" y="3361"/>
                  <a:pt x="29288" y="3372"/>
                  <a:pt x="29284" y="3384"/>
                </a:cubicBezTo>
                <a:cubicBezTo>
                  <a:pt x="29279" y="3395"/>
                  <a:pt x="29272" y="3405"/>
                  <a:pt x="29264" y="3414"/>
                </a:cubicBezTo>
                <a:cubicBezTo>
                  <a:pt x="29255" y="3422"/>
                  <a:pt x="29245" y="3429"/>
                  <a:pt x="29234" y="3434"/>
                </a:cubicBezTo>
                <a:cubicBezTo>
                  <a:pt x="29222" y="3439"/>
                  <a:pt x="29211" y="3441"/>
                  <a:pt x="29198" y="3441"/>
                </a:cubicBezTo>
                <a:lnTo>
                  <a:pt x="93" y="3441"/>
                </a:lnTo>
                <a:cubicBezTo>
                  <a:pt x="81" y="3441"/>
                  <a:pt x="69" y="3439"/>
                  <a:pt x="58" y="3434"/>
                </a:cubicBezTo>
                <a:cubicBezTo>
                  <a:pt x="46" y="3429"/>
                  <a:pt x="36" y="3422"/>
                  <a:pt x="28" y="3414"/>
                </a:cubicBezTo>
                <a:cubicBezTo>
                  <a:pt x="19" y="3405"/>
                  <a:pt x="12" y="3395"/>
                  <a:pt x="8" y="3384"/>
                </a:cubicBezTo>
                <a:cubicBezTo>
                  <a:pt x="3" y="3372"/>
                  <a:pt x="0" y="3361"/>
                  <a:pt x="0" y="334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97" name="CasellaDiTesto 96"/>
          <p:cNvSpPr txBox="1"/>
          <p:nvPr/>
        </p:nvSpPr>
        <p:spPr>
          <a:xfrm>
            <a:off x="971640" y="1190520"/>
            <a:ext cx="74044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PROPRIA VS IMPROPRIA</a:t>
            </a:r>
            <a:endParaRPr lang="it-IT" sz="2850" b="0" u="none" strike="noStrike">
              <a:solidFill>
                <a:srgbClr val="000000"/>
              </a:solidFill>
              <a:effectLst/>
              <a:uFillTx/>
              <a:latin typeface="Times New Roman"/>
            </a:endParaRPr>
          </a:p>
        </p:txBody>
      </p:sp>
      <p:sp>
        <p:nvSpPr>
          <p:cNvPr id="98" name="Figura a mano libera: forma 97"/>
          <p:cNvSpPr/>
          <p:nvPr/>
        </p:nvSpPr>
        <p:spPr>
          <a:xfrm>
            <a:off x="1028520" y="27428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79"/>
                  <a:pt x="8" y="66"/>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9" name="CasellaDiTesto 98"/>
          <p:cNvSpPr txBox="1"/>
          <p:nvPr/>
        </p:nvSpPr>
        <p:spPr>
          <a:xfrm>
            <a:off x="971640" y="1915560"/>
            <a:ext cx="336132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Analisi del Perimetro Obbligatorio</a:t>
            </a:r>
            <a:endParaRPr lang="it-IT" sz="1800" b="0" u="none" strike="noStrike">
              <a:solidFill>
                <a:srgbClr val="000000"/>
              </a:solidFill>
              <a:effectLst/>
              <a:uFillTx/>
              <a:latin typeface="Times New Roman"/>
            </a:endParaRPr>
          </a:p>
        </p:txBody>
      </p:sp>
      <p:sp>
        <p:nvSpPr>
          <p:cNvPr id="100" name="CasellaDiTesto 99"/>
          <p:cNvSpPr txBox="1"/>
          <p:nvPr/>
        </p:nvSpPr>
        <p:spPr>
          <a:xfrm>
            <a:off x="1238400" y="2632320"/>
            <a:ext cx="99918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Compensazione Propria:</a:t>
            </a:r>
            <a:r>
              <a:rPr lang="it-IT" sz="1580" b="0" u="none" strike="noStrike">
                <a:solidFill>
                  <a:srgbClr val="343A40"/>
                </a:solidFill>
                <a:effectLst/>
                <a:uFillTx/>
                <a:latin typeface="SegoeUI"/>
                <a:ea typeface="SegoeUI"/>
              </a:rPr>
              <a:t> I crediti reciproci derivano da rapporti giuridici autonomi e separati (es. due contratti di</a:t>
            </a:r>
            <a:endParaRPr lang="it-IT" sz="1580" b="0" u="none" strike="noStrike">
              <a:solidFill>
                <a:srgbClr val="000000"/>
              </a:solidFill>
              <a:effectLst/>
              <a:uFillTx/>
              <a:latin typeface="Times New Roman"/>
            </a:endParaRPr>
          </a:p>
        </p:txBody>
      </p:sp>
      <p:sp>
        <p:nvSpPr>
          <p:cNvPr id="101" name="Figura a mano libera: forma 100"/>
          <p:cNvSpPr/>
          <p:nvPr/>
        </p:nvSpPr>
        <p:spPr>
          <a:xfrm>
            <a:off x="1028520" y="3533760"/>
            <a:ext cx="76680" cy="76320"/>
          </a:xfrm>
          <a:custGeom>
            <a:avLst/>
            <a:gdLst/>
            <a:ahLst/>
            <a:cxnLst/>
            <a:rect l="0" t="0" r="r" b="b"/>
            <a:pathLst>
              <a:path w="213" h="212">
                <a:moveTo>
                  <a:pt x="213" y="105"/>
                </a:moveTo>
                <a:cubicBezTo>
                  <a:pt x="213" y="119"/>
                  <a:pt x="210" y="133"/>
                  <a:pt x="205" y="146"/>
                </a:cubicBezTo>
                <a:cubicBezTo>
                  <a:pt x="198" y="159"/>
                  <a:pt x="191" y="170"/>
                  <a:pt x="181" y="180"/>
                </a:cubicBezTo>
                <a:cubicBezTo>
                  <a:pt x="171" y="190"/>
                  <a:pt x="159" y="198"/>
                  <a:pt x="146" y="203"/>
                </a:cubicBezTo>
                <a:cubicBezTo>
                  <a:pt x="133" y="210"/>
                  <a:pt x="120" y="212"/>
                  <a:pt x="106" y="212"/>
                </a:cubicBezTo>
                <a:cubicBezTo>
                  <a:pt x="92" y="212"/>
                  <a:pt x="78" y="210"/>
                  <a:pt x="65" y="203"/>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0"/>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02" name="CasellaDiTesto 101"/>
          <p:cNvSpPr txBox="1"/>
          <p:nvPr/>
        </p:nvSpPr>
        <p:spPr>
          <a:xfrm>
            <a:off x="1238400" y="2936880"/>
            <a:ext cx="15163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fornitura distinti).</a:t>
            </a:r>
            <a:endParaRPr lang="it-IT" sz="1580" b="0" u="none" strike="noStrike">
              <a:solidFill>
                <a:srgbClr val="000000"/>
              </a:solidFill>
              <a:effectLst/>
              <a:uFillTx/>
              <a:latin typeface="Times New Roman"/>
            </a:endParaRPr>
          </a:p>
        </p:txBody>
      </p:sp>
      <p:sp>
        <p:nvSpPr>
          <p:cNvPr id="103" name="CasellaDiTesto 102"/>
          <p:cNvSpPr txBox="1"/>
          <p:nvPr/>
        </p:nvSpPr>
        <p:spPr>
          <a:xfrm>
            <a:off x="1238400" y="3422880"/>
            <a:ext cx="96040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Compensazione Impropria:</a:t>
            </a:r>
            <a:r>
              <a:rPr lang="it-IT" sz="1580" b="0" u="none" strike="noStrike">
                <a:solidFill>
                  <a:srgbClr val="343A40"/>
                </a:solidFill>
                <a:effectLst/>
                <a:uFillTx/>
                <a:latin typeface="SegoeUI"/>
                <a:ea typeface="SegoeUI"/>
              </a:rPr>
              <a:t> I crediti scaturiscono da un'unica fonte negoziale (es. conteggi di dare/avere nel</a:t>
            </a:r>
            <a:endParaRPr lang="it-IT" sz="1580" b="0" u="none" strike="noStrike">
              <a:solidFill>
                <a:srgbClr val="000000"/>
              </a:solidFill>
              <a:effectLst/>
              <a:uFillTx/>
              <a:latin typeface="Times New Roman"/>
            </a:endParaRPr>
          </a:p>
        </p:txBody>
      </p:sp>
      <p:sp>
        <p:nvSpPr>
          <p:cNvPr id="104" name="CasellaDiTesto 103"/>
          <p:cNvSpPr txBox="1"/>
          <p:nvPr/>
        </p:nvSpPr>
        <p:spPr>
          <a:xfrm>
            <a:off x="1238400" y="3727440"/>
            <a:ext cx="18925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medesimo contratto).</a:t>
            </a:r>
            <a:endParaRPr lang="it-IT" sz="1580" b="0" u="none" strike="noStrike">
              <a:solidFill>
                <a:srgbClr val="000000"/>
              </a:solidFill>
              <a:effectLst/>
              <a:uFillTx/>
              <a:latin typeface="Times New Roman"/>
            </a:endParaRPr>
          </a:p>
        </p:txBody>
      </p:sp>
      <p:sp>
        <p:nvSpPr>
          <p:cNvPr id="105" name="CasellaDiTesto 104"/>
          <p:cNvSpPr txBox="1"/>
          <p:nvPr/>
        </p:nvSpPr>
        <p:spPr>
          <a:xfrm>
            <a:off x="1209600" y="4413960"/>
            <a:ext cx="9466560" cy="253440"/>
          </a:xfrm>
          <a:prstGeom prst="rect">
            <a:avLst/>
          </a:prstGeom>
          <a:noFill/>
          <a:ln w="0">
            <a:noFill/>
          </a:ln>
        </p:spPr>
        <p:txBody>
          <a:bodyPr wrap="none" lIns="0" tIns="0" rIns="0" bIns="0" anchor="t">
            <a:spAutoFit/>
          </a:bodyPr>
          <a:lstStyle/>
          <a:p>
            <a:r>
              <a:rPr lang="it-IT" sz="1500" b="1" u="none" strike="noStrike">
                <a:solidFill>
                  <a:srgbClr val="00509E"/>
                </a:solidFill>
                <a:effectLst/>
                <a:uFillTx/>
                <a:latin typeface="SegoeUI"/>
                <a:ea typeface="SegoeUI"/>
              </a:rPr>
              <a:t>Il Limite del Sinallagma:</a:t>
            </a:r>
            <a:r>
              <a:rPr lang="it-IT" sz="1500" b="0" u="none" strike="noStrike">
                <a:solidFill>
                  <a:srgbClr val="343A40"/>
                </a:solidFill>
                <a:effectLst/>
                <a:uFillTx/>
                <a:latin typeface="SegoeUI"/>
                <a:ea typeface="SegoeUI"/>
              </a:rPr>
              <a:t> La compensazione impropria è preclusa se le obbligazioni sono legate da un vincolo di</a:t>
            </a:r>
            <a:endParaRPr lang="it-IT" sz="1500" b="0" u="none" strike="noStrike">
              <a:solidFill>
                <a:srgbClr val="000000"/>
              </a:solidFill>
              <a:effectLst/>
              <a:uFillTx/>
              <a:latin typeface="Times New Roman"/>
            </a:endParaRPr>
          </a:p>
        </p:txBody>
      </p:sp>
      <p:sp>
        <p:nvSpPr>
          <p:cNvPr id="106" name="CasellaDiTesto 105"/>
          <p:cNvSpPr txBox="1"/>
          <p:nvPr/>
        </p:nvSpPr>
        <p:spPr>
          <a:xfrm>
            <a:off x="1209600" y="4709520"/>
            <a:ext cx="955440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corrispettività assoluta (sinallagma). Se ammessa, paralizzerebbe gli effetti stessi del negozio. È invece ammessa in</a:t>
            </a:r>
            <a:endParaRPr lang="it-IT" sz="1500" b="0" u="none" strike="noStrike">
              <a:solidFill>
                <a:srgbClr val="000000"/>
              </a:solidFill>
              <a:effectLst/>
              <a:uFillTx/>
              <a:latin typeface="Times New Roman"/>
            </a:endParaRPr>
          </a:p>
        </p:txBody>
      </p:sp>
      <p:sp>
        <p:nvSpPr>
          <p:cNvPr id="107" name="Figura a mano libera: forma 106"/>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8" name="CasellaDiTesto 107"/>
          <p:cNvSpPr txBox="1"/>
          <p:nvPr/>
        </p:nvSpPr>
        <p:spPr>
          <a:xfrm>
            <a:off x="1209600" y="5004720"/>
            <a:ext cx="391176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presenza di caratteri di autonomia tra le poste.</a:t>
            </a:r>
            <a:endParaRPr lang="it-IT" sz="1500" b="0" u="none" strike="noStrike">
              <a:solidFill>
                <a:srgbClr val="000000"/>
              </a:solidFill>
              <a:effectLst/>
              <a:uFillTx/>
              <a:latin typeface="Times New Roman"/>
            </a:endParaRPr>
          </a:p>
        </p:txBody>
      </p:sp>
      <p:sp>
        <p:nvSpPr>
          <p:cNvPr id="109" name="Figura a mano libera: forma 108"/>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0" name="CasellaDiTesto 109"/>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11" name="CasellaDiTesto 110"/>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 / 73</a:t>
            </a:r>
            <a:endParaRPr lang="it-IT" sz="98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Figura a mano libera: forma 11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 name="Figura a mano libera: forma 11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 name="Figura a mano libera: forma 113"/>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 name="Figura a mano libera: forma 114"/>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6" name="Figura a mano libera: forma 115"/>
          <p:cNvSpPr/>
          <p:nvPr/>
        </p:nvSpPr>
        <p:spPr>
          <a:xfrm>
            <a:off x="971280" y="196200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 name="CasellaDiTesto 116"/>
          <p:cNvSpPr txBox="1"/>
          <p:nvPr/>
        </p:nvSpPr>
        <p:spPr>
          <a:xfrm>
            <a:off x="971640" y="1343160"/>
            <a:ext cx="44506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LEGALE</a:t>
            </a:r>
            <a:endParaRPr lang="it-IT" sz="2850" b="0" u="none" strike="noStrike">
              <a:solidFill>
                <a:srgbClr val="000000"/>
              </a:solidFill>
              <a:effectLst/>
              <a:uFillTx/>
              <a:latin typeface="Times New Roman"/>
            </a:endParaRPr>
          </a:p>
        </p:txBody>
      </p:sp>
      <p:sp>
        <p:nvSpPr>
          <p:cNvPr id="118" name="Figura a mano libera: forma 117"/>
          <p:cNvSpPr/>
          <p:nvPr/>
        </p:nvSpPr>
        <p:spPr>
          <a:xfrm>
            <a:off x="1028520" y="28954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9" name="CasellaDiTesto 118"/>
          <p:cNvSpPr txBox="1"/>
          <p:nvPr/>
        </p:nvSpPr>
        <p:spPr>
          <a:xfrm>
            <a:off x="971640" y="2067840"/>
            <a:ext cx="476208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Requisiti Rigidi di Operatività (art. 1243, c.1, c.c.)</a:t>
            </a:r>
            <a:endParaRPr lang="it-IT" sz="1800" b="0" u="none" strike="noStrike">
              <a:solidFill>
                <a:srgbClr val="000000"/>
              </a:solidFill>
              <a:effectLst/>
              <a:uFillTx/>
              <a:latin typeface="Times New Roman"/>
            </a:endParaRPr>
          </a:p>
        </p:txBody>
      </p:sp>
      <p:sp>
        <p:nvSpPr>
          <p:cNvPr id="120" name="Figura a mano libera: forma 119"/>
          <p:cNvSpPr/>
          <p:nvPr/>
        </p:nvSpPr>
        <p:spPr>
          <a:xfrm>
            <a:off x="1028520" y="337176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1"/>
                  <a:pt x="52" y="13"/>
                  <a:pt x="65" y="8"/>
                </a:cubicBezTo>
                <a:cubicBezTo>
                  <a:pt x="78" y="2"/>
                  <a:pt x="92" y="0"/>
                  <a:pt x="106" y="0"/>
                </a:cubicBezTo>
                <a:cubicBezTo>
                  <a:pt x="120" y="0"/>
                  <a:pt x="133" y="2"/>
                  <a:pt x="146" y="8"/>
                </a:cubicBezTo>
                <a:cubicBezTo>
                  <a:pt x="159" y="13"/>
                  <a:pt x="171" y="21"/>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1" name="CasellaDiTesto 120"/>
          <p:cNvSpPr txBox="1"/>
          <p:nvPr/>
        </p:nvSpPr>
        <p:spPr>
          <a:xfrm>
            <a:off x="1238400" y="2784600"/>
            <a:ext cx="80820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Omogeneità:</a:t>
            </a:r>
            <a:r>
              <a:rPr lang="it-IT" sz="1580" b="0" u="none" strike="noStrike">
                <a:solidFill>
                  <a:srgbClr val="343A40"/>
                </a:solidFill>
                <a:effectLst/>
                <a:uFillTx/>
                <a:latin typeface="SegoeUI"/>
                <a:ea typeface="SegoeUI"/>
              </a:rPr>
              <a:t> Ad oggetto somme di denaro o quantità di cose fungibili dello stesso genere.</a:t>
            </a:r>
            <a:endParaRPr lang="it-IT" sz="1580" b="0" u="none" strike="noStrike">
              <a:solidFill>
                <a:srgbClr val="000000"/>
              </a:solidFill>
              <a:effectLst/>
              <a:uFillTx/>
              <a:latin typeface="Times New Roman"/>
            </a:endParaRPr>
          </a:p>
        </p:txBody>
      </p:sp>
      <p:sp>
        <p:nvSpPr>
          <p:cNvPr id="122" name="CasellaDiTesto 121"/>
          <p:cNvSpPr txBox="1"/>
          <p:nvPr/>
        </p:nvSpPr>
        <p:spPr>
          <a:xfrm>
            <a:off x="1238400" y="3260880"/>
            <a:ext cx="98578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Liquidità (e Certezza):</a:t>
            </a:r>
            <a:r>
              <a:rPr lang="it-IT" sz="1580" b="0" u="none" strike="noStrike">
                <a:solidFill>
                  <a:srgbClr val="343A40"/>
                </a:solidFill>
                <a:effectLst/>
                <a:uFillTx/>
                <a:latin typeface="SegoeUI"/>
                <a:ea typeface="SegoeUI"/>
              </a:rPr>
              <a:t> Ammontare determinato o determinabile con mero conteggio aritmetico. Il credito deve</a:t>
            </a:r>
            <a:endParaRPr lang="it-IT" sz="1580" b="0" u="none" strike="noStrike">
              <a:solidFill>
                <a:srgbClr val="000000"/>
              </a:solidFill>
              <a:effectLst/>
              <a:uFillTx/>
              <a:latin typeface="Times New Roman"/>
            </a:endParaRPr>
          </a:p>
        </p:txBody>
      </p:sp>
      <p:sp>
        <p:nvSpPr>
          <p:cNvPr id="123" name="Figura a mano libera: forma 122"/>
          <p:cNvSpPr/>
          <p:nvPr/>
        </p:nvSpPr>
        <p:spPr>
          <a:xfrm>
            <a:off x="1028520" y="4162320"/>
            <a:ext cx="76680" cy="76320"/>
          </a:xfrm>
          <a:custGeom>
            <a:avLst/>
            <a:gdLst/>
            <a:ahLst/>
            <a:cxnLst/>
            <a:rect l="0" t="0" r="r" b="b"/>
            <a:pathLst>
              <a:path w="213" h="212">
                <a:moveTo>
                  <a:pt x="213" y="106"/>
                </a:moveTo>
                <a:cubicBezTo>
                  <a:pt x="213" y="120"/>
                  <a:pt x="210" y="133"/>
                  <a:pt x="205" y="146"/>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4" name="CasellaDiTesto 123"/>
          <p:cNvSpPr txBox="1"/>
          <p:nvPr/>
        </p:nvSpPr>
        <p:spPr>
          <a:xfrm>
            <a:off x="1238400" y="3575160"/>
            <a:ext cx="25678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essere certo (non sub iudice).</a:t>
            </a:r>
            <a:endParaRPr lang="it-IT" sz="1580" b="0" u="none" strike="noStrike">
              <a:solidFill>
                <a:srgbClr val="000000"/>
              </a:solidFill>
              <a:effectLst/>
              <a:uFillTx/>
              <a:latin typeface="Times New Roman"/>
            </a:endParaRPr>
          </a:p>
        </p:txBody>
      </p:sp>
      <p:sp>
        <p:nvSpPr>
          <p:cNvPr id="125" name="Figura a mano libera: forma 124"/>
          <p:cNvSpPr/>
          <p:nvPr/>
        </p:nvSpPr>
        <p:spPr>
          <a:xfrm>
            <a:off x="1028520" y="4647960"/>
            <a:ext cx="76680" cy="76680"/>
          </a:xfrm>
          <a:custGeom>
            <a:avLst/>
            <a:gdLst/>
            <a:ahLst/>
            <a:cxnLst/>
            <a:rect l="0" t="0" r="r" b="b"/>
            <a:pathLst>
              <a:path w="213" h="213">
                <a:moveTo>
                  <a:pt x="213" y="107"/>
                </a:moveTo>
                <a:cubicBezTo>
                  <a:pt x="213" y="121"/>
                  <a:pt x="210" y="135"/>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5"/>
                  <a:pt x="0" y="121"/>
                  <a:pt x="0" y="107"/>
                </a:cubicBezTo>
                <a:cubicBezTo>
                  <a:pt x="0" y="93"/>
                  <a:pt x="3" y="79"/>
                  <a:pt x="8" y="65"/>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5"/>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6" name="CasellaDiTesto 125"/>
          <p:cNvSpPr txBox="1"/>
          <p:nvPr/>
        </p:nvSpPr>
        <p:spPr>
          <a:xfrm>
            <a:off x="1238400" y="4051440"/>
            <a:ext cx="44812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Esigibilità:</a:t>
            </a:r>
            <a:r>
              <a:rPr lang="it-IT" sz="1580" b="0" u="none" strike="noStrike">
                <a:solidFill>
                  <a:srgbClr val="343A40"/>
                </a:solidFill>
                <a:effectLst/>
                <a:uFillTx/>
                <a:latin typeface="SegoeUI"/>
                <a:ea typeface="SegoeUI"/>
              </a:rPr>
              <a:t> Debito scaduto e azionabile in giudizio.</a:t>
            </a:r>
            <a:endParaRPr lang="it-IT" sz="1580" b="0" u="none" strike="noStrike">
              <a:solidFill>
                <a:srgbClr val="000000"/>
              </a:solidFill>
              <a:effectLst/>
              <a:uFillTx/>
              <a:latin typeface="Times New Roman"/>
            </a:endParaRPr>
          </a:p>
        </p:txBody>
      </p:sp>
      <p:sp>
        <p:nvSpPr>
          <p:cNvPr id="127" name="CasellaDiTesto 126"/>
          <p:cNvSpPr txBox="1"/>
          <p:nvPr/>
        </p:nvSpPr>
        <p:spPr>
          <a:xfrm>
            <a:off x="1238400" y="4537080"/>
            <a:ext cx="101826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Meccanica Estintiva:</a:t>
            </a:r>
            <a:r>
              <a:rPr lang="it-IT" sz="1580" b="0" u="none" strike="noStrike">
                <a:solidFill>
                  <a:srgbClr val="343A40"/>
                </a:solidFill>
                <a:effectLst/>
                <a:uFillTx/>
                <a:latin typeface="SegoeUI"/>
                <a:ea typeface="SegoeUI"/>
              </a:rPr>
              <a:t> Opera </a:t>
            </a:r>
            <a:r>
              <a:rPr lang="it-IT" sz="1580" b="0" i="1" u="none" strike="noStrike">
                <a:solidFill>
                  <a:srgbClr val="495057"/>
                </a:solidFill>
                <a:effectLst/>
                <a:uFillTx/>
                <a:latin typeface="SegoeUI"/>
                <a:ea typeface="SegoeUI"/>
              </a:rPr>
              <a:t>ipso iure</a:t>
            </a:r>
            <a:r>
              <a:rPr lang="it-IT" sz="1580" b="0" u="none" strike="noStrike">
                <a:solidFill>
                  <a:srgbClr val="343A40"/>
                </a:solidFill>
                <a:effectLst/>
                <a:uFillTx/>
                <a:latin typeface="SegoeUI"/>
                <a:ea typeface="SegoeUI"/>
              </a:rPr>
              <a:t> (automaticamente) dal giorno della coesistenza dei crediti. Richiede eccezione</a:t>
            </a:r>
            <a:endParaRPr lang="it-IT" sz="1580" b="0" u="none" strike="noStrike">
              <a:solidFill>
                <a:srgbClr val="000000"/>
              </a:solidFill>
              <a:effectLst/>
              <a:uFillTx/>
              <a:latin typeface="Times New Roman"/>
            </a:endParaRPr>
          </a:p>
        </p:txBody>
      </p:sp>
      <p:sp>
        <p:nvSpPr>
          <p:cNvPr id="128" name="Figura a mano libera: forma 12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9" name="CasellaDiTesto 128"/>
          <p:cNvSpPr txBox="1"/>
          <p:nvPr/>
        </p:nvSpPr>
        <p:spPr>
          <a:xfrm>
            <a:off x="1238400" y="4842000"/>
            <a:ext cx="27687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di parte, non rilevabile d'ufficio.</a:t>
            </a:r>
            <a:endParaRPr lang="it-IT" sz="1580" b="0" u="none" strike="noStrike">
              <a:solidFill>
                <a:srgbClr val="000000"/>
              </a:solidFill>
              <a:effectLst/>
              <a:uFillTx/>
              <a:latin typeface="Times New Roman"/>
            </a:endParaRPr>
          </a:p>
        </p:txBody>
      </p:sp>
      <p:sp>
        <p:nvSpPr>
          <p:cNvPr id="130" name="Figura a mano libera: forma 129"/>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1" name="CasellaDiTesto 13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32" name="CasellaDiTesto 131"/>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7 / 73</a:t>
            </a:r>
            <a:endParaRPr lang="it-IT" sz="98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Figura a mano libera: forma 13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 name="Figura a mano libera: forma 13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 name="Figura a mano libera: forma 13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 name="Figura a mano libera: forma 13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37" name="Figura a mano libera: forma 136"/>
          <p:cNvSpPr/>
          <p:nvPr/>
        </p:nvSpPr>
        <p:spPr>
          <a:xfrm>
            <a:off x="971280" y="21999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8" name="CasellaDiTesto 137"/>
          <p:cNvSpPr txBox="1"/>
          <p:nvPr/>
        </p:nvSpPr>
        <p:spPr>
          <a:xfrm>
            <a:off x="971640" y="1581120"/>
            <a:ext cx="51642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GIUDIZIALE</a:t>
            </a:r>
            <a:endParaRPr lang="it-IT" sz="2850" b="0" u="none" strike="noStrike">
              <a:solidFill>
                <a:srgbClr val="000000"/>
              </a:solidFill>
              <a:effectLst/>
              <a:uFillTx/>
              <a:latin typeface="Times New Roman"/>
            </a:endParaRPr>
          </a:p>
        </p:txBody>
      </p:sp>
      <p:sp>
        <p:nvSpPr>
          <p:cNvPr id="139" name="Figura a mano libera: forma 138"/>
          <p:cNvSpPr/>
          <p:nvPr/>
        </p:nvSpPr>
        <p:spPr>
          <a:xfrm>
            <a:off x="1028520" y="31334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0" name="CasellaDiTesto 139"/>
          <p:cNvSpPr txBox="1"/>
          <p:nvPr/>
        </p:nvSpPr>
        <p:spPr>
          <a:xfrm>
            <a:off x="971640" y="2306160"/>
            <a:ext cx="419940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L'Intervento del Giudice (art. 1243, c.2, c.c.)</a:t>
            </a:r>
            <a:endParaRPr lang="it-IT" sz="1800" b="0" u="none" strike="noStrike">
              <a:solidFill>
                <a:srgbClr val="000000"/>
              </a:solidFill>
              <a:effectLst/>
              <a:uFillTx/>
              <a:latin typeface="Times New Roman"/>
            </a:endParaRPr>
          </a:p>
        </p:txBody>
      </p:sp>
      <p:sp>
        <p:nvSpPr>
          <p:cNvPr id="141" name="Figura a mano libera: forma 140"/>
          <p:cNvSpPr/>
          <p:nvPr/>
        </p:nvSpPr>
        <p:spPr>
          <a:xfrm>
            <a:off x="1028520" y="3619440"/>
            <a:ext cx="76680" cy="76320"/>
          </a:xfrm>
          <a:custGeom>
            <a:avLst/>
            <a:gdLst/>
            <a:ahLst/>
            <a:cxnLst/>
            <a:rect l="0" t="0" r="r" b="b"/>
            <a:pathLst>
              <a:path w="213" h="212">
                <a:moveTo>
                  <a:pt x="213" y="105"/>
                </a:moveTo>
                <a:cubicBezTo>
                  <a:pt x="213" y="120"/>
                  <a:pt x="210" y="133"/>
                  <a:pt x="205" y="146"/>
                </a:cubicBezTo>
                <a:cubicBezTo>
                  <a:pt x="198" y="159"/>
                  <a:pt x="191" y="170"/>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0"/>
                  <a:pt x="13" y="159"/>
                  <a:pt x="8" y="146"/>
                </a:cubicBezTo>
                <a:cubicBezTo>
                  <a:pt x="3" y="133"/>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2" name="CasellaDiTesto 141"/>
          <p:cNvSpPr txBox="1"/>
          <p:nvPr/>
        </p:nvSpPr>
        <p:spPr>
          <a:xfrm>
            <a:off x="1238400" y="3022560"/>
            <a:ext cx="99806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Deficit di Liquidità:</a:t>
            </a:r>
            <a:r>
              <a:rPr lang="it-IT" sz="1580" b="0" u="none" strike="noStrike">
                <a:solidFill>
                  <a:srgbClr val="343A40"/>
                </a:solidFill>
                <a:effectLst/>
                <a:uFillTx/>
                <a:latin typeface="SegoeUI"/>
                <a:ea typeface="SegoeUI"/>
              </a:rPr>
              <a:t> Opera quando manca il requisito della liquidità, ma il debito è di pronta e facile liquidazione.</a:t>
            </a:r>
            <a:endParaRPr lang="it-IT" sz="1580" b="0" u="none" strike="noStrike">
              <a:solidFill>
                <a:srgbClr val="000000"/>
              </a:solidFill>
              <a:effectLst/>
              <a:uFillTx/>
              <a:latin typeface="Times New Roman"/>
            </a:endParaRPr>
          </a:p>
        </p:txBody>
      </p:sp>
      <p:sp>
        <p:nvSpPr>
          <p:cNvPr id="143" name="CasellaDiTesto 142"/>
          <p:cNvSpPr txBox="1"/>
          <p:nvPr/>
        </p:nvSpPr>
        <p:spPr>
          <a:xfrm>
            <a:off x="1238400" y="3508560"/>
            <a:ext cx="100965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Efficacia Costitutiva:</a:t>
            </a:r>
            <a:r>
              <a:rPr lang="it-IT" sz="1580" b="0" u="none" strike="noStrike">
                <a:solidFill>
                  <a:srgbClr val="343A40"/>
                </a:solidFill>
                <a:effectLst/>
                <a:uFillTx/>
                <a:latin typeface="SegoeUI"/>
                <a:ea typeface="SegoeUI"/>
              </a:rPr>
              <a:t> La sentenza non si limita a dichiarare, ma costituisce l'effetto estintivo </a:t>
            </a:r>
            <a:r>
              <a:rPr lang="it-IT" sz="1580" b="0" i="1" u="none" strike="noStrike">
                <a:solidFill>
                  <a:srgbClr val="495057"/>
                </a:solidFill>
                <a:effectLst/>
                <a:uFillTx/>
                <a:latin typeface="SegoeUI"/>
                <a:ea typeface="SegoeUI"/>
              </a:rPr>
              <a:t>ex nunc</a:t>
            </a:r>
            <a:r>
              <a:rPr lang="it-IT" sz="1580" b="0" u="none" strike="noStrike">
                <a:solidFill>
                  <a:srgbClr val="343A40"/>
                </a:solidFill>
                <a:effectLst/>
                <a:uFillTx/>
                <a:latin typeface="SegoeUI"/>
                <a:ea typeface="SegoeUI"/>
              </a:rPr>
              <a:t> (dal momento</a:t>
            </a:r>
            <a:endParaRPr lang="it-IT" sz="1580" b="0" u="none" strike="noStrike">
              <a:solidFill>
                <a:srgbClr val="000000"/>
              </a:solidFill>
              <a:effectLst/>
              <a:uFillTx/>
              <a:latin typeface="Times New Roman"/>
            </a:endParaRPr>
          </a:p>
        </p:txBody>
      </p:sp>
      <p:sp>
        <p:nvSpPr>
          <p:cNvPr id="144" name="Figura a mano libera: forma 143"/>
          <p:cNvSpPr/>
          <p:nvPr/>
        </p:nvSpPr>
        <p:spPr>
          <a:xfrm>
            <a:off x="1028520" y="441000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5" name="CasellaDiTesto 144"/>
          <p:cNvSpPr txBox="1"/>
          <p:nvPr/>
        </p:nvSpPr>
        <p:spPr>
          <a:xfrm>
            <a:off x="1238400" y="3813120"/>
            <a:ext cx="29361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della pronuncia, non retroagisce).</a:t>
            </a:r>
            <a:endParaRPr lang="it-IT" sz="1580" b="0" u="none" strike="noStrike">
              <a:solidFill>
                <a:srgbClr val="000000"/>
              </a:solidFill>
              <a:effectLst/>
              <a:uFillTx/>
              <a:latin typeface="Times New Roman"/>
            </a:endParaRPr>
          </a:p>
        </p:txBody>
      </p:sp>
      <p:sp>
        <p:nvSpPr>
          <p:cNvPr id="146" name="CasellaDiTesto 145"/>
          <p:cNvSpPr txBox="1"/>
          <p:nvPr/>
        </p:nvSpPr>
        <p:spPr>
          <a:xfrm>
            <a:off x="1238400" y="4299120"/>
            <a:ext cx="94849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Sospensione Cautelare:</a:t>
            </a:r>
            <a:r>
              <a:rPr lang="it-IT" sz="1580" b="0" u="none" strike="noStrike">
                <a:solidFill>
                  <a:srgbClr val="343A40"/>
                </a:solidFill>
                <a:effectLst/>
                <a:uFillTx/>
                <a:latin typeface="SegoeUI"/>
                <a:ea typeface="SegoeUI"/>
              </a:rPr>
              <a:t> Il giudice può sospendere la condanna per il credito liquido in attesa di accertare il</a:t>
            </a:r>
            <a:endParaRPr lang="it-IT" sz="1580" b="0" u="none" strike="noStrike">
              <a:solidFill>
                <a:srgbClr val="000000"/>
              </a:solidFill>
              <a:effectLst/>
              <a:uFillTx/>
              <a:latin typeface="Times New Roman"/>
            </a:endParaRPr>
          </a:p>
        </p:txBody>
      </p:sp>
      <p:sp>
        <p:nvSpPr>
          <p:cNvPr id="147" name="Figura a mano libera: forma 146"/>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8" name="CasellaDiTesto 147"/>
          <p:cNvSpPr txBox="1"/>
          <p:nvPr/>
        </p:nvSpPr>
        <p:spPr>
          <a:xfrm>
            <a:off x="1238400" y="4603680"/>
            <a:ext cx="2035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controcredito eccepito.</a:t>
            </a:r>
            <a:endParaRPr lang="it-IT" sz="1580" b="0" u="none" strike="noStrike">
              <a:solidFill>
                <a:srgbClr val="000000"/>
              </a:solidFill>
              <a:effectLst/>
              <a:uFillTx/>
              <a:latin typeface="Times New Roman"/>
            </a:endParaRPr>
          </a:p>
        </p:txBody>
      </p:sp>
      <p:sp>
        <p:nvSpPr>
          <p:cNvPr id="149" name="Figura a mano libera: forma 148"/>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0" name="CasellaDiTesto 149"/>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51" name="CasellaDiTesto 150"/>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8 / 73</a:t>
            </a:r>
            <a:endParaRPr lang="it-IT" sz="98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Figura a mano libera: forma 15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3" name="Figura a mano libera: forma 15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4" name="Figura a mano libera: forma 153"/>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5" name="Figura a mano libera: forma 154"/>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6" name="Figura a mano libera: forma 155"/>
          <p:cNvSpPr/>
          <p:nvPr/>
        </p:nvSpPr>
        <p:spPr>
          <a:xfrm>
            <a:off x="971280" y="21999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7" name="CasellaDiTesto 156"/>
          <p:cNvSpPr txBox="1"/>
          <p:nvPr/>
        </p:nvSpPr>
        <p:spPr>
          <a:xfrm>
            <a:off x="971640" y="1590480"/>
            <a:ext cx="551484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VOLONTARIA</a:t>
            </a:r>
            <a:endParaRPr lang="it-IT" sz="2850" b="0" u="none" strike="noStrike">
              <a:solidFill>
                <a:srgbClr val="000000"/>
              </a:solidFill>
              <a:effectLst/>
              <a:uFillTx/>
              <a:latin typeface="Times New Roman"/>
            </a:endParaRPr>
          </a:p>
        </p:txBody>
      </p:sp>
      <p:sp>
        <p:nvSpPr>
          <p:cNvPr id="158" name="Figura a mano libera: forma 157"/>
          <p:cNvSpPr/>
          <p:nvPr/>
        </p:nvSpPr>
        <p:spPr>
          <a:xfrm>
            <a:off x="1028520" y="314316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1"/>
                  <a:pt x="52" y="13"/>
                  <a:pt x="65" y="8"/>
                </a:cubicBezTo>
                <a:cubicBezTo>
                  <a:pt x="78" y="2"/>
                  <a:pt x="92" y="0"/>
                  <a:pt x="106" y="0"/>
                </a:cubicBezTo>
                <a:cubicBezTo>
                  <a:pt x="120" y="0"/>
                  <a:pt x="133" y="2"/>
                  <a:pt x="146" y="8"/>
                </a:cubicBezTo>
                <a:cubicBezTo>
                  <a:pt x="159" y="13"/>
                  <a:pt x="171" y="21"/>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9" name="CasellaDiTesto 158"/>
          <p:cNvSpPr txBox="1"/>
          <p:nvPr/>
        </p:nvSpPr>
        <p:spPr>
          <a:xfrm>
            <a:off x="971640" y="2306160"/>
            <a:ext cx="470952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Autonomia Privata e Contracting (art. 1252 c.c.)</a:t>
            </a:r>
            <a:endParaRPr lang="it-IT" sz="1800" b="0" u="none" strike="noStrike">
              <a:solidFill>
                <a:srgbClr val="000000"/>
              </a:solidFill>
              <a:effectLst/>
              <a:uFillTx/>
              <a:latin typeface="Times New Roman"/>
            </a:endParaRPr>
          </a:p>
        </p:txBody>
      </p:sp>
      <p:sp>
        <p:nvSpPr>
          <p:cNvPr id="160" name="Figura a mano libera: forma 159"/>
          <p:cNvSpPr/>
          <p:nvPr/>
        </p:nvSpPr>
        <p:spPr>
          <a:xfrm>
            <a:off x="1028520" y="3619440"/>
            <a:ext cx="76680" cy="76320"/>
          </a:xfrm>
          <a:custGeom>
            <a:avLst/>
            <a:gdLst/>
            <a:ahLst/>
            <a:cxnLst/>
            <a:rect l="0" t="0" r="r" b="b"/>
            <a:pathLst>
              <a:path w="213" h="212">
                <a:moveTo>
                  <a:pt x="213" y="105"/>
                </a:moveTo>
                <a:cubicBezTo>
                  <a:pt x="213" y="120"/>
                  <a:pt x="210" y="133"/>
                  <a:pt x="205" y="146"/>
                </a:cubicBezTo>
                <a:cubicBezTo>
                  <a:pt x="198" y="159"/>
                  <a:pt x="191" y="170"/>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0"/>
                  <a:pt x="13" y="159"/>
                  <a:pt x="8" y="146"/>
                </a:cubicBezTo>
                <a:cubicBezTo>
                  <a:pt x="3" y="133"/>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1" name="CasellaDiTesto 160"/>
          <p:cNvSpPr txBox="1"/>
          <p:nvPr/>
        </p:nvSpPr>
        <p:spPr>
          <a:xfrm>
            <a:off x="1238400" y="3032280"/>
            <a:ext cx="92412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Flessibilità:</a:t>
            </a:r>
            <a:r>
              <a:rPr lang="it-IT" sz="1580" b="0" u="none" strike="noStrike">
                <a:solidFill>
                  <a:srgbClr val="343A40"/>
                </a:solidFill>
                <a:effectLst/>
                <a:uFillTx/>
                <a:latin typeface="SegoeUI"/>
                <a:ea typeface="SegoeUI"/>
              </a:rPr>
              <a:t> Consente l'elisione dei crediti in assenza dei requisiti legali (esigibilità, liquidità, omogeneità).</a:t>
            </a:r>
            <a:endParaRPr lang="it-IT" sz="1580" b="0" u="none" strike="noStrike">
              <a:solidFill>
                <a:srgbClr val="000000"/>
              </a:solidFill>
              <a:effectLst/>
              <a:uFillTx/>
              <a:latin typeface="Times New Roman"/>
            </a:endParaRPr>
          </a:p>
        </p:txBody>
      </p:sp>
      <p:sp>
        <p:nvSpPr>
          <p:cNvPr id="162" name="Figura a mano libera: forma 161"/>
          <p:cNvSpPr/>
          <p:nvPr/>
        </p:nvSpPr>
        <p:spPr>
          <a:xfrm>
            <a:off x="1304640" y="4000320"/>
            <a:ext cx="66960" cy="66960"/>
          </a:xfrm>
          <a:custGeom>
            <a:avLst/>
            <a:gdLst/>
            <a:ahLst/>
            <a:cxnLst/>
            <a:rect l="0" t="0" r="r" b="b"/>
            <a:pathLst>
              <a:path w="186" h="186">
                <a:moveTo>
                  <a:pt x="186" y="94"/>
                </a:moveTo>
                <a:cubicBezTo>
                  <a:pt x="186" y="106"/>
                  <a:pt x="184" y="118"/>
                  <a:pt x="179" y="129"/>
                </a:cubicBezTo>
                <a:cubicBezTo>
                  <a:pt x="175" y="140"/>
                  <a:pt x="167" y="150"/>
                  <a:pt x="158" y="159"/>
                </a:cubicBezTo>
                <a:cubicBezTo>
                  <a:pt x="150" y="168"/>
                  <a:pt x="140" y="174"/>
                  <a:pt x="128" y="179"/>
                </a:cubicBezTo>
                <a:cubicBezTo>
                  <a:pt x="117" y="184"/>
                  <a:pt x="105" y="186"/>
                  <a:pt x="93" y="186"/>
                </a:cubicBezTo>
                <a:cubicBezTo>
                  <a:pt x="81" y="186"/>
                  <a:pt x="69" y="184"/>
                  <a:pt x="57" y="179"/>
                </a:cubicBezTo>
                <a:cubicBezTo>
                  <a:pt x="46" y="174"/>
                  <a:pt x="36" y="168"/>
                  <a:pt x="27" y="159"/>
                </a:cubicBezTo>
                <a:cubicBezTo>
                  <a:pt x="19" y="150"/>
                  <a:pt x="12" y="140"/>
                  <a:pt x="7" y="129"/>
                </a:cubicBezTo>
                <a:cubicBezTo>
                  <a:pt x="3" y="118"/>
                  <a:pt x="0" y="106"/>
                  <a:pt x="0" y="94"/>
                </a:cubicBezTo>
                <a:cubicBezTo>
                  <a:pt x="0" y="80"/>
                  <a:pt x="3" y="69"/>
                  <a:pt x="7" y="57"/>
                </a:cubicBezTo>
                <a:cubicBezTo>
                  <a:pt x="12" y="46"/>
                  <a:pt x="19" y="36"/>
                  <a:pt x="27" y="27"/>
                </a:cubicBezTo>
                <a:cubicBezTo>
                  <a:pt x="36" y="18"/>
                  <a:pt x="46" y="12"/>
                  <a:pt x="57" y="7"/>
                </a:cubicBezTo>
                <a:cubicBezTo>
                  <a:pt x="69" y="2"/>
                  <a:pt x="81" y="0"/>
                  <a:pt x="93" y="0"/>
                </a:cubicBezTo>
                <a:cubicBezTo>
                  <a:pt x="105" y="0"/>
                  <a:pt x="117" y="2"/>
                  <a:pt x="128" y="7"/>
                </a:cubicBezTo>
                <a:cubicBezTo>
                  <a:pt x="140" y="12"/>
                  <a:pt x="150" y="18"/>
                  <a:pt x="158" y="27"/>
                </a:cubicBezTo>
                <a:cubicBezTo>
                  <a:pt x="167" y="36"/>
                  <a:pt x="175" y="46"/>
                  <a:pt x="179" y="57"/>
                </a:cubicBezTo>
                <a:cubicBezTo>
                  <a:pt x="184" y="69"/>
                  <a:pt x="186" y="80"/>
                  <a:pt x="186" y="94"/>
                </a:cubicBezTo>
                <a:close/>
              </a:path>
            </a:pathLst>
          </a:custGeom>
          <a:noFill/>
          <a:ln w="9360">
            <a:solidFill>
              <a:srgbClr val="343A40"/>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63" name="CasellaDiTesto 162"/>
          <p:cNvSpPr txBox="1"/>
          <p:nvPr/>
        </p:nvSpPr>
        <p:spPr>
          <a:xfrm>
            <a:off x="1238400" y="3508560"/>
            <a:ext cx="19303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Strumenti Negoziali:</a:t>
            </a:r>
            <a:endParaRPr lang="it-IT" sz="1580" b="0" u="none" strike="noStrike">
              <a:solidFill>
                <a:srgbClr val="000000"/>
              </a:solidFill>
              <a:effectLst/>
              <a:uFillTx/>
              <a:latin typeface="Times New Roman"/>
            </a:endParaRPr>
          </a:p>
        </p:txBody>
      </p:sp>
      <p:sp>
        <p:nvSpPr>
          <p:cNvPr id="164" name="Figura a mano libera: forma 163"/>
          <p:cNvSpPr/>
          <p:nvPr/>
        </p:nvSpPr>
        <p:spPr>
          <a:xfrm>
            <a:off x="1304640" y="4352760"/>
            <a:ext cx="66960" cy="66960"/>
          </a:xfrm>
          <a:custGeom>
            <a:avLst/>
            <a:gdLst/>
            <a:ahLst/>
            <a:cxnLst/>
            <a:rect l="0" t="0" r="r" b="b"/>
            <a:pathLst>
              <a:path w="186" h="186">
                <a:moveTo>
                  <a:pt x="186" y="94"/>
                </a:moveTo>
                <a:cubicBezTo>
                  <a:pt x="186" y="106"/>
                  <a:pt x="184" y="118"/>
                  <a:pt x="179" y="129"/>
                </a:cubicBezTo>
                <a:cubicBezTo>
                  <a:pt x="175" y="140"/>
                  <a:pt x="167" y="150"/>
                  <a:pt x="158" y="159"/>
                </a:cubicBezTo>
                <a:cubicBezTo>
                  <a:pt x="150" y="168"/>
                  <a:pt x="140" y="174"/>
                  <a:pt x="128" y="179"/>
                </a:cubicBezTo>
                <a:cubicBezTo>
                  <a:pt x="117" y="184"/>
                  <a:pt x="105" y="186"/>
                  <a:pt x="93" y="186"/>
                </a:cubicBezTo>
                <a:cubicBezTo>
                  <a:pt x="81" y="186"/>
                  <a:pt x="69" y="184"/>
                  <a:pt x="57" y="179"/>
                </a:cubicBezTo>
                <a:cubicBezTo>
                  <a:pt x="46" y="174"/>
                  <a:pt x="36" y="168"/>
                  <a:pt x="27" y="159"/>
                </a:cubicBezTo>
                <a:cubicBezTo>
                  <a:pt x="19" y="150"/>
                  <a:pt x="12" y="140"/>
                  <a:pt x="7" y="129"/>
                </a:cubicBezTo>
                <a:cubicBezTo>
                  <a:pt x="3" y="118"/>
                  <a:pt x="0" y="106"/>
                  <a:pt x="0" y="94"/>
                </a:cubicBezTo>
                <a:cubicBezTo>
                  <a:pt x="0" y="81"/>
                  <a:pt x="3" y="69"/>
                  <a:pt x="7" y="58"/>
                </a:cubicBezTo>
                <a:cubicBezTo>
                  <a:pt x="12" y="47"/>
                  <a:pt x="19" y="37"/>
                  <a:pt x="27" y="28"/>
                </a:cubicBezTo>
                <a:cubicBezTo>
                  <a:pt x="36" y="18"/>
                  <a:pt x="46" y="12"/>
                  <a:pt x="57" y="7"/>
                </a:cubicBezTo>
                <a:cubicBezTo>
                  <a:pt x="69" y="2"/>
                  <a:pt x="81" y="0"/>
                  <a:pt x="93" y="0"/>
                </a:cubicBezTo>
                <a:cubicBezTo>
                  <a:pt x="105" y="0"/>
                  <a:pt x="117" y="2"/>
                  <a:pt x="128" y="7"/>
                </a:cubicBezTo>
                <a:cubicBezTo>
                  <a:pt x="140" y="12"/>
                  <a:pt x="150" y="18"/>
                  <a:pt x="158" y="28"/>
                </a:cubicBezTo>
                <a:cubicBezTo>
                  <a:pt x="167" y="37"/>
                  <a:pt x="175" y="47"/>
                  <a:pt x="179" y="58"/>
                </a:cubicBezTo>
                <a:cubicBezTo>
                  <a:pt x="184" y="69"/>
                  <a:pt x="186" y="81"/>
                  <a:pt x="186" y="94"/>
                </a:cubicBezTo>
                <a:close/>
              </a:path>
            </a:pathLst>
          </a:custGeom>
          <a:noFill/>
          <a:ln w="9360">
            <a:solidFill>
              <a:srgbClr val="343A40"/>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65" name="CasellaDiTesto 164"/>
          <p:cNvSpPr txBox="1"/>
          <p:nvPr/>
        </p:nvSpPr>
        <p:spPr>
          <a:xfrm>
            <a:off x="1504800" y="3909960"/>
            <a:ext cx="2058120" cy="241200"/>
          </a:xfrm>
          <a:prstGeom prst="rect">
            <a:avLst/>
          </a:prstGeom>
          <a:noFill/>
          <a:ln w="0">
            <a:noFill/>
          </a:ln>
        </p:spPr>
        <p:txBody>
          <a:bodyPr wrap="none" lIns="0" tIns="0" rIns="0" bIns="0" anchor="t">
            <a:spAutoFit/>
          </a:bodyPr>
          <a:lstStyle/>
          <a:p>
            <a:r>
              <a:rPr lang="it-IT" sz="1430" b="0" i="1" u="none" strike="noStrike">
                <a:solidFill>
                  <a:srgbClr val="495057"/>
                </a:solidFill>
                <a:effectLst/>
                <a:uFillTx/>
                <a:latin typeface="SegoeUI"/>
                <a:ea typeface="SegoeUI"/>
              </a:rPr>
              <a:t>Contratto estintivo diretto</a:t>
            </a:r>
            <a:r>
              <a:rPr lang="it-IT" sz="1430" b="0" u="none" strike="noStrike">
                <a:solidFill>
                  <a:srgbClr val="343A40"/>
                </a:solidFill>
                <a:effectLst/>
                <a:uFillTx/>
                <a:latin typeface="SegoeUI"/>
                <a:ea typeface="SegoeUI"/>
              </a:rPr>
              <a:t>.</a:t>
            </a:r>
            <a:endParaRPr lang="it-IT" sz="1430" b="0" u="none" strike="noStrike">
              <a:solidFill>
                <a:srgbClr val="000000"/>
              </a:solidFill>
              <a:effectLst/>
              <a:uFillTx/>
              <a:latin typeface="Times New Roman"/>
            </a:endParaRPr>
          </a:p>
        </p:txBody>
      </p:sp>
      <p:sp>
        <p:nvSpPr>
          <p:cNvPr id="166" name="Figura a mano libera: forma 165"/>
          <p:cNvSpPr/>
          <p:nvPr/>
        </p:nvSpPr>
        <p:spPr>
          <a:xfrm>
            <a:off x="1304640" y="4714560"/>
            <a:ext cx="66960" cy="67320"/>
          </a:xfrm>
          <a:custGeom>
            <a:avLst/>
            <a:gdLst/>
            <a:ahLst/>
            <a:cxnLst/>
            <a:rect l="0" t="0" r="r" b="b"/>
            <a:pathLst>
              <a:path w="186" h="187">
                <a:moveTo>
                  <a:pt x="186" y="93"/>
                </a:moveTo>
                <a:cubicBezTo>
                  <a:pt x="186" y="105"/>
                  <a:pt x="184" y="117"/>
                  <a:pt x="179" y="128"/>
                </a:cubicBezTo>
                <a:cubicBezTo>
                  <a:pt x="175" y="141"/>
                  <a:pt x="167" y="151"/>
                  <a:pt x="158" y="159"/>
                </a:cubicBezTo>
                <a:cubicBezTo>
                  <a:pt x="150" y="168"/>
                  <a:pt x="140" y="175"/>
                  <a:pt x="128" y="180"/>
                </a:cubicBezTo>
                <a:cubicBezTo>
                  <a:pt x="117" y="184"/>
                  <a:pt x="105" y="187"/>
                  <a:pt x="93" y="187"/>
                </a:cubicBezTo>
                <a:cubicBezTo>
                  <a:pt x="81" y="187"/>
                  <a:pt x="69" y="184"/>
                  <a:pt x="57" y="180"/>
                </a:cubicBezTo>
                <a:cubicBezTo>
                  <a:pt x="46" y="175"/>
                  <a:pt x="36" y="168"/>
                  <a:pt x="27" y="159"/>
                </a:cubicBezTo>
                <a:cubicBezTo>
                  <a:pt x="19" y="151"/>
                  <a:pt x="12" y="141"/>
                  <a:pt x="7" y="128"/>
                </a:cubicBezTo>
                <a:cubicBezTo>
                  <a:pt x="3" y="117"/>
                  <a:pt x="0" y="105"/>
                  <a:pt x="0" y="93"/>
                </a:cubicBezTo>
                <a:cubicBezTo>
                  <a:pt x="0" y="81"/>
                  <a:pt x="3" y="69"/>
                  <a:pt x="7" y="58"/>
                </a:cubicBezTo>
                <a:cubicBezTo>
                  <a:pt x="12" y="46"/>
                  <a:pt x="19" y="36"/>
                  <a:pt x="27" y="27"/>
                </a:cubicBezTo>
                <a:cubicBezTo>
                  <a:pt x="36" y="19"/>
                  <a:pt x="46" y="12"/>
                  <a:pt x="57" y="7"/>
                </a:cubicBezTo>
                <a:cubicBezTo>
                  <a:pt x="69" y="3"/>
                  <a:pt x="81" y="0"/>
                  <a:pt x="93" y="0"/>
                </a:cubicBezTo>
                <a:cubicBezTo>
                  <a:pt x="105" y="0"/>
                  <a:pt x="117" y="3"/>
                  <a:pt x="128" y="7"/>
                </a:cubicBezTo>
                <a:cubicBezTo>
                  <a:pt x="140" y="12"/>
                  <a:pt x="150" y="19"/>
                  <a:pt x="158" y="27"/>
                </a:cubicBezTo>
                <a:cubicBezTo>
                  <a:pt x="167" y="36"/>
                  <a:pt x="175" y="46"/>
                  <a:pt x="179" y="58"/>
                </a:cubicBezTo>
                <a:cubicBezTo>
                  <a:pt x="184" y="69"/>
                  <a:pt x="186" y="81"/>
                  <a:pt x="186" y="93"/>
                </a:cubicBezTo>
                <a:close/>
              </a:path>
            </a:pathLst>
          </a:custGeom>
          <a:noFill/>
          <a:ln w="9360">
            <a:solidFill>
              <a:srgbClr val="343A40"/>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67" name="CasellaDiTesto 166"/>
          <p:cNvSpPr txBox="1"/>
          <p:nvPr/>
        </p:nvSpPr>
        <p:spPr>
          <a:xfrm>
            <a:off x="1504800" y="4262400"/>
            <a:ext cx="6788160" cy="241200"/>
          </a:xfrm>
          <a:prstGeom prst="rect">
            <a:avLst/>
          </a:prstGeom>
          <a:noFill/>
          <a:ln w="0">
            <a:noFill/>
          </a:ln>
        </p:spPr>
        <p:txBody>
          <a:bodyPr wrap="none" lIns="0" tIns="0" rIns="0" bIns="0" anchor="t">
            <a:spAutoFit/>
          </a:bodyPr>
          <a:lstStyle/>
          <a:p>
            <a:r>
              <a:rPr lang="it-IT" sz="1430" b="0" i="1" u="none" strike="noStrike">
                <a:solidFill>
                  <a:srgbClr val="495057"/>
                </a:solidFill>
                <a:effectLst/>
                <a:uFillTx/>
                <a:latin typeface="SegoeUI"/>
                <a:ea typeface="SegoeUI"/>
              </a:rPr>
              <a:t>Patto di compensazione futura:</a:t>
            </a:r>
            <a:r>
              <a:rPr lang="it-IT" sz="1430" b="0" u="none" strike="noStrike">
                <a:solidFill>
                  <a:srgbClr val="343A40"/>
                </a:solidFill>
                <a:effectLst/>
                <a:uFillTx/>
                <a:latin typeface="SegoeUI"/>
                <a:ea typeface="SegoeUI"/>
              </a:rPr>
              <a:t> fissa le condizioni al cui verificarsi si produrrà l'effetto.</a:t>
            </a:r>
            <a:endParaRPr lang="it-IT" sz="1430" b="0" u="none" strike="noStrike">
              <a:solidFill>
                <a:srgbClr val="000000"/>
              </a:solidFill>
              <a:effectLst/>
              <a:uFillTx/>
              <a:latin typeface="Times New Roman"/>
            </a:endParaRPr>
          </a:p>
        </p:txBody>
      </p:sp>
      <p:sp>
        <p:nvSpPr>
          <p:cNvPr id="168" name="Figura a mano libera: forma 16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9" name="CasellaDiTesto 168"/>
          <p:cNvSpPr txBox="1"/>
          <p:nvPr/>
        </p:nvSpPr>
        <p:spPr>
          <a:xfrm>
            <a:off x="1504800" y="4624200"/>
            <a:ext cx="7999920" cy="241200"/>
          </a:xfrm>
          <a:prstGeom prst="rect">
            <a:avLst/>
          </a:prstGeom>
          <a:noFill/>
          <a:ln w="0">
            <a:noFill/>
          </a:ln>
        </p:spPr>
        <p:txBody>
          <a:bodyPr wrap="none" lIns="0" tIns="0" rIns="0" bIns="0" anchor="t">
            <a:spAutoFit/>
          </a:bodyPr>
          <a:lstStyle/>
          <a:p>
            <a:r>
              <a:rPr lang="it-IT" sz="1430" b="0" i="1" u="none" strike="noStrike">
                <a:solidFill>
                  <a:srgbClr val="495057"/>
                </a:solidFill>
                <a:effectLst/>
                <a:uFillTx/>
                <a:latin typeface="SegoeUI"/>
                <a:ea typeface="SegoeUI"/>
              </a:rPr>
              <a:t>Compensazione facoltativa:</a:t>
            </a:r>
            <a:r>
              <a:rPr lang="it-IT" sz="1430" b="0" u="none" strike="noStrike">
                <a:solidFill>
                  <a:srgbClr val="343A40"/>
                </a:solidFill>
                <a:effectLst/>
                <a:uFillTx/>
                <a:latin typeface="SegoeUI"/>
                <a:ea typeface="SegoeUI"/>
              </a:rPr>
              <a:t> attribuisce a una sola parte l'opzione (diritto potestativo) di compensare.</a:t>
            </a:r>
            <a:endParaRPr lang="it-IT" sz="1430" b="0" u="none" strike="noStrike">
              <a:solidFill>
                <a:srgbClr val="000000"/>
              </a:solidFill>
              <a:effectLst/>
              <a:uFillTx/>
              <a:latin typeface="Times New Roman"/>
            </a:endParaRPr>
          </a:p>
        </p:txBody>
      </p:sp>
      <p:sp>
        <p:nvSpPr>
          <p:cNvPr id="170" name="Figura a mano libera: forma 169"/>
          <p:cNvSpPr/>
          <p:nvPr/>
        </p:nvSpPr>
        <p:spPr>
          <a:xfrm>
            <a:off x="10734480" y="6229080"/>
            <a:ext cx="790920" cy="10080"/>
          </a:xfrm>
          <a:custGeom>
            <a:avLst/>
            <a:gdLst/>
            <a:ahLst/>
            <a:cxnLst/>
            <a:rect l="0" t="0" r="r" b="b"/>
            <a:pathLst>
              <a:path w="2197" h="28">
                <a:moveTo>
                  <a:pt x="0" y="0"/>
                </a:moveTo>
                <a:lnTo>
                  <a:pt x="2197" y="0"/>
                </a:lnTo>
                <a:lnTo>
                  <a:pt x="219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 name="CasellaDiTesto 17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72" name="CasellaDiTesto 171"/>
          <p:cNvSpPr txBox="1"/>
          <p:nvPr/>
        </p:nvSpPr>
        <p:spPr>
          <a:xfrm>
            <a:off x="10731240" y="6391080"/>
            <a:ext cx="65556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9 / 73</a:t>
            </a:r>
            <a:endParaRPr lang="it-IT" sz="98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Figura a mano libera: forma 17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4" name="Figura a mano libera: forma 17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5" name="Figura a mano libera: forma 17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6" name="Figura a mano libera: forma 17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77" name="Figura a mano libera: forma 176"/>
          <p:cNvSpPr/>
          <p:nvPr/>
        </p:nvSpPr>
        <p:spPr>
          <a:xfrm>
            <a:off x="971280" y="20476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8" name="CasellaDiTesto 177"/>
          <p:cNvSpPr txBox="1"/>
          <p:nvPr/>
        </p:nvSpPr>
        <p:spPr>
          <a:xfrm>
            <a:off x="971640" y="1428840"/>
            <a:ext cx="60033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LIMITI NORMATIVI ED EDGE CASES</a:t>
            </a:r>
            <a:endParaRPr lang="it-IT" sz="2850" b="0" u="none" strike="noStrike">
              <a:solidFill>
                <a:srgbClr val="000000"/>
              </a:solidFill>
              <a:effectLst/>
              <a:uFillTx/>
              <a:latin typeface="Times New Roman"/>
            </a:endParaRPr>
          </a:p>
        </p:txBody>
      </p:sp>
      <p:sp>
        <p:nvSpPr>
          <p:cNvPr id="179" name="Figura a mano libera: forma 178"/>
          <p:cNvSpPr/>
          <p:nvPr/>
        </p:nvSpPr>
        <p:spPr>
          <a:xfrm>
            <a:off x="1028520" y="298116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0" name="CasellaDiTesto 179"/>
          <p:cNvSpPr txBox="1"/>
          <p:nvPr/>
        </p:nvSpPr>
        <p:spPr>
          <a:xfrm>
            <a:off x="971640" y="2153520"/>
            <a:ext cx="222012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Tutela di Terzi e Policy</a:t>
            </a:r>
            <a:endParaRPr lang="it-IT" sz="1800" b="0" u="none" strike="noStrike">
              <a:solidFill>
                <a:srgbClr val="000000"/>
              </a:solidFill>
              <a:effectLst/>
              <a:uFillTx/>
              <a:latin typeface="Times New Roman"/>
            </a:endParaRPr>
          </a:p>
        </p:txBody>
      </p:sp>
      <p:sp>
        <p:nvSpPr>
          <p:cNvPr id="181" name="CasellaDiTesto 180"/>
          <p:cNvSpPr txBox="1"/>
          <p:nvPr/>
        </p:nvSpPr>
        <p:spPr>
          <a:xfrm>
            <a:off x="1238400" y="2870280"/>
            <a:ext cx="101664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Crediti Incompensabili:</a:t>
            </a:r>
            <a:r>
              <a:rPr lang="it-IT" sz="1580" b="0" u="none" strike="noStrike">
                <a:solidFill>
                  <a:srgbClr val="343A40"/>
                </a:solidFill>
                <a:effectLst/>
                <a:uFillTx/>
                <a:latin typeface="SegoeUI"/>
                <a:ea typeface="SegoeUI"/>
              </a:rPr>
              <a:t> Divieto per crediti impignorabili (alimenti, crediti assistenziali, parte di crediti di lavoro) per</a:t>
            </a:r>
            <a:endParaRPr lang="it-IT" sz="1580" b="0" u="none" strike="noStrike">
              <a:solidFill>
                <a:srgbClr val="000000"/>
              </a:solidFill>
              <a:effectLst/>
              <a:uFillTx/>
              <a:latin typeface="Times New Roman"/>
            </a:endParaRPr>
          </a:p>
        </p:txBody>
      </p:sp>
      <p:sp>
        <p:nvSpPr>
          <p:cNvPr id="182" name="Figura a mano libera: forma 181"/>
          <p:cNvSpPr/>
          <p:nvPr/>
        </p:nvSpPr>
        <p:spPr>
          <a:xfrm>
            <a:off x="1028520" y="3771720"/>
            <a:ext cx="76680" cy="76680"/>
          </a:xfrm>
          <a:custGeom>
            <a:avLst/>
            <a:gdLst/>
            <a:ahLst/>
            <a:cxnLst/>
            <a:rect l="0" t="0" r="r" b="b"/>
            <a:pathLst>
              <a:path w="213" h="213">
                <a:moveTo>
                  <a:pt x="213" y="106"/>
                </a:moveTo>
                <a:cubicBezTo>
                  <a:pt x="213" y="120"/>
                  <a:pt x="210" y="133"/>
                  <a:pt x="205" y="146"/>
                </a:cubicBezTo>
                <a:cubicBezTo>
                  <a:pt x="198" y="159"/>
                  <a:pt x="191" y="171"/>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3" name="CasellaDiTesto 182"/>
          <p:cNvSpPr txBox="1"/>
          <p:nvPr/>
        </p:nvSpPr>
        <p:spPr>
          <a:xfrm>
            <a:off x="1238400" y="3175200"/>
            <a:ext cx="43315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preminente interesse del creditore (art. 1246 c.c.).</a:t>
            </a:r>
            <a:endParaRPr lang="it-IT" sz="1580" b="0" u="none" strike="noStrike">
              <a:solidFill>
                <a:srgbClr val="000000"/>
              </a:solidFill>
              <a:effectLst/>
              <a:uFillTx/>
              <a:latin typeface="Times New Roman"/>
            </a:endParaRPr>
          </a:p>
        </p:txBody>
      </p:sp>
      <p:sp>
        <p:nvSpPr>
          <p:cNvPr id="184" name="CasellaDiTesto 183"/>
          <p:cNvSpPr txBox="1"/>
          <p:nvPr/>
        </p:nvSpPr>
        <p:spPr>
          <a:xfrm>
            <a:off x="1238400" y="3660840"/>
            <a:ext cx="100375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Tutela dei Terzi (art. 1250 c.c.):</a:t>
            </a:r>
            <a:r>
              <a:rPr lang="it-IT" sz="1580" b="0" u="none" strike="noStrike">
                <a:solidFill>
                  <a:srgbClr val="343A40"/>
                </a:solidFill>
                <a:effectLst/>
                <a:uFillTx/>
                <a:latin typeface="SegoeUI"/>
                <a:ea typeface="SegoeUI"/>
              </a:rPr>
              <a:t> La compensazione non può pregiudicare diritti di usufrutto o pegno costituiti sul</a:t>
            </a:r>
            <a:endParaRPr lang="it-IT" sz="1580" b="0" u="none" strike="noStrike">
              <a:solidFill>
                <a:srgbClr val="000000"/>
              </a:solidFill>
              <a:effectLst/>
              <a:uFillTx/>
              <a:latin typeface="Times New Roman"/>
            </a:endParaRPr>
          </a:p>
        </p:txBody>
      </p:sp>
      <p:sp>
        <p:nvSpPr>
          <p:cNvPr id="185" name="Figura a mano libera: forma 184"/>
          <p:cNvSpPr/>
          <p:nvPr/>
        </p:nvSpPr>
        <p:spPr>
          <a:xfrm>
            <a:off x="1028520" y="456228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6" name="CasellaDiTesto 185"/>
          <p:cNvSpPr txBox="1"/>
          <p:nvPr/>
        </p:nvSpPr>
        <p:spPr>
          <a:xfrm>
            <a:off x="1238400" y="3965760"/>
            <a:ext cx="27619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credito prima della coesistenza.</a:t>
            </a:r>
            <a:endParaRPr lang="it-IT" sz="1580" b="0" u="none" strike="noStrike">
              <a:solidFill>
                <a:srgbClr val="000000"/>
              </a:solidFill>
              <a:effectLst/>
              <a:uFillTx/>
              <a:latin typeface="Times New Roman"/>
            </a:endParaRPr>
          </a:p>
        </p:txBody>
      </p:sp>
      <p:sp>
        <p:nvSpPr>
          <p:cNvPr id="187" name="CasellaDiTesto 186"/>
          <p:cNvSpPr txBox="1"/>
          <p:nvPr/>
        </p:nvSpPr>
        <p:spPr>
          <a:xfrm>
            <a:off x="1238400" y="4451400"/>
            <a:ext cx="98834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Cessione del Credito:</a:t>
            </a:r>
            <a:r>
              <a:rPr lang="it-IT" sz="1580" b="0" u="none" strike="noStrike">
                <a:solidFill>
                  <a:srgbClr val="343A40"/>
                </a:solidFill>
                <a:effectLst/>
                <a:uFillTx/>
                <a:latin typeface="SegoeUI"/>
                <a:ea typeface="SegoeUI"/>
              </a:rPr>
              <a:t> Il debitore ceduto non può opporre al cessionario compensazioni per crediti sorti dopo la</a:t>
            </a:r>
            <a:endParaRPr lang="it-IT" sz="1580" b="0" u="none" strike="noStrike">
              <a:solidFill>
                <a:srgbClr val="000000"/>
              </a:solidFill>
              <a:effectLst/>
              <a:uFillTx/>
              <a:latin typeface="Times New Roman"/>
            </a:endParaRPr>
          </a:p>
        </p:txBody>
      </p:sp>
      <p:sp>
        <p:nvSpPr>
          <p:cNvPr id="188" name="Figura a mano libera: forma 18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 name="CasellaDiTesto 188"/>
          <p:cNvSpPr txBox="1"/>
          <p:nvPr/>
        </p:nvSpPr>
        <p:spPr>
          <a:xfrm>
            <a:off x="1238400" y="4756320"/>
            <a:ext cx="63198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notifica, né per crediti anteriori se ha accettato la cessione senza riserve.</a:t>
            </a:r>
            <a:endParaRPr lang="it-IT" sz="1580" b="0" u="none" strike="noStrike">
              <a:solidFill>
                <a:srgbClr val="000000"/>
              </a:solidFill>
              <a:effectLst/>
              <a:uFillTx/>
              <a:latin typeface="Times New Roman"/>
            </a:endParaRPr>
          </a:p>
        </p:txBody>
      </p:sp>
      <p:sp>
        <p:nvSpPr>
          <p:cNvPr id="190" name="Figura a mano libera: forma 18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1" name="CasellaDiTesto 19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92" name="CasellaDiTesto 19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10 / 73</a:t>
            </a:r>
            <a:endParaRPr lang="it-IT" sz="980" b="0" u="none" strike="noStrike">
              <a:solidFill>
                <a:srgbClr val="000000"/>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Figura a mano libera: forma 19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4" name="Figura a mano libera: forma 19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5" name="Figura a mano libera: forma 19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6" name="Figura a mano libera: forma 19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7" name="Figura a mano libera: forma 196"/>
          <p:cNvSpPr/>
          <p:nvPr/>
        </p:nvSpPr>
        <p:spPr>
          <a:xfrm>
            <a:off x="971280" y="24382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8" name="Figura a mano libera: forma 197"/>
          <p:cNvSpPr/>
          <p:nvPr/>
        </p:nvSpPr>
        <p:spPr>
          <a:xfrm>
            <a:off x="1962075" y="3429000"/>
            <a:ext cx="1095480" cy="371880"/>
          </a:xfrm>
          <a:custGeom>
            <a:avLst/>
            <a:gdLst/>
            <a:ahLst/>
            <a:cxnLst/>
            <a:rect l="0" t="0" r="r" b="b"/>
            <a:pathLst>
              <a:path w="3043" h="1033">
                <a:moveTo>
                  <a:pt x="0" y="0"/>
                </a:moveTo>
                <a:lnTo>
                  <a:pt x="3043" y="0"/>
                </a:lnTo>
                <a:lnTo>
                  <a:pt x="3043"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9" name="Figura a mano libera: forma 198"/>
          <p:cNvSpPr/>
          <p:nvPr/>
        </p:nvSpPr>
        <p:spPr>
          <a:xfrm>
            <a:off x="3057195" y="3429000"/>
            <a:ext cx="1019520" cy="371880"/>
          </a:xfrm>
          <a:custGeom>
            <a:avLst/>
            <a:gdLst/>
            <a:ahLst/>
            <a:cxnLst/>
            <a:rect l="0" t="0" r="r" b="b"/>
            <a:pathLst>
              <a:path w="2832" h="1033">
                <a:moveTo>
                  <a:pt x="0" y="0"/>
                </a:moveTo>
                <a:lnTo>
                  <a:pt x="2832" y="0"/>
                </a:lnTo>
                <a:lnTo>
                  <a:pt x="2832"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0" name="Figura a mano libera: forma 199"/>
          <p:cNvSpPr/>
          <p:nvPr/>
        </p:nvSpPr>
        <p:spPr>
          <a:xfrm>
            <a:off x="4076355" y="3429000"/>
            <a:ext cx="2867400" cy="371880"/>
          </a:xfrm>
          <a:custGeom>
            <a:avLst/>
            <a:gdLst/>
            <a:ahLst/>
            <a:cxnLst/>
            <a:rect l="0" t="0" r="r" b="b"/>
            <a:pathLst>
              <a:path w="7965" h="1033">
                <a:moveTo>
                  <a:pt x="0" y="0"/>
                </a:moveTo>
                <a:lnTo>
                  <a:pt x="7965" y="0"/>
                </a:lnTo>
                <a:lnTo>
                  <a:pt x="7965"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1" name="Figura a mano libera: forma 200"/>
          <p:cNvSpPr/>
          <p:nvPr/>
        </p:nvSpPr>
        <p:spPr>
          <a:xfrm>
            <a:off x="6943395" y="3429000"/>
            <a:ext cx="3096000" cy="371880"/>
          </a:xfrm>
          <a:custGeom>
            <a:avLst/>
            <a:gdLst/>
            <a:ahLst/>
            <a:cxnLst/>
            <a:rect l="0" t="0" r="r" b="b"/>
            <a:pathLst>
              <a:path w="8600" h="1033">
                <a:moveTo>
                  <a:pt x="0" y="0"/>
                </a:moveTo>
                <a:lnTo>
                  <a:pt x="8600" y="0"/>
                </a:lnTo>
                <a:lnTo>
                  <a:pt x="8600"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2" name="Figura a mano libera: forma 201"/>
          <p:cNvSpPr/>
          <p:nvPr/>
        </p:nvSpPr>
        <p:spPr>
          <a:xfrm>
            <a:off x="1962075" y="3429000"/>
            <a:ext cx="1095480" cy="371880"/>
          </a:xfrm>
          <a:custGeom>
            <a:avLst/>
            <a:gdLst/>
            <a:ahLst/>
            <a:cxnLst/>
            <a:rect l="0" t="0" r="r" b="b"/>
            <a:pathLst>
              <a:path w="3043" h="1033">
                <a:moveTo>
                  <a:pt x="0" y="0"/>
                </a:moveTo>
                <a:lnTo>
                  <a:pt x="3043" y="0"/>
                </a:lnTo>
                <a:lnTo>
                  <a:pt x="3043"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3" name="Figura a mano libera: forma 202"/>
          <p:cNvSpPr/>
          <p:nvPr/>
        </p:nvSpPr>
        <p:spPr>
          <a:xfrm>
            <a:off x="3057195" y="3429000"/>
            <a:ext cx="1019520" cy="371880"/>
          </a:xfrm>
          <a:custGeom>
            <a:avLst/>
            <a:gdLst/>
            <a:ahLst/>
            <a:cxnLst/>
            <a:rect l="0" t="0" r="r" b="b"/>
            <a:pathLst>
              <a:path w="2832" h="1033">
                <a:moveTo>
                  <a:pt x="0" y="0"/>
                </a:moveTo>
                <a:lnTo>
                  <a:pt x="2832" y="0"/>
                </a:lnTo>
                <a:lnTo>
                  <a:pt x="2832"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4" name="Figura a mano libera: forma 203"/>
          <p:cNvSpPr/>
          <p:nvPr/>
        </p:nvSpPr>
        <p:spPr>
          <a:xfrm>
            <a:off x="4076355" y="3429000"/>
            <a:ext cx="2867400" cy="371880"/>
          </a:xfrm>
          <a:custGeom>
            <a:avLst/>
            <a:gdLst/>
            <a:ahLst/>
            <a:cxnLst/>
            <a:rect l="0" t="0" r="r" b="b"/>
            <a:pathLst>
              <a:path w="7965" h="1033">
                <a:moveTo>
                  <a:pt x="0" y="0"/>
                </a:moveTo>
                <a:lnTo>
                  <a:pt x="7965" y="0"/>
                </a:lnTo>
                <a:lnTo>
                  <a:pt x="7965"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5" name="Figura a mano libera: forma 204"/>
          <p:cNvSpPr/>
          <p:nvPr/>
        </p:nvSpPr>
        <p:spPr>
          <a:xfrm>
            <a:off x="6943395" y="3429000"/>
            <a:ext cx="3096000" cy="371880"/>
          </a:xfrm>
          <a:custGeom>
            <a:avLst/>
            <a:gdLst/>
            <a:ahLst/>
            <a:cxnLst/>
            <a:rect l="0" t="0" r="r" b="b"/>
            <a:pathLst>
              <a:path w="8600" h="1033">
                <a:moveTo>
                  <a:pt x="0" y="0"/>
                </a:moveTo>
                <a:lnTo>
                  <a:pt x="8600" y="0"/>
                </a:lnTo>
                <a:lnTo>
                  <a:pt x="8600"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6" name="Figura a mano libera: forma 205"/>
          <p:cNvSpPr/>
          <p:nvPr/>
        </p:nvSpPr>
        <p:spPr>
          <a:xfrm>
            <a:off x="1962075" y="3800520"/>
            <a:ext cx="1095480" cy="400320"/>
          </a:xfrm>
          <a:custGeom>
            <a:avLst/>
            <a:gdLst/>
            <a:ahLst/>
            <a:cxnLst/>
            <a:rect l="0" t="0" r="r" b="b"/>
            <a:pathLst>
              <a:path w="3043" h="1112">
                <a:moveTo>
                  <a:pt x="0" y="0"/>
                </a:moveTo>
                <a:lnTo>
                  <a:pt x="3043" y="0"/>
                </a:lnTo>
                <a:lnTo>
                  <a:pt x="3043"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7" name="Figura a mano libera: forma 206"/>
          <p:cNvSpPr/>
          <p:nvPr/>
        </p:nvSpPr>
        <p:spPr>
          <a:xfrm>
            <a:off x="3057195" y="3800520"/>
            <a:ext cx="1019520" cy="400320"/>
          </a:xfrm>
          <a:custGeom>
            <a:avLst/>
            <a:gdLst/>
            <a:ahLst/>
            <a:cxnLst/>
            <a:rect l="0" t="0" r="r" b="b"/>
            <a:pathLst>
              <a:path w="2832" h="1112">
                <a:moveTo>
                  <a:pt x="0" y="0"/>
                </a:moveTo>
                <a:lnTo>
                  <a:pt x="2832" y="0"/>
                </a:lnTo>
                <a:lnTo>
                  <a:pt x="2832"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8" name="Figura a mano libera: forma 207"/>
          <p:cNvSpPr/>
          <p:nvPr/>
        </p:nvSpPr>
        <p:spPr>
          <a:xfrm>
            <a:off x="4076355" y="3800520"/>
            <a:ext cx="2867400" cy="400320"/>
          </a:xfrm>
          <a:custGeom>
            <a:avLst/>
            <a:gdLst/>
            <a:ahLst/>
            <a:cxnLst/>
            <a:rect l="0" t="0" r="r" b="b"/>
            <a:pathLst>
              <a:path w="7965" h="1112">
                <a:moveTo>
                  <a:pt x="0" y="0"/>
                </a:moveTo>
                <a:lnTo>
                  <a:pt x="7965" y="0"/>
                </a:lnTo>
                <a:lnTo>
                  <a:pt x="7965"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9" name="Figura a mano libera: forma 208"/>
          <p:cNvSpPr/>
          <p:nvPr/>
        </p:nvSpPr>
        <p:spPr>
          <a:xfrm>
            <a:off x="6943395" y="3800520"/>
            <a:ext cx="3096000" cy="400320"/>
          </a:xfrm>
          <a:custGeom>
            <a:avLst/>
            <a:gdLst/>
            <a:ahLst/>
            <a:cxnLst/>
            <a:rect l="0" t="0" r="r" b="b"/>
            <a:pathLst>
              <a:path w="8600" h="1112">
                <a:moveTo>
                  <a:pt x="0" y="0"/>
                </a:moveTo>
                <a:lnTo>
                  <a:pt x="8600" y="0"/>
                </a:lnTo>
                <a:lnTo>
                  <a:pt x="8600"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0" name="Figura a mano libera: forma 209"/>
          <p:cNvSpPr/>
          <p:nvPr/>
        </p:nvSpPr>
        <p:spPr>
          <a:xfrm>
            <a:off x="1962075" y="4200480"/>
            <a:ext cx="1095480" cy="410040"/>
          </a:xfrm>
          <a:custGeom>
            <a:avLst/>
            <a:gdLst/>
            <a:ahLst/>
            <a:cxnLst/>
            <a:rect l="0" t="0" r="r" b="b"/>
            <a:pathLst>
              <a:path w="3043" h="1139">
                <a:moveTo>
                  <a:pt x="0" y="0"/>
                </a:moveTo>
                <a:lnTo>
                  <a:pt x="3043" y="0"/>
                </a:lnTo>
                <a:lnTo>
                  <a:pt x="3043" y="1139"/>
                </a:lnTo>
                <a:lnTo>
                  <a:pt x="0" y="1139"/>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1" name="Figura a mano libera: forma 210"/>
          <p:cNvSpPr/>
          <p:nvPr/>
        </p:nvSpPr>
        <p:spPr>
          <a:xfrm>
            <a:off x="3057195" y="4200480"/>
            <a:ext cx="1019520" cy="410040"/>
          </a:xfrm>
          <a:custGeom>
            <a:avLst/>
            <a:gdLst/>
            <a:ahLst/>
            <a:cxnLst/>
            <a:rect l="0" t="0" r="r" b="b"/>
            <a:pathLst>
              <a:path w="2832" h="1139">
                <a:moveTo>
                  <a:pt x="0" y="0"/>
                </a:moveTo>
                <a:lnTo>
                  <a:pt x="2832" y="0"/>
                </a:lnTo>
                <a:lnTo>
                  <a:pt x="2832" y="1139"/>
                </a:lnTo>
                <a:lnTo>
                  <a:pt x="0" y="1139"/>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2" name="Figura a mano libera: forma 211"/>
          <p:cNvSpPr/>
          <p:nvPr/>
        </p:nvSpPr>
        <p:spPr>
          <a:xfrm>
            <a:off x="4076355" y="4200480"/>
            <a:ext cx="2867400" cy="410040"/>
          </a:xfrm>
          <a:custGeom>
            <a:avLst/>
            <a:gdLst/>
            <a:ahLst/>
            <a:cxnLst/>
            <a:rect l="0" t="0" r="r" b="b"/>
            <a:pathLst>
              <a:path w="7965" h="1139">
                <a:moveTo>
                  <a:pt x="0" y="0"/>
                </a:moveTo>
                <a:lnTo>
                  <a:pt x="7965" y="0"/>
                </a:lnTo>
                <a:lnTo>
                  <a:pt x="7965" y="1139"/>
                </a:lnTo>
                <a:lnTo>
                  <a:pt x="0" y="1139"/>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3" name="Figura a mano libera: forma 212"/>
          <p:cNvSpPr/>
          <p:nvPr/>
        </p:nvSpPr>
        <p:spPr>
          <a:xfrm>
            <a:off x="6943395" y="4200480"/>
            <a:ext cx="3096000" cy="410040"/>
          </a:xfrm>
          <a:custGeom>
            <a:avLst/>
            <a:gdLst/>
            <a:ahLst/>
            <a:cxnLst/>
            <a:rect l="0" t="0" r="r" b="b"/>
            <a:pathLst>
              <a:path w="8600" h="1139">
                <a:moveTo>
                  <a:pt x="0" y="0"/>
                </a:moveTo>
                <a:lnTo>
                  <a:pt x="8600" y="0"/>
                </a:lnTo>
                <a:lnTo>
                  <a:pt x="8600" y="1139"/>
                </a:lnTo>
                <a:lnTo>
                  <a:pt x="0" y="1139"/>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4" name="Figura a mano libera: forma 213"/>
          <p:cNvSpPr/>
          <p:nvPr/>
        </p:nvSpPr>
        <p:spPr>
          <a:xfrm>
            <a:off x="1962075" y="4610160"/>
            <a:ext cx="1095480" cy="400320"/>
          </a:xfrm>
          <a:custGeom>
            <a:avLst/>
            <a:gdLst/>
            <a:ahLst/>
            <a:cxnLst/>
            <a:rect l="0" t="0" r="r" b="b"/>
            <a:pathLst>
              <a:path w="3043" h="1112">
                <a:moveTo>
                  <a:pt x="0" y="1112"/>
                </a:moveTo>
                <a:lnTo>
                  <a:pt x="0" y="0"/>
                </a:lnTo>
                <a:lnTo>
                  <a:pt x="3043" y="0"/>
                </a:lnTo>
                <a:lnTo>
                  <a:pt x="3043"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5" name="Figura a mano libera: forma 214"/>
          <p:cNvSpPr/>
          <p:nvPr/>
        </p:nvSpPr>
        <p:spPr>
          <a:xfrm>
            <a:off x="3057195" y="4610160"/>
            <a:ext cx="1019520" cy="400320"/>
          </a:xfrm>
          <a:custGeom>
            <a:avLst/>
            <a:gdLst/>
            <a:ahLst/>
            <a:cxnLst/>
            <a:rect l="0" t="0" r="r" b="b"/>
            <a:pathLst>
              <a:path w="2832" h="1112">
                <a:moveTo>
                  <a:pt x="0" y="1112"/>
                </a:moveTo>
                <a:lnTo>
                  <a:pt x="0" y="0"/>
                </a:lnTo>
                <a:lnTo>
                  <a:pt x="2832" y="0"/>
                </a:lnTo>
                <a:lnTo>
                  <a:pt x="2832"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6" name="Figura a mano libera: forma 215"/>
          <p:cNvSpPr/>
          <p:nvPr/>
        </p:nvSpPr>
        <p:spPr>
          <a:xfrm>
            <a:off x="4076355" y="4610160"/>
            <a:ext cx="2867400" cy="400320"/>
          </a:xfrm>
          <a:custGeom>
            <a:avLst/>
            <a:gdLst/>
            <a:ahLst/>
            <a:cxnLst/>
            <a:rect l="0" t="0" r="r" b="b"/>
            <a:pathLst>
              <a:path w="7965" h="1112">
                <a:moveTo>
                  <a:pt x="0" y="1112"/>
                </a:moveTo>
                <a:lnTo>
                  <a:pt x="0" y="0"/>
                </a:lnTo>
                <a:lnTo>
                  <a:pt x="7965" y="0"/>
                </a:lnTo>
                <a:lnTo>
                  <a:pt x="7965"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7" name="Figura a mano libera: forma 216"/>
          <p:cNvSpPr/>
          <p:nvPr/>
        </p:nvSpPr>
        <p:spPr>
          <a:xfrm>
            <a:off x="6943395" y="4610160"/>
            <a:ext cx="3096000" cy="400320"/>
          </a:xfrm>
          <a:custGeom>
            <a:avLst/>
            <a:gdLst/>
            <a:ahLst/>
            <a:cxnLst/>
            <a:rect l="0" t="0" r="r" b="b"/>
            <a:pathLst>
              <a:path w="8600" h="1112">
                <a:moveTo>
                  <a:pt x="0" y="1112"/>
                </a:moveTo>
                <a:lnTo>
                  <a:pt x="0" y="0"/>
                </a:lnTo>
                <a:lnTo>
                  <a:pt x="8600" y="0"/>
                </a:lnTo>
                <a:lnTo>
                  <a:pt x="8600"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8" name="Figura a mano libera: forma 217"/>
          <p:cNvSpPr/>
          <p:nvPr/>
        </p:nvSpPr>
        <p:spPr>
          <a:xfrm>
            <a:off x="1952355" y="341928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9" name="Figura a mano libera: forma 218"/>
          <p:cNvSpPr/>
          <p:nvPr/>
        </p:nvSpPr>
        <p:spPr>
          <a:xfrm>
            <a:off x="1952355" y="3419280"/>
            <a:ext cx="1105200" cy="10080"/>
          </a:xfrm>
          <a:custGeom>
            <a:avLst/>
            <a:gdLst/>
            <a:ahLst/>
            <a:cxnLst/>
            <a:rect l="0" t="0" r="r" b="b"/>
            <a:pathLst>
              <a:path w="3070" h="28">
                <a:moveTo>
                  <a:pt x="0" y="0"/>
                </a:moveTo>
                <a:lnTo>
                  <a:pt x="3070" y="0"/>
                </a:lnTo>
                <a:lnTo>
                  <a:pt x="3070"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0" name="Figura a mano libera: forma 219"/>
          <p:cNvSpPr/>
          <p:nvPr/>
        </p:nvSpPr>
        <p:spPr>
          <a:xfrm>
            <a:off x="3047835" y="3419280"/>
            <a:ext cx="9720" cy="381600"/>
          </a:xfrm>
          <a:custGeom>
            <a:avLst/>
            <a:gdLst/>
            <a:ahLst/>
            <a:cxn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1" name="Figura a mano libera: forma 220"/>
          <p:cNvSpPr/>
          <p:nvPr/>
        </p:nvSpPr>
        <p:spPr>
          <a:xfrm>
            <a:off x="3057195" y="3419280"/>
            <a:ext cx="1029240" cy="10080"/>
          </a:xfrm>
          <a:custGeom>
            <a:avLst/>
            <a:gdLst/>
            <a:ahLst/>
            <a:cxnLst/>
            <a:rect l="0" t="0" r="r" b="b"/>
            <a:pathLst>
              <a:path w="2859" h="28">
                <a:moveTo>
                  <a:pt x="0" y="0"/>
                </a:moveTo>
                <a:lnTo>
                  <a:pt x="2859" y="0"/>
                </a:lnTo>
                <a:lnTo>
                  <a:pt x="285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2" name="Figura a mano libera: forma 221"/>
          <p:cNvSpPr/>
          <p:nvPr/>
        </p:nvSpPr>
        <p:spPr>
          <a:xfrm>
            <a:off x="4076355" y="341928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3" name="Figura a mano libera: forma 222"/>
          <p:cNvSpPr/>
          <p:nvPr/>
        </p:nvSpPr>
        <p:spPr>
          <a:xfrm>
            <a:off x="4086075" y="3419280"/>
            <a:ext cx="2867400" cy="10080"/>
          </a:xfrm>
          <a:custGeom>
            <a:avLst/>
            <a:gdLst/>
            <a:ahLst/>
            <a:cxnLst/>
            <a:rect l="0" t="0" r="r" b="b"/>
            <a:pathLst>
              <a:path w="7965" h="28">
                <a:moveTo>
                  <a:pt x="0" y="0"/>
                </a:moveTo>
                <a:lnTo>
                  <a:pt x="7965" y="0"/>
                </a:lnTo>
                <a:lnTo>
                  <a:pt x="7965"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4" name="Figura a mano libera: forma 223"/>
          <p:cNvSpPr/>
          <p:nvPr/>
        </p:nvSpPr>
        <p:spPr>
          <a:xfrm>
            <a:off x="6943395" y="341928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5" name="Figura a mano libera: forma 224"/>
          <p:cNvSpPr/>
          <p:nvPr/>
        </p:nvSpPr>
        <p:spPr>
          <a:xfrm>
            <a:off x="6953115" y="3419280"/>
            <a:ext cx="3096000" cy="10080"/>
          </a:xfrm>
          <a:custGeom>
            <a:avLst/>
            <a:gdLst/>
            <a:ahLst/>
            <a:cxnLst/>
            <a:rect l="0" t="0" r="r" b="b"/>
            <a:pathLst>
              <a:path w="8600" h="28">
                <a:moveTo>
                  <a:pt x="0" y="0"/>
                </a:moveTo>
                <a:lnTo>
                  <a:pt x="8600" y="0"/>
                </a:lnTo>
                <a:lnTo>
                  <a:pt x="8600"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6" name="Figura a mano libera: forma 225"/>
          <p:cNvSpPr/>
          <p:nvPr/>
        </p:nvSpPr>
        <p:spPr>
          <a:xfrm>
            <a:off x="10039035" y="341928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7" name="Figura a mano libera: forma 226"/>
          <p:cNvSpPr/>
          <p:nvPr/>
        </p:nvSpPr>
        <p:spPr>
          <a:xfrm>
            <a:off x="1952355" y="3790800"/>
            <a:ext cx="1105200" cy="10080"/>
          </a:xfrm>
          <a:custGeom>
            <a:avLst/>
            <a:gdLst/>
            <a:ahLst/>
            <a:cxnLst/>
            <a:rect l="0" t="0" r="r" b="b"/>
            <a:pathLst>
              <a:path w="3070" h="28">
                <a:moveTo>
                  <a:pt x="0" y="0"/>
                </a:moveTo>
                <a:lnTo>
                  <a:pt x="3070" y="0"/>
                </a:lnTo>
                <a:lnTo>
                  <a:pt x="3070"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8" name="Figura a mano libera: forma 227"/>
          <p:cNvSpPr/>
          <p:nvPr/>
        </p:nvSpPr>
        <p:spPr>
          <a:xfrm>
            <a:off x="3057195" y="3790800"/>
            <a:ext cx="1029240" cy="10080"/>
          </a:xfrm>
          <a:custGeom>
            <a:avLst/>
            <a:gdLst/>
            <a:ahLst/>
            <a:cxnLst/>
            <a:rect l="0" t="0" r="r" b="b"/>
            <a:pathLst>
              <a:path w="2859" h="28">
                <a:moveTo>
                  <a:pt x="0" y="0"/>
                </a:moveTo>
                <a:lnTo>
                  <a:pt x="2859" y="0"/>
                </a:lnTo>
                <a:lnTo>
                  <a:pt x="285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29" name="Figura a mano libera: forma 228"/>
          <p:cNvSpPr/>
          <p:nvPr/>
        </p:nvSpPr>
        <p:spPr>
          <a:xfrm>
            <a:off x="4086075" y="3790800"/>
            <a:ext cx="2867400" cy="10080"/>
          </a:xfrm>
          <a:custGeom>
            <a:avLst/>
            <a:gdLst/>
            <a:ahLst/>
            <a:cxnLst/>
            <a:rect l="0" t="0" r="r" b="b"/>
            <a:pathLst>
              <a:path w="7965" h="28">
                <a:moveTo>
                  <a:pt x="0" y="0"/>
                </a:moveTo>
                <a:lnTo>
                  <a:pt x="7965" y="0"/>
                </a:lnTo>
                <a:lnTo>
                  <a:pt x="7965"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0" name="Figura a mano libera: forma 229"/>
          <p:cNvSpPr/>
          <p:nvPr/>
        </p:nvSpPr>
        <p:spPr>
          <a:xfrm>
            <a:off x="6953115" y="3790800"/>
            <a:ext cx="3096000" cy="10080"/>
          </a:xfrm>
          <a:custGeom>
            <a:avLst/>
            <a:gdLst/>
            <a:ahLst/>
            <a:cxnLst/>
            <a:rect l="0" t="0" r="r" b="b"/>
            <a:pathLst>
              <a:path w="8600" h="28">
                <a:moveTo>
                  <a:pt x="0" y="0"/>
                </a:moveTo>
                <a:lnTo>
                  <a:pt x="8600" y="0"/>
                </a:lnTo>
                <a:lnTo>
                  <a:pt x="8600"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1" name="Figura a mano libera: forma 230"/>
          <p:cNvSpPr/>
          <p:nvPr/>
        </p:nvSpPr>
        <p:spPr>
          <a:xfrm>
            <a:off x="1952355" y="3800520"/>
            <a:ext cx="10080" cy="409680"/>
          </a:xfrm>
          <a:custGeom>
            <a:avLst/>
            <a:gdLst/>
            <a:ahLst/>
            <a:cxnLst/>
            <a:rect l="0" t="0" r="r" b="b"/>
            <a:pathLst>
              <a:path w="28" h="1138">
                <a:moveTo>
                  <a:pt x="0" y="0"/>
                </a:moveTo>
                <a:lnTo>
                  <a:pt x="28" y="0"/>
                </a:lnTo>
                <a:lnTo>
                  <a:pt x="28"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2" name="Figura a mano libera: forma 231"/>
          <p:cNvSpPr/>
          <p:nvPr/>
        </p:nvSpPr>
        <p:spPr>
          <a:xfrm>
            <a:off x="3047835" y="3800520"/>
            <a:ext cx="9720" cy="409680"/>
          </a:xfrm>
          <a:custGeom>
            <a:avLst/>
            <a:gdLst/>
            <a:ahLst/>
            <a:cxnLst/>
            <a:rect l="0" t="0" r="r" b="b"/>
            <a:pathLst>
              <a:path w="27" h="1138">
                <a:moveTo>
                  <a:pt x="0" y="0"/>
                </a:moveTo>
                <a:lnTo>
                  <a:pt x="27" y="0"/>
                </a:lnTo>
                <a:lnTo>
                  <a:pt x="27"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3" name="Figura a mano libera: forma 232"/>
          <p:cNvSpPr/>
          <p:nvPr/>
        </p:nvSpPr>
        <p:spPr>
          <a:xfrm>
            <a:off x="4076355" y="3800520"/>
            <a:ext cx="10080" cy="409680"/>
          </a:xfrm>
          <a:custGeom>
            <a:avLst/>
            <a:gdLst/>
            <a:ahLst/>
            <a:cxnLst/>
            <a:rect l="0" t="0" r="r" b="b"/>
            <a:pathLst>
              <a:path w="28" h="1138">
                <a:moveTo>
                  <a:pt x="0" y="0"/>
                </a:moveTo>
                <a:lnTo>
                  <a:pt x="28" y="0"/>
                </a:lnTo>
                <a:lnTo>
                  <a:pt x="28"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4" name="Figura a mano libera: forma 233"/>
          <p:cNvSpPr/>
          <p:nvPr/>
        </p:nvSpPr>
        <p:spPr>
          <a:xfrm>
            <a:off x="6943395" y="3800520"/>
            <a:ext cx="10080" cy="409680"/>
          </a:xfrm>
          <a:custGeom>
            <a:avLst/>
            <a:gdLst/>
            <a:ahLst/>
            <a:cxnLst/>
            <a:rect l="0" t="0" r="r" b="b"/>
            <a:pathLst>
              <a:path w="28" h="1138">
                <a:moveTo>
                  <a:pt x="0" y="0"/>
                </a:moveTo>
                <a:lnTo>
                  <a:pt x="28" y="0"/>
                </a:lnTo>
                <a:lnTo>
                  <a:pt x="28"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5" name="Figura a mano libera: forma 234"/>
          <p:cNvSpPr/>
          <p:nvPr/>
        </p:nvSpPr>
        <p:spPr>
          <a:xfrm>
            <a:off x="10039035" y="3800520"/>
            <a:ext cx="10080" cy="409680"/>
          </a:xfrm>
          <a:custGeom>
            <a:avLst/>
            <a:gdLst/>
            <a:ahLst/>
            <a:cxnLst/>
            <a:rect l="0" t="0" r="r" b="b"/>
            <a:pathLst>
              <a:path w="28" h="1138">
                <a:moveTo>
                  <a:pt x="0" y="0"/>
                </a:moveTo>
                <a:lnTo>
                  <a:pt x="28" y="0"/>
                </a:lnTo>
                <a:lnTo>
                  <a:pt x="28"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6" name="Figura a mano libera: forma 235"/>
          <p:cNvSpPr/>
          <p:nvPr/>
        </p:nvSpPr>
        <p:spPr>
          <a:xfrm>
            <a:off x="1952355" y="420984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7" name="Figura a mano libera: forma 236"/>
          <p:cNvSpPr/>
          <p:nvPr/>
        </p:nvSpPr>
        <p:spPr>
          <a:xfrm>
            <a:off x="1952355" y="4200480"/>
            <a:ext cx="1105200" cy="9720"/>
          </a:xfrm>
          <a:custGeom>
            <a:avLst/>
            <a:gdLst/>
            <a:ahLst/>
            <a:cxnLst/>
            <a:rect l="0" t="0" r="r" b="b"/>
            <a:pathLst>
              <a:path w="3070" h="27">
                <a:moveTo>
                  <a:pt x="0" y="0"/>
                </a:moveTo>
                <a:lnTo>
                  <a:pt x="3070" y="0"/>
                </a:lnTo>
                <a:lnTo>
                  <a:pt x="3070"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8" name="Figura a mano libera: forma 237"/>
          <p:cNvSpPr/>
          <p:nvPr/>
        </p:nvSpPr>
        <p:spPr>
          <a:xfrm>
            <a:off x="3047835" y="4209840"/>
            <a:ext cx="9720" cy="400680"/>
          </a:xfrm>
          <a:custGeom>
            <a:avLst/>
            <a:gdLst/>
            <a:ahLst/>
            <a:cxnLst/>
            <a:rect l="0" t="0" r="r" b="b"/>
            <a:pathLst>
              <a:path w="27" h="1113">
                <a:moveTo>
                  <a:pt x="0" y="0"/>
                </a:moveTo>
                <a:lnTo>
                  <a:pt x="27" y="0"/>
                </a:lnTo>
                <a:lnTo>
                  <a:pt x="27"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39" name="Figura a mano libera: forma 238"/>
          <p:cNvSpPr/>
          <p:nvPr/>
        </p:nvSpPr>
        <p:spPr>
          <a:xfrm>
            <a:off x="3057195" y="4200480"/>
            <a:ext cx="1029240" cy="9720"/>
          </a:xfrm>
          <a:custGeom>
            <a:avLst/>
            <a:gdLst/>
            <a:ahLst/>
            <a:cxnLst/>
            <a:rect l="0" t="0" r="r" b="b"/>
            <a:pathLst>
              <a:path w="2859" h="27">
                <a:moveTo>
                  <a:pt x="0" y="0"/>
                </a:moveTo>
                <a:lnTo>
                  <a:pt x="2859" y="0"/>
                </a:lnTo>
                <a:lnTo>
                  <a:pt x="285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0" name="Figura a mano libera: forma 239"/>
          <p:cNvSpPr/>
          <p:nvPr/>
        </p:nvSpPr>
        <p:spPr>
          <a:xfrm>
            <a:off x="4076355" y="420984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1" name="Figura a mano libera: forma 240"/>
          <p:cNvSpPr/>
          <p:nvPr/>
        </p:nvSpPr>
        <p:spPr>
          <a:xfrm>
            <a:off x="4086075" y="4200480"/>
            <a:ext cx="2867400" cy="9720"/>
          </a:xfrm>
          <a:custGeom>
            <a:avLst/>
            <a:gdLst/>
            <a:ahLst/>
            <a:cxnLst/>
            <a:rect l="0" t="0" r="r" b="b"/>
            <a:pathLst>
              <a:path w="7965" h="27">
                <a:moveTo>
                  <a:pt x="0" y="0"/>
                </a:moveTo>
                <a:lnTo>
                  <a:pt x="7965" y="0"/>
                </a:lnTo>
                <a:lnTo>
                  <a:pt x="7965"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2" name="Figura a mano libera: forma 241"/>
          <p:cNvSpPr/>
          <p:nvPr/>
        </p:nvSpPr>
        <p:spPr>
          <a:xfrm>
            <a:off x="6943395" y="420984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3" name="Figura a mano libera: forma 242"/>
          <p:cNvSpPr/>
          <p:nvPr/>
        </p:nvSpPr>
        <p:spPr>
          <a:xfrm>
            <a:off x="6953115" y="4200480"/>
            <a:ext cx="3096000" cy="9720"/>
          </a:xfrm>
          <a:custGeom>
            <a:avLst/>
            <a:gdLst/>
            <a:ahLst/>
            <a:cxnLst/>
            <a:rect l="0" t="0" r="r" b="b"/>
            <a:pathLst>
              <a:path w="8600" h="27">
                <a:moveTo>
                  <a:pt x="0" y="0"/>
                </a:moveTo>
                <a:lnTo>
                  <a:pt x="8600" y="0"/>
                </a:lnTo>
                <a:lnTo>
                  <a:pt x="8600"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4" name="Figura a mano libera: forma 243"/>
          <p:cNvSpPr/>
          <p:nvPr/>
        </p:nvSpPr>
        <p:spPr>
          <a:xfrm>
            <a:off x="10039035" y="420984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5" name="Figura a mano libera: forma 244"/>
          <p:cNvSpPr/>
          <p:nvPr/>
        </p:nvSpPr>
        <p:spPr>
          <a:xfrm>
            <a:off x="1952355" y="4610160"/>
            <a:ext cx="10080" cy="400320"/>
          </a:xfrm>
          <a:custGeom>
            <a:avLst/>
            <a:gdLst/>
            <a:ahLst/>
            <a:cxnLst/>
            <a:rect l="0" t="0" r="r" b="b"/>
            <a:pathLst>
              <a:path w="28" h="1112">
                <a:moveTo>
                  <a:pt x="0" y="1112"/>
                </a:moveTo>
                <a:lnTo>
                  <a:pt x="0" y="0"/>
                </a:lnTo>
                <a:lnTo>
                  <a:pt x="28" y="0"/>
                </a:lnTo>
                <a:lnTo>
                  <a:pt x="28" y="1112"/>
                </a:lnTo>
                <a:lnTo>
                  <a:pt x="0" y="1112"/>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6" name="Figura a mano libera: forma 245"/>
          <p:cNvSpPr/>
          <p:nvPr/>
        </p:nvSpPr>
        <p:spPr>
          <a:xfrm>
            <a:off x="1952355" y="4600440"/>
            <a:ext cx="1105200" cy="10080"/>
          </a:xfrm>
          <a:custGeom>
            <a:avLst/>
            <a:gdLst/>
            <a:ahLst/>
            <a:cxnLst/>
            <a:rect l="0" t="0" r="r" b="b"/>
            <a:pathLst>
              <a:path w="3070" h="28">
                <a:moveTo>
                  <a:pt x="0" y="0"/>
                </a:moveTo>
                <a:lnTo>
                  <a:pt x="3070" y="0"/>
                </a:lnTo>
                <a:lnTo>
                  <a:pt x="3070"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7" name="Figura a mano libera: forma 246"/>
          <p:cNvSpPr/>
          <p:nvPr/>
        </p:nvSpPr>
        <p:spPr>
          <a:xfrm>
            <a:off x="3047835" y="4610160"/>
            <a:ext cx="9720" cy="400320"/>
          </a:xfrm>
          <a:custGeom>
            <a:avLst/>
            <a:gdLst/>
            <a:ahLst/>
            <a:cxnLst/>
            <a:rect l="0" t="0" r="r" b="b"/>
            <a:pathLst>
              <a:path w="27" h="1112">
                <a:moveTo>
                  <a:pt x="0" y="1112"/>
                </a:moveTo>
                <a:lnTo>
                  <a:pt x="0" y="0"/>
                </a:lnTo>
                <a:lnTo>
                  <a:pt x="27" y="0"/>
                </a:lnTo>
                <a:lnTo>
                  <a:pt x="27" y="1112"/>
                </a:lnTo>
                <a:lnTo>
                  <a:pt x="0" y="1112"/>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8" name="Figura a mano libera: forma 247"/>
          <p:cNvSpPr/>
          <p:nvPr/>
        </p:nvSpPr>
        <p:spPr>
          <a:xfrm>
            <a:off x="3057195" y="4600440"/>
            <a:ext cx="1029240" cy="10080"/>
          </a:xfrm>
          <a:custGeom>
            <a:avLst/>
            <a:gdLst/>
            <a:ahLst/>
            <a:cxnLst/>
            <a:rect l="0" t="0" r="r" b="b"/>
            <a:pathLst>
              <a:path w="2859" h="28">
                <a:moveTo>
                  <a:pt x="0" y="0"/>
                </a:moveTo>
                <a:lnTo>
                  <a:pt x="2859" y="0"/>
                </a:lnTo>
                <a:lnTo>
                  <a:pt x="285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49" name="Figura a mano libera: forma 248"/>
          <p:cNvSpPr/>
          <p:nvPr/>
        </p:nvSpPr>
        <p:spPr>
          <a:xfrm>
            <a:off x="4076355" y="4610160"/>
            <a:ext cx="10080" cy="400320"/>
          </a:xfrm>
          <a:custGeom>
            <a:avLst/>
            <a:gdLst/>
            <a:ahLst/>
            <a:cxnLst/>
            <a:rect l="0" t="0" r="r" b="b"/>
            <a:pathLst>
              <a:path w="28" h="1112">
                <a:moveTo>
                  <a:pt x="0" y="1112"/>
                </a:moveTo>
                <a:lnTo>
                  <a:pt x="0" y="0"/>
                </a:lnTo>
                <a:lnTo>
                  <a:pt x="28" y="0"/>
                </a:lnTo>
                <a:lnTo>
                  <a:pt x="28" y="1112"/>
                </a:lnTo>
                <a:lnTo>
                  <a:pt x="0" y="1112"/>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50" name="Figura a mano libera: forma 249"/>
          <p:cNvSpPr/>
          <p:nvPr/>
        </p:nvSpPr>
        <p:spPr>
          <a:xfrm>
            <a:off x="4086075" y="4600440"/>
            <a:ext cx="2867400" cy="10080"/>
          </a:xfrm>
          <a:custGeom>
            <a:avLst/>
            <a:gdLst/>
            <a:ahLst/>
            <a:cxnLst/>
            <a:rect l="0" t="0" r="r" b="b"/>
            <a:pathLst>
              <a:path w="7965" h="28">
                <a:moveTo>
                  <a:pt x="0" y="0"/>
                </a:moveTo>
                <a:lnTo>
                  <a:pt x="7965" y="0"/>
                </a:lnTo>
                <a:lnTo>
                  <a:pt x="7965"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51" name="Figura a mano libera: forma 250"/>
          <p:cNvSpPr/>
          <p:nvPr/>
        </p:nvSpPr>
        <p:spPr>
          <a:xfrm>
            <a:off x="6943395" y="4610160"/>
            <a:ext cx="10080" cy="400320"/>
          </a:xfrm>
          <a:custGeom>
            <a:avLst/>
            <a:gdLst/>
            <a:ahLst/>
            <a:cxnLst/>
            <a:rect l="0" t="0" r="r" b="b"/>
            <a:pathLst>
              <a:path w="28" h="1112">
                <a:moveTo>
                  <a:pt x="0" y="1112"/>
                </a:moveTo>
                <a:lnTo>
                  <a:pt x="0" y="0"/>
                </a:lnTo>
                <a:lnTo>
                  <a:pt x="28" y="0"/>
                </a:lnTo>
                <a:lnTo>
                  <a:pt x="28" y="1112"/>
                </a:lnTo>
                <a:lnTo>
                  <a:pt x="0" y="1112"/>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52" name="Figura a mano libera: forma 251"/>
          <p:cNvSpPr/>
          <p:nvPr/>
        </p:nvSpPr>
        <p:spPr>
          <a:xfrm>
            <a:off x="6953115" y="4600440"/>
            <a:ext cx="3096000" cy="10080"/>
          </a:xfrm>
          <a:custGeom>
            <a:avLst/>
            <a:gdLst/>
            <a:ahLst/>
            <a:cxnLst/>
            <a:rect l="0" t="0" r="r" b="b"/>
            <a:pathLst>
              <a:path w="8600" h="28">
                <a:moveTo>
                  <a:pt x="0" y="0"/>
                </a:moveTo>
                <a:lnTo>
                  <a:pt x="8600" y="0"/>
                </a:lnTo>
                <a:lnTo>
                  <a:pt x="8600"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53" name="Figura a mano libera: forma 252"/>
          <p:cNvSpPr/>
          <p:nvPr/>
        </p:nvSpPr>
        <p:spPr>
          <a:xfrm>
            <a:off x="10039035" y="4610160"/>
            <a:ext cx="10080" cy="400320"/>
          </a:xfrm>
          <a:custGeom>
            <a:avLst/>
            <a:gdLst/>
            <a:ahLst/>
            <a:cxnLst/>
            <a:rect l="0" t="0" r="r" b="b"/>
            <a:pathLst>
              <a:path w="28" h="1112">
                <a:moveTo>
                  <a:pt x="0" y="1112"/>
                </a:moveTo>
                <a:lnTo>
                  <a:pt x="0" y="0"/>
                </a:lnTo>
                <a:lnTo>
                  <a:pt x="28" y="0"/>
                </a:lnTo>
                <a:lnTo>
                  <a:pt x="28" y="1112"/>
                </a:lnTo>
                <a:lnTo>
                  <a:pt x="0" y="1112"/>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54" name="CasellaDiTesto 253"/>
          <p:cNvSpPr txBox="1"/>
          <p:nvPr/>
        </p:nvSpPr>
        <p:spPr>
          <a:xfrm>
            <a:off x="971640" y="1819080"/>
            <a:ext cx="34830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MATRICE DI SINTESI</a:t>
            </a:r>
            <a:endParaRPr lang="it-IT" sz="2850" b="0" u="none" strike="noStrike">
              <a:solidFill>
                <a:srgbClr val="000000"/>
              </a:solidFill>
              <a:effectLst/>
              <a:uFillTx/>
              <a:latin typeface="Times New Roman"/>
            </a:endParaRPr>
          </a:p>
        </p:txBody>
      </p:sp>
      <p:sp>
        <p:nvSpPr>
          <p:cNvPr id="255" name="CasellaDiTesto 254"/>
          <p:cNvSpPr txBox="1"/>
          <p:nvPr/>
        </p:nvSpPr>
        <p:spPr>
          <a:xfrm>
            <a:off x="971640" y="2544120"/>
            <a:ext cx="537768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Comparazione dei modelli di compensazione civilistica</a:t>
            </a:r>
            <a:endParaRPr lang="it-IT" sz="1800" b="0" u="none" strike="noStrike">
              <a:solidFill>
                <a:srgbClr val="000000"/>
              </a:solidFill>
              <a:effectLst/>
              <a:uFillTx/>
              <a:latin typeface="Times New Roman"/>
            </a:endParaRPr>
          </a:p>
        </p:txBody>
      </p:sp>
      <p:sp>
        <p:nvSpPr>
          <p:cNvPr id="256" name="CasellaDiTesto 255"/>
          <p:cNvSpPr txBox="1"/>
          <p:nvPr/>
        </p:nvSpPr>
        <p:spPr>
          <a:xfrm>
            <a:off x="2085915" y="3502080"/>
            <a:ext cx="71784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Tipologia</a:t>
            </a:r>
            <a:endParaRPr lang="it-IT" sz="1280" b="0" u="none" strike="noStrike">
              <a:solidFill>
                <a:srgbClr val="000000"/>
              </a:solidFill>
              <a:effectLst/>
              <a:uFillTx/>
              <a:latin typeface="Times New Roman"/>
            </a:endParaRPr>
          </a:p>
        </p:txBody>
      </p:sp>
      <p:sp>
        <p:nvSpPr>
          <p:cNvPr id="257" name="CasellaDiTesto 256"/>
          <p:cNvSpPr txBox="1"/>
          <p:nvPr/>
        </p:nvSpPr>
        <p:spPr>
          <a:xfrm>
            <a:off x="3185355" y="3502080"/>
            <a:ext cx="43164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Fonte</a:t>
            </a:r>
            <a:endParaRPr lang="it-IT" sz="1280" b="0" u="none" strike="noStrike">
              <a:solidFill>
                <a:srgbClr val="000000"/>
              </a:solidFill>
              <a:effectLst/>
              <a:uFillTx/>
              <a:latin typeface="Times New Roman"/>
            </a:endParaRPr>
          </a:p>
        </p:txBody>
      </p:sp>
      <p:sp>
        <p:nvSpPr>
          <p:cNvPr id="258" name="CasellaDiTesto 257"/>
          <p:cNvSpPr txBox="1"/>
          <p:nvPr/>
        </p:nvSpPr>
        <p:spPr>
          <a:xfrm>
            <a:off x="4208115" y="3502080"/>
            <a:ext cx="144972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Presupposti Chiave</a:t>
            </a:r>
            <a:endParaRPr lang="it-IT" sz="1280" b="0" u="none" strike="noStrike">
              <a:solidFill>
                <a:srgbClr val="000000"/>
              </a:solidFill>
              <a:effectLst/>
              <a:uFillTx/>
              <a:latin typeface="Times New Roman"/>
            </a:endParaRPr>
          </a:p>
        </p:txBody>
      </p:sp>
      <p:sp>
        <p:nvSpPr>
          <p:cNvPr id="259" name="CasellaDiTesto 258"/>
          <p:cNvSpPr txBox="1"/>
          <p:nvPr/>
        </p:nvSpPr>
        <p:spPr>
          <a:xfrm>
            <a:off x="7076235" y="3502080"/>
            <a:ext cx="132264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Efficacia Estintiva</a:t>
            </a:r>
            <a:endParaRPr lang="it-IT" sz="1280" b="0" u="none" strike="noStrike">
              <a:solidFill>
                <a:srgbClr val="000000"/>
              </a:solidFill>
              <a:effectLst/>
              <a:uFillTx/>
              <a:latin typeface="Times New Roman"/>
            </a:endParaRPr>
          </a:p>
        </p:txBody>
      </p:sp>
      <p:sp>
        <p:nvSpPr>
          <p:cNvPr id="260" name="CasellaDiTesto 259"/>
          <p:cNvSpPr txBox="1"/>
          <p:nvPr/>
        </p:nvSpPr>
        <p:spPr>
          <a:xfrm>
            <a:off x="2085915" y="3872160"/>
            <a:ext cx="55116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Legale</a:t>
            </a:r>
            <a:endParaRPr lang="it-IT" sz="1430" b="0" u="none" strike="noStrike">
              <a:solidFill>
                <a:srgbClr val="000000"/>
              </a:solidFill>
              <a:effectLst/>
              <a:uFillTx/>
              <a:latin typeface="Times New Roman"/>
            </a:endParaRPr>
          </a:p>
        </p:txBody>
      </p:sp>
      <p:sp>
        <p:nvSpPr>
          <p:cNvPr id="261" name="CasellaDiTesto 260"/>
          <p:cNvSpPr txBox="1"/>
          <p:nvPr/>
        </p:nvSpPr>
        <p:spPr>
          <a:xfrm>
            <a:off x="3185355" y="3872160"/>
            <a:ext cx="4892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Legge</a:t>
            </a:r>
            <a:endParaRPr lang="it-IT" sz="1430" b="0" u="none" strike="noStrike">
              <a:solidFill>
                <a:srgbClr val="000000"/>
              </a:solidFill>
              <a:effectLst/>
              <a:uFillTx/>
              <a:latin typeface="Times New Roman"/>
            </a:endParaRPr>
          </a:p>
        </p:txBody>
      </p:sp>
      <p:sp>
        <p:nvSpPr>
          <p:cNvPr id="262" name="CasellaDiTesto 261"/>
          <p:cNvSpPr txBox="1"/>
          <p:nvPr/>
        </p:nvSpPr>
        <p:spPr>
          <a:xfrm>
            <a:off x="4208115" y="3872160"/>
            <a:ext cx="26172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Omogeneità, Liquidità, Esigibilità</a:t>
            </a:r>
            <a:endParaRPr lang="it-IT" sz="1430" b="0" u="none" strike="noStrike">
              <a:solidFill>
                <a:srgbClr val="000000"/>
              </a:solidFill>
              <a:effectLst/>
              <a:uFillTx/>
              <a:latin typeface="Times New Roman"/>
            </a:endParaRPr>
          </a:p>
        </p:txBody>
      </p:sp>
      <p:sp>
        <p:nvSpPr>
          <p:cNvPr id="263" name="CasellaDiTesto 262"/>
          <p:cNvSpPr txBox="1"/>
          <p:nvPr/>
        </p:nvSpPr>
        <p:spPr>
          <a:xfrm>
            <a:off x="7076235" y="3872160"/>
            <a:ext cx="28576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Retroattiva (</a:t>
            </a:r>
            <a:r>
              <a:rPr lang="it-IT" sz="1430" b="0" i="1" u="none" strike="noStrike">
                <a:solidFill>
                  <a:srgbClr val="495057"/>
                </a:solidFill>
                <a:effectLst/>
                <a:uFillTx/>
                <a:latin typeface="SegoeUI"/>
                <a:ea typeface="SegoeUI"/>
              </a:rPr>
              <a:t>Ex Tunc</a:t>
            </a:r>
            <a:r>
              <a:rPr lang="it-IT" sz="1430" b="0" u="none" strike="noStrike">
                <a:solidFill>
                  <a:srgbClr val="212529"/>
                </a:solidFill>
                <a:effectLst/>
                <a:uFillTx/>
                <a:latin typeface="SegoeUI"/>
                <a:ea typeface="SegoeUI"/>
              </a:rPr>
              <a:t> — Coesistenza)</a:t>
            </a:r>
            <a:endParaRPr lang="it-IT" sz="1430" b="0" u="none" strike="noStrike">
              <a:solidFill>
                <a:srgbClr val="000000"/>
              </a:solidFill>
              <a:effectLst/>
              <a:uFillTx/>
              <a:latin typeface="Times New Roman"/>
            </a:endParaRPr>
          </a:p>
        </p:txBody>
      </p:sp>
      <p:sp>
        <p:nvSpPr>
          <p:cNvPr id="264" name="CasellaDiTesto 263"/>
          <p:cNvSpPr txBox="1"/>
          <p:nvPr/>
        </p:nvSpPr>
        <p:spPr>
          <a:xfrm>
            <a:off x="2085915" y="4281480"/>
            <a:ext cx="8402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Giudiziale</a:t>
            </a:r>
            <a:endParaRPr lang="it-IT" sz="1430" b="0" u="none" strike="noStrike">
              <a:solidFill>
                <a:srgbClr val="000000"/>
              </a:solidFill>
              <a:effectLst/>
              <a:uFillTx/>
              <a:latin typeface="Times New Roman"/>
            </a:endParaRPr>
          </a:p>
        </p:txBody>
      </p:sp>
      <p:sp>
        <p:nvSpPr>
          <p:cNvPr id="265" name="CasellaDiTesto 264"/>
          <p:cNvSpPr txBox="1"/>
          <p:nvPr/>
        </p:nvSpPr>
        <p:spPr>
          <a:xfrm>
            <a:off x="3185355" y="4281480"/>
            <a:ext cx="7275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Sentenza</a:t>
            </a:r>
            <a:endParaRPr lang="it-IT" sz="1430" b="0" u="none" strike="noStrike">
              <a:solidFill>
                <a:srgbClr val="000000"/>
              </a:solidFill>
              <a:effectLst/>
              <a:uFillTx/>
              <a:latin typeface="Times New Roman"/>
            </a:endParaRPr>
          </a:p>
        </p:txBody>
      </p:sp>
      <p:sp>
        <p:nvSpPr>
          <p:cNvPr id="266" name="CasellaDiTesto 265"/>
          <p:cNvSpPr txBox="1"/>
          <p:nvPr/>
        </p:nvSpPr>
        <p:spPr>
          <a:xfrm>
            <a:off x="4208115" y="4281480"/>
            <a:ext cx="22305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Facile e Pronta Liquidazione</a:t>
            </a:r>
            <a:endParaRPr lang="it-IT" sz="1430" b="0" u="none" strike="noStrike">
              <a:solidFill>
                <a:srgbClr val="000000"/>
              </a:solidFill>
              <a:effectLst/>
              <a:uFillTx/>
              <a:latin typeface="Times New Roman"/>
            </a:endParaRPr>
          </a:p>
        </p:txBody>
      </p:sp>
      <p:sp>
        <p:nvSpPr>
          <p:cNvPr id="267" name="CasellaDiTesto 266"/>
          <p:cNvSpPr txBox="1"/>
          <p:nvPr/>
        </p:nvSpPr>
        <p:spPr>
          <a:xfrm>
            <a:off x="7076235" y="4281480"/>
            <a:ext cx="26582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Costitutiva (</a:t>
            </a:r>
            <a:r>
              <a:rPr lang="it-IT" sz="1430" b="0" i="1" u="none" strike="noStrike">
                <a:solidFill>
                  <a:srgbClr val="495057"/>
                </a:solidFill>
                <a:effectLst/>
                <a:uFillTx/>
                <a:latin typeface="SegoeUI"/>
                <a:ea typeface="SegoeUI"/>
              </a:rPr>
              <a:t>Ex Nunc</a:t>
            </a:r>
            <a:r>
              <a:rPr lang="it-IT" sz="1430" b="0" u="none" strike="noStrike">
                <a:solidFill>
                  <a:srgbClr val="212529"/>
                </a:solidFill>
                <a:effectLst/>
                <a:uFillTx/>
                <a:latin typeface="SegoeUI"/>
                <a:ea typeface="SegoeUI"/>
              </a:rPr>
              <a:t> — Sentenza)</a:t>
            </a:r>
            <a:endParaRPr lang="it-IT" sz="1430" b="0" u="none" strike="noStrike">
              <a:solidFill>
                <a:srgbClr val="000000"/>
              </a:solidFill>
              <a:effectLst/>
              <a:uFillTx/>
              <a:latin typeface="Times New Roman"/>
            </a:endParaRPr>
          </a:p>
        </p:txBody>
      </p:sp>
      <p:sp>
        <p:nvSpPr>
          <p:cNvPr id="268" name="CasellaDiTesto 267"/>
          <p:cNvSpPr txBox="1"/>
          <p:nvPr/>
        </p:nvSpPr>
        <p:spPr>
          <a:xfrm>
            <a:off x="2085915" y="4681800"/>
            <a:ext cx="8942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Volontaria</a:t>
            </a:r>
            <a:endParaRPr lang="it-IT" sz="1430" b="0" u="none" strike="noStrike">
              <a:solidFill>
                <a:srgbClr val="000000"/>
              </a:solidFill>
              <a:effectLst/>
              <a:uFillTx/>
              <a:latin typeface="Times New Roman"/>
            </a:endParaRPr>
          </a:p>
        </p:txBody>
      </p:sp>
      <p:sp>
        <p:nvSpPr>
          <p:cNvPr id="269" name="CasellaDiTesto 268"/>
          <p:cNvSpPr txBox="1"/>
          <p:nvPr/>
        </p:nvSpPr>
        <p:spPr>
          <a:xfrm>
            <a:off x="3185355" y="4681800"/>
            <a:ext cx="7678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Contratto</a:t>
            </a:r>
            <a:endParaRPr lang="it-IT" sz="1430" b="0" u="none" strike="noStrike">
              <a:solidFill>
                <a:srgbClr val="000000"/>
              </a:solidFill>
              <a:effectLst/>
              <a:uFillTx/>
              <a:latin typeface="Times New Roman"/>
            </a:endParaRPr>
          </a:p>
        </p:txBody>
      </p:sp>
      <p:sp>
        <p:nvSpPr>
          <p:cNvPr id="270" name="CasellaDiTesto 269"/>
          <p:cNvSpPr txBox="1"/>
          <p:nvPr/>
        </p:nvSpPr>
        <p:spPr>
          <a:xfrm>
            <a:off x="4208115" y="4681800"/>
            <a:ext cx="15134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Accordo delle Parti</a:t>
            </a:r>
            <a:endParaRPr lang="it-IT" sz="1430" b="0" u="none" strike="noStrike">
              <a:solidFill>
                <a:srgbClr val="000000"/>
              </a:solidFill>
              <a:effectLst/>
              <a:uFillTx/>
              <a:latin typeface="Times New Roman"/>
            </a:endParaRPr>
          </a:p>
        </p:txBody>
      </p:sp>
      <p:sp>
        <p:nvSpPr>
          <p:cNvPr id="271" name="Figura a mano libera: forma 27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72" name="CasellaDiTesto 271"/>
          <p:cNvSpPr txBox="1"/>
          <p:nvPr/>
        </p:nvSpPr>
        <p:spPr>
          <a:xfrm>
            <a:off x="7076235" y="4681800"/>
            <a:ext cx="18507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Regolata pattiziamente</a:t>
            </a:r>
            <a:endParaRPr lang="it-IT" sz="1430" b="0" u="none" strike="noStrike">
              <a:solidFill>
                <a:srgbClr val="000000"/>
              </a:solidFill>
              <a:effectLst/>
              <a:uFillTx/>
              <a:latin typeface="Times New Roman"/>
            </a:endParaRPr>
          </a:p>
        </p:txBody>
      </p:sp>
      <p:sp>
        <p:nvSpPr>
          <p:cNvPr id="273" name="Figura a mano libera: forma 27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74" name="CasellaDiTesto 27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75" name="CasellaDiTesto 27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11 / 73</a:t>
            </a:r>
            <a:endParaRPr lang="it-IT" sz="980" b="0" u="none" strike="noStrike">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Figura a mano libera: forma 27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77" name="Figura a mano libera: forma 27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78" name="Figura a mano libera: forma 27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79" name="Figura a mano libera: forma 27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80" name="CasellaDiTesto 279"/>
          <p:cNvSpPr txBox="1"/>
          <p:nvPr/>
        </p:nvSpPr>
        <p:spPr>
          <a:xfrm>
            <a:off x="2460240" y="2697480"/>
            <a:ext cx="740376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LA COMPENSAZIONE TRIBUTARIA</a:t>
            </a:r>
            <a:endParaRPr lang="it-IT" sz="3600" b="0" u="none" strike="noStrike">
              <a:solidFill>
                <a:srgbClr val="000000"/>
              </a:solidFill>
              <a:effectLst/>
              <a:uFillTx/>
              <a:latin typeface="Times New Roman"/>
            </a:endParaRPr>
          </a:p>
        </p:txBody>
      </p:sp>
      <p:sp>
        <p:nvSpPr>
          <p:cNvPr id="281" name="Figura a mano libera: forma 28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82" name="CasellaDiTesto 281"/>
          <p:cNvSpPr txBox="1"/>
          <p:nvPr/>
        </p:nvSpPr>
        <p:spPr>
          <a:xfrm>
            <a:off x="4467240" y="3647160"/>
            <a:ext cx="3782880" cy="306720"/>
          </a:xfrm>
          <a:prstGeom prst="rect">
            <a:avLst/>
          </a:prstGeom>
          <a:noFill/>
          <a:ln w="0">
            <a:noFill/>
          </a:ln>
        </p:spPr>
        <p:txBody>
          <a:bodyPr wrap="none" lIns="0" tIns="0" rIns="0" bIns="0" anchor="t">
            <a:spAutoFit/>
          </a:bodyPr>
          <a:lstStyle/>
          <a:p>
            <a:r>
              <a:rPr lang="it-IT" sz="1810" b="1" i="1" u="none" strike="noStrike">
                <a:solidFill>
                  <a:srgbClr val="495057"/>
                </a:solidFill>
                <a:effectLst/>
                <a:uFillTx/>
                <a:latin typeface="SegoeUI"/>
                <a:ea typeface="SegoeUI"/>
              </a:rPr>
              <a:t>Profili generali e art. 8 L. 212/2000</a:t>
            </a:r>
            <a:endParaRPr lang="it-IT" sz="1810" b="0" u="none" strike="noStrike">
              <a:solidFill>
                <a:srgbClr val="000000"/>
              </a:solidFill>
              <a:effectLst/>
              <a:uFillTx/>
              <a:latin typeface="Times New Roman"/>
            </a:endParaRPr>
          </a:p>
        </p:txBody>
      </p:sp>
      <p:sp>
        <p:nvSpPr>
          <p:cNvPr id="283" name="Figura a mano libera: forma 28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84" name="CasellaDiTesto 28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85" name="CasellaDiTesto 28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12 / 73</a:t>
            </a:r>
            <a:endParaRPr lang="it-IT" sz="98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Figura a mano libera: forma 28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87" name="Figura a mano libera: forma 28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88" name="Figura a mano libera: forma 28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89" name="Figura a mano libera: forma 28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90" name="Figura a mano libera: forma 289"/>
          <p:cNvSpPr/>
          <p:nvPr/>
        </p:nvSpPr>
        <p:spPr>
          <a:xfrm>
            <a:off x="971280" y="17906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91" name="Figura a mano libera: forma 290"/>
          <p:cNvSpPr/>
          <p:nvPr/>
        </p:nvSpPr>
        <p:spPr>
          <a:xfrm>
            <a:off x="975960" y="2423880"/>
            <a:ext cx="10544760" cy="943560"/>
          </a:xfrm>
          <a:custGeom>
            <a:avLst/>
            <a:gdLst/>
            <a:ahLst/>
            <a:cxnLst/>
            <a:rect l="0" t="0" r="r" b="b"/>
            <a:pathLst>
              <a:path w="29291" h="2621">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1"/>
                  <a:pt x="29198" y="2621"/>
                </a:cubicBezTo>
                <a:lnTo>
                  <a:pt x="93" y="2621"/>
                </a:lnTo>
                <a:cubicBezTo>
                  <a:pt x="81" y="2621"/>
                  <a:pt x="69" y="2618"/>
                  <a:pt x="58" y="2613"/>
                </a:cubicBezTo>
                <a:cubicBezTo>
                  <a:pt x="46" y="2609"/>
                  <a:pt x="36" y="2602"/>
                  <a:pt x="28" y="2593"/>
                </a:cubicBezTo>
                <a:cubicBezTo>
                  <a:pt x="19" y="2585"/>
                  <a:pt x="12" y="2575"/>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92" name="Figura a mano libera: forma 291"/>
          <p:cNvSpPr/>
          <p:nvPr/>
        </p:nvSpPr>
        <p:spPr>
          <a:xfrm>
            <a:off x="975960" y="2423880"/>
            <a:ext cx="10544760" cy="943560"/>
          </a:xfrm>
          <a:custGeom>
            <a:avLst/>
            <a:gdLst/>
            <a:ahLst/>
            <a:cxnLst/>
            <a:rect l="0" t="0" r="r" b="b"/>
            <a:pathLst>
              <a:path w="29291" h="2621">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1"/>
                  <a:pt x="29198" y="2621"/>
                </a:cubicBezTo>
                <a:lnTo>
                  <a:pt x="93" y="2621"/>
                </a:lnTo>
                <a:cubicBezTo>
                  <a:pt x="81" y="2621"/>
                  <a:pt x="69" y="2618"/>
                  <a:pt x="58" y="2613"/>
                </a:cubicBezTo>
                <a:cubicBezTo>
                  <a:pt x="46" y="2609"/>
                  <a:pt x="36" y="2602"/>
                  <a:pt x="28" y="2593"/>
                </a:cubicBezTo>
                <a:cubicBezTo>
                  <a:pt x="19" y="2585"/>
                  <a:pt x="12" y="2575"/>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293" name="CasellaDiTesto 292"/>
          <p:cNvSpPr txBox="1"/>
          <p:nvPr/>
        </p:nvSpPr>
        <p:spPr>
          <a:xfrm>
            <a:off x="971640" y="723960"/>
            <a:ext cx="91980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CIVILISTICA ANCHE PER IL DIRITTO</a:t>
            </a:r>
            <a:endParaRPr lang="it-IT" sz="2850" b="0" u="none" strike="noStrike">
              <a:solidFill>
                <a:srgbClr val="000000"/>
              </a:solidFill>
              <a:effectLst/>
              <a:uFillTx/>
              <a:latin typeface="Times New Roman"/>
            </a:endParaRPr>
          </a:p>
        </p:txBody>
      </p:sp>
      <p:sp>
        <p:nvSpPr>
          <p:cNvPr id="294" name="CasellaDiTesto 293"/>
          <p:cNvSpPr txBox="1"/>
          <p:nvPr/>
        </p:nvSpPr>
        <p:spPr>
          <a:xfrm>
            <a:off x="971640" y="1171440"/>
            <a:ext cx="23032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TRIBUTARIO?</a:t>
            </a:r>
            <a:endParaRPr lang="it-IT" sz="2850" b="0" u="none" strike="noStrike">
              <a:solidFill>
                <a:srgbClr val="000000"/>
              </a:solidFill>
              <a:effectLst/>
              <a:uFillTx/>
              <a:latin typeface="Times New Roman"/>
            </a:endParaRPr>
          </a:p>
        </p:txBody>
      </p:sp>
      <p:sp>
        <p:nvSpPr>
          <p:cNvPr id="295" name="CasellaDiTesto 294"/>
          <p:cNvSpPr txBox="1"/>
          <p:nvPr/>
        </p:nvSpPr>
        <p:spPr>
          <a:xfrm>
            <a:off x="971640" y="1926720"/>
            <a:ext cx="3065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Domanda da tenere sullo sfondo:</a:t>
            </a:r>
            <a:endParaRPr lang="it-IT" sz="1650" b="0" u="none" strike="noStrike">
              <a:solidFill>
                <a:srgbClr val="000000"/>
              </a:solidFill>
              <a:effectLst/>
              <a:uFillTx/>
              <a:latin typeface="Times New Roman"/>
            </a:endParaRPr>
          </a:p>
        </p:txBody>
      </p:sp>
      <p:sp>
        <p:nvSpPr>
          <p:cNvPr id="296" name="CasellaDiTesto 295"/>
          <p:cNvSpPr txBox="1"/>
          <p:nvPr/>
        </p:nvSpPr>
        <p:spPr>
          <a:xfrm>
            <a:off x="1209600" y="2623320"/>
            <a:ext cx="95896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La compensazione tributaria è riconducibile a una delle tre fattispecie civilistiche o costituisce istituto </a:t>
            </a:r>
            <a:r>
              <a:rPr lang="it-IT" sz="1500" b="1" u="none" strike="noStrike">
                <a:solidFill>
                  <a:srgbClr val="00509E"/>
                </a:solidFill>
                <a:effectLst/>
                <a:uFillTx/>
                <a:latin typeface="SegoeUI"/>
                <a:ea typeface="SegoeUI"/>
              </a:rPr>
              <a:t>autonomo e</a:t>
            </a:r>
            <a:endParaRPr lang="it-IT" sz="1500" b="0" u="none" strike="noStrike">
              <a:solidFill>
                <a:srgbClr val="000000"/>
              </a:solidFill>
              <a:effectLst/>
              <a:uFillTx/>
              <a:latin typeface="Times New Roman"/>
            </a:endParaRPr>
          </a:p>
        </p:txBody>
      </p:sp>
      <p:sp>
        <p:nvSpPr>
          <p:cNvPr id="297" name="CasellaDiTesto 296"/>
          <p:cNvSpPr txBox="1"/>
          <p:nvPr/>
        </p:nvSpPr>
        <p:spPr>
          <a:xfrm>
            <a:off x="1209600" y="2918520"/>
            <a:ext cx="796320" cy="253440"/>
          </a:xfrm>
          <a:prstGeom prst="rect">
            <a:avLst/>
          </a:prstGeom>
          <a:noFill/>
          <a:ln w="0">
            <a:noFill/>
          </a:ln>
        </p:spPr>
        <p:txBody>
          <a:bodyPr wrap="none" lIns="0" tIns="0" rIns="0" bIns="0" anchor="t">
            <a:spAutoFit/>
          </a:bodyPr>
          <a:lstStyle/>
          <a:p>
            <a:r>
              <a:rPr lang="it-IT" sz="1500" b="1" u="none" strike="noStrike">
                <a:solidFill>
                  <a:srgbClr val="00509E"/>
                </a:solidFill>
                <a:effectLst/>
                <a:uFillTx/>
                <a:latin typeface="SegoeUI"/>
                <a:ea typeface="SegoeUI"/>
              </a:rPr>
              <a:t>speciale</a:t>
            </a:r>
            <a:r>
              <a:rPr lang="it-IT" sz="1500" b="0" u="none" strike="noStrike">
                <a:solidFill>
                  <a:srgbClr val="343A40"/>
                </a:solidFill>
                <a:effectLst/>
                <a:uFillTx/>
                <a:latin typeface="SegoeUI"/>
                <a:ea typeface="SegoeUI"/>
              </a:rPr>
              <a:t>?</a:t>
            </a:r>
            <a:endParaRPr lang="it-IT" sz="1500" b="0" u="none" strike="noStrike">
              <a:solidFill>
                <a:srgbClr val="000000"/>
              </a:solidFill>
              <a:effectLst/>
              <a:uFillTx/>
              <a:latin typeface="Times New Roman"/>
            </a:endParaRPr>
          </a:p>
        </p:txBody>
      </p:sp>
      <p:sp>
        <p:nvSpPr>
          <p:cNvPr id="298" name="Figura a mano libera: forma 297"/>
          <p:cNvSpPr/>
          <p:nvPr/>
        </p:nvSpPr>
        <p:spPr>
          <a:xfrm>
            <a:off x="1028520" y="413352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4"/>
                  <a:pt x="65" y="8"/>
                </a:cubicBezTo>
                <a:cubicBezTo>
                  <a:pt x="78" y="3"/>
                  <a:pt x="92" y="0"/>
                  <a:pt x="106" y="0"/>
                </a:cubicBezTo>
                <a:cubicBezTo>
                  <a:pt x="120" y="0"/>
                  <a:pt x="133" y="3"/>
                  <a:pt x="146" y="8"/>
                </a:cubicBezTo>
                <a:cubicBezTo>
                  <a:pt x="159" y="14"/>
                  <a:pt x="171" y="22"/>
                  <a:pt x="181" y="32"/>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99" name="CasellaDiTesto 298"/>
          <p:cNvSpPr txBox="1"/>
          <p:nvPr/>
        </p:nvSpPr>
        <p:spPr>
          <a:xfrm>
            <a:off x="971640" y="3545640"/>
            <a:ext cx="25671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Anticipazione della risposta:</a:t>
            </a:r>
            <a:endParaRPr lang="it-IT" sz="1650" b="0" u="none" strike="noStrike">
              <a:solidFill>
                <a:srgbClr val="000000"/>
              </a:solidFill>
              <a:effectLst/>
              <a:uFillTx/>
              <a:latin typeface="Times New Roman"/>
            </a:endParaRPr>
          </a:p>
        </p:txBody>
      </p:sp>
      <p:sp>
        <p:nvSpPr>
          <p:cNvPr id="300" name="Figura a mano libera: forma 299"/>
          <p:cNvSpPr/>
          <p:nvPr/>
        </p:nvSpPr>
        <p:spPr>
          <a:xfrm>
            <a:off x="1028520" y="4619520"/>
            <a:ext cx="76680" cy="76320"/>
          </a:xfrm>
          <a:custGeom>
            <a:avLst/>
            <a:gdLst/>
            <a:ahLst/>
            <a:cxnLst/>
            <a:rect l="0" t="0" r="r" b="b"/>
            <a:pathLst>
              <a:path w="213" h="212">
                <a:moveTo>
                  <a:pt x="213" y="106"/>
                </a:moveTo>
                <a:cubicBezTo>
                  <a:pt x="213" y="120"/>
                  <a:pt x="210" y="133"/>
                  <a:pt x="205" y="147"/>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01" name="CasellaDiTesto 300"/>
          <p:cNvSpPr txBox="1"/>
          <p:nvPr/>
        </p:nvSpPr>
        <p:spPr>
          <a:xfrm>
            <a:off x="1238400" y="4022640"/>
            <a:ext cx="3691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schema applicativo </a:t>
            </a:r>
            <a:r>
              <a:rPr lang="it-IT" sz="1580" b="1" u="none" strike="noStrike">
                <a:solidFill>
                  <a:srgbClr val="00509E"/>
                </a:solidFill>
                <a:effectLst/>
                <a:uFillTx/>
                <a:latin typeface="SegoeUI"/>
                <a:ea typeface="SegoeUI"/>
              </a:rPr>
              <a:t>vincolato</a:t>
            </a:r>
            <a:r>
              <a:rPr lang="it-IT" sz="1580" b="0" u="none" strike="noStrike">
                <a:solidFill>
                  <a:srgbClr val="343A40"/>
                </a:solidFill>
                <a:effectLst/>
                <a:uFillTx/>
                <a:latin typeface="SegoeUI"/>
                <a:ea typeface="SegoeUI"/>
              </a:rPr>
              <a:t> e </a:t>
            </a:r>
            <a:r>
              <a:rPr lang="it-IT" sz="1580" b="1" u="none" strike="noStrike">
                <a:solidFill>
                  <a:srgbClr val="00509E"/>
                </a:solidFill>
                <a:effectLst/>
                <a:uFillTx/>
                <a:latin typeface="SegoeUI"/>
                <a:ea typeface="SegoeUI"/>
              </a:rPr>
              <a:t>tassativo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302" name="Figura a mano libera: forma 301"/>
          <p:cNvSpPr/>
          <p:nvPr/>
        </p:nvSpPr>
        <p:spPr>
          <a:xfrm>
            <a:off x="1028520" y="509580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03" name="CasellaDiTesto 302"/>
          <p:cNvSpPr txBox="1"/>
          <p:nvPr/>
        </p:nvSpPr>
        <p:spPr>
          <a:xfrm>
            <a:off x="1238400" y="4508640"/>
            <a:ext cx="42681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mancanza del requisito di certezza</a:t>
            </a:r>
            <a:r>
              <a:rPr lang="it-IT" sz="1580" b="0" u="none" strike="noStrike">
                <a:solidFill>
                  <a:srgbClr val="343A40"/>
                </a:solidFill>
                <a:effectLst/>
                <a:uFillTx/>
                <a:latin typeface="SegoeUI"/>
                <a:ea typeface="SegoeUI"/>
              </a:rPr>
              <a:t> del credito;</a:t>
            </a:r>
            <a:endParaRPr lang="it-IT" sz="1580" b="0" u="none" strike="noStrike">
              <a:solidFill>
                <a:srgbClr val="000000"/>
              </a:solidFill>
              <a:effectLst/>
              <a:uFillTx/>
              <a:latin typeface="Times New Roman"/>
            </a:endParaRPr>
          </a:p>
        </p:txBody>
      </p:sp>
      <p:sp>
        <p:nvSpPr>
          <p:cNvPr id="304" name="Figura a mano libera: forma 303"/>
          <p:cNvSpPr/>
          <p:nvPr/>
        </p:nvSpPr>
        <p:spPr>
          <a:xfrm>
            <a:off x="1028520" y="558144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2"/>
                  <a:pt x="31" y="32"/>
                </a:cubicBezTo>
                <a:cubicBezTo>
                  <a:pt x="41" y="22"/>
                  <a:pt x="52" y="15"/>
                  <a:pt x="65" y="9"/>
                </a:cubicBezTo>
                <a:cubicBezTo>
                  <a:pt x="78" y="3"/>
                  <a:pt x="92" y="0"/>
                  <a:pt x="106" y="0"/>
                </a:cubicBezTo>
                <a:cubicBezTo>
                  <a:pt x="120" y="0"/>
                  <a:pt x="133" y="3"/>
                  <a:pt x="146" y="9"/>
                </a:cubicBezTo>
                <a:cubicBezTo>
                  <a:pt x="159" y="15"/>
                  <a:pt x="171" y="22"/>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05" name="CasellaDiTesto 304"/>
          <p:cNvSpPr txBox="1"/>
          <p:nvPr/>
        </p:nvSpPr>
        <p:spPr>
          <a:xfrm>
            <a:off x="1238400" y="4984920"/>
            <a:ext cx="34336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struttura </a:t>
            </a:r>
            <a:r>
              <a:rPr lang="it-IT" sz="1580" b="1" u="none" strike="noStrike">
                <a:solidFill>
                  <a:srgbClr val="00509E"/>
                </a:solidFill>
                <a:effectLst/>
                <a:uFillTx/>
                <a:latin typeface="SegoeUI"/>
                <a:ea typeface="SegoeUI"/>
              </a:rPr>
              <a:t>multilaterale</a:t>
            </a:r>
            <a:r>
              <a:rPr lang="it-IT" sz="1580" b="0" u="none" strike="noStrike">
                <a:solidFill>
                  <a:srgbClr val="343A40"/>
                </a:solidFill>
                <a:effectLst/>
                <a:uFillTx/>
                <a:latin typeface="SegoeUI"/>
                <a:ea typeface="SegoeUI"/>
              </a:rPr>
              <a:t> (non reciproca);</a:t>
            </a:r>
            <a:endParaRPr lang="it-IT" sz="1580" b="0" u="none" strike="noStrike">
              <a:solidFill>
                <a:srgbClr val="000000"/>
              </a:solidFill>
              <a:effectLst/>
              <a:uFillTx/>
              <a:latin typeface="Times New Roman"/>
            </a:endParaRPr>
          </a:p>
        </p:txBody>
      </p:sp>
      <p:sp>
        <p:nvSpPr>
          <p:cNvPr id="306" name="Figura a mano libera: forma 305"/>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07" name="CasellaDiTesto 306"/>
          <p:cNvSpPr txBox="1"/>
          <p:nvPr/>
        </p:nvSpPr>
        <p:spPr>
          <a:xfrm>
            <a:off x="1238400" y="5470560"/>
            <a:ext cx="9302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istituto </a:t>
            </a:r>
            <a:r>
              <a:rPr lang="it-IT" sz="1580" b="1" u="none" strike="noStrike">
                <a:solidFill>
                  <a:srgbClr val="00509E"/>
                </a:solidFill>
                <a:effectLst/>
                <a:uFillTx/>
                <a:latin typeface="SegoeUI"/>
                <a:ea typeface="SegoeUI"/>
              </a:rPr>
              <a:t>sui generis</a:t>
            </a:r>
            <a:r>
              <a:rPr lang="it-IT" sz="1580" b="0" u="none" strike="noStrike">
                <a:solidFill>
                  <a:srgbClr val="343A40"/>
                </a:solidFill>
                <a:effectLst/>
                <a:uFillTx/>
                <a:latin typeface="SegoeUI"/>
                <a:ea typeface="SegoeUI"/>
              </a:rPr>
              <a:t>, riconducibile alla categoria dei </a:t>
            </a:r>
            <a:r>
              <a:rPr lang="it-IT" sz="1580" b="0" i="1" u="none" strike="noStrike">
                <a:solidFill>
                  <a:srgbClr val="495057"/>
                </a:solidFill>
                <a:effectLst/>
                <a:uFillTx/>
                <a:latin typeface="SegoeUI"/>
                <a:ea typeface="SegoeUI"/>
              </a:rPr>
              <a:t>versamenti diretti</a:t>
            </a:r>
            <a:r>
              <a:rPr lang="it-IT" sz="1580" b="0" u="none" strike="noStrike">
                <a:solidFill>
                  <a:srgbClr val="343A40"/>
                </a:solidFill>
                <a:effectLst/>
                <a:uFillTx/>
                <a:latin typeface="SegoeUI"/>
                <a:ea typeface="SegoeUI"/>
              </a:rPr>
              <a:t> e non alla compensazione </a:t>
            </a:r>
            <a:r>
              <a:rPr lang="it-IT" sz="1580" b="0" i="1" u="none" strike="noStrike">
                <a:solidFill>
                  <a:srgbClr val="495057"/>
                </a:solidFill>
                <a:effectLst/>
                <a:uFillTx/>
                <a:latin typeface="SegoeUI"/>
                <a:ea typeface="SegoeUI"/>
              </a:rPr>
              <a:t>tout court</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308" name="Figura a mano libera: forma 307"/>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09" name="CasellaDiTesto 308"/>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310" name="CasellaDiTesto 309"/>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13 / 73</a:t>
            </a:r>
            <a:endParaRPr lang="it-IT" sz="98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Figura a mano libera: forma 31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12" name="Figura a mano libera: forma 31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13" name="Figura a mano libera: forma 312"/>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14" name="Figura a mano libera: forma 313"/>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15" name="Figura a mano libera: forma 314"/>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16" name="Figura a mano libera: forma 315"/>
          <p:cNvSpPr/>
          <p:nvPr/>
        </p:nvSpPr>
        <p:spPr>
          <a:xfrm>
            <a:off x="975960" y="2128680"/>
            <a:ext cx="10544760" cy="648000"/>
          </a:xfrm>
          <a:custGeom>
            <a:avLst/>
            <a:gdLst/>
            <a:ahLst/>
            <a:cxnLst/>
            <a:rect l="0" t="0" r="r" b="b"/>
            <a:pathLst>
              <a:path w="29291" h="1800">
                <a:moveTo>
                  <a:pt x="0" y="1707"/>
                </a:moveTo>
                <a:lnTo>
                  <a:pt x="0" y="93"/>
                </a:lnTo>
                <a:cubicBezTo>
                  <a:pt x="0" y="80"/>
                  <a:pt x="3" y="68"/>
                  <a:pt x="8" y="57"/>
                </a:cubicBezTo>
                <a:cubicBezTo>
                  <a:pt x="12" y="46"/>
                  <a:pt x="19" y="36"/>
                  <a:pt x="28" y="27"/>
                </a:cubicBezTo>
                <a:cubicBezTo>
                  <a:pt x="36" y="18"/>
                  <a:pt x="46" y="12"/>
                  <a:pt x="58" y="7"/>
                </a:cubicBezTo>
                <a:cubicBezTo>
                  <a:pt x="69" y="2"/>
                  <a:pt x="81" y="0"/>
                  <a:pt x="93" y="0"/>
                </a:cubicBezTo>
                <a:lnTo>
                  <a:pt x="29198" y="0"/>
                </a:lnTo>
                <a:cubicBezTo>
                  <a:pt x="29211" y="0"/>
                  <a:pt x="29222" y="2"/>
                  <a:pt x="29234" y="7"/>
                </a:cubicBezTo>
                <a:cubicBezTo>
                  <a:pt x="29245" y="12"/>
                  <a:pt x="29255" y="18"/>
                  <a:pt x="29264" y="27"/>
                </a:cubicBezTo>
                <a:cubicBezTo>
                  <a:pt x="29272" y="36"/>
                  <a:pt x="29279" y="46"/>
                  <a:pt x="29284" y="57"/>
                </a:cubicBezTo>
                <a:cubicBezTo>
                  <a:pt x="29288" y="68"/>
                  <a:pt x="29291" y="80"/>
                  <a:pt x="29291" y="93"/>
                </a:cubicBezTo>
                <a:lnTo>
                  <a:pt x="29291" y="1707"/>
                </a:lnTo>
                <a:cubicBezTo>
                  <a:pt x="29291" y="1720"/>
                  <a:pt x="29288" y="1732"/>
                  <a:pt x="29284" y="1743"/>
                </a:cubicBezTo>
                <a:cubicBezTo>
                  <a:pt x="29279" y="1754"/>
                  <a:pt x="29272" y="1764"/>
                  <a:pt x="29264" y="1773"/>
                </a:cubicBezTo>
                <a:cubicBezTo>
                  <a:pt x="29255" y="1782"/>
                  <a:pt x="29245" y="1788"/>
                  <a:pt x="29234" y="1793"/>
                </a:cubicBezTo>
                <a:cubicBezTo>
                  <a:pt x="29222" y="1798"/>
                  <a:pt x="29211" y="1800"/>
                  <a:pt x="29198" y="1800"/>
                </a:cubicBezTo>
                <a:lnTo>
                  <a:pt x="93" y="1800"/>
                </a:lnTo>
                <a:cubicBezTo>
                  <a:pt x="81" y="1800"/>
                  <a:pt x="69" y="1798"/>
                  <a:pt x="58" y="1793"/>
                </a:cubicBezTo>
                <a:cubicBezTo>
                  <a:pt x="46" y="1788"/>
                  <a:pt x="36" y="1782"/>
                  <a:pt x="28" y="1773"/>
                </a:cubicBezTo>
                <a:cubicBezTo>
                  <a:pt x="19" y="1764"/>
                  <a:pt x="12" y="1754"/>
                  <a:pt x="8" y="1743"/>
                </a:cubicBezTo>
                <a:cubicBezTo>
                  <a:pt x="3" y="1732"/>
                  <a:pt x="0" y="1720"/>
                  <a:pt x="0" y="1707"/>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17" name="Figura a mano libera: forma 316"/>
          <p:cNvSpPr/>
          <p:nvPr/>
        </p:nvSpPr>
        <p:spPr>
          <a:xfrm>
            <a:off x="975960" y="2128680"/>
            <a:ext cx="10544760" cy="648000"/>
          </a:xfrm>
          <a:custGeom>
            <a:avLst/>
            <a:gdLst/>
            <a:ahLst/>
            <a:cxnLst/>
            <a:rect l="0" t="0" r="r" b="b"/>
            <a:pathLst>
              <a:path w="29291" h="1800">
                <a:moveTo>
                  <a:pt x="0" y="1707"/>
                </a:moveTo>
                <a:lnTo>
                  <a:pt x="0" y="93"/>
                </a:lnTo>
                <a:cubicBezTo>
                  <a:pt x="0" y="80"/>
                  <a:pt x="3" y="68"/>
                  <a:pt x="8" y="57"/>
                </a:cubicBezTo>
                <a:cubicBezTo>
                  <a:pt x="12" y="46"/>
                  <a:pt x="19" y="36"/>
                  <a:pt x="28" y="27"/>
                </a:cubicBezTo>
                <a:cubicBezTo>
                  <a:pt x="36" y="18"/>
                  <a:pt x="46" y="12"/>
                  <a:pt x="58" y="7"/>
                </a:cubicBezTo>
                <a:cubicBezTo>
                  <a:pt x="69" y="2"/>
                  <a:pt x="81" y="0"/>
                  <a:pt x="93" y="0"/>
                </a:cubicBezTo>
                <a:lnTo>
                  <a:pt x="29198" y="0"/>
                </a:lnTo>
                <a:cubicBezTo>
                  <a:pt x="29211" y="0"/>
                  <a:pt x="29222" y="2"/>
                  <a:pt x="29234" y="7"/>
                </a:cubicBezTo>
                <a:cubicBezTo>
                  <a:pt x="29245" y="12"/>
                  <a:pt x="29255" y="18"/>
                  <a:pt x="29264" y="27"/>
                </a:cubicBezTo>
                <a:cubicBezTo>
                  <a:pt x="29272" y="36"/>
                  <a:pt x="29279" y="46"/>
                  <a:pt x="29284" y="57"/>
                </a:cubicBezTo>
                <a:cubicBezTo>
                  <a:pt x="29288" y="68"/>
                  <a:pt x="29291" y="80"/>
                  <a:pt x="29291" y="93"/>
                </a:cubicBezTo>
                <a:lnTo>
                  <a:pt x="29291" y="1707"/>
                </a:lnTo>
                <a:cubicBezTo>
                  <a:pt x="29291" y="1720"/>
                  <a:pt x="29288" y="1732"/>
                  <a:pt x="29284" y="1743"/>
                </a:cubicBezTo>
                <a:cubicBezTo>
                  <a:pt x="29279" y="1754"/>
                  <a:pt x="29272" y="1764"/>
                  <a:pt x="29264" y="1773"/>
                </a:cubicBezTo>
                <a:cubicBezTo>
                  <a:pt x="29255" y="1782"/>
                  <a:pt x="29245" y="1788"/>
                  <a:pt x="29234" y="1793"/>
                </a:cubicBezTo>
                <a:cubicBezTo>
                  <a:pt x="29222" y="1798"/>
                  <a:pt x="29211" y="1800"/>
                  <a:pt x="29198" y="1800"/>
                </a:cubicBezTo>
                <a:lnTo>
                  <a:pt x="93" y="1800"/>
                </a:lnTo>
                <a:cubicBezTo>
                  <a:pt x="81" y="1800"/>
                  <a:pt x="69" y="1798"/>
                  <a:pt x="58" y="1793"/>
                </a:cubicBezTo>
                <a:cubicBezTo>
                  <a:pt x="46" y="1788"/>
                  <a:pt x="36" y="1782"/>
                  <a:pt x="28" y="1773"/>
                </a:cubicBezTo>
                <a:cubicBezTo>
                  <a:pt x="19" y="1764"/>
                  <a:pt x="12" y="1754"/>
                  <a:pt x="8" y="1743"/>
                </a:cubicBezTo>
                <a:cubicBezTo>
                  <a:pt x="3" y="1732"/>
                  <a:pt x="0" y="1720"/>
                  <a:pt x="0" y="1707"/>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318" name="Figura a mano libera: forma 317"/>
          <p:cNvSpPr/>
          <p:nvPr/>
        </p:nvSpPr>
        <p:spPr>
          <a:xfrm>
            <a:off x="950596" y="5405330"/>
            <a:ext cx="10544760" cy="538200"/>
          </a:xfrm>
          <a:custGeom>
            <a:avLst/>
            <a:gdLst/>
            <a:ahLst/>
            <a:cxnLst/>
            <a:rect l="0" t="0" r="r" b="b"/>
            <a:pathLst>
              <a:path w="29291" h="1495">
                <a:moveTo>
                  <a:pt x="0" y="1495"/>
                </a:moveTo>
                <a:lnTo>
                  <a:pt x="0" y="92"/>
                </a:lnTo>
                <a:cubicBezTo>
                  <a:pt x="0" y="80"/>
                  <a:pt x="3" y="68"/>
                  <a:pt x="8" y="57"/>
                </a:cubicBezTo>
                <a:cubicBezTo>
                  <a:pt x="12" y="45"/>
                  <a:pt x="19" y="35"/>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5"/>
                  <a:pt x="29279" y="45"/>
                  <a:pt x="29284" y="57"/>
                </a:cubicBezTo>
                <a:cubicBezTo>
                  <a:pt x="29288" y="68"/>
                  <a:pt x="29291" y="80"/>
                  <a:pt x="29291" y="92"/>
                </a:cubicBezTo>
                <a:lnTo>
                  <a:pt x="29291" y="1495"/>
                </a:lnTo>
                <a:lnTo>
                  <a:pt x="0" y="1495"/>
                </a:ln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19" name="Figura a mano libera: forma 318"/>
          <p:cNvSpPr/>
          <p:nvPr/>
        </p:nvSpPr>
        <p:spPr>
          <a:xfrm>
            <a:off x="975960" y="5410632"/>
            <a:ext cx="10544760" cy="538200"/>
          </a:xfrm>
          <a:custGeom>
            <a:avLst/>
            <a:gdLst/>
            <a:ahLst/>
            <a:cxnLst/>
            <a:rect l="0" t="0" r="r" b="b"/>
            <a:pathLst>
              <a:path w="29291" h="1495">
                <a:moveTo>
                  <a:pt x="0" y="1495"/>
                </a:moveTo>
                <a:lnTo>
                  <a:pt x="0" y="92"/>
                </a:lnTo>
                <a:cubicBezTo>
                  <a:pt x="0" y="80"/>
                  <a:pt x="3" y="68"/>
                  <a:pt x="8" y="57"/>
                </a:cubicBezTo>
                <a:cubicBezTo>
                  <a:pt x="12" y="45"/>
                  <a:pt x="19" y="35"/>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5"/>
                  <a:pt x="29279" y="45"/>
                  <a:pt x="29284" y="57"/>
                </a:cubicBezTo>
                <a:cubicBezTo>
                  <a:pt x="29288" y="68"/>
                  <a:pt x="29291" y="80"/>
                  <a:pt x="29291" y="92"/>
                </a:cubicBezTo>
                <a:lnTo>
                  <a:pt x="29291" y="1495"/>
                </a:lnTo>
                <a:lnTo>
                  <a:pt x="0" y="1495"/>
                </a:ln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320" name="CasellaDiTesto 319"/>
          <p:cNvSpPr txBox="1"/>
          <p:nvPr/>
        </p:nvSpPr>
        <p:spPr>
          <a:xfrm>
            <a:off x="971640" y="552600"/>
            <a:ext cx="98344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TRIBUTARIA: IMPOSTAZIONE STORICA</a:t>
            </a:r>
            <a:endParaRPr lang="it-IT" sz="2850" b="0" u="none" strike="noStrike">
              <a:solidFill>
                <a:srgbClr val="000000"/>
              </a:solidFill>
              <a:effectLst/>
              <a:uFillTx/>
              <a:latin typeface="Times New Roman"/>
            </a:endParaRPr>
          </a:p>
        </p:txBody>
      </p:sp>
      <p:sp>
        <p:nvSpPr>
          <p:cNvPr id="321" name="CasellaDiTesto 320"/>
          <p:cNvSpPr txBox="1"/>
          <p:nvPr/>
        </p:nvSpPr>
        <p:spPr>
          <a:xfrm>
            <a:off x="971640" y="1307520"/>
            <a:ext cx="10081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Storicamente, dottrina e prassi hanno a lungo escluso l'applicabilità della compensazione in ambito tributario,</a:t>
            </a:r>
            <a:endParaRPr lang="it-IT" sz="1650" b="0" u="none" strike="noStrike">
              <a:solidFill>
                <a:srgbClr val="000000"/>
              </a:solidFill>
              <a:effectLst/>
              <a:uFillTx/>
              <a:latin typeface="Times New Roman"/>
            </a:endParaRPr>
          </a:p>
        </p:txBody>
      </p:sp>
      <p:sp>
        <p:nvSpPr>
          <p:cNvPr id="322" name="CasellaDiTesto 321"/>
          <p:cNvSpPr txBox="1"/>
          <p:nvPr/>
        </p:nvSpPr>
        <p:spPr>
          <a:xfrm>
            <a:off x="971640" y="1631160"/>
            <a:ext cx="4986622" cy="253916"/>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facendo leva sulla </a:t>
            </a:r>
            <a:r>
              <a:rPr lang="it-IT" sz="1650" b="1" u="none" strike="noStrike" dirty="0">
                <a:solidFill>
                  <a:srgbClr val="00509E"/>
                </a:solidFill>
                <a:effectLst/>
                <a:uFillTx/>
                <a:latin typeface="SegoeUI"/>
                <a:ea typeface="SegoeUI"/>
                <a:hlinkClick r:id="rId2"/>
              </a:rPr>
              <a:t>indisponibilità</a:t>
            </a:r>
            <a:r>
              <a:rPr lang="it-IT" sz="1650" b="0" u="none" strike="noStrike" dirty="0">
                <a:solidFill>
                  <a:srgbClr val="212529"/>
                </a:solidFill>
                <a:effectLst/>
                <a:uFillTx/>
                <a:latin typeface="SegoeUI"/>
                <a:ea typeface="SegoeUI"/>
              </a:rPr>
              <a:t> del credito erariale.</a:t>
            </a:r>
            <a:endParaRPr lang="it-IT" sz="1650" b="0" u="none" strike="noStrike" dirty="0">
              <a:solidFill>
                <a:srgbClr val="000000"/>
              </a:solidFill>
              <a:effectLst/>
              <a:uFillTx/>
              <a:latin typeface="Times New Roman"/>
            </a:endParaRPr>
          </a:p>
        </p:txBody>
      </p:sp>
      <p:sp>
        <p:nvSpPr>
          <p:cNvPr id="323" name="CasellaDiTesto 322"/>
          <p:cNvSpPr txBox="1"/>
          <p:nvPr/>
        </p:nvSpPr>
        <p:spPr>
          <a:xfrm>
            <a:off x="1209600" y="2328120"/>
            <a:ext cx="2965555" cy="230832"/>
          </a:xfrm>
          <a:prstGeom prst="rect">
            <a:avLst/>
          </a:prstGeom>
          <a:noFill/>
          <a:ln w="0">
            <a:noFill/>
          </a:ln>
        </p:spPr>
        <p:txBody>
          <a:bodyPr wrap="none" lIns="0" tIns="0" rIns="0" bIns="0" anchor="t">
            <a:spAutoFit/>
          </a:bodyPr>
          <a:lstStyle/>
          <a:p>
            <a:r>
              <a:rPr lang="it-IT" sz="1500" b="0" u="none" strike="noStrike" dirty="0">
                <a:solidFill>
                  <a:srgbClr val="0969DA"/>
                </a:solidFill>
                <a:effectLst/>
                <a:uFillTx/>
                <a:latin typeface="SegoeUI"/>
                <a:ea typeface="SegoeUI"/>
                <a:hlinkClick r:id="rId3"/>
              </a:rPr>
              <a:t>Cass. 27045/2007</a:t>
            </a:r>
            <a:r>
              <a:rPr lang="it-IT" sz="1500" b="0" u="none" strike="noStrike" dirty="0">
                <a:solidFill>
                  <a:srgbClr val="343A40"/>
                </a:solidFill>
                <a:effectLst/>
                <a:uFillTx/>
                <a:latin typeface="SegoeUI"/>
                <a:ea typeface="SegoeUI"/>
              </a:rPr>
              <a:t>; </a:t>
            </a:r>
            <a:r>
              <a:rPr lang="it-IT" sz="1500" b="0" u="none" strike="noStrike" dirty="0">
                <a:solidFill>
                  <a:srgbClr val="0969DA"/>
                </a:solidFill>
                <a:effectLst/>
                <a:uFillTx/>
                <a:latin typeface="SegoeUI"/>
                <a:ea typeface="SegoeUI"/>
                <a:hlinkClick r:id="rId4"/>
              </a:rPr>
              <a:t>Cass. 2851/1983</a:t>
            </a:r>
            <a:endParaRPr lang="it-IT" sz="1500" b="0" u="none" strike="noStrike" dirty="0">
              <a:solidFill>
                <a:srgbClr val="000000"/>
              </a:solidFill>
              <a:effectLst/>
              <a:uFillTx/>
              <a:latin typeface="Times New Roman"/>
            </a:endParaRPr>
          </a:p>
        </p:txBody>
      </p:sp>
      <p:sp>
        <p:nvSpPr>
          <p:cNvPr id="325" name="CasellaDiTesto 324"/>
          <p:cNvSpPr txBox="1"/>
          <p:nvPr/>
        </p:nvSpPr>
        <p:spPr>
          <a:xfrm>
            <a:off x="950596" y="2961070"/>
            <a:ext cx="11052769" cy="2423740"/>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 UI" panose="020B0502040204020203" pitchFamily="34" charset="0"/>
                <a:ea typeface="SegoeUI"/>
                <a:cs typeface="Segoe UI" panose="020B0502040204020203" pitchFamily="34" charset="0"/>
              </a:rPr>
              <a:t>Unico caso potrebbe essere la </a:t>
            </a:r>
            <a:r>
              <a:rPr lang="it-IT" sz="1650" b="1" u="none" strike="noStrike" dirty="0">
                <a:solidFill>
                  <a:srgbClr val="00509E"/>
                </a:solidFill>
                <a:effectLst/>
                <a:uFillTx/>
                <a:latin typeface="Segoe UI" panose="020B0502040204020203" pitchFamily="34" charset="0"/>
                <a:ea typeface="SegoeUI"/>
                <a:cs typeface="Segoe UI" panose="020B0502040204020203" pitchFamily="34" charset="0"/>
              </a:rPr>
              <a:t>ritenuta diretta</a:t>
            </a:r>
            <a:r>
              <a:rPr lang="it-IT" sz="1650" b="0" u="none" strike="noStrike" dirty="0">
                <a:solidFill>
                  <a:srgbClr val="212529"/>
                </a:solidFill>
                <a:effectLst/>
                <a:uFillTx/>
                <a:latin typeface="Segoe UI" panose="020B0502040204020203" pitchFamily="34" charset="0"/>
                <a:ea typeface="SegoeUI"/>
                <a:cs typeface="Segoe UI" panose="020B0502040204020203" pitchFamily="34" charset="0"/>
              </a:rPr>
              <a:t> (art. 31 </a:t>
            </a:r>
            <a:r>
              <a:rPr lang="it-IT" sz="1650" b="0" u="none" strike="noStrike" dirty="0" err="1">
                <a:solidFill>
                  <a:srgbClr val="212529"/>
                </a:solidFill>
                <a:effectLst/>
                <a:uFillTx/>
                <a:latin typeface="Segoe UI" panose="020B0502040204020203" pitchFamily="34" charset="0"/>
                <a:ea typeface="SegoeUI"/>
                <a:cs typeface="Segoe UI" panose="020B0502040204020203" pitchFamily="34" charset="0"/>
              </a:rPr>
              <a:t>D.Lgs.</a:t>
            </a:r>
            <a:r>
              <a:rPr lang="it-IT" sz="1650" b="0" u="none" strike="noStrike" dirty="0">
                <a:solidFill>
                  <a:srgbClr val="212529"/>
                </a:solidFill>
                <a:effectLst/>
                <a:uFillTx/>
                <a:latin typeface="Segoe UI" panose="020B0502040204020203" pitchFamily="34" charset="0"/>
                <a:ea typeface="SegoeUI"/>
                <a:cs typeface="Segoe UI" panose="020B0502040204020203" pitchFamily="34" charset="0"/>
              </a:rPr>
              <a:t> 33/2025 - già art. 2 DPR 602/1973). </a:t>
            </a:r>
          </a:p>
          <a:p>
            <a:r>
              <a:rPr lang="it-IT" sz="1650" b="0" u="none" strike="noStrike" dirty="0">
                <a:solidFill>
                  <a:srgbClr val="212529"/>
                </a:solidFill>
                <a:effectLst/>
                <a:uFillTx/>
                <a:latin typeface="Segoe UI" panose="020B0502040204020203" pitchFamily="34" charset="0"/>
                <a:ea typeface="SegoeUI"/>
                <a:cs typeface="Segoe UI" panose="020B0502040204020203" pitchFamily="34" charset="0"/>
              </a:rPr>
              <a:t>MA:</a:t>
            </a:r>
          </a:p>
          <a:p>
            <a:pPr marL="285750" indent="-285750">
              <a:buFont typeface="Arial" panose="020B0604020202020204" pitchFamily="34" charset="0"/>
              <a:buChar char="•"/>
            </a:pPr>
            <a:r>
              <a:rPr lang="it-IT" dirty="0">
                <a:latin typeface="Segoe UI" panose="020B0502040204020203" pitchFamily="34" charset="0"/>
                <a:cs typeface="Segoe UI" panose="020B0502040204020203" pitchFamily="34" charset="0"/>
              </a:rPr>
              <a:t>il credito liquido ed esigibile da compensare deve (già) esistere al momento di effettuazione della ritenuta;</a:t>
            </a:r>
          </a:p>
          <a:p>
            <a:pPr marL="285750" indent="-285750">
              <a:buFont typeface="Arial" panose="020B0604020202020204" pitchFamily="34" charset="0"/>
              <a:buChar char="•"/>
            </a:pPr>
            <a:r>
              <a:rPr lang="it-IT" dirty="0">
                <a:latin typeface="Segoe UI" panose="020B0502040204020203" pitchFamily="34" charset="0"/>
                <a:cs typeface="Segoe UI" panose="020B0502040204020203" pitchFamily="34" charset="0"/>
              </a:rPr>
              <a:t>l'estinzione del debito non si verificherebbe per le ritenute a titolo di acconto;</a:t>
            </a:r>
          </a:p>
          <a:p>
            <a:pPr marL="285750" indent="-285750">
              <a:buFont typeface="Arial" panose="020B0604020202020204" pitchFamily="34" charset="0"/>
              <a:buChar char="•"/>
            </a:pPr>
            <a:r>
              <a:rPr lang="it-IT" dirty="0">
                <a:latin typeface="Segoe UI" panose="020B0502040204020203" pitchFamily="34" charset="0"/>
                <a:cs typeface="Segoe UI" panose="020B0502040204020203" pitchFamily="34" charset="0"/>
              </a:rPr>
              <a:t>non sempre vi è coincidenza tra amministrazione creditrice e amministrazione debitrice.</a:t>
            </a:r>
          </a:p>
          <a:p>
            <a:r>
              <a:rPr lang="it-IT" dirty="0">
                <a:latin typeface="Segoe UI" panose="020B0502040204020203" pitchFamily="34" charset="0"/>
                <a:cs typeface="Segoe UI" panose="020B0502040204020203" pitchFamily="34" charset="0"/>
              </a:rPr>
              <a:t>OGGI: </a:t>
            </a:r>
          </a:p>
          <a:p>
            <a:r>
              <a:rPr lang="it-IT" dirty="0">
                <a:latin typeface="Segoe UI" panose="020B0502040204020203" pitchFamily="34" charset="0"/>
                <a:cs typeface="Segoe UI" panose="020B0502040204020203" pitchFamily="34" charset="0"/>
              </a:rPr>
              <a:t> non si tratta di compensazione se non in senso descrittivo;</a:t>
            </a:r>
          </a:p>
          <a:p>
            <a:r>
              <a:rPr lang="it-IT" dirty="0">
                <a:latin typeface="Segoe UI" panose="020B0502040204020203" pitchFamily="34" charset="0"/>
                <a:cs typeface="Segoe UI" panose="020B0502040204020203" pitchFamily="34" charset="0"/>
              </a:rPr>
              <a:t> è un istituto </a:t>
            </a:r>
            <a:r>
              <a:rPr lang="it-IT" i="1" dirty="0">
                <a:latin typeface="Segoe UI" panose="020B0502040204020203" pitchFamily="34" charset="0"/>
                <a:cs typeface="Segoe UI" panose="020B0502040204020203" pitchFamily="34" charset="0"/>
              </a:rPr>
              <a:t>sui generis</a:t>
            </a:r>
            <a:r>
              <a:rPr lang="it-IT" dirty="0">
                <a:latin typeface="Segoe UI" panose="020B0502040204020203" pitchFamily="34" charset="0"/>
                <a:cs typeface="Segoe UI" panose="020B0502040204020203" pitchFamily="34" charset="0"/>
              </a:rPr>
              <a:t> tipico del diritto tributario.</a:t>
            </a:r>
            <a:endParaRPr lang="it-IT" dirty="0"/>
          </a:p>
          <a:p>
            <a:endParaRPr lang="it-IT" sz="1650" b="0" u="none" strike="noStrike" dirty="0">
              <a:solidFill>
                <a:srgbClr val="000000"/>
              </a:solidFill>
              <a:effectLst/>
              <a:uFillTx/>
              <a:latin typeface="Times New Roman"/>
            </a:endParaRPr>
          </a:p>
        </p:txBody>
      </p:sp>
      <p:sp>
        <p:nvSpPr>
          <p:cNvPr id="336" name="Figura a mano libera: forma 335"/>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37" name="CasellaDiTesto 336"/>
          <p:cNvSpPr txBox="1"/>
          <p:nvPr/>
        </p:nvSpPr>
        <p:spPr>
          <a:xfrm>
            <a:off x="1209600" y="5572604"/>
            <a:ext cx="5307578" cy="230832"/>
          </a:xfrm>
          <a:prstGeom prst="rect">
            <a:avLst/>
          </a:prstGeom>
          <a:noFill/>
          <a:ln w="0">
            <a:noFill/>
          </a:ln>
        </p:spPr>
        <p:txBody>
          <a:bodyPr wrap="square" lIns="0" tIns="0" rIns="0" bIns="0" anchor="t">
            <a:spAutoFit/>
          </a:bodyPr>
          <a:lstStyle/>
          <a:p>
            <a:r>
              <a:rPr lang="it-IT" sz="1500" b="0" u="none" strike="noStrike" dirty="0">
                <a:solidFill>
                  <a:srgbClr val="0969DA"/>
                </a:solidFill>
                <a:effectLst/>
                <a:uFillTx/>
                <a:latin typeface="SegoeUI"/>
                <a:ea typeface="SegoeUI"/>
                <a:hlinkClick r:id="rId5"/>
              </a:rPr>
              <a:t>Cass. 6903/2014</a:t>
            </a:r>
            <a:r>
              <a:rPr lang="it-IT" sz="1500" b="0" u="none" strike="noStrike" dirty="0">
                <a:solidFill>
                  <a:srgbClr val="343A40"/>
                </a:solidFill>
                <a:effectLst/>
                <a:uFillTx/>
                <a:latin typeface="SegoeUI"/>
                <a:ea typeface="SegoeUI"/>
              </a:rPr>
              <a:t>; </a:t>
            </a:r>
            <a:r>
              <a:rPr lang="it-IT" sz="1500" b="0" u="none" strike="noStrike" dirty="0">
                <a:solidFill>
                  <a:srgbClr val="343A40"/>
                </a:solidFill>
                <a:effectLst/>
                <a:uFillTx/>
                <a:latin typeface="SegoeUI"/>
                <a:ea typeface="SegoeUI"/>
                <a:hlinkClick r:id="rId6"/>
              </a:rPr>
              <a:t>Cass. 2701/2014</a:t>
            </a:r>
            <a:endParaRPr lang="it-IT" sz="1500" b="0" u="none" strike="noStrike" dirty="0">
              <a:solidFill>
                <a:srgbClr val="000000"/>
              </a:solidFill>
              <a:effectLst/>
              <a:uFillTx/>
              <a:latin typeface="Times New Roman"/>
            </a:endParaRPr>
          </a:p>
        </p:txBody>
      </p:sp>
      <p:sp>
        <p:nvSpPr>
          <p:cNvPr id="338" name="Figura a mano libera: forma 337"/>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39" name="CasellaDiTesto 338"/>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340" name="CasellaDiTesto 339"/>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14 / 73</a:t>
            </a:r>
            <a:endParaRPr lang="it-IT" sz="98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Figura a mano libera: forma 34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42" name="Figura a mano libera: forma 34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43" name="Figura a mano libera: forma 342"/>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44" name="Figura a mano libera: forma 343"/>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45" name="Figura a mano libera: forma 344"/>
          <p:cNvSpPr/>
          <p:nvPr/>
        </p:nvSpPr>
        <p:spPr>
          <a:xfrm>
            <a:off x="971280" y="19047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46" name="Figura a mano libera: forma 345"/>
          <p:cNvSpPr/>
          <p:nvPr/>
        </p:nvSpPr>
        <p:spPr>
          <a:xfrm>
            <a:off x="975960" y="2538360"/>
            <a:ext cx="10544760" cy="648000"/>
          </a:xfrm>
          <a:custGeom>
            <a:avLst/>
            <a:gdLst/>
            <a:ahLst/>
            <a:cxnLst/>
            <a:rect l="0" t="0" r="r" b="b"/>
            <a:pathLst>
              <a:path w="29291" h="1800">
                <a:moveTo>
                  <a:pt x="0" y="1707"/>
                </a:moveTo>
                <a:lnTo>
                  <a:pt x="0" y="92"/>
                </a:lnTo>
                <a:cubicBezTo>
                  <a:pt x="0" y="80"/>
                  <a:pt x="3" y="68"/>
                  <a:pt x="8" y="57"/>
                </a:cubicBezTo>
                <a:cubicBezTo>
                  <a:pt x="12" y="45"/>
                  <a:pt x="19" y="35"/>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5"/>
                  <a:pt x="29279" y="45"/>
                  <a:pt x="29284" y="57"/>
                </a:cubicBezTo>
                <a:cubicBezTo>
                  <a:pt x="29288" y="68"/>
                  <a:pt x="29291" y="80"/>
                  <a:pt x="29291" y="92"/>
                </a:cubicBezTo>
                <a:lnTo>
                  <a:pt x="29291" y="1707"/>
                </a:lnTo>
                <a:cubicBezTo>
                  <a:pt x="29291" y="1719"/>
                  <a:pt x="29288" y="1731"/>
                  <a:pt x="29284" y="1743"/>
                </a:cubicBezTo>
                <a:cubicBezTo>
                  <a:pt x="29279" y="1754"/>
                  <a:pt x="29272" y="1764"/>
                  <a:pt x="29264" y="1773"/>
                </a:cubicBezTo>
                <a:cubicBezTo>
                  <a:pt x="29255" y="1781"/>
                  <a:pt x="29245" y="1788"/>
                  <a:pt x="29234" y="1793"/>
                </a:cubicBezTo>
                <a:cubicBezTo>
                  <a:pt x="29222" y="1797"/>
                  <a:pt x="29211" y="1800"/>
                  <a:pt x="29198" y="1800"/>
                </a:cubicBezTo>
                <a:lnTo>
                  <a:pt x="93" y="1800"/>
                </a:lnTo>
                <a:cubicBezTo>
                  <a:pt x="81" y="1800"/>
                  <a:pt x="69" y="1797"/>
                  <a:pt x="58" y="1793"/>
                </a:cubicBezTo>
                <a:cubicBezTo>
                  <a:pt x="46" y="1788"/>
                  <a:pt x="36" y="1781"/>
                  <a:pt x="28" y="1773"/>
                </a:cubicBezTo>
                <a:cubicBezTo>
                  <a:pt x="19" y="1764"/>
                  <a:pt x="12" y="1754"/>
                  <a:pt x="8" y="1743"/>
                </a:cubicBezTo>
                <a:cubicBezTo>
                  <a:pt x="3" y="1731"/>
                  <a:pt x="0" y="1719"/>
                  <a:pt x="0" y="1707"/>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47" name="Figura a mano libera: forma 346"/>
          <p:cNvSpPr/>
          <p:nvPr/>
        </p:nvSpPr>
        <p:spPr>
          <a:xfrm>
            <a:off x="975960" y="2538360"/>
            <a:ext cx="10544760" cy="648000"/>
          </a:xfrm>
          <a:custGeom>
            <a:avLst/>
            <a:gdLst/>
            <a:ahLst/>
            <a:cxnLst/>
            <a:rect l="0" t="0" r="r" b="b"/>
            <a:pathLst>
              <a:path w="29291" h="1800">
                <a:moveTo>
                  <a:pt x="0" y="1707"/>
                </a:moveTo>
                <a:lnTo>
                  <a:pt x="0" y="92"/>
                </a:lnTo>
                <a:cubicBezTo>
                  <a:pt x="0" y="80"/>
                  <a:pt x="3" y="68"/>
                  <a:pt x="8" y="57"/>
                </a:cubicBezTo>
                <a:cubicBezTo>
                  <a:pt x="12" y="45"/>
                  <a:pt x="19" y="35"/>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5"/>
                  <a:pt x="29279" y="45"/>
                  <a:pt x="29284" y="57"/>
                </a:cubicBezTo>
                <a:cubicBezTo>
                  <a:pt x="29288" y="68"/>
                  <a:pt x="29291" y="80"/>
                  <a:pt x="29291" y="92"/>
                </a:cubicBezTo>
                <a:lnTo>
                  <a:pt x="29291" y="1707"/>
                </a:lnTo>
                <a:cubicBezTo>
                  <a:pt x="29291" y="1719"/>
                  <a:pt x="29288" y="1731"/>
                  <a:pt x="29284" y="1743"/>
                </a:cubicBezTo>
                <a:cubicBezTo>
                  <a:pt x="29279" y="1754"/>
                  <a:pt x="29272" y="1764"/>
                  <a:pt x="29264" y="1773"/>
                </a:cubicBezTo>
                <a:cubicBezTo>
                  <a:pt x="29255" y="1781"/>
                  <a:pt x="29245" y="1788"/>
                  <a:pt x="29234" y="1793"/>
                </a:cubicBezTo>
                <a:cubicBezTo>
                  <a:pt x="29222" y="1797"/>
                  <a:pt x="29211" y="1800"/>
                  <a:pt x="29198" y="1800"/>
                </a:cubicBezTo>
                <a:lnTo>
                  <a:pt x="93" y="1800"/>
                </a:lnTo>
                <a:cubicBezTo>
                  <a:pt x="81" y="1800"/>
                  <a:pt x="69" y="1797"/>
                  <a:pt x="58" y="1793"/>
                </a:cubicBezTo>
                <a:cubicBezTo>
                  <a:pt x="46" y="1788"/>
                  <a:pt x="36" y="1781"/>
                  <a:pt x="28" y="1773"/>
                </a:cubicBezTo>
                <a:cubicBezTo>
                  <a:pt x="19" y="1764"/>
                  <a:pt x="12" y="1754"/>
                  <a:pt x="8" y="1743"/>
                </a:cubicBezTo>
                <a:cubicBezTo>
                  <a:pt x="3" y="1731"/>
                  <a:pt x="0" y="1719"/>
                  <a:pt x="0" y="1707"/>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348" name="Figura a mano libera: forma 347"/>
          <p:cNvSpPr/>
          <p:nvPr/>
        </p:nvSpPr>
        <p:spPr>
          <a:xfrm>
            <a:off x="981000" y="4181400"/>
            <a:ext cx="1505160" cy="381240"/>
          </a:xfrm>
          <a:custGeom>
            <a:avLst/>
            <a:gdLst/>
            <a:ahLst/>
            <a:cxnLst/>
            <a:rect l="0" t="0" r="r" b="b"/>
            <a:pathLst>
              <a:path w="4181" h="1059">
                <a:moveTo>
                  <a:pt x="0" y="0"/>
                </a:moveTo>
                <a:lnTo>
                  <a:pt x="4181" y="0"/>
                </a:lnTo>
                <a:lnTo>
                  <a:pt x="4181" y="1059"/>
                </a:lnTo>
                <a:lnTo>
                  <a:pt x="0" y="105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49" name="Figura a mano libera: forma 348"/>
          <p:cNvSpPr/>
          <p:nvPr/>
        </p:nvSpPr>
        <p:spPr>
          <a:xfrm>
            <a:off x="2485800" y="4181400"/>
            <a:ext cx="3762720" cy="381240"/>
          </a:xfrm>
          <a:custGeom>
            <a:avLst/>
            <a:gdLst/>
            <a:ahLst/>
            <a:cxnLst/>
            <a:rect l="0" t="0" r="r" b="b"/>
            <a:pathLst>
              <a:path w="10452" h="1059">
                <a:moveTo>
                  <a:pt x="0" y="0"/>
                </a:moveTo>
                <a:lnTo>
                  <a:pt x="10452" y="0"/>
                </a:lnTo>
                <a:lnTo>
                  <a:pt x="10452" y="1059"/>
                </a:lnTo>
                <a:lnTo>
                  <a:pt x="0" y="105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50" name="Figura a mano libera: forma 349"/>
          <p:cNvSpPr/>
          <p:nvPr/>
        </p:nvSpPr>
        <p:spPr>
          <a:xfrm>
            <a:off x="6248160" y="4181400"/>
            <a:ext cx="5115240" cy="381240"/>
          </a:xfrm>
          <a:custGeom>
            <a:avLst/>
            <a:gdLst/>
            <a:ahLst/>
            <a:cxnLst/>
            <a:rect l="0" t="0" r="r" b="b"/>
            <a:pathLst>
              <a:path w="14209" h="1059">
                <a:moveTo>
                  <a:pt x="0" y="0"/>
                </a:moveTo>
                <a:lnTo>
                  <a:pt x="14209" y="0"/>
                </a:lnTo>
                <a:lnTo>
                  <a:pt x="14209" y="1059"/>
                </a:lnTo>
                <a:lnTo>
                  <a:pt x="0" y="105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51" name="Figura a mano libera: forma 350"/>
          <p:cNvSpPr/>
          <p:nvPr/>
        </p:nvSpPr>
        <p:spPr>
          <a:xfrm>
            <a:off x="981000" y="4181400"/>
            <a:ext cx="1505160" cy="381240"/>
          </a:xfrm>
          <a:custGeom>
            <a:avLst/>
            <a:gdLst/>
            <a:ahLst/>
            <a:cxnLst/>
            <a:rect l="0" t="0" r="r" b="b"/>
            <a:pathLst>
              <a:path w="4181" h="1059">
                <a:moveTo>
                  <a:pt x="0" y="0"/>
                </a:moveTo>
                <a:lnTo>
                  <a:pt x="4181" y="0"/>
                </a:lnTo>
                <a:lnTo>
                  <a:pt x="4181" y="1059"/>
                </a:lnTo>
                <a:lnTo>
                  <a:pt x="0" y="1059"/>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52" name="Figura a mano libera: forma 351"/>
          <p:cNvSpPr/>
          <p:nvPr/>
        </p:nvSpPr>
        <p:spPr>
          <a:xfrm>
            <a:off x="2485800" y="4181400"/>
            <a:ext cx="3762720" cy="381240"/>
          </a:xfrm>
          <a:custGeom>
            <a:avLst/>
            <a:gdLst/>
            <a:ahLst/>
            <a:cxnLst/>
            <a:rect l="0" t="0" r="r" b="b"/>
            <a:pathLst>
              <a:path w="10452" h="1059">
                <a:moveTo>
                  <a:pt x="0" y="0"/>
                </a:moveTo>
                <a:lnTo>
                  <a:pt x="10452" y="0"/>
                </a:lnTo>
                <a:lnTo>
                  <a:pt x="10452" y="1059"/>
                </a:lnTo>
                <a:lnTo>
                  <a:pt x="0" y="1059"/>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53" name="Figura a mano libera: forma 352"/>
          <p:cNvSpPr/>
          <p:nvPr/>
        </p:nvSpPr>
        <p:spPr>
          <a:xfrm>
            <a:off x="6248160" y="4181400"/>
            <a:ext cx="5115240" cy="381240"/>
          </a:xfrm>
          <a:custGeom>
            <a:avLst/>
            <a:gdLst/>
            <a:ahLst/>
            <a:cxnLst/>
            <a:rect l="0" t="0" r="r" b="b"/>
            <a:pathLst>
              <a:path w="14209" h="1059">
                <a:moveTo>
                  <a:pt x="0" y="0"/>
                </a:moveTo>
                <a:lnTo>
                  <a:pt x="14209" y="0"/>
                </a:lnTo>
                <a:lnTo>
                  <a:pt x="14209" y="1059"/>
                </a:lnTo>
                <a:lnTo>
                  <a:pt x="0" y="1059"/>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354" name="Figura a mano libera: forma 353"/>
          <p:cNvSpPr/>
          <p:nvPr/>
        </p:nvSpPr>
        <p:spPr>
          <a:xfrm>
            <a:off x="981000" y="4562280"/>
            <a:ext cx="1505160" cy="400320"/>
          </a:xfrm>
          <a:custGeom>
            <a:avLst/>
            <a:gdLst/>
            <a:ahLst/>
            <a:cxnLst/>
            <a:rect l="0" t="0" r="r" b="b"/>
            <a:pathLst>
              <a:path w="4181" h="1112">
                <a:moveTo>
                  <a:pt x="0" y="0"/>
                </a:moveTo>
                <a:lnTo>
                  <a:pt x="4181" y="0"/>
                </a:lnTo>
                <a:lnTo>
                  <a:pt x="4181"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55" name="Figura a mano libera: forma 354"/>
          <p:cNvSpPr/>
          <p:nvPr/>
        </p:nvSpPr>
        <p:spPr>
          <a:xfrm>
            <a:off x="2485800" y="4562280"/>
            <a:ext cx="3762720" cy="400320"/>
          </a:xfrm>
          <a:custGeom>
            <a:avLst/>
            <a:gdLst/>
            <a:ahLst/>
            <a:cxnLst/>
            <a:rect l="0" t="0" r="r" b="b"/>
            <a:pathLst>
              <a:path w="10452" h="1112">
                <a:moveTo>
                  <a:pt x="0" y="0"/>
                </a:moveTo>
                <a:lnTo>
                  <a:pt x="10452" y="0"/>
                </a:lnTo>
                <a:lnTo>
                  <a:pt x="10452"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56" name="Figura a mano libera: forma 355"/>
          <p:cNvSpPr/>
          <p:nvPr/>
        </p:nvSpPr>
        <p:spPr>
          <a:xfrm>
            <a:off x="6248160" y="4562280"/>
            <a:ext cx="5115240" cy="400320"/>
          </a:xfrm>
          <a:custGeom>
            <a:avLst/>
            <a:gdLst/>
            <a:ahLst/>
            <a:cxnLst/>
            <a:rect l="0" t="0" r="r" b="b"/>
            <a:pathLst>
              <a:path w="14209" h="1112">
                <a:moveTo>
                  <a:pt x="0" y="0"/>
                </a:moveTo>
                <a:lnTo>
                  <a:pt x="14209" y="0"/>
                </a:lnTo>
                <a:lnTo>
                  <a:pt x="14209"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57" name="Figura a mano libera: forma 356"/>
          <p:cNvSpPr/>
          <p:nvPr/>
        </p:nvSpPr>
        <p:spPr>
          <a:xfrm>
            <a:off x="981000" y="4962240"/>
            <a:ext cx="1505160" cy="400680"/>
          </a:xfrm>
          <a:custGeom>
            <a:avLst/>
            <a:gdLst/>
            <a:ahLst/>
            <a:cxnLst/>
            <a:rect l="0" t="0" r="r" b="b"/>
            <a:pathLst>
              <a:path w="4181" h="1113">
                <a:moveTo>
                  <a:pt x="0" y="1113"/>
                </a:moveTo>
                <a:lnTo>
                  <a:pt x="0" y="0"/>
                </a:lnTo>
                <a:lnTo>
                  <a:pt x="4181" y="0"/>
                </a:lnTo>
                <a:lnTo>
                  <a:pt x="4181" y="1113"/>
                </a:lnTo>
                <a:lnTo>
                  <a:pt x="0" y="1113"/>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58" name="Figura a mano libera: forma 357"/>
          <p:cNvSpPr/>
          <p:nvPr/>
        </p:nvSpPr>
        <p:spPr>
          <a:xfrm>
            <a:off x="2485800" y="4962240"/>
            <a:ext cx="3762720" cy="400680"/>
          </a:xfrm>
          <a:custGeom>
            <a:avLst/>
            <a:gdLst/>
            <a:ahLst/>
            <a:cxnLst/>
            <a:rect l="0" t="0" r="r" b="b"/>
            <a:pathLst>
              <a:path w="10452" h="1113">
                <a:moveTo>
                  <a:pt x="0" y="1113"/>
                </a:moveTo>
                <a:lnTo>
                  <a:pt x="0" y="0"/>
                </a:lnTo>
                <a:lnTo>
                  <a:pt x="10452" y="0"/>
                </a:lnTo>
                <a:lnTo>
                  <a:pt x="10452" y="1113"/>
                </a:lnTo>
                <a:lnTo>
                  <a:pt x="0" y="1113"/>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59" name="Figura a mano libera: forma 358"/>
          <p:cNvSpPr/>
          <p:nvPr/>
        </p:nvSpPr>
        <p:spPr>
          <a:xfrm>
            <a:off x="6248160" y="4962240"/>
            <a:ext cx="5115240" cy="400680"/>
          </a:xfrm>
          <a:custGeom>
            <a:avLst/>
            <a:gdLst/>
            <a:ahLst/>
            <a:cxnLst/>
            <a:rect l="0" t="0" r="r" b="b"/>
            <a:pathLst>
              <a:path w="14209" h="1113">
                <a:moveTo>
                  <a:pt x="0" y="1113"/>
                </a:moveTo>
                <a:lnTo>
                  <a:pt x="0" y="0"/>
                </a:lnTo>
                <a:lnTo>
                  <a:pt x="14209" y="0"/>
                </a:lnTo>
                <a:lnTo>
                  <a:pt x="14209" y="1113"/>
                </a:lnTo>
                <a:lnTo>
                  <a:pt x="0" y="1113"/>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0" name="Figura a mano libera: forma 359"/>
          <p:cNvSpPr/>
          <p:nvPr/>
        </p:nvSpPr>
        <p:spPr>
          <a:xfrm>
            <a:off x="971280" y="4181400"/>
            <a:ext cx="10080" cy="381240"/>
          </a:xfrm>
          <a:custGeom>
            <a:avLst/>
            <a:gdLst/>
            <a:ahLst/>
            <a:cxn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1" name="Figura a mano libera: forma 360"/>
          <p:cNvSpPr/>
          <p:nvPr/>
        </p:nvSpPr>
        <p:spPr>
          <a:xfrm>
            <a:off x="971280" y="4181400"/>
            <a:ext cx="1524600" cy="9720"/>
          </a:xfrm>
          <a:custGeom>
            <a:avLst/>
            <a:gdLst/>
            <a:ahLst/>
            <a:cxnLst/>
            <a:rect l="0" t="0" r="r" b="b"/>
            <a:pathLst>
              <a:path w="4235" h="27">
                <a:moveTo>
                  <a:pt x="0" y="0"/>
                </a:moveTo>
                <a:lnTo>
                  <a:pt x="4235" y="0"/>
                </a:lnTo>
                <a:lnTo>
                  <a:pt x="4235"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2" name="Figura a mano libera: forma 361"/>
          <p:cNvSpPr/>
          <p:nvPr/>
        </p:nvSpPr>
        <p:spPr>
          <a:xfrm>
            <a:off x="2485800" y="4181400"/>
            <a:ext cx="10080" cy="381240"/>
          </a:xfrm>
          <a:custGeom>
            <a:avLst/>
            <a:gdLst/>
            <a:ahLst/>
            <a:cxn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3" name="Figura a mano libera: forma 362"/>
          <p:cNvSpPr/>
          <p:nvPr/>
        </p:nvSpPr>
        <p:spPr>
          <a:xfrm>
            <a:off x="2495520" y="4181400"/>
            <a:ext cx="3753000" cy="9720"/>
          </a:xfrm>
          <a:custGeom>
            <a:avLst/>
            <a:gdLst/>
            <a:ahLst/>
            <a:cxnLst/>
            <a:rect l="0" t="0" r="r" b="b"/>
            <a:pathLst>
              <a:path w="10425" h="27">
                <a:moveTo>
                  <a:pt x="0" y="0"/>
                </a:moveTo>
                <a:lnTo>
                  <a:pt x="10425" y="0"/>
                </a:lnTo>
                <a:lnTo>
                  <a:pt x="10425"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4" name="Figura a mano libera: forma 363"/>
          <p:cNvSpPr/>
          <p:nvPr/>
        </p:nvSpPr>
        <p:spPr>
          <a:xfrm>
            <a:off x="6238800" y="4181400"/>
            <a:ext cx="9720" cy="381240"/>
          </a:xfrm>
          <a:custGeom>
            <a:avLst/>
            <a:gdLst/>
            <a:ahLst/>
            <a:cxn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5" name="Figura a mano libera: forma 364"/>
          <p:cNvSpPr/>
          <p:nvPr/>
        </p:nvSpPr>
        <p:spPr>
          <a:xfrm>
            <a:off x="6248160" y="4181400"/>
            <a:ext cx="5115240" cy="9720"/>
          </a:xfrm>
          <a:custGeom>
            <a:avLst/>
            <a:gdLst/>
            <a:ahLst/>
            <a:cxnLst/>
            <a:rect l="0" t="0" r="r" b="b"/>
            <a:pathLst>
              <a:path w="14209" h="27">
                <a:moveTo>
                  <a:pt x="0" y="0"/>
                </a:moveTo>
                <a:lnTo>
                  <a:pt x="14209" y="0"/>
                </a:lnTo>
                <a:lnTo>
                  <a:pt x="1420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6" name="Figura a mano libera: forma 365"/>
          <p:cNvSpPr/>
          <p:nvPr/>
        </p:nvSpPr>
        <p:spPr>
          <a:xfrm>
            <a:off x="11353680" y="4181400"/>
            <a:ext cx="9720" cy="381240"/>
          </a:xfrm>
          <a:custGeom>
            <a:avLst/>
            <a:gdLst/>
            <a:ahLst/>
            <a:cxn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7" name="Figura a mano libera: forma 366"/>
          <p:cNvSpPr/>
          <p:nvPr/>
        </p:nvSpPr>
        <p:spPr>
          <a:xfrm>
            <a:off x="971280" y="4552920"/>
            <a:ext cx="1524600" cy="9720"/>
          </a:xfrm>
          <a:custGeom>
            <a:avLst/>
            <a:gdLst/>
            <a:ahLst/>
            <a:cxnLst/>
            <a:rect l="0" t="0" r="r" b="b"/>
            <a:pathLst>
              <a:path w="4235" h="27">
                <a:moveTo>
                  <a:pt x="0" y="0"/>
                </a:moveTo>
                <a:lnTo>
                  <a:pt x="4235" y="0"/>
                </a:lnTo>
                <a:lnTo>
                  <a:pt x="4235"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8" name="Figura a mano libera: forma 367"/>
          <p:cNvSpPr/>
          <p:nvPr/>
        </p:nvSpPr>
        <p:spPr>
          <a:xfrm>
            <a:off x="2495520" y="4552920"/>
            <a:ext cx="3753000" cy="9720"/>
          </a:xfrm>
          <a:custGeom>
            <a:avLst/>
            <a:gdLst/>
            <a:ahLst/>
            <a:cxnLst/>
            <a:rect l="0" t="0" r="r" b="b"/>
            <a:pathLst>
              <a:path w="10425" h="27">
                <a:moveTo>
                  <a:pt x="0" y="0"/>
                </a:moveTo>
                <a:lnTo>
                  <a:pt x="10425" y="0"/>
                </a:lnTo>
                <a:lnTo>
                  <a:pt x="10425"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69" name="Figura a mano libera: forma 368"/>
          <p:cNvSpPr/>
          <p:nvPr/>
        </p:nvSpPr>
        <p:spPr>
          <a:xfrm>
            <a:off x="6248160" y="4552920"/>
            <a:ext cx="5115240" cy="9720"/>
          </a:xfrm>
          <a:custGeom>
            <a:avLst/>
            <a:gdLst/>
            <a:ahLst/>
            <a:cxnLst/>
            <a:rect l="0" t="0" r="r" b="b"/>
            <a:pathLst>
              <a:path w="14209" h="27">
                <a:moveTo>
                  <a:pt x="0" y="0"/>
                </a:moveTo>
                <a:lnTo>
                  <a:pt x="14209" y="0"/>
                </a:lnTo>
                <a:lnTo>
                  <a:pt x="1420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0" name="Figura a mano libera: forma 369"/>
          <p:cNvSpPr/>
          <p:nvPr/>
        </p:nvSpPr>
        <p:spPr>
          <a:xfrm>
            <a:off x="971280" y="4562280"/>
            <a:ext cx="10080" cy="410040"/>
          </a:xfrm>
          <a:custGeom>
            <a:avLst/>
            <a:gdLst/>
            <a:ahLst/>
            <a:cxnLst/>
            <a:rect l="0" t="0" r="r" b="b"/>
            <a:pathLst>
              <a:path w="28" h="1139">
                <a:moveTo>
                  <a:pt x="0" y="0"/>
                </a:moveTo>
                <a:lnTo>
                  <a:pt x="28" y="0"/>
                </a:lnTo>
                <a:lnTo>
                  <a:pt x="28"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1" name="Figura a mano libera: forma 370"/>
          <p:cNvSpPr/>
          <p:nvPr/>
        </p:nvSpPr>
        <p:spPr>
          <a:xfrm>
            <a:off x="2485800" y="4562280"/>
            <a:ext cx="10080" cy="410040"/>
          </a:xfrm>
          <a:custGeom>
            <a:avLst/>
            <a:gdLst/>
            <a:ahLst/>
            <a:cxnLst/>
            <a:rect l="0" t="0" r="r" b="b"/>
            <a:pathLst>
              <a:path w="28" h="1139">
                <a:moveTo>
                  <a:pt x="0" y="0"/>
                </a:moveTo>
                <a:lnTo>
                  <a:pt x="28" y="0"/>
                </a:lnTo>
                <a:lnTo>
                  <a:pt x="28"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2" name="Figura a mano libera: forma 371"/>
          <p:cNvSpPr/>
          <p:nvPr/>
        </p:nvSpPr>
        <p:spPr>
          <a:xfrm>
            <a:off x="6238800" y="456228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3" name="Figura a mano libera: forma 372"/>
          <p:cNvSpPr/>
          <p:nvPr/>
        </p:nvSpPr>
        <p:spPr>
          <a:xfrm>
            <a:off x="11353680" y="456228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4" name="Figura a mano libera: forma 373"/>
          <p:cNvSpPr/>
          <p:nvPr/>
        </p:nvSpPr>
        <p:spPr>
          <a:xfrm>
            <a:off x="971280" y="4971960"/>
            <a:ext cx="10080" cy="390960"/>
          </a:xfrm>
          <a:custGeom>
            <a:avLst/>
            <a:gdLst/>
            <a:ahLst/>
            <a:cxnLst/>
            <a:rect l="0" t="0" r="r" b="b"/>
            <a:pathLst>
              <a:path w="28" h="1086">
                <a:moveTo>
                  <a:pt x="0" y="1086"/>
                </a:moveTo>
                <a:lnTo>
                  <a:pt x="0" y="0"/>
                </a:lnTo>
                <a:lnTo>
                  <a:pt x="28" y="0"/>
                </a:lnTo>
                <a:lnTo>
                  <a:pt x="28"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5" name="Figura a mano libera: forma 374"/>
          <p:cNvSpPr/>
          <p:nvPr/>
        </p:nvSpPr>
        <p:spPr>
          <a:xfrm>
            <a:off x="971280" y="4962240"/>
            <a:ext cx="1524600" cy="10080"/>
          </a:xfrm>
          <a:custGeom>
            <a:avLst/>
            <a:gdLst/>
            <a:ahLst/>
            <a:cxnLst/>
            <a:rect l="0" t="0" r="r" b="b"/>
            <a:pathLst>
              <a:path w="4235" h="28">
                <a:moveTo>
                  <a:pt x="0" y="0"/>
                </a:moveTo>
                <a:lnTo>
                  <a:pt x="4235" y="0"/>
                </a:lnTo>
                <a:lnTo>
                  <a:pt x="4235"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6" name="Figura a mano libera: forma 375"/>
          <p:cNvSpPr/>
          <p:nvPr/>
        </p:nvSpPr>
        <p:spPr>
          <a:xfrm>
            <a:off x="2485800" y="4971960"/>
            <a:ext cx="10080" cy="390960"/>
          </a:xfrm>
          <a:custGeom>
            <a:avLst/>
            <a:gdLst/>
            <a:ahLst/>
            <a:cxnLst/>
            <a:rect l="0" t="0" r="r" b="b"/>
            <a:pathLst>
              <a:path w="28" h="1086">
                <a:moveTo>
                  <a:pt x="0" y="1086"/>
                </a:moveTo>
                <a:lnTo>
                  <a:pt x="0" y="0"/>
                </a:lnTo>
                <a:lnTo>
                  <a:pt x="28" y="0"/>
                </a:lnTo>
                <a:lnTo>
                  <a:pt x="28"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7" name="Figura a mano libera: forma 376"/>
          <p:cNvSpPr/>
          <p:nvPr/>
        </p:nvSpPr>
        <p:spPr>
          <a:xfrm>
            <a:off x="2495520" y="4962240"/>
            <a:ext cx="3753000" cy="10080"/>
          </a:xfrm>
          <a:custGeom>
            <a:avLst/>
            <a:gdLst/>
            <a:ahLst/>
            <a:cxnLst/>
            <a:rect l="0" t="0" r="r" b="b"/>
            <a:pathLst>
              <a:path w="10425" h="28">
                <a:moveTo>
                  <a:pt x="0" y="0"/>
                </a:moveTo>
                <a:lnTo>
                  <a:pt x="10425" y="0"/>
                </a:lnTo>
                <a:lnTo>
                  <a:pt x="10425"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8" name="Figura a mano libera: forma 377"/>
          <p:cNvSpPr/>
          <p:nvPr/>
        </p:nvSpPr>
        <p:spPr>
          <a:xfrm>
            <a:off x="6238800" y="4971960"/>
            <a:ext cx="9720" cy="390960"/>
          </a:xfrm>
          <a:custGeom>
            <a:avLst/>
            <a:gdLst/>
            <a:ahLst/>
            <a:cxnLst/>
            <a:rect l="0" t="0" r="r" b="b"/>
            <a:pathLst>
              <a:path w="27" h="1086">
                <a:moveTo>
                  <a:pt x="0" y="1086"/>
                </a:moveTo>
                <a:lnTo>
                  <a:pt x="0" y="0"/>
                </a:lnTo>
                <a:lnTo>
                  <a:pt x="27" y="0"/>
                </a:lnTo>
                <a:lnTo>
                  <a:pt x="27"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79" name="Figura a mano libera: forma 378"/>
          <p:cNvSpPr/>
          <p:nvPr/>
        </p:nvSpPr>
        <p:spPr>
          <a:xfrm>
            <a:off x="6248160" y="4962240"/>
            <a:ext cx="5115240" cy="10080"/>
          </a:xfrm>
          <a:custGeom>
            <a:avLst/>
            <a:gdLst/>
            <a:ahLst/>
            <a:cxnLst/>
            <a:rect l="0" t="0" r="r" b="b"/>
            <a:pathLst>
              <a:path w="14209" h="28">
                <a:moveTo>
                  <a:pt x="0" y="0"/>
                </a:moveTo>
                <a:lnTo>
                  <a:pt x="14209" y="0"/>
                </a:lnTo>
                <a:lnTo>
                  <a:pt x="1420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80" name="Figura a mano libera: forma 379"/>
          <p:cNvSpPr/>
          <p:nvPr/>
        </p:nvSpPr>
        <p:spPr>
          <a:xfrm>
            <a:off x="11353680" y="4971960"/>
            <a:ext cx="9720" cy="390960"/>
          </a:xfrm>
          <a:custGeom>
            <a:avLst/>
            <a:gdLst/>
            <a:ahLst/>
            <a:cxnLst/>
            <a:rect l="0" t="0" r="r" b="b"/>
            <a:pathLst>
              <a:path w="27" h="1086">
                <a:moveTo>
                  <a:pt x="0" y="1086"/>
                </a:moveTo>
                <a:lnTo>
                  <a:pt x="0" y="0"/>
                </a:lnTo>
                <a:lnTo>
                  <a:pt x="27" y="0"/>
                </a:lnTo>
                <a:lnTo>
                  <a:pt x="27"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81" name="CasellaDiTesto 380"/>
          <p:cNvSpPr txBox="1"/>
          <p:nvPr/>
        </p:nvSpPr>
        <p:spPr>
          <a:xfrm>
            <a:off x="971640" y="1285920"/>
            <a:ext cx="78883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L'ART. 8 DELLO STATUTO DEL CONTRIBUENTE</a:t>
            </a:r>
            <a:endParaRPr lang="it-IT" sz="2850" b="0" u="none" strike="noStrike">
              <a:solidFill>
                <a:srgbClr val="000000"/>
              </a:solidFill>
              <a:effectLst/>
              <a:uFillTx/>
              <a:latin typeface="Times New Roman"/>
            </a:endParaRPr>
          </a:p>
        </p:txBody>
      </p:sp>
      <p:sp>
        <p:nvSpPr>
          <p:cNvPr id="382" name="CasellaDiTesto 381"/>
          <p:cNvSpPr txBox="1"/>
          <p:nvPr/>
        </p:nvSpPr>
        <p:spPr>
          <a:xfrm>
            <a:off x="971640" y="2040840"/>
            <a:ext cx="61560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 svolta è nell'art. 8, comma 1, </a:t>
            </a:r>
            <a:r>
              <a:rPr lang="it-IT" sz="1650" b="1" u="none" strike="noStrike">
                <a:solidFill>
                  <a:srgbClr val="00509E"/>
                </a:solidFill>
                <a:effectLst/>
                <a:uFillTx/>
                <a:latin typeface="SegoeUI"/>
                <a:ea typeface="SegoeUI"/>
              </a:rPr>
              <a:t>L. 27 luglio 2000, n. 212</a:t>
            </a:r>
            <a:r>
              <a:rPr lang="it-IT" sz="1650" b="0" u="none" strike="noStrike">
                <a:solidFill>
                  <a:srgbClr val="212529"/>
                </a:solidFill>
                <a:effectLst/>
                <a:uFillTx/>
                <a:latin typeface="SegoeUI"/>
                <a:ea typeface="SegoeUI"/>
              </a:rPr>
              <a:t> (Statuto):</a:t>
            </a:r>
            <a:endParaRPr lang="it-IT" sz="1650" b="0" u="none" strike="noStrike">
              <a:solidFill>
                <a:srgbClr val="000000"/>
              </a:solidFill>
              <a:effectLst/>
              <a:uFillTx/>
              <a:latin typeface="Times New Roman"/>
            </a:endParaRPr>
          </a:p>
        </p:txBody>
      </p:sp>
      <p:sp>
        <p:nvSpPr>
          <p:cNvPr id="383" name="CasellaDiTesto 382"/>
          <p:cNvSpPr txBox="1"/>
          <p:nvPr/>
        </p:nvSpPr>
        <p:spPr>
          <a:xfrm>
            <a:off x="1209600" y="2737800"/>
            <a:ext cx="612504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«L'obbligazione tributaria può essere estinta </a:t>
            </a:r>
            <a:r>
              <a:rPr lang="it-IT" sz="1500" b="1" u="none" strike="noStrike">
                <a:solidFill>
                  <a:srgbClr val="00509E"/>
                </a:solidFill>
                <a:effectLst/>
                <a:uFillTx/>
                <a:latin typeface="SegoeUI"/>
                <a:ea typeface="SegoeUI"/>
              </a:rPr>
              <a:t>anche</a:t>
            </a:r>
            <a:r>
              <a:rPr lang="it-IT" sz="1500" b="0" u="none" strike="noStrike">
                <a:solidFill>
                  <a:srgbClr val="343A40"/>
                </a:solidFill>
                <a:effectLst/>
                <a:uFillTx/>
                <a:latin typeface="SegoeUI"/>
                <a:ea typeface="SegoeUI"/>
              </a:rPr>
              <a:t> per compensazione».</a:t>
            </a:r>
            <a:endParaRPr lang="it-IT" sz="1500" b="0" u="none" strike="noStrike">
              <a:solidFill>
                <a:srgbClr val="000000"/>
              </a:solidFill>
              <a:effectLst/>
              <a:uFillTx/>
              <a:latin typeface="Times New Roman"/>
            </a:endParaRPr>
          </a:p>
        </p:txBody>
      </p:sp>
      <p:sp>
        <p:nvSpPr>
          <p:cNvPr id="384" name="CasellaDiTesto 383"/>
          <p:cNvSpPr txBox="1"/>
          <p:nvPr/>
        </p:nvSpPr>
        <p:spPr>
          <a:xfrm>
            <a:off x="971640" y="3364920"/>
            <a:ext cx="96300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Norma di portata </a:t>
            </a:r>
            <a:r>
              <a:rPr lang="it-IT" sz="1650" b="1" u="none" strike="noStrike">
                <a:solidFill>
                  <a:srgbClr val="00509E"/>
                </a:solidFill>
                <a:effectLst/>
                <a:uFillTx/>
                <a:latin typeface="SegoeUI"/>
                <a:ea typeface="SegoeUI"/>
              </a:rPr>
              <a:t>generale</a:t>
            </a:r>
            <a:r>
              <a:rPr lang="it-IT" sz="1650" b="0" u="none" strike="noStrike">
                <a:solidFill>
                  <a:srgbClr val="212529"/>
                </a:solidFill>
                <a:effectLst/>
                <a:uFillTx/>
                <a:latin typeface="SegoeUI"/>
                <a:ea typeface="SegoeUI"/>
              </a:rPr>
              <a:t>, ma priva — a differenza di quanto annunciato dallo stesso art. 8, co. 6 — dei</a:t>
            </a:r>
            <a:endParaRPr lang="it-IT" sz="1650" b="0" u="none" strike="noStrike">
              <a:solidFill>
                <a:srgbClr val="000000"/>
              </a:solidFill>
              <a:effectLst/>
              <a:uFillTx/>
              <a:latin typeface="Times New Roman"/>
            </a:endParaRPr>
          </a:p>
        </p:txBody>
      </p:sp>
      <p:sp>
        <p:nvSpPr>
          <p:cNvPr id="385" name="CasellaDiTesto 384"/>
          <p:cNvSpPr txBox="1"/>
          <p:nvPr/>
        </p:nvSpPr>
        <p:spPr>
          <a:xfrm>
            <a:off x="971640" y="3688560"/>
            <a:ext cx="21261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regolamenti attuativi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386" name="CasellaDiTesto 385"/>
          <p:cNvSpPr txBox="1"/>
          <p:nvPr/>
        </p:nvSpPr>
        <p:spPr>
          <a:xfrm>
            <a:off x="1104840" y="4263840"/>
            <a:ext cx="29988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Tesi</a:t>
            </a:r>
            <a:endParaRPr lang="it-IT" sz="1280" b="0" u="none" strike="noStrike">
              <a:solidFill>
                <a:srgbClr val="000000"/>
              </a:solidFill>
              <a:effectLst/>
              <a:uFillTx/>
              <a:latin typeface="Times New Roman"/>
            </a:endParaRPr>
          </a:p>
        </p:txBody>
      </p:sp>
      <p:sp>
        <p:nvSpPr>
          <p:cNvPr id="387" name="CasellaDiTesto 386"/>
          <p:cNvSpPr txBox="1"/>
          <p:nvPr/>
        </p:nvSpPr>
        <p:spPr>
          <a:xfrm>
            <a:off x="2619360" y="4263840"/>
            <a:ext cx="87192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Argomento</a:t>
            </a:r>
            <a:endParaRPr lang="it-IT" sz="1280" b="0" u="none" strike="noStrike">
              <a:solidFill>
                <a:srgbClr val="000000"/>
              </a:solidFill>
              <a:effectLst/>
              <a:uFillTx/>
              <a:latin typeface="Times New Roman"/>
            </a:endParaRPr>
          </a:p>
        </p:txBody>
      </p:sp>
      <p:sp>
        <p:nvSpPr>
          <p:cNvPr id="388" name="CasellaDiTesto 387"/>
          <p:cNvSpPr txBox="1"/>
          <p:nvPr/>
        </p:nvSpPr>
        <p:spPr>
          <a:xfrm>
            <a:off x="6376680" y="4263840"/>
            <a:ext cx="100368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Conseguenza</a:t>
            </a:r>
            <a:endParaRPr lang="it-IT" sz="1280" b="0" u="none" strike="noStrike">
              <a:solidFill>
                <a:srgbClr val="000000"/>
              </a:solidFill>
              <a:effectLst/>
              <a:uFillTx/>
              <a:latin typeface="Times New Roman"/>
            </a:endParaRPr>
          </a:p>
        </p:txBody>
      </p:sp>
      <p:sp>
        <p:nvSpPr>
          <p:cNvPr id="389" name="CasellaDiTesto 388"/>
          <p:cNvSpPr txBox="1"/>
          <p:nvPr/>
        </p:nvSpPr>
        <p:spPr>
          <a:xfrm>
            <a:off x="1104840" y="4633920"/>
            <a:ext cx="13136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Programmatica</a:t>
            </a:r>
            <a:endParaRPr lang="it-IT" sz="1430" b="0" u="none" strike="noStrike">
              <a:solidFill>
                <a:srgbClr val="000000"/>
              </a:solidFill>
              <a:effectLst/>
              <a:uFillTx/>
              <a:latin typeface="Times New Roman"/>
            </a:endParaRPr>
          </a:p>
        </p:txBody>
      </p:sp>
      <p:sp>
        <p:nvSpPr>
          <p:cNvPr id="390" name="CasellaDiTesto 389"/>
          <p:cNvSpPr txBox="1"/>
          <p:nvPr/>
        </p:nvSpPr>
        <p:spPr>
          <a:xfrm>
            <a:off x="2619360" y="4633920"/>
            <a:ext cx="35085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Serve il regolamento attuativo mai emanato</a:t>
            </a:r>
            <a:endParaRPr lang="it-IT" sz="1430" b="0" u="none" strike="noStrike">
              <a:solidFill>
                <a:srgbClr val="000000"/>
              </a:solidFill>
              <a:effectLst/>
              <a:uFillTx/>
              <a:latin typeface="Times New Roman"/>
            </a:endParaRPr>
          </a:p>
        </p:txBody>
      </p:sp>
      <p:sp>
        <p:nvSpPr>
          <p:cNvPr id="391" name="CasellaDiTesto 390"/>
          <p:cNvSpPr txBox="1"/>
          <p:nvPr/>
        </p:nvSpPr>
        <p:spPr>
          <a:xfrm>
            <a:off x="6376680" y="4633920"/>
            <a:ext cx="48679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Compensazione solo nelle ipotesi espressamente disciplinate</a:t>
            </a:r>
            <a:endParaRPr lang="it-IT" sz="1430" b="0" u="none" strike="noStrike">
              <a:solidFill>
                <a:srgbClr val="000000"/>
              </a:solidFill>
              <a:effectLst/>
              <a:uFillTx/>
              <a:latin typeface="Times New Roman"/>
            </a:endParaRPr>
          </a:p>
        </p:txBody>
      </p:sp>
      <p:sp>
        <p:nvSpPr>
          <p:cNvPr id="392" name="CasellaDiTesto 391"/>
          <p:cNvSpPr txBox="1"/>
          <p:nvPr/>
        </p:nvSpPr>
        <p:spPr>
          <a:xfrm>
            <a:off x="1104840" y="5043600"/>
            <a:ext cx="85608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Precettiva</a:t>
            </a:r>
            <a:endParaRPr lang="it-IT" sz="1430" b="0" u="none" strike="noStrike">
              <a:solidFill>
                <a:srgbClr val="000000"/>
              </a:solidFill>
              <a:effectLst/>
              <a:uFillTx/>
              <a:latin typeface="Times New Roman"/>
            </a:endParaRPr>
          </a:p>
        </p:txBody>
      </p:sp>
      <p:sp>
        <p:nvSpPr>
          <p:cNvPr id="393" name="CasellaDiTesto 392"/>
          <p:cNvSpPr txBox="1"/>
          <p:nvPr/>
        </p:nvSpPr>
        <p:spPr>
          <a:xfrm>
            <a:off x="2619360" y="5043600"/>
            <a:ext cx="27432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Norma di rango primario generale</a:t>
            </a:r>
            <a:endParaRPr lang="it-IT" sz="1430" b="0" u="none" strike="noStrike">
              <a:solidFill>
                <a:srgbClr val="000000"/>
              </a:solidFill>
              <a:effectLst/>
              <a:uFillTx/>
              <a:latin typeface="Times New Roman"/>
            </a:endParaRPr>
          </a:p>
        </p:txBody>
      </p:sp>
      <p:sp>
        <p:nvSpPr>
          <p:cNvPr id="394" name="Figura a mano libera: forma 393"/>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95" name="CasellaDiTesto 394"/>
          <p:cNvSpPr txBox="1"/>
          <p:nvPr/>
        </p:nvSpPr>
        <p:spPr>
          <a:xfrm>
            <a:off x="6376680" y="5043600"/>
            <a:ext cx="39063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Operatività diretta, anche al di fuori dei casi tipici</a:t>
            </a:r>
            <a:endParaRPr lang="it-IT" sz="1430" b="0" u="none" strike="noStrike">
              <a:solidFill>
                <a:srgbClr val="000000"/>
              </a:solidFill>
              <a:effectLst/>
              <a:uFillTx/>
              <a:latin typeface="Times New Roman"/>
            </a:endParaRPr>
          </a:p>
        </p:txBody>
      </p:sp>
      <p:sp>
        <p:nvSpPr>
          <p:cNvPr id="396" name="Figura a mano libera: forma 395"/>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397" name="CasellaDiTesto 396"/>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398" name="CasellaDiTesto 397"/>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15 / 73</a:t>
            </a:r>
            <a:endParaRPr lang="it-IT" sz="98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Figura a mano libera: forma 39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00" name="Figura a mano libera: forma 39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01" name="Figura a mano libera: forma 400"/>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02" name="Figura a mano libera: forma 401"/>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03" name="Figura a mano libera: forma 402"/>
          <p:cNvSpPr/>
          <p:nvPr/>
        </p:nvSpPr>
        <p:spPr>
          <a:xfrm>
            <a:off x="971280" y="119052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04" name="Figura a mano libera: forma 403"/>
          <p:cNvSpPr/>
          <p:nvPr/>
        </p:nvSpPr>
        <p:spPr>
          <a:xfrm>
            <a:off x="975960" y="1404720"/>
            <a:ext cx="10544760" cy="943200"/>
          </a:xfrm>
          <a:custGeom>
            <a:avLst/>
            <a:gdLst/>
            <a:ahLst/>
            <a:cxnLst/>
            <a:rect l="0" t="0" r="r" b="b"/>
            <a:pathLst>
              <a:path w="29291" h="2620">
                <a:moveTo>
                  <a:pt x="0" y="2528"/>
                </a:moveTo>
                <a:lnTo>
                  <a:pt x="0" y="94"/>
                </a:lnTo>
                <a:cubicBezTo>
                  <a:pt x="0" y="81"/>
                  <a:pt x="3" y="70"/>
                  <a:pt x="8" y="58"/>
                </a:cubicBezTo>
                <a:cubicBezTo>
                  <a:pt x="12" y="47"/>
                  <a:pt x="19" y="37"/>
                  <a:pt x="28" y="28"/>
                </a:cubicBezTo>
                <a:cubicBezTo>
                  <a:pt x="36" y="19"/>
                  <a:pt x="46" y="12"/>
                  <a:pt x="58" y="7"/>
                </a:cubicBezTo>
                <a:cubicBezTo>
                  <a:pt x="69" y="2"/>
                  <a:pt x="81" y="0"/>
                  <a:pt x="93" y="0"/>
                </a:cubicBezTo>
                <a:lnTo>
                  <a:pt x="29198" y="0"/>
                </a:lnTo>
                <a:cubicBezTo>
                  <a:pt x="29211" y="0"/>
                  <a:pt x="29222" y="2"/>
                  <a:pt x="29234" y="7"/>
                </a:cubicBezTo>
                <a:cubicBezTo>
                  <a:pt x="29245" y="12"/>
                  <a:pt x="29255" y="19"/>
                  <a:pt x="29264" y="28"/>
                </a:cubicBezTo>
                <a:cubicBezTo>
                  <a:pt x="29272" y="37"/>
                  <a:pt x="29279" y="47"/>
                  <a:pt x="29284" y="58"/>
                </a:cubicBezTo>
                <a:cubicBezTo>
                  <a:pt x="29288" y="70"/>
                  <a:pt x="29291" y="81"/>
                  <a:pt x="29291" y="94"/>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0"/>
                  <a:pt x="29198" y="2620"/>
                </a:cubicBezTo>
                <a:lnTo>
                  <a:pt x="93" y="2620"/>
                </a:lnTo>
                <a:cubicBezTo>
                  <a:pt x="81" y="2620"/>
                  <a:pt x="69" y="2618"/>
                  <a:pt x="58" y="2613"/>
                </a:cubicBezTo>
                <a:cubicBezTo>
                  <a:pt x="46" y="2609"/>
                  <a:pt x="36" y="2602"/>
                  <a:pt x="28" y="2593"/>
                </a:cubicBezTo>
                <a:cubicBezTo>
                  <a:pt x="19" y="2585"/>
                  <a:pt x="12" y="2575"/>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05" name="Figura a mano libera: forma 404"/>
          <p:cNvSpPr/>
          <p:nvPr/>
        </p:nvSpPr>
        <p:spPr>
          <a:xfrm>
            <a:off x="975960" y="1404720"/>
            <a:ext cx="10544760" cy="943200"/>
          </a:xfrm>
          <a:custGeom>
            <a:avLst/>
            <a:gdLst/>
            <a:ahLst/>
            <a:cxnLst/>
            <a:rect l="0" t="0" r="r" b="b"/>
            <a:pathLst>
              <a:path w="29291" h="2620">
                <a:moveTo>
                  <a:pt x="0" y="2528"/>
                </a:moveTo>
                <a:lnTo>
                  <a:pt x="0" y="94"/>
                </a:lnTo>
                <a:cubicBezTo>
                  <a:pt x="0" y="81"/>
                  <a:pt x="3" y="70"/>
                  <a:pt x="8" y="58"/>
                </a:cubicBezTo>
                <a:cubicBezTo>
                  <a:pt x="12" y="47"/>
                  <a:pt x="19" y="37"/>
                  <a:pt x="28" y="28"/>
                </a:cubicBezTo>
                <a:cubicBezTo>
                  <a:pt x="36" y="19"/>
                  <a:pt x="46" y="12"/>
                  <a:pt x="58" y="7"/>
                </a:cubicBezTo>
                <a:cubicBezTo>
                  <a:pt x="69" y="2"/>
                  <a:pt x="81" y="0"/>
                  <a:pt x="93" y="0"/>
                </a:cubicBezTo>
                <a:lnTo>
                  <a:pt x="29198" y="0"/>
                </a:lnTo>
                <a:cubicBezTo>
                  <a:pt x="29211" y="0"/>
                  <a:pt x="29222" y="2"/>
                  <a:pt x="29234" y="7"/>
                </a:cubicBezTo>
                <a:cubicBezTo>
                  <a:pt x="29245" y="12"/>
                  <a:pt x="29255" y="19"/>
                  <a:pt x="29264" y="28"/>
                </a:cubicBezTo>
                <a:cubicBezTo>
                  <a:pt x="29272" y="37"/>
                  <a:pt x="29279" y="47"/>
                  <a:pt x="29284" y="58"/>
                </a:cubicBezTo>
                <a:cubicBezTo>
                  <a:pt x="29288" y="70"/>
                  <a:pt x="29291" y="81"/>
                  <a:pt x="29291" y="94"/>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0"/>
                  <a:pt x="29198" y="2620"/>
                </a:cubicBezTo>
                <a:lnTo>
                  <a:pt x="93" y="2620"/>
                </a:lnTo>
                <a:cubicBezTo>
                  <a:pt x="81" y="2620"/>
                  <a:pt x="69" y="2618"/>
                  <a:pt x="58" y="2613"/>
                </a:cubicBezTo>
                <a:cubicBezTo>
                  <a:pt x="46" y="2609"/>
                  <a:pt x="36" y="2602"/>
                  <a:pt x="28" y="2593"/>
                </a:cubicBezTo>
                <a:cubicBezTo>
                  <a:pt x="19" y="2585"/>
                  <a:pt x="12" y="2575"/>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406" name="Figura a mano libera: forma 405"/>
          <p:cNvSpPr/>
          <p:nvPr/>
        </p:nvSpPr>
        <p:spPr>
          <a:xfrm>
            <a:off x="975960" y="2547720"/>
            <a:ext cx="10544760" cy="648000"/>
          </a:xfrm>
          <a:custGeom>
            <a:avLst/>
            <a:gdLst/>
            <a:ahLst/>
            <a:cxnLst/>
            <a:rect l="0" t="0" r="r" b="b"/>
            <a:pathLst>
              <a:path w="29291" h="1800">
                <a:moveTo>
                  <a:pt x="0" y="170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1708"/>
                </a:lnTo>
                <a:cubicBezTo>
                  <a:pt x="29291" y="1720"/>
                  <a:pt x="29288" y="1732"/>
                  <a:pt x="29284" y="1743"/>
                </a:cubicBezTo>
                <a:cubicBezTo>
                  <a:pt x="29279" y="1754"/>
                  <a:pt x="29272" y="1764"/>
                  <a:pt x="29264" y="1773"/>
                </a:cubicBezTo>
                <a:cubicBezTo>
                  <a:pt x="29255" y="1782"/>
                  <a:pt x="29245" y="1789"/>
                  <a:pt x="29234" y="1793"/>
                </a:cubicBezTo>
                <a:cubicBezTo>
                  <a:pt x="29222" y="1798"/>
                  <a:pt x="29211" y="1800"/>
                  <a:pt x="29198" y="1800"/>
                </a:cubicBezTo>
                <a:lnTo>
                  <a:pt x="93" y="1800"/>
                </a:lnTo>
                <a:cubicBezTo>
                  <a:pt x="81" y="1800"/>
                  <a:pt x="69" y="1798"/>
                  <a:pt x="58" y="1793"/>
                </a:cubicBezTo>
                <a:cubicBezTo>
                  <a:pt x="46" y="1789"/>
                  <a:pt x="36" y="1782"/>
                  <a:pt x="28" y="1773"/>
                </a:cubicBezTo>
                <a:cubicBezTo>
                  <a:pt x="19" y="1764"/>
                  <a:pt x="12" y="1754"/>
                  <a:pt x="8" y="1743"/>
                </a:cubicBezTo>
                <a:cubicBezTo>
                  <a:pt x="3" y="1732"/>
                  <a:pt x="0" y="1720"/>
                  <a:pt x="0" y="170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07" name="Figura a mano libera: forma 406"/>
          <p:cNvSpPr/>
          <p:nvPr/>
        </p:nvSpPr>
        <p:spPr>
          <a:xfrm>
            <a:off x="975960" y="2547720"/>
            <a:ext cx="10544760" cy="648000"/>
          </a:xfrm>
          <a:custGeom>
            <a:avLst/>
            <a:gdLst/>
            <a:ahLst/>
            <a:cxnLst/>
            <a:rect l="0" t="0" r="r" b="b"/>
            <a:pathLst>
              <a:path w="29291" h="1800">
                <a:moveTo>
                  <a:pt x="0" y="170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1708"/>
                </a:lnTo>
                <a:cubicBezTo>
                  <a:pt x="29291" y="1720"/>
                  <a:pt x="29288" y="1732"/>
                  <a:pt x="29284" y="1743"/>
                </a:cubicBezTo>
                <a:cubicBezTo>
                  <a:pt x="29279" y="1754"/>
                  <a:pt x="29272" y="1764"/>
                  <a:pt x="29264" y="1773"/>
                </a:cubicBezTo>
                <a:cubicBezTo>
                  <a:pt x="29255" y="1782"/>
                  <a:pt x="29245" y="1789"/>
                  <a:pt x="29234" y="1793"/>
                </a:cubicBezTo>
                <a:cubicBezTo>
                  <a:pt x="29222" y="1798"/>
                  <a:pt x="29211" y="1800"/>
                  <a:pt x="29198" y="1800"/>
                </a:cubicBezTo>
                <a:lnTo>
                  <a:pt x="93" y="1800"/>
                </a:lnTo>
                <a:cubicBezTo>
                  <a:pt x="81" y="1800"/>
                  <a:pt x="69" y="1798"/>
                  <a:pt x="58" y="1793"/>
                </a:cubicBezTo>
                <a:cubicBezTo>
                  <a:pt x="46" y="1789"/>
                  <a:pt x="36" y="1782"/>
                  <a:pt x="28" y="1773"/>
                </a:cubicBezTo>
                <a:cubicBezTo>
                  <a:pt x="19" y="1764"/>
                  <a:pt x="12" y="1754"/>
                  <a:pt x="8" y="1743"/>
                </a:cubicBezTo>
                <a:cubicBezTo>
                  <a:pt x="3" y="1732"/>
                  <a:pt x="0" y="1720"/>
                  <a:pt x="0" y="170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408" name="CasellaDiTesto 407"/>
          <p:cNvSpPr txBox="1"/>
          <p:nvPr/>
        </p:nvSpPr>
        <p:spPr>
          <a:xfrm>
            <a:off x="971640" y="581040"/>
            <a:ext cx="859284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L'ART. 8 STATUTO: UNA PETIZIONE DI PRINCIPIO?</a:t>
            </a:r>
            <a:endParaRPr lang="it-IT" sz="2850" b="0" u="none" strike="noStrike">
              <a:solidFill>
                <a:srgbClr val="000000"/>
              </a:solidFill>
              <a:effectLst/>
              <a:uFillTx/>
              <a:latin typeface="Times New Roman"/>
            </a:endParaRPr>
          </a:p>
        </p:txBody>
      </p:sp>
      <p:sp>
        <p:nvSpPr>
          <p:cNvPr id="409" name="CasellaDiTesto 408"/>
          <p:cNvSpPr txBox="1"/>
          <p:nvPr/>
        </p:nvSpPr>
        <p:spPr>
          <a:xfrm>
            <a:off x="1209600" y="1604160"/>
            <a:ext cx="9322745" cy="230832"/>
          </a:xfrm>
          <a:prstGeom prst="rect">
            <a:avLst/>
          </a:prstGeom>
          <a:noFill/>
          <a:ln w="0">
            <a:noFill/>
          </a:ln>
        </p:spPr>
        <p:txBody>
          <a:bodyPr wrap="none" lIns="0" tIns="0" rIns="0" bIns="0" anchor="t">
            <a:spAutoFit/>
          </a:bodyPr>
          <a:lstStyle/>
          <a:p>
            <a:r>
              <a:rPr lang="it-IT" sz="1500" b="1" u="none" strike="noStrike" dirty="0">
                <a:solidFill>
                  <a:srgbClr val="00509E"/>
                </a:solidFill>
                <a:effectLst/>
                <a:uFillTx/>
                <a:latin typeface="SegoeUI"/>
                <a:ea typeface="SegoeUI"/>
              </a:rPr>
              <a:t>Interpretazioni maggioritarie</a:t>
            </a:r>
            <a:r>
              <a:rPr lang="it-IT" sz="1500" b="0" u="none" strike="noStrike" dirty="0">
                <a:solidFill>
                  <a:srgbClr val="343A40"/>
                </a:solidFill>
                <a:effectLst/>
                <a:uFillTx/>
                <a:latin typeface="SegoeUI"/>
                <a:ea typeface="SegoeUI"/>
              </a:rPr>
              <a:t>: </a:t>
            </a:r>
            <a:r>
              <a:rPr lang="it-IT" sz="1500" b="0" u="none" strike="noStrike" dirty="0">
                <a:solidFill>
                  <a:srgbClr val="0969DA"/>
                </a:solidFill>
                <a:effectLst/>
                <a:uFillTx/>
                <a:latin typeface="SegoeUI"/>
                <a:ea typeface="SegoeUI"/>
                <a:hlinkClick r:id="rId2"/>
              </a:rPr>
              <a:t>Cass. 16532/2017</a:t>
            </a:r>
            <a:r>
              <a:rPr lang="it-IT" sz="1500" b="0" u="none" strike="noStrike" dirty="0">
                <a:solidFill>
                  <a:srgbClr val="343A40"/>
                </a:solidFill>
                <a:effectLst/>
                <a:uFillTx/>
                <a:latin typeface="SegoeUI"/>
                <a:ea typeface="SegoeUI"/>
              </a:rPr>
              <a:t> - Compensazione ammessa solo se regolata da inderogabili</a:t>
            </a:r>
            <a:endParaRPr lang="it-IT" sz="1500" b="0" u="none" strike="noStrike" dirty="0">
              <a:solidFill>
                <a:srgbClr val="000000"/>
              </a:solidFill>
              <a:effectLst/>
              <a:uFillTx/>
              <a:latin typeface="Times New Roman"/>
            </a:endParaRPr>
          </a:p>
        </p:txBody>
      </p:sp>
      <p:sp>
        <p:nvSpPr>
          <p:cNvPr id="410" name="CasellaDiTesto 409"/>
          <p:cNvSpPr txBox="1"/>
          <p:nvPr/>
        </p:nvSpPr>
        <p:spPr>
          <a:xfrm>
            <a:off x="1209600" y="1899360"/>
            <a:ext cx="176184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disposizioni di legge.</a:t>
            </a:r>
            <a:endParaRPr lang="it-IT" sz="1500" b="0" u="none" strike="noStrike">
              <a:solidFill>
                <a:srgbClr val="000000"/>
              </a:solidFill>
              <a:effectLst/>
              <a:uFillTx/>
              <a:latin typeface="Times New Roman"/>
            </a:endParaRPr>
          </a:p>
        </p:txBody>
      </p:sp>
      <p:sp>
        <p:nvSpPr>
          <p:cNvPr id="411" name="CasellaDiTesto 410"/>
          <p:cNvSpPr txBox="1"/>
          <p:nvPr/>
        </p:nvSpPr>
        <p:spPr>
          <a:xfrm>
            <a:off x="1209600" y="2747160"/>
            <a:ext cx="7401322" cy="230832"/>
          </a:xfrm>
          <a:prstGeom prst="rect">
            <a:avLst/>
          </a:prstGeom>
          <a:noFill/>
          <a:ln w="0">
            <a:noFill/>
          </a:ln>
        </p:spPr>
        <p:txBody>
          <a:bodyPr wrap="none" lIns="0" tIns="0" rIns="0" bIns="0" anchor="t">
            <a:spAutoFit/>
          </a:bodyPr>
          <a:lstStyle/>
          <a:p>
            <a:r>
              <a:rPr lang="it-IT" sz="1500" b="1" u="none" strike="noStrike" dirty="0">
                <a:solidFill>
                  <a:srgbClr val="00509E"/>
                </a:solidFill>
                <a:effectLst/>
                <a:uFillTx/>
                <a:latin typeface="SegoeUI"/>
                <a:ea typeface="SegoeUI"/>
              </a:rPr>
              <a:t>Interpretazioni minoritarie</a:t>
            </a:r>
            <a:r>
              <a:rPr lang="it-IT" sz="1500" b="0" u="none" strike="noStrike" dirty="0">
                <a:solidFill>
                  <a:srgbClr val="343A40"/>
                </a:solidFill>
                <a:effectLst/>
                <a:uFillTx/>
                <a:latin typeface="SegoeUI"/>
                <a:ea typeface="SegoeUI"/>
              </a:rPr>
              <a:t>: </a:t>
            </a:r>
            <a:r>
              <a:rPr lang="it-IT" sz="1500" b="0" u="none" strike="noStrike" dirty="0">
                <a:solidFill>
                  <a:srgbClr val="0969DA"/>
                </a:solidFill>
                <a:effectLst/>
                <a:uFillTx/>
                <a:latin typeface="SegoeUI"/>
                <a:ea typeface="SegoeUI"/>
                <a:hlinkClick r:id="rId3"/>
              </a:rPr>
              <a:t>Cass. 23787/2010</a:t>
            </a:r>
            <a:r>
              <a:rPr lang="it-IT" sz="1500" b="0" u="none" strike="noStrike" dirty="0">
                <a:solidFill>
                  <a:srgbClr val="343A40"/>
                </a:solidFill>
                <a:effectLst/>
                <a:uFillTx/>
                <a:latin typeface="SegoeUI"/>
                <a:ea typeface="SegoeUI"/>
              </a:rPr>
              <a:t> - compensazione immanente al sistema</a:t>
            </a:r>
            <a:endParaRPr lang="it-IT" sz="1500" b="0" u="none" strike="noStrike" dirty="0">
              <a:solidFill>
                <a:srgbClr val="000000"/>
              </a:solidFill>
              <a:effectLst/>
              <a:uFillTx/>
              <a:latin typeface="Times New Roman"/>
            </a:endParaRPr>
          </a:p>
        </p:txBody>
      </p:sp>
      <p:sp>
        <p:nvSpPr>
          <p:cNvPr id="412" name="Figura a mano libera: forma 411"/>
          <p:cNvSpPr/>
          <p:nvPr/>
        </p:nvSpPr>
        <p:spPr>
          <a:xfrm>
            <a:off x="1028520" y="3962160"/>
            <a:ext cx="76680" cy="76680"/>
          </a:xfrm>
          <a:custGeom>
            <a:avLst/>
            <a:gdLst/>
            <a:ahLst/>
            <a:cxnLst/>
            <a:rect l="0" t="0" r="r" b="b"/>
            <a:pathLst>
              <a:path w="213" h="213">
                <a:moveTo>
                  <a:pt x="213" y="107"/>
                </a:moveTo>
                <a:cubicBezTo>
                  <a:pt x="213" y="121"/>
                  <a:pt x="210" y="135"/>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5"/>
                  <a:pt x="0" y="121"/>
                  <a:pt x="0" y="107"/>
                </a:cubicBezTo>
                <a:cubicBezTo>
                  <a:pt x="0" y="93"/>
                  <a:pt x="3" y="79"/>
                  <a:pt x="8" y="65"/>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5"/>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13" name="CasellaDiTesto 412"/>
          <p:cNvSpPr txBox="1"/>
          <p:nvPr/>
        </p:nvSpPr>
        <p:spPr>
          <a:xfrm>
            <a:off x="971640" y="3374280"/>
            <a:ext cx="7437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Criticità:</a:t>
            </a:r>
            <a:endParaRPr lang="it-IT" sz="1650" b="0" u="none" strike="noStrike">
              <a:solidFill>
                <a:srgbClr val="000000"/>
              </a:solidFill>
              <a:effectLst/>
              <a:uFillTx/>
              <a:latin typeface="Times New Roman"/>
            </a:endParaRPr>
          </a:p>
        </p:txBody>
      </p:sp>
      <p:sp>
        <p:nvSpPr>
          <p:cNvPr id="414" name="Figura a mano libera: forma 413"/>
          <p:cNvSpPr/>
          <p:nvPr/>
        </p:nvSpPr>
        <p:spPr>
          <a:xfrm>
            <a:off x="1028520" y="4448160"/>
            <a:ext cx="76680" cy="76320"/>
          </a:xfrm>
          <a:custGeom>
            <a:avLst/>
            <a:gdLst/>
            <a:ahLst/>
            <a:cxnLst/>
            <a:rect l="0" t="0" r="r" b="b"/>
            <a:pathLst>
              <a:path w="213" h="212">
                <a:moveTo>
                  <a:pt x="213" y="105"/>
                </a:moveTo>
                <a:cubicBezTo>
                  <a:pt x="213" y="119"/>
                  <a:pt x="210" y="133"/>
                  <a:pt x="205" y="146"/>
                </a:cubicBezTo>
                <a:cubicBezTo>
                  <a:pt x="198" y="159"/>
                  <a:pt x="191" y="170"/>
                  <a:pt x="181" y="180"/>
                </a:cubicBezTo>
                <a:cubicBezTo>
                  <a:pt x="171" y="190"/>
                  <a:pt x="159" y="198"/>
                  <a:pt x="146" y="204"/>
                </a:cubicBezTo>
                <a:cubicBezTo>
                  <a:pt x="133" y="210"/>
                  <a:pt x="120" y="212"/>
                  <a:pt x="106" y="212"/>
                </a:cubicBezTo>
                <a:cubicBezTo>
                  <a:pt x="92" y="212"/>
                  <a:pt x="78" y="210"/>
                  <a:pt x="65" y="204"/>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0"/>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15" name="CasellaDiTesto 414"/>
          <p:cNvSpPr txBox="1"/>
          <p:nvPr/>
        </p:nvSpPr>
        <p:spPr>
          <a:xfrm>
            <a:off x="1238400" y="3851280"/>
            <a:ext cx="40824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svalutazione</a:t>
            </a:r>
            <a:r>
              <a:rPr lang="it-IT" sz="1580" b="0" u="none" strike="noStrike">
                <a:solidFill>
                  <a:srgbClr val="343A40"/>
                </a:solidFill>
                <a:effectLst/>
                <a:uFillTx/>
                <a:latin typeface="SegoeUI"/>
                <a:ea typeface="SegoeUI"/>
              </a:rPr>
              <a:t> dell'art. 8 a mera </a:t>
            </a:r>
            <a:r>
              <a:rPr lang="it-IT" sz="1580" b="0" i="1" u="none" strike="noStrike">
                <a:solidFill>
                  <a:srgbClr val="495057"/>
                </a:solidFill>
                <a:effectLst/>
                <a:uFillTx/>
                <a:latin typeface="SegoeUI"/>
                <a:ea typeface="SegoeUI"/>
              </a:rPr>
              <a:t>petitio principii</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416" name="Figura a mano libera: forma 415"/>
          <p:cNvSpPr/>
          <p:nvPr/>
        </p:nvSpPr>
        <p:spPr>
          <a:xfrm>
            <a:off x="1028520" y="4933800"/>
            <a:ext cx="76680" cy="76680"/>
          </a:xfrm>
          <a:custGeom>
            <a:avLst/>
            <a:gdLst/>
            <a:ahLst/>
            <a:cxnLst/>
            <a:rect l="0" t="0" r="r" b="b"/>
            <a:pathLst>
              <a:path w="213" h="213">
                <a:moveTo>
                  <a:pt x="213" y="106"/>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17" name="CasellaDiTesto 416"/>
          <p:cNvSpPr txBox="1"/>
          <p:nvPr/>
        </p:nvSpPr>
        <p:spPr>
          <a:xfrm>
            <a:off x="1238400" y="4337280"/>
            <a:ext cx="98053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permane l'</a:t>
            </a:r>
            <a:r>
              <a:rPr lang="it-IT" sz="1580" b="1" u="none" strike="noStrike">
                <a:solidFill>
                  <a:srgbClr val="00509E"/>
                </a:solidFill>
                <a:effectLst/>
                <a:uFillTx/>
                <a:latin typeface="SegoeUI"/>
                <a:ea typeface="SegoeUI"/>
              </a:rPr>
              <a:t>auspicio</a:t>
            </a:r>
            <a:r>
              <a:rPr lang="it-IT" sz="1580" b="0" u="none" strike="noStrike">
                <a:solidFill>
                  <a:srgbClr val="343A40"/>
                </a:solidFill>
                <a:effectLst/>
                <a:uFillTx/>
                <a:latin typeface="SegoeUI"/>
                <a:ea typeface="SegoeUI"/>
              </a:rPr>
              <a:t> che il contribuente possa opporre la compensazione anche al di fuori delle ipotesi tassative;</a:t>
            </a:r>
            <a:endParaRPr lang="it-IT" sz="1580" b="0" u="none" strike="noStrike">
              <a:solidFill>
                <a:srgbClr val="000000"/>
              </a:solidFill>
              <a:effectLst/>
              <a:uFillTx/>
              <a:latin typeface="Times New Roman"/>
            </a:endParaRPr>
          </a:p>
        </p:txBody>
      </p:sp>
      <p:sp>
        <p:nvSpPr>
          <p:cNvPr id="418" name="Figura a mano libera: forma 417"/>
          <p:cNvSpPr/>
          <p:nvPr/>
        </p:nvSpPr>
        <p:spPr>
          <a:xfrm>
            <a:off x="1028520" y="54100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6"/>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19" name="CasellaDiTesto 418"/>
          <p:cNvSpPr txBox="1"/>
          <p:nvPr/>
        </p:nvSpPr>
        <p:spPr>
          <a:xfrm>
            <a:off x="1238400" y="4822920"/>
            <a:ext cx="84837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unica via praticabile: quella </a:t>
            </a:r>
            <a:r>
              <a:rPr lang="it-IT" sz="1580" b="1" u="none" strike="noStrike">
                <a:solidFill>
                  <a:srgbClr val="00509E"/>
                </a:solidFill>
                <a:effectLst/>
                <a:uFillTx/>
                <a:latin typeface="SegoeUI"/>
                <a:ea typeface="SegoeUI"/>
              </a:rPr>
              <a:t>contenziosa</a:t>
            </a:r>
            <a:r>
              <a:rPr lang="it-IT" sz="1580" b="0" u="none" strike="noStrike">
                <a:solidFill>
                  <a:srgbClr val="343A40"/>
                </a:solidFill>
                <a:effectLst/>
                <a:uFillTx/>
                <a:latin typeface="SegoeUI"/>
                <a:ea typeface="SegoeUI"/>
              </a:rPr>
              <a:t>, con giudice chiamato ad applicare direttamente l'art. 8;</a:t>
            </a:r>
            <a:endParaRPr lang="it-IT" sz="1580" b="0" u="none" strike="noStrike">
              <a:solidFill>
                <a:srgbClr val="000000"/>
              </a:solidFill>
              <a:effectLst/>
              <a:uFillTx/>
              <a:latin typeface="Times New Roman"/>
            </a:endParaRPr>
          </a:p>
        </p:txBody>
      </p:sp>
      <p:sp>
        <p:nvSpPr>
          <p:cNvPr id="420" name="CasellaDiTesto 419"/>
          <p:cNvSpPr txBox="1"/>
          <p:nvPr/>
        </p:nvSpPr>
        <p:spPr>
          <a:xfrm>
            <a:off x="1238400" y="5299200"/>
            <a:ext cx="94888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 </a:t>
            </a:r>
            <a:r>
              <a:rPr lang="it-IT" sz="1580" b="1" u="none" strike="noStrike">
                <a:solidFill>
                  <a:srgbClr val="00509E"/>
                </a:solidFill>
                <a:effectLst/>
                <a:uFillTx/>
                <a:latin typeface="SegoeUI"/>
                <a:ea typeface="SegoeUI"/>
              </a:rPr>
              <a:t>delega fiscale</a:t>
            </a:r>
            <a:r>
              <a:rPr lang="it-IT" sz="1580" b="0" u="none" strike="noStrike">
                <a:solidFill>
                  <a:srgbClr val="343A40"/>
                </a:solidFill>
                <a:effectLst/>
                <a:uFillTx/>
                <a:latin typeface="SegoeUI"/>
                <a:ea typeface="SegoeUI"/>
              </a:rPr>
              <a:t> (L. 111/2023) poteva essere l'occasione per un'interpretazione autentica: occasione per ora</a:t>
            </a:r>
            <a:endParaRPr lang="it-IT" sz="1580" b="0" u="none" strike="noStrike">
              <a:solidFill>
                <a:srgbClr val="000000"/>
              </a:solidFill>
              <a:effectLst/>
              <a:uFillTx/>
              <a:latin typeface="Times New Roman"/>
            </a:endParaRPr>
          </a:p>
        </p:txBody>
      </p:sp>
      <p:sp>
        <p:nvSpPr>
          <p:cNvPr id="421" name="Figura a mano libera: forma 42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22" name="CasellaDiTesto 421"/>
          <p:cNvSpPr txBox="1"/>
          <p:nvPr/>
        </p:nvSpPr>
        <p:spPr>
          <a:xfrm>
            <a:off x="1238400" y="5613480"/>
            <a:ext cx="7934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mancata.</a:t>
            </a:r>
            <a:endParaRPr lang="it-IT" sz="1580" b="0" u="none" strike="noStrike">
              <a:solidFill>
                <a:srgbClr val="000000"/>
              </a:solidFill>
              <a:effectLst/>
              <a:uFillTx/>
              <a:latin typeface="Times New Roman"/>
            </a:endParaRPr>
          </a:p>
        </p:txBody>
      </p:sp>
      <p:sp>
        <p:nvSpPr>
          <p:cNvPr id="423" name="Figura a mano libera: forma 42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24" name="CasellaDiTesto 42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425" name="CasellaDiTesto 42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16 / 73</a:t>
            </a:r>
            <a:endParaRPr lang="it-IT" sz="98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Figura a mano libera: forma 42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27" name="Figura a mano libera: forma 42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28" name="Figura a mano libera: forma 42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29" name="Figura a mano libera: forma 42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30" name="Figura a mano libera: forma 429"/>
          <p:cNvSpPr/>
          <p:nvPr/>
        </p:nvSpPr>
        <p:spPr>
          <a:xfrm>
            <a:off x="971280" y="23716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31" name="CasellaDiTesto 430"/>
          <p:cNvSpPr txBox="1"/>
          <p:nvPr/>
        </p:nvSpPr>
        <p:spPr>
          <a:xfrm>
            <a:off x="971640" y="1762200"/>
            <a:ext cx="90921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 MODELLI COMPENSATIVI NEL DIRITTO TRIBUTARIO</a:t>
            </a:r>
            <a:endParaRPr lang="it-IT" sz="2850" b="0" u="none" strike="noStrike">
              <a:solidFill>
                <a:srgbClr val="000000"/>
              </a:solidFill>
              <a:effectLst/>
              <a:uFillTx/>
              <a:latin typeface="Times New Roman"/>
            </a:endParaRPr>
          </a:p>
        </p:txBody>
      </p:sp>
      <p:sp>
        <p:nvSpPr>
          <p:cNvPr id="432" name="CasellaDiTesto 431"/>
          <p:cNvSpPr txBox="1"/>
          <p:nvPr/>
        </p:nvSpPr>
        <p:spPr>
          <a:xfrm>
            <a:off x="971640" y="2507400"/>
            <a:ext cx="34952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Quattro schemi applicativi coesistono:</a:t>
            </a:r>
            <a:endParaRPr lang="it-IT" sz="1650" b="0" u="none" strike="noStrike">
              <a:solidFill>
                <a:srgbClr val="000000"/>
              </a:solidFill>
              <a:effectLst/>
              <a:uFillTx/>
              <a:latin typeface="Times New Roman"/>
            </a:endParaRPr>
          </a:p>
        </p:txBody>
      </p:sp>
      <p:sp>
        <p:nvSpPr>
          <p:cNvPr id="433" name="CasellaDiTesto 432"/>
          <p:cNvSpPr txBox="1"/>
          <p:nvPr/>
        </p:nvSpPr>
        <p:spPr>
          <a:xfrm>
            <a:off x="1184400" y="2984400"/>
            <a:ext cx="93348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a:t>
            </a:r>
            <a:r>
              <a:rPr lang="it-IT" sz="1580" b="1" u="none" strike="noStrike">
                <a:solidFill>
                  <a:srgbClr val="00509E"/>
                </a:solidFill>
                <a:effectLst/>
                <a:uFillTx/>
                <a:latin typeface="SegoeUI"/>
                <a:ea typeface="SegoeUI"/>
              </a:rPr>
              <a:t>Compensazione "verticale"</a:t>
            </a:r>
            <a:r>
              <a:rPr lang="it-IT" sz="1580" b="0" u="none" strike="noStrike">
                <a:solidFill>
                  <a:srgbClr val="343A40"/>
                </a:solidFill>
                <a:effectLst/>
                <a:uFillTx/>
                <a:latin typeface="SegoeUI"/>
                <a:ea typeface="SegoeUI"/>
              </a:rPr>
              <a:t> (infrasoggettiva, stesso tributo): TUIR, art. 11 co. 4; D.P.R. 633/1972, art. 30.</a:t>
            </a:r>
            <a:endParaRPr lang="it-IT" sz="1580" b="0" u="none" strike="noStrike">
              <a:solidFill>
                <a:srgbClr val="000000"/>
              </a:solidFill>
              <a:effectLst/>
              <a:uFillTx/>
              <a:latin typeface="Times New Roman"/>
            </a:endParaRPr>
          </a:p>
        </p:txBody>
      </p:sp>
      <p:sp>
        <p:nvSpPr>
          <p:cNvPr id="434" name="CasellaDiTesto 433"/>
          <p:cNvSpPr txBox="1"/>
          <p:nvPr/>
        </p:nvSpPr>
        <p:spPr>
          <a:xfrm>
            <a:off x="1184400" y="3470400"/>
            <a:ext cx="89388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a:t>
            </a:r>
            <a:r>
              <a:rPr lang="it-IT" sz="1580" b="1" u="none" strike="noStrike">
                <a:solidFill>
                  <a:srgbClr val="00509E"/>
                </a:solidFill>
                <a:effectLst/>
                <a:uFillTx/>
                <a:latin typeface="SegoeUI"/>
                <a:ea typeface="SegoeUI"/>
              </a:rPr>
              <a:t>Compensazione "orizzontale" o "fiscale"</a:t>
            </a:r>
            <a:r>
              <a:rPr lang="it-IT" sz="1580" b="0" u="none" strike="noStrike">
                <a:solidFill>
                  <a:srgbClr val="343A40"/>
                </a:solidFill>
                <a:effectLst/>
                <a:uFillTx/>
                <a:latin typeface="SegoeUI"/>
                <a:ea typeface="SegoeUI"/>
              </a:rPr>
              <a:t> ex art. 17 D.Lgs. 241/1997 (oggi </a:t>
            </a:r>
            <a:r>
              <a:rPr lang="it-IT" sz="1580" b="1" u="none" strike="noStrike">
                <a:solidFill>
                  <a:srgbClr val="00509E"/>
                </a:solidFill>
                <a:effectLst/>
                <a:uFillTx/>
                <a:latin typeface="SegoeUI"/>
                <a:ea typeface="SegoeUI"/>
              </a:rPr>
              <a:t>art. 3 D.Lgs. 33/2025</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435" name="CasellaDiTesto 434"/>
          <p:cNvSpPr txBox="1"/>
          <p:nvPr/>
        </p:nvSpPr>
        <p:spPr>
          <a:xfrm>
            <a:off x="1184400" y="3946680"/>
            <a:ext cx="5360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3. </a:t>
            </a:r>
            <a:r>
              <a:rPr lang="it-IT" sz="1580" b="1" u="none" strike="noStrike">
                <a:solidFill>
                  <a:srgbClr val="00509E"/>
                </a:solidFill>
                <a:effectLst/>
                <a:uFillTx/>
                <a:latin typeface="SegoeUI"/>
                <a:ea typeface="SegoeUI"/>
              </a:rPr>
              <a:t>Compensazione</a:t>
            </a:r>
            <a:r>
              <a:rPr lang="it-IT" sz="1580" b="0" u="none" strike="noStrike">
                <a:solidFill>
                  <a:srgbClr val="343A40"/>
                </a:solidFill>
                <a:effectLst/>
                <a:uFillTx/>
                <a:latin typeface="SegoeUI"/>
                <a:ea typeface="SegoeUI"/>
              </a:rPr>
              <a:t> eccepita dall'AF - art. 23 D.Lgs. 472/1997.</a:t>
            </a:r>
            <a:endParaRPr lang="it-IT" sz="1580" b="0" u="none" strike="noStrike">
              <a:solidFill>
                <a:srgbClr val="000000"/>
              </a:solidFill>
              <a:effectLst/>
              <a:uFillTx/>
              <a:latin typeface="Times New Roman"/>
            </a:endParaRPr>
          </a:p>
        </p:txBody>
      </p:sp>
      <p:sp>
        <p:nvSpPr>
          <p:cNvPr id="436" name="Figura a mano libera: forma 435"/>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37" name="CasellaDiTesto 436"/>
          <p:cNvSpPr txBox="1"/>
          <p:nvPr/>
        </p:nvSpPr>
        <p:spPr>
          <a:xfrm>
            <a:off x="1184400" y="4432320"/>
            <a:ext cx="7662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4. </a:t>
            </a:r>
            <a:r>
              <a:rPr lang="it-IT" sz="1580" b="1" u="none" strike="noStrike">
                <a:solidFill>
                  <a:srgbClr val="00509E"/>
                </a:solidFill>
                <a:effectLst/>
                <a:uFillTx/>
                <a:latin typeface="SegoeUI"/>
                <a:ea typeface="SegoeUI"/>
              </a:rPr>
              <a:t>Compensazione</a:t>
            </a:r>
            <a:r>
              <a:rPr lang="it-IT" sz="1580" b="0" u="none" strike="noStrike">
                <a:solidFill>
                  <a:srgbClr val="343A40"/>
                </a:solidFill>
                <a:effectLst/>
                <a:uFillTx/>
                <a:latin typeface="SegoeUI"/>
                <a:ea typeface="SegoeUI"/>
              </a:rPr>
              <a:t> proposta dall'Agente della Riscossione (art. 28-ter D.P.R. 602/1973).</a:t>
            </a:r>
            <a:endParaRPr lang="it-IT" sz="1580" b="0" u="none" strike="noStrike">
              <a:solidFill>
                <a:srgbClr val="000000"/>
              </a:solidFill>
              <a:effectLst/>
              <a:uFillTx/>
              <a:latin typeface="Times New Roman"/>
            </a:endParaRPr>
          </a:p>
        </p:txBody>
      </p:sp>
      <p:sp>
        <p:nvSpPr>
          <p:cNvPr id="438" name="Figura a mano libera: forma 437"/>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39" name="CasellaDiTesto 438"/>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440" name="CasellaDiTesto 439"/>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17 / 73</a:t>
            </a:r>
            <a:endParaRPr lang="it-IT" sz="980" b="0" u="none" strike="noStrike">
              <a:solidFill>
                <a:srgbClr val="000000"/>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Figura a mano libera: forma 44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2" name="Figura a mano libera: forma 44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3" name="Figura a mano libera: forma 442"/>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4" name="Figura a mano libera: forma 443"/>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45" name="Figura a mano libera: forma 444"/>
          <p:cNvSpPr/>
          <p:nvPr/>
        </p:nvSpPr>
        <p:spPr>
          <a:xfrm>
            <a:off x="2399760" y="26301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6" name="Figura a mano libera: forma 445"/>
          <p:cNvSpPr/>
          <p:nvPr/>
        </p:nvSpPr>
        <p:spPr>
          <a:xfrm>
            <a:off x="2409480" y="2849400"/>
            <a:ext cx="1838520" cy="371880"/>
          </a:xfrm>
          <a:custGeom>
            <a:avLst/>
            <a:gdLst/>
            <a:ahLst/>
            <a:cxnLst/>
            <a:rect l="0" t="0" r="r" b="b"/>
            <a:pathLst>
              <a:path w="5107" h="1033">
                <a:moveTo>
                  <a:pt x="0" y="0"/>
                </a:moveTo>
                <a:lnTo>
                  <a:pt x="5107" y="0"/>
                </a:lnTo>
                <a:lnTo>
                  <a:pt x="5107"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7" name="Figura a mano libera: forma 446"/>
          <p:cNvSpPr/>
          <p:nvPr/>
        </p:nvSpPr>
        <p:spPr>
          <a:xfrm>
            <a:off x="4247640" y="2849400"/>
            <a:ext cx="1762560" cy="371880"/>
          </a:xfrm>
          <a:custGeom>
            <a:avLst/>
            <a:gdLst/>
            <a:ahLst/>
            <a:cxnLst/>
            <a:rect l="0" t="0" r="r" b="b"/>
            <a:pathLst>
              <a:path w="4896" h="1033">
                <a:moveTo>
                  <a:pt x="0" y="0"/>
                </a:moveTo>
                <a:lnTo>
                  <a:pt x="4896" y="0"/>
                </a:lnTo>
                <a:lnTo>
                  <a:pt x="4896"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8" name="Figura a mano libera: forma 447"/>
          <p:cNvSpPr/>
          <p:nvPr/>
        </p:nvSpPr>
        <p:spPr>
          <a:xfrm>
            <a:off x="6009840" y="2849400"/>
            <a:ext cx="3895920" cy="371880"/>
          </a:xfrm>
          <a:custGeom>
            <a:avLst/>
            <a:gdLst/>
            <a:ahLst/>
            <a:cxnLst/>
            <a:rect l="0" t="0" r="r" b="b"/>
            <a:pathLst>
              <a:path w="10822" h="1033">
                <a:moveTo>
                  <a:pt x="0" y="0"/>
                </a:moveTo>
                <a:lnTo>
                  <a:pt x="10822" y="0"/>
                </a:lnTo>
                <a:lnTo>
                  <a:pt x="10822"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49" name="Figura a mano libera: forma 448"/>
          <p:cNvSpPr/>
          <p:nvPr/>
        </p:nvSpPr>
        <p:spPr>
          <a:xfrm>
            <a:off x="2409480" y="2849400"/>
            <a:ext cx="1838520" cy="371880"/>
          </a:xfrm>
          <a:custGeom>
            <a:avLst/>
            <a:gdLst/>
            <a:ahLst/>
            <a:cxnLst/>
            <a:rect l="0" t="0" r="r" b="b"/>
            <a:pathLst>
              <a:path w="5107" h="1033">
                <a:moveTo>
                  <a:pt x="0" y="0"/>
                </a:moveTo>
                <a:lnTo>
                  <a:pt x="5107" y="0"/>
                </a:lnTo>
                <a:lnTo>
                  <a:pt x="5107"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50" name="Figura a mano libera: forma 449"/>
          <p:cNvSpPr/>
          <p:nvPr/>
        </p:nvSpPr>
        <p:spPr>
          <a:xfrm>
            <a:off x="4247640" y="2849400"/>
            <a:ext cx="1762560" cy="371880"/>
          </a:xfrm>
          <a:custGeom>
            <a:avLst/>
            <a:gdLst/>
            <a:ahLst/>
            <a:cxnLst/>
            <a:rect l="0" t="0" r="r" b="b"/>
            <a:pathLst>
              <a:path w="4896" h="1033">
                <a:moveTo>
                  <a:pt x="0" y="0"/>
                </a:moveTo>
                <a:lnTo>
                  <a:pt x="4896" y="0"/>
                </a:lnTo>
                <a:lnTo>
                  <a:pt x="4896"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51" name="Figura a mano libera: forma 450"/>
          <p:cNvSpPr/>
          <p:nvPr/>
        </p:nvSpPr>
        <p:spPr>
          <a:xfrm>
            <a:off x="6009840" y="2849400"/>
            <a:ext cx="3895920" cy="371880"/>
          </a:xfrm>
          <a:custGeom>
            <a:avLst/>
            <a:gdLst/>
            <a:ahLst/>
            <a:cxnLst/>
            <a:rect l="0" t="0" r="r" b="b"/>
            <a:pathLst>
              <a:path w="10822" h="1033">
                <a:moveTo>
                  <a:pt x="0" y="0"/>
                </a:moveTo>
                <a:lnTo>
                  <a:pt x="10822" y="0"/>
                </a:lnTo>
                <a:lnTo>
                  <a:pt x="10822"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452" name="Figura a mano libera: forma 451"/>
          <p:cNvSpPr/>
          <p:nvPr/>
        </p:nvSpPr>
        <p:spPr>
          <a:xfrm>
            <a:off x="2409480" y="3220920"/>
            <a:ext cx="1838520" cy="409680"/>
          </a:xfrm>
          <a:custGeom>
            <a:avLst/>
            <a:gdLst/>
            <a:ahLst/>
            <a:cxnLst/>
            <a:rect l="0" t="0" r="r" b="b"/>
            <a:pathLst>
              <a:path w="5107" h="1138">
                <a:moveTo>
                  <a:pt x="0" y="0"/>
                </a:moveTo>
                <a:lnTo>
                  <a:pt x="5107" y="0"/>
                </a:lnTo>
                <a:lnTo>
                  <a:pt x="5107" y="1138"/>
                </a:lnTo>
                <a:lnTo>
                  <a:pt x="0" y="1138"/>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53" name="Figura a mano libera: forma 452"/>
          <p:cNvSpPr/>
          <p:nvPr/>
        </p:nvSpPr>
        <p:spPr>
          <a:xfrm>
            <a:off x="4247640" y="3220920"/>
            <a:ext cx="1762560" cy="409680"/>
          </a:xfrm>
          <a:custGeom>
            <a:avLst/>
            <a:gdLst/>
            <a:ahLst/>
            <a:cxnLst/>
            <a:rect l="0" t="0" r="r" b="b"/>
            <a:pathLst>
              <a:path w="4896" h="1138">
                <a:moveTo>
                  <a:pt x="0" y="0"/>
                </a:moveTo>
                <a:lnTo>
                  <a:pt x="4896" y="0"/>
                </a:lnTo>
                <a:lnTo>
                  <a:pt x="4896" y="1138"/>
                </a:lnTo>
                <a:lnTo>
                  <a:pt x="0" y="1138"/>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54" name="Figura a mano libera: forma 453"/>
          <p:cNvSpPr/>
          <p:nvPr/>
        </p:nvSpPr>
        <p:spPr>
          <a:xfrm>
            <a:off x="6009840" y="3220920"/>
            <a:ext cx="3895920" cy="409680"/>
          </a:xfrm>
          <a:custGeom>
            <a:avLst/>
            <a:gdLst/>
            <a:ahLst/>
            <a:cxnLst/>
            <a:rect l="0" t="0" r="r" b="b"/>
            <a:pathLst>
              <a:path w="10822" h="1138">
                <a:moveTo>
                  <a:pt x="0" y="0"/>
                </a:moveTo>
                <a:lnTo>
                  <a:pt x="10822" y="0"/>
                </a:lnTo>
                <a:lnTo>
                  <a:pt x="10822" y="1138"/>
                </a:lnTo>
                <a:lnTo>
                  <a:pt x="0" y="1138"/>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55" name="Figura a mano libera: forma 454"/>
          <p:cNvSpPr/>
          <p:nvPr/>
        </p:nvSpPr>
        <p:spPr>
          <a:xfrm>
            <a:off x="2409480" y="3630240"/>
            <a:ext cx="1838520" cy="400680"/>
          </a:xfrm>
          <a:custGeom>
            <a:avLst/>
            <a:gdLst/>
            <a:ahLst/>
            <a:cxnLst/>
            <a:rect l="0" t="0" r="r" b="b"/>
            <a:pathLst>
              <a:path w="5107" h="1113">
                <a:moveTo>
                  <a:pt x="0" y="0"/>
                </a:moveTo>
                <a:lnTo>
                  <a:pt x="5107" y="0"/>
                </a:lnTo>
                <a:lnTo>
                  <a:pt x="5107" y="1113"/>
                </a:lnTo>
                <a:lnTo>
                  <a:pt x="0" y="1113"/>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56" name="Figura a mano libera: forma 455"/>
          <p:cNvSpPr/>
          <p:nvPr/>
        </p:nvSpPr>
        <p:spPr>
          <a:xfrm>
            <a:off x="4247640" y="3630240"/>
            <a:ext cx="1762560" cy="400680"/>
          </a:xfrm>
          <a:custGeom>
            <a:avLst/>
            <a:gdLst/>
            <a:ahLst/>
            <a:cxnLst/>
            <a:rect l="0" t="0" r="r" b="b"/>
            <a:pathLst>
              <a:path w="4896" h="1113">
                <a:moveTo>
                  <a:pt x="0" y="0"/>
                </a:moveTo>
                <a:lnTo>
                  <a:pt x="4896" y="0"/>
                </a:lnTo>
                <a:lnTo>
                  <a:pt x="4896" y="1113"/>
                </a:lnTo>
                <a:lnTo>
                  <a:pt x="0" y="1113"/>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57" name="Figura a mano libera: forma 456"/>
          <p:cNvSpPr/>
          <p:nvPr/>
        </p:nvSpPr>
        <p:spPr>
          <a:xfrm>
            <a:off x="6009840" y="3630240"/>
            <a:ext cx="3895920" cy="400680"/>
          </a:xfrm>
          <a:custGeom>
            <a:avLst/>
            <a:gdLst/>
            <a:ahLst/>
            <a:cxnLst/>
            <a:rect l="0" t="0" r="r" b="b"/>
            <a:pathLst>
              <a:path w="10822" h="1113">
                <a:moveTo>
                  <a:pt x="0" y="0"/>
                </a:moveTo>
                <a:lnTo>
                  <a:pt x="10822" y="0"/>
                </a:lnTo>
                <a:lnTo>
                  <a:pt x="10822" y="1113"/>
                </a:lnTo>
                <a:lnTo>
                  <a:pt x="0" y="1113"/>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58" name="Figura a mano libera: forma 457"/>
          <p:cNvSpPr/>
          <p:nvPr/>
        </p:nvSpPr>
        <p:spPr>
          <a:xfrm>
            <a:off x="2409480" y="4030560"/>
            <a:ext cx="1838520" cy="409680"/>
          </a:xfrm>
          <a:custGeom>
            <a:avLst/>
            <a:gdLst/>
            <a:ahLst/>
            <a:cxnLst/>
            <a:rect l="0" t="0" r="r" b="b"/>
            <a:pathLst>
              <a:path w="5107" h="1138">
                <a:moveTo>
                  <a:pt x="0" y="0"/>
                </a:moveTo>
                <a:lnTo>
                  <a:pt x="5107" y="0"/>
                </a:lnTo>
                <a:lnTo>
                  <a:pt x="5107" y="1138"/>
                </a:lnTo>
                <a:lnTo>
                  <a:pt x="0" y="1138"/>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59" name="Figura a mano libera: forma 458"/>
          <p:cNvSpPr/>
          <p:nvPr/>
        </p:nvSpPr>
        <p:spPr>
          <a:xfrm>
            <a:off x="4247640" y="4030560"/>
            <a:ext cx="1762560" cy="409680"/>
          </a:xfrm>
          <a:custGeom>
            <a:avLst/>
            <a:gdLst/>
            <a:ahLst/>
            <a:cxnLst/>
            <a:rect l="0" t="0" r="r" b="b"/>
            <a:pathLst>
              <a:path w="4896" h="1138">
                <a:moveTo>
                  <a:pt x="0" y="0"/>
                </a:moveTo>
                <a:lnTo>
                  <a:pt x="4896" y="0"/>
                </a:lnTo>
                <a:lnTo>
                  <a:pt x="4896" y="1138"/>
                </a:lnTo>
                <a:lnTo>
                  <a:pt x="0" y="1138"/>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0" name="Figura a mano libera: forma 459"/>
          <p:cNvSpPr/>
          <p:nvPr/>
        </p:nvSpPr>
        <p:spPr>
          <a:xfrm>
            <a:off x="6009840" y="4030560"/>
            <a:ext cx="3895920" cy="409680"/>
          </a:xfrm>
          <a:custGeom>
            <a:avLst/>
            <a:gdLst/>
            <a:ahLst/>
            <a:cxnLst/>
            <a:rect l="0" t="0" r="r" b="b"/>
            <a:pathLst>
              <a:path w="10822" h="1138">
                <a:moveTo>
                  <a:pt x="0" y="0"/>
                </a:moveTo>
                <a:lnTo>
                  <a:pt x="10822" y="0"/>
                </a:lnTo>
                <a:lnTo>
                  <a:pt x="10822" y="1138"/>
                </a:lnTo>
                <a:lnTo>
                  <a:pt x="0" y="1138"/>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1" name="Figura a mano libera: forma 460"/>
          <p:cNvSpPr/>
          <p:nvPr/>
        </p:nvSpPr>
        <p:spPr>
          <a:xfrm>
            <a:off x="2409480" y="4439880"/>
            <a:ext cx="1838520" cy="400680"/>
          </a:xfrm>
          <a:custGeom>
            <a:avLst/>
            <a:gdLst/>
            <a:ahLst/>
            <a:cxnLst/>
            <a:rect l="0" t="0" r="r" b="b"/>
            <a:pathLst>
              <a:path w="5107" h="1113">
                <a:moveTo>
                  <a:pt x="0" y="0"/>
                </a:moveTo>
                <a:lnTo>
                  <a:pt x="5107" y="0"/>
                </a:lnTo>
                <a:lnTo>
                  <a:pt x="5107" y="1113"/>
                </a:lnTo>
                <a:lnTo>
                  <a:pt x="0" y="1113"/>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2" name="Figura a mano libera: forma 461"/>
          <p:cNvSpPr/>
          <p:nvPr/>
        </p:nvSpPr>
        <p:spPr>
          <a:xfrm>
            <a:off x="4247640" y="4439880"/>
            <a:ext cx="1762560" cy="400680"/>
          </a:xfrm>
          <a:custGeom>
            <a:avLst/>
            <a:gdLst/>
            <a:ahLst/>
            <a:cxnLst/>
            <a:rect l="0" t="0" r="r" b="b"/>
            <a:pathLst>
              <a:path w="4896" h="1113">
                <a:moveTo>
                  <a:pt x="0" y="0"/>
                </a:moveTo>
                <a:lnTo>
                  <a:pt x="4896" y="0"/>
                </a:lnTo>
                <a:lnTo>
                  <a:pt x="4896" y="1113"/>
                </a:lnTo>
                <a:lnTo>
                  <a:pt x="0" y="1113"/>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3" name="Figura a mano libera: forma 462"/>
          <p:cNvSpPr/>
          <p:nvPr/>
        </p:nvSpPr>
        <p:spPr>
          <a:xfrm>
            <a:off x="6009840" y="4439880"/>
            <a:ext cx="3895920" cy="400680"/>
          </a:xfrm>
          <a:custGeom>
            <a:avLst/>
            <a:gdLst/>
            <a:ahLst/>
            <a:cxnLst/>
            <a:rect l="0" t="0" r="r" b="b"/>
            <a:pathLst>
              <a:path w="10822" h="1113">
                <a:moveTo>
                  <a:pt x="0" y="0"/>
                </a:moveTo>
                <a:lnTo>
                  <a:pt x="10822" y="0"/>
                </a:lnTo>
                <a:lnTo>
                  <a:pt x="10822" y="1113"/>
                </a:lnTo>
                <a:lnTo>
                  <a:pt x="0" y="1113"/>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4" name="Figura a mano libera: forma 463"/>
          <p:cNvSpPr/>
          <p:nvPr/>
        </p:nvSpPr>
        <p:spPr>
          <a:xfrm>
            <a:off x="2409480" y="4840200"/>
            <a:ext cx="1838520" cy="400320"/>
          </a:xfrm>
          <a:custGeom>
            <a:avLst/>
            <a:gdLst/>
            <a:ahLst/>
            <a:cxnLst/>
            <a:rect l="0" t="0" r="r" b="b"/>
            <a:pathLst>
              <a:path w="5107" h="1112">
                <a:moveTo>
                  <a:pt x="0" y="1112"/>
                </a:moveTo>
                <a:lnTo>
                  <a:pt x="0" y="0"/>
                </a:lnTo>
                <a:lnTo>
                  <a:pt x="5107" y="0"/>
                </a:lnTo>
                <a:lnTo>
                  <a:pt x="5107"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5" name="Figura a mano libera: forma 464"/>
          <p:cNvSpPr/>
          <p:nvPr/>
        </p:nvSpPr>
        <p:spPr>
          <a:xfrm>
            <a:off x="4247640" y="4840200"/>
            <a:ext cx="1762560" cy="400320"/>
          </a:xfrm>
          <a:custGeom>
            <a:avLst/>
            <a:gdLst/>
            <a:ahLst/>
            <a:cxnLst/>
            <a:rect l="0" t="0" r="r" b="b"/>
            <a:pathLst>
              <a:path w="4896" h="1112">
                <a:moveTo>
                  <a:pt x="0" y="1112"/>
                </a:moveTo>
                <a:lnTo>
                  <a:pt x="0" y="0"/>
                </a:lnTo>
                <a:lnTo>
                  <a:pt x="4896" y="0"/>
                </a:lnTo>
                <a:lnTo>
                  <a:pt x="4896"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6" name="Figura a mano libera: forma 465"/>
          <p:cNvSpPr/>
          <p:nvPr/>
        </p:nvSpPr>
        <p:spPr>
          <a:xfrm>
            <a:off x="6009840" y="4840200"/>
            <a:ext cx="3895920" cy="400320"/>
          </a:xfrm>
          <a:custGeom>
            <a:avLst/>
            <a:gdLst/>
            <a:ahLst/>
            <a:cxnLst/>
            <a:rect l="0" t="0" r="r" b="b"/>
            <a:pathLst>
              <a:path w="10822" h="1112">
                <a:moveTo>
                  <a:pt x="0" y="1112"/>
                </a:moveTo>
                <a:lnTo>
                  <a:pt x="0" y="0"/>
                </a:lnTo>
                <a:lnTo>
                  <a:pt x="10822" y="0"/>
                </a:lnTo>
                <a:lnTo>
                  <a:pt x="10822"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7" name="Figura a mano libera: forma 466"/>
          <p:cNvSpPr/>
          <p:nvPr/>
        </p:nvSpPr>
        <p:spPr>
          <a:xfrm>
            <a:off x="2399760" y="2839680"/>
            <a:ext cx="10080" cy="390960"/>
          </a:xfrm>
          <a:custGeom>
            <a:avLst/>
            <a:gdLst/>
            <a:ahLst/>
            <a:cxn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8" name="Figura a mano libera: forma 467"/>
          <p:cNvSpPr/>
          <p:nvPr/>
        </p:nvSpPr>
        <p:spPr>
          <a:xfrm>
            <a:off x="2399760" y="2839680"/>
            <a:ext cx="1848240" cy="10080"/>
          </a:xfrm>
          <a:custGeom>
            <a:avLst/>
            <a:gdLst/>
            <a:ahLst/>
            <a:cxnLst/>
            <a:rect l="0" t="0" r="r" b="b"/>
            <a:pathLst>
              <a:path w="5134" h="28">
                <a:moveTo>
                  <a:pt x="0" y="0"/>
                </a:moveTo>
                <a:lnTo>
                  <a:pt x="5134" y="0"/>
                </a:lnTo>
                <a:lnTo>
                  <a:pt x="5134"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69" name="Figura a mano libera: forma 468"/>
          <p:cNvSpPr/>
          <p:nvPr/>
        </p:nvSpPr>
        <p:spPr>
          <a:xfrm>
            <a:off x="4238280" y="2839680"/>
            <a:ext cx="9720" cy="390960"/>
          </a:xfrm>
          <a:custGeom>
            <a:avLst/>
            <a:gdLst/>
            <a:ahLst/>
            <a:cxn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0" name="Figura a mano libera: forma 469"/>
          <p:cNvSpPr/>
          <p:nvPr/>
        </p:nvSpPr>
        <p:spPr>
          <a:xfrm>
            <a:off x="4247640" y="2839680"/>
            <a:ext cx="1771920" cy="10080"/>
          </a:xfrm>
          <a:custGeom>
            <a:avLst/>
            <a:gdLst/>
            <a:ahLst/>
            <a:cxnLst/>
            <a:rect l="0" t="0" r="r" b="b"/>
            <a:pathLst>
              <a:path w="4922" h="28">
                <a:moveTo>
                  <a:pt x="0" y="0"/>
                </a:moveTo>
                <a:lnTo>
                  <a:pt x="4922" y="0"/>
                </a:lnTo>
                <a:lnTo>
                  <a:pt x="4922"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1" name="Figura a mano libera: forma 470"/>
          <p:cNvSpPr/>
          <p:nvPr/>
        </p:nvSpPr>
        <p:spPr>
          <a:xfrm>
            <a:off x="6009840" y="2839680"/>
            <a:ext cx="9720" cy="390960"/>
          </a:xfrm>
          <a:custGeom>
            <a:avLst/>
            <a:gdLst/>
            <a:ahLst/>
            <a:cxn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2" name="Figura a mano libera: forma 471"/>
          <p:cNvSpPr/>
          <p:nvPr/>
        </p:nvSpPr>
        <p:spPr>
          <a:xfrm>
            <a:off x="6019200" y="2839680"/>
            <a:ext cx="3886560" cy="10080"/>
          </a:xfrm>
          <a:custGeom>
            <a:avLst/>
            <a:gdLst/>
            <a:ahLst/>
            <a:cxnLst/>
            <a:rect l="0" t="0" r="r" b="b"/>
            <a:pathLst>
              <a:path w="10796" h="28">
                <a:moveTo>
                  <a:pt x="0" y="0"/>
                </a:moveTo>
                <a:lnTo>
                  <a:pt x="10796" y="0"/>
                </a:lnTo>
                <a:lnTo>
                  <a:pt x="10796"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3" name="Figura a mano libera: forma 472"/>
          <p:cNvSpPr/>
          <p:nvPr/>
        </p:nvSpPr>
        <p:spPr>
          <a:xfrm>
            <a:off x="9896040" y="2839680"/>
            <a:ext cx="9720" cy="390960"/>
          </a:xfrm>
          <a:custGeom>
            <a:avLst/>
            <a:gdLst/>
            <a:ahLst/>
            <a:cxn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4" name="Figura a mano libera: forma 473"/>
          <p:cNvSpPr/>
          <p:nvPr/>
        </p:nvSpPr>
        <p:spPr>
          <a:xfrm>
            <a:off x="2399760" y="322092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5" name="Figura a mano libera: forma 474"/>
          <p:cNvSpPr/>
          <p:nvPr/>
        </p:nvSpPr>
        <p:spPr>
          <a:xfrm>
            <a:off x="4247640" y="3220920"/>
            <a:ext cx="1771920" cy="9720"/>
          </a:xfrm>
          <a:custGeom>
            <a:avLst/>
            <a:gdLst/>
            <a:ahLst/>
            <a:cxnLst/>
            <a:rect l="0" t="0" r="r" b="b"/>
            <a:pathLst>
              <a:path w="4922" h="27">
                <a:moveTo>
                  <a:pt x="0" y="0"/>
                </a:moveTo>
                <a:lnTo>
                  <a:pt x="4922" y="0"/>
                </a:lnTo>
                <a:lnTo>
                  <a:pt x="4922"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6" name="Figura a mano libera: forma 475"/>
          <p:cNvSpPr/>
          <p:nvPr/>
        </p:nvSpPr>
        <p:spPr>
          <a:xfrm>
            <a:off x="6019200" y="3220920"/>
            <a:ext cx="3886560" cy="9720"/>
          </a:xfrm>
          <a:custGeom>
            <a:avLst/>
            <a:gdLst/>
            <a:ahLst/>
            <a:cxnLst/>
            <a:rect l="0" t="0" r="r" b="b"/>
            <a:pathLst>
              <a:path w="10796" h="27">
                <a:moveTo>
                  <a:pt x="0" y="0"/>
                </a:moveTo>
                <a:lnTo>
                  <a:pt x="10796" y="0"/>
                </a:lnTo>
                <a:lnTo>
                  <a:pt x="10796"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7" name="Figura a mano libera: forma 476"/>
          <p:cNvSpPr/>
          <p:nvPr/>
        </p:nvSpPr>
        <p:spPr>
          <a:xfrm>
            <a:off x="2399760" y="3230280"/>
            <a:ext cx="10080" cy="400320"/>
          </a:xfrm>
          <a:custGeom>
            <a:avLst/>
            <a:gdLst/>
            <a:ahLst/>
            <a:cxnLst/>
            <a:rect l="0" t="0" r="r" b="b"/>
            <a:pathLst>
              <a:path w="28" h="1112">
                <a:moveTo>
                  <a:pt x="0" y="0"/>
                </a:moveTo>
                <a:lnTo>
                  <a:pt x="28" y="0"/>
                </a:lnTo>
                <a:lnTo>
                  <a:pt x="28"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8" name="Figura a mano libera: forma 477"/>
          <p:cNvSpPr/>
          <p:nvPr/>
        </p:nvSpPr>
        <p:spPr>
          <a:xfrm>
            <a:off x="4238280" y="3230280"/>
            <a:ext cx="9720" cy="400320"/>
          </a:xfrm>
          <a:custGeom>
            <a:avLst/>
            <a:gdLst/>
            <a:ahLst/>
            <a:cxnLst/>
            <a:rect l="0" t="0" r="r" b="b"/>
            <a:pathLst>
              <a:path w="27" h="1112">
                <a:moveTo>
                  <a:pt x="0" y="0"/>
                </a:moveTo>
                <a:lnTo>
                  <a:pt x="27" y="0"/>
                </a:lnTo>
                <a:lnTo>
                  <a:pt x="27"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79" name="Figura a mano libera: forma 478"/>
          <p:cNvSpPr/>
          <p:nvPr/>
        </p:nvSpPr>
        <p:spPr>
          <a:xfrm>
            <a:off x="6009840" y="3230280"/>
            <a:ext cx="9720" cy="400320"/>
          </a:xfrm>
          <a:custGeom>
            <a:avLst/>
            <a:gdLst/>
            <a:ahLst/>
            <a:cxnLst/>
            <a:rect l="0" t="0" r="r" b="b"/>
            <a:pathLst>
              <a:path w="27" h="1112">
                <a:moveTo>
                  <a:pt x="0" y="0"/>
                </a:moveTo>
                <a:lnTo>
                  <a:pt x="27" y="0"/>
                </a:lnTo>
                <a:lnTo>
                  <a:pt x="27"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0" name="Figura a mano libera: forma 479"/>
          <p:cNvSpPr/>
          <p:nvPr/>
        </p:nvSpPr>
        <p:spPr>
          <a:xfrm>
            <a:off x="9896040" y="3230280"/>
            <a:ext cx="9720" cy="400320"/>
          </a:xfrm>
          <a:custGeom>
            <a:avLst/>
            <a:gdLst/>
            <a:ahLst/>
            <a:cxnLst/>
            <a:rect l="0" t="0" r="r" b="b"/>
            <a:pathLst>
              <a:path w="27" h="1112">
                <a:moveTo>
                  <a:pt x="0" y="0"/>
                </a:moveTo>
                <a:lnTo>
                  <a:pt x="27" y="0"/>
                </a:lnTo>
                <a:lnTo>
                  <a:pt x="27"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1" name="Figura a mano libera: forma 480"/>
          <p:cNvSpPr/>
          <p:nvPr/>
        </p:nvSpPr>
        <p:spPr>
          <a:xfrm>
            <a:off x="2399760" y="3630240"/>
            <a:ext cx="10080" cy="410040"/>
          </a:xfrm>
          <a:custGeom>
            <a:avLst/>
            <a:gdLst/>
            <a:ahLst/>
            <a:cxnLst/>
            <a:rect l="0" t="0" r="r" b="b"/>
            <a:pathLst>
              <a:path w="28" h="1139">
                <a:moveTo>
                  <a:pt x="0" y="0"/>
                </a:moveTo>
                <a:lnTo>
                  <a:pt x="28" y="0"/>
                </a:lnTo>
                <a:lnTo>
                  <a:pt x="28"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2" name="Figura a mano libera: forma 481"/>
          <p:cNvSpPr/>
          <p:nvPr/>
        </p:nvSpPr>
        <p:spPr>
          <a:xfrm>
            <a:off x="2399760" y="362088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3" name="Figura a mano libera: forma 482"/>
          <p:cNvSpPr/>
          <p:nvPr/>
        </p:nvSpPr>
        <p:spPr>
          <a:xfrm>
            <a:off x="4238280" y="363024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4" name="Figura a mano libera: forma 483"/>
          <p:cNvSpPr/>
          <p:nvPr/>
        </p:nvSpPr>
        <p:spPr>
          <a:xfrm>
            <a:off x="4247640" y="3620880"/>
            <a:ext cx="1771920" cy="9720"/>
          </a:xfrm>
          <a:custGeom>
            <a:avLst/>
            <a:gdLst/>
            <a:ahLst/>
            <a:cxnLst/>
            <a:rect l="0" t="0" r="r" b="b"/>
            <a:pathLst>
              <a:path w="4922" h="27">
                <a:moveTo>
                  <a:pt x="0" y="0"/>
                </a:moveTo>
                <a:lnTo>
                  <a:pt x="4922" y="0"/>
                </a:lnTo>
                <a:lnTo>
                  <a:pt x="4922"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5" name="Figura a mano libera: forma 484"/>
          <p:cNvSpPr/>
          <p:nvPr/>
        </p:nvSpPr>
        <p:spPr>
          <a:xfrm>
            <a:off x="6009840" y="363024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6" name="Figura a mano libera: forma 485"/>
          <p:cNvSpPr/>
          <p:nvPr/>
        </p:nvSpPr>
        <p:spPr>
          <a:xfrm>
            <a:off x="6019200" y="3620880"/>
            <a:ext cx="3886560" cy="9720"/>
          </a:xfrm>
          <a:custGeom>
            <a:avLst/>
            <a:gdLst/>
            <a:ahLst/>
            <a:cxnLst/>
            <a:rect l="0" t="0" r="r" b="b"/>
            <a:pathLst>
              <a:path w="10796" h="27">
                <a:moveTo>
                  <a:pt x="0" y="0"/>
                </a:moveTo>
                <a:lnTo>
                  <a:pt x="10796" y="0"/>
                </a:lnTo>
                <a:lnTo>
                  <a:pt x="10796"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7" name="Figura a mano libera: forma 486"/>
          <p:cNvSpPr/>
          <p:nvPr/>
        </p:nvSpPr>
        <p:spPr>
          <a:xfrm>
            <a:off x="9896040" y="363024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8" name="Figura a mano libera: forma 487"/>
          <p:cNvSpPr/>
          <p:nvPr/>
        </p:nvSpPr>
        <p:spPr>
          <a:xfrm>
            <a:off x="2399760" y="4039920"/>
            <a:ext cx="10080" cy="400320"/>
          </a:xfrm>
          <a:custGeom>
            <a:avLst/>
            <a:gdLst/>
            <a:ahLst/>
            <a:cxnLst/>
            <a:rect l="0" t="0" r="r" b="b"/>
            <a:pathLst>
              <a:path w="28" h="1112">
                <a:moveTo>
                  <a:pt x="0" y="0"/>
                </a:moveTo>
                <a:lnTo>
                  <a:pt x="28" y="0"/>
                </a:lnTo>
                <a:lnTo>
                  <a:pt x="28"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89" name="Figura a mano libera: forma 488"/>
          <p:cNvSpPr/>
          <p:nvPr/>
        </p:nvSpPr>
        <p:spPr>
          <a:xfrm>
            <a:off x="2399760" y="403056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0" name="Figura a mano libera: forma 489"/>
          <p:cNvSpPr/>
          <p:nvPr/>
        </p:nvSpPr>
        <p:spPr>
          <a:xfrm>
            <a:off x="4238280" y="4039920"/>
            <a:ext cx="9720" cy="400320"/>
          </a:xfrm>
          <a:custGeom>
            <a:avLst/>
            <a:gdLst/>
            <a:ahLst/>
            <a:cxnLst/>
            <a:rect l="0" t="0" r="r" b="b"/>
            <a:pathLst>
              <a:path w="27" h="1112">
                <a:moveTo>
                  <a:pt x="0" y="0"/>
                </a:moveTo>
                <a:lnTo>
                  <a:pt x="27" y="0"/>
                </a:lnTo>
                <a:lnTo>
                  <a:pt x="27"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1" name="Figura a mano libera: forma 490"/>
          <p:cNvSpPr/>
          <p:nvPr/>
        </p:nvSpPr>
        <p:spPr>
          <a:xfrm>
            <a:off x="4247640" y="4030560"/>
            <a:ext cx="1771920" cy="9720"/>
          </a:xfrm>
          <a:custGeom>
            <a:avLst/>
            <a:gdLst/>
            <a:ahLst/>
            <a:cxnLst/>
            <a:rect l="0" t="0" r="r" b="b"/>
            <a:pathLst>
              <a:path w="4922" h="27">
                <a:moveTo>
                  <a:pt x="0" y="0"/>
                </a:moveTo>
                <a:lnTo>
                  <a:pt x="4922" y="0"/>
                </a:lnTo>
                <a:lnTo>
                  <a:pt x="4922"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2" name="Figura a mano libera: forma 491"/>
          <p:cNvSpPr/>
          <p:nvPr/>
        </p:nvSpPr>
        <p:spPr>
          <a:xfrm>
            <a:off x="6009840" y="4039920"/>
            <a:ext cx="9720" cy="400320"/>
          </a:xfrm>
          <a:custGeom>
            <a:avLst/>
            <a:gdLst/>
            <a:ahLst/>
            <a:cxnLst/>
            <a:rect l="0" t="0" r="r" b="b"/>
            <a:pathLst>
              <a:path w="27" h="1112">
                <a:moveTo>
                  <a:pt x="0" y="0"/>
                </a:moveTo>
                <a:lnTo>
                  <a:pt x="27" y="0"/>
                </a:lnTo>
                <a:lnTo>
                  <a:pt x="27"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3" name="Figura a mano libera: forma 492"/>
          <p:cNvSpPr/>
          <p:nvPr/>
        </p:nvSpPr>
        <p:spPr>
          <a:xfrm>
            <a:off x="6019200" y="4030560"/>
            <a:ext cx="3886560" cy="9720"/>
          </a:xfrm>
          <a:custGeom>
            <a:avLst/>
            <a:gdLst/>
            <a:ahLst/>
            <a:cxnLst/>
            <a:rect l="0" t="0" r="r" b="b"/>
            <a:pathLst>
              <a:path w="10796" h="27">
                <a:moveTo>
                  <a:pt x="0" y="0"/>
                </a:moveTo>
                <a:lnTo>
                  <a:pt x="10796" y="0"/>
                </a:lnTo>
                <a:lnTo>
                  <a:pt x="10796"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4" name="Figura a mano libera: forma 493"/>
          <p:cNvSpPr/>
          <p:nvPr/>
        </p:nvSpPr>
        <p:spPr>
          <a:xfrm>
            <a:off x="9896040" y="4039920"/>
            <a:ext cx="9720" cy="400320"/>
          </a:xfrm>
          <a:custGeom>
            <a:avLst/>
            <a:gdLst/>
            <a:ahLst/>
            <a:cxnLst/>
            <a:rect l="0" t="0" r="r" b="b"/>
            <a:pathLst>
              <a:path w="27" h="1112">
                <a:moveTo>
                  <a:pt x="0" y="0"/>
                </a:moveTo>
                <a:lnTo>
                  <a:pt x="27" y="0"/>
                </a:lnTo>
                <a:lnTo>
                  <a:pt x="27"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5" name="Figura a mano libera: forma 494"/>
          <p:cNvSpPr/>
          <p:nvPr/>
        </p:nvSpPr>
        <p:spPr>
          <a:xfrm>
            <a:off x="2399760" y="4439880"/>
            <a:ext cx="10080" cy="410040"/>
          </a:xfrm>
          <a:custGeom>
            <a:avLst/>
            <a:gdLst/>
            <a:ahLst/>
            <a:cxnLst/>
            <a:rect l="0" t="0" r="r" b="b"/>
            <a:pathLst>
              <a:path w="28" h="1139">
                <a:moveTo>
                  <a:pt x="0" y="0"/>
                </a:moveTo>
                <a:lnTo>
                  <a:pt x="28" y="0"/>
                </a:lnTo>
                <a:lnTo>
                  <a:pt x="28"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6" name="Figura a mano libera: forma 495"/>
          <p:cNvSpPr/>
          <p:nvPr/>
        </p:nvSpPr>
        <p:spPr>
          <a:xfrm>
            <a:off x="2399760" y="443052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7" name="Figura a mano libera: forma 496"/>
          <p:cNvSpPr/>
          <p:nvPr/>
        </p:nvSpPr>
        <p:spPr>
          <a:xfrm>
            <a:off x="4238280" y="443988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8" name="Figura a mano libera: forma 497"/>
          <p:cNvSpPr/>
          <p:nvPr/>
        </p:nvSpPr>
        <p:spPr>
          <a:xfrm>
            <a:off x="4247640" y="4430520"/>
            <a:ext cx="1771920" cy="9720"/>
          </a:xfrm>
          <a:custGeom>
            <a:avLst/>
            <a:gdLst/>
            <a:ahLst/>
            <a:cxnLst/>
            <a:rect l="0" t="0" r="r" b="b"/>
            <a:pathLst>
              <a:path w="4922" h="27">
                <a:moveTo>
                  <a:pt x="0" y="0"/>
                </a:moveTo>
                <a:lnTo>
                  <a:pt x="4922" y="0"/>
                </a:lnTo>
                <a:lnTo>
                  <a:pt x="4922"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499" name="Figura a mano libera: forma 498"/>
          <p:cNvSpPr/>
          <p:nvPr/>
        </p:nvSpPr>
        <p:spPr>
          <a:xfrm>
            <a:off x="6009840" y="443988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0" name="Figura a mano libera: forma 499"/>
          <p:cNvSpPr/>
          <p:nvPr/>
        </p:nvSpPr>
        <p:spPr>
          <a:xfrm>
            <a:off x="6019200" y="4430520"/>
            <a:ext cx="3886560" cy="9720"/>
          </a:xfrm>
          <a:custGeom>
            <a:avLst/>
            <a:gdLst/>
            <a:ahLst/>
            <a:cxnLst/>
            <a:rect l="0" t="0" r="r" b="b"/>
            <a:pathLst>
              <a:path w="10796" h="27">
                <a:moveTo>
                  <a:pt x="0" y="0"/>
                </a:moveTo>
                <a:lnTo>
                  <a:pt x="10796" y="0"/>
                </a:lnTo>
                <a:lnTo>
                  <a:pt x="10796"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1" name="Figura a mano libera: forma 500"/>
          <p:cNvSpPr/>
          <p:nvPr/>
        </p:nvSpPr>
        <p:spPr>
          <a:xfrm>
            <a:off x="9896040" y="4439880"/>
            <a:ext cx="9720" cy="410040"/>
          </a:xfrm>
          <a:custGeom>
            <a:avLst/>
            <a:gdLst/>
            <a:ahLst/>
            <a:cxnLst/>
            <a:rect l="0" t="0" r="r" b="b"/>
            <a:pathLst>
              <a:path w="27" h="1139">
                <a:moveTo>
                  <a:pt x="0" y="0"/>
                </a:moveTo>
                <a:lnTo>
                  <a:pt x="27" y="0"/>
                </a:lnTo>
                <a:lnTo>
                  <a:pt x="27"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2" name="Figura a mano libera: forma 501"/>
          <p:cNvSpPr/>
          <p:nvPr/>
        </p:nvSpPr>
        <p:spPr>
          <a:xfrm>
            <a:off x="2399760" y="4849560"/>
            <a:ext cx="10080" cy="390960"/>
          </a:xfrm>
          <a:custGeom>
            <a:avLst/>
            <a:gdLst/>
            <a:ahLst/>
            <a:cxnLst/>
            <a:rect l="0" t="0" r="r" b="b"/>
            <a:pathLst>
              <a:path w="28" h="1086">
                <a:moveTo>
                  <a:pt x="0" y="1086"/>
                </a:moveTo>
                <a:lnTo>
                  <a:pt x="0" y="0"/>
                </a:lnTo>
                <a:lnTo>
                  <a:pt x="28" y="0"/>
                </a:lnTo>
                <a:lnTo>
                  <a:pt x="28"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3" name="Figura a mano libera: forma 502"/>
          <p:cNvSpPr/>
          <p:nvPr/>
        </p:nvSpPr>
        <p:spPr>
          <a:xfrm>
            <a:off x="2399760" y="484020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4" name="Figura a mano libera: forma 503"/>
          <p:cNvSpPr/>
          <p:nvPr/>
        </p:nvSpPr>
        <p:spPr>
          <a:xfrm>
            <a:off x="4238280" y="4849560"/>
            <a:ext cx="9720" cy="390960"/>
          </a:xfrm>
          <a:custGeom>
            <a:avLst/>
            <a:gdLst/>
            <a:ahLst/>
            <a:cxnLst/>
            <a:rect l="0" t="0" r="r" b="b"/>
            <a:pathLst>
              <a:path w="27" h="1086">
                <a:moveTo>
                  <a:pt x="0" y="1086"/>
                </a:moveTo>
                <a:lnTo>
                  <a:pt x="0" y="0"/>
                </a:lnTo>
                <a:lnTo>
                  <a:pt x="27" y="0"/>
                </a:lnTo>
                <a:lnTo>
                  <a:pt x="27"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5" name="Figura a mano libera: forma 504"/>
          <p:cNvSpPr/>
          <p:nvPr/>
        </p:nvSpPr>
        <p:spPr>
          <a:xfrm>
            <a:off x="4247640" y="4840200"/>
            <a:ext cx="1771920" cy="9720"/>
          </a:xfrm>
          <a:custGeom>
            <a:avLst/>
            <a:gdLst/>
            <a:ahLst/>
            <a:cxnLst/>
            <a:rect l="0" t="0" r="r" b="b"/>
            <a:pathLst>
              <a:path w="4922" h="27">
                <a:moveTo>
                  <a:pt x="0" y="0"/>
                </a:moveTo>
                <a:lnTo>
                  <a:pt x="4922" y="0"/>
                </a:lnTo>
                <a:lnTo>
                  <a:pt x="4922"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6" name="Figura a mano libera: forma 505"/>
          <p:cNvSpPr/>
          <p:nvPr/>
        </p:nvSpPr>
        <p:spPr>
          <a:xfrm>
            <a:off x="6009840" y="4849560"/>
            <a:ext cx="9720" cy="390960"/>
          </a:xfrm>
          <a:custGeom>
            <a:avLst/>
            <a:gdLst/>
            <a:ahLst/>
            <a:cxnLst/>
            <a:rect l="0" t="0" r="r" b="b"/>
            <a:pathLst>
              <a:path w="27" h="1086">
                <a:moveTo>
                  <a:pt x="0" y="1086"/>
                </a:moveTo>
                <a:lnTo>
                  <a:pt x="0" y="0"/>
                </a:lnTo>
                <a:lnTo>
                  <a:pt x="27" y="0"/>
                </a:lnTo>
                <a:lnTo>
                  <a:pt x="27"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7" name="Figura a mano libera: forma 506"/>
          <p:cNvSpPr/>
          <p:nvPr/>
        </p:nvSpPr>
        <p:spPr>
          <a:xfrm>
            <a:off x="6019200" y="4840200"/>
            <a:ext cx="3886560" cy="9720"/>
          </a:xfrm>
          <a:custGeom>
            <a:avLst/>
            <a:gdLst/>
            <a:ahLst/>
            <a:cxnLst/>
            <a:rect l="0" t="0" r="r" b="b"/>
            <a:pathLst>
              <a:path w="10796" h="27">
                <a:moveTo>
                  <a:pt x="0" y="0"/>
                </a:moveTo>
                <a:lnTo>
                  <a:pt x="10796" y="0"/>
                </a:lnTo>
                <a:lnTo>
                  <a:pt x="10796"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8" name="Figura a mano libera: forma 507"/>
          <p:cNvSpPr/>
          <p:nvPr/>
        </p:nvSpPr>
        <p:spPr>
          <a:xfrm>
            <a:off x="9896040" y="4849560"/>
            <a:ext cx="9720" cy="390960"/>
          </a:xfrm>
          <a:custGeom>
            <a:avLst/>
            <a:gdLst/>
            <a:ahLst/>
            <a:cxnLst/>
            <a:rect l="0" t="0" r="r" b="b"/>
            <a:pathLst>
              <a:path w="27" h="1086">
                <a:moveTo>
                  <a:pt x="0" y="1086"/>
                </a:moveTo>
                <a:lnTo>
                  <a:pt x="0" y="0"/>
                </a:lnTo>
                <a:lnTo>
                  <a:pt x="27" y="0"/>
                </a:lnTo>
                <a:lnTo>
                  <a:pt x="27" y="1086"/>
                </a:lnTo>
                <a:lnTo>
                  <a:pt x="0" y="108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09" name="CasellaDiTesto 508"/>
          <p:cNvSpPr txBox="1"/>
          <p:nvPr/>
        </p:nvSpPr>
        <p:spPr>
          <a:xfrm>
            <a:off x="971640" y="1714320"/>
            <a:ext cx="94600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TRATTI DISTINTIVI RISPETTO AL MODELLO CIVILISTICO</a:t>
            </a:r>
            <a:endParaRPr lang="it-IT" sz="2850" b="0" u="none" strike="noStrike">
              <a:solidFill>
                <a:srgbClr val="000000"/>
              </a:solidFill>
              <a:effectLst/>
              <a:uFillTx/>
              <a:latin typeface="Times New Roman"/>
            </a:endParaRPr>
          </a:p>
        </p:txBody>
      </p:sp>
      <p:sp>
        <p:nvSpPr>
          <p:cNvPr id="510" name="CasellaDiTesto 509"/>
          <p:cNvSpPr txBox="1"/>
          <p:nvPr/>
        </p:nvSpPr>
        <p:spPr>
          <a:xfrm>
            <a:off x="2533320" y="2922480"/>
            <a:ext cx="51552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Profilo</a:t>
            </a:r>
            <a:endParaRPr lang="it-IT" sz="1280" b="0" u="none" strike="noStrike">
              <a:solidFill>
                <a:srgbClr val="000000"/>
              </a:solidFill>
              <a:effectLst/>
              <a:uFillTx/>
              <a:latin typeface="Times New Roman"/>
            </a:endParaRPr>
          </a:p>
        </p:txBody>
      </p:sp>
      <p:sp>
        <p:nvSpPr>
          <p:cNvPr id="511" name="CasellaDiTesto 510"/>
          <p:cNvSpPr txBox="1"/>
          <p:nvPr/>
        </p:nvSpPr>
        <p:spPr>
          <a:xfrm>
            <a:off x="4375080" y="2922480"/>
            <a:ext cx="93528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Diritto civile</a:t>
            </a:r>
            <a:endParaRPr lang="it-IT" sz="1280" b="0" u="none" strike="noStrike">
              <a:solidFill>
                <a:srgbClr val="000000"/>
              </a:solidFill>
              <a:effectLst/>
              <a:uFillTx/>
              <a:latin typeface="Times New Roman"/>
            </a:endParaRPr>
          </a:p>
        </p:txBody>
      </p:sp>
      <p:sp>
        <p:nvSpPr>
          <p:cNvPr id="512" name="CasellaDiTesto 511"/>
          <p:cNvSpPr txBox="1"/>
          <p:nvPr/>
        </p:nvSpPr>
        <p:spPr>
          <a:xfrm>
            <a:off x="6141960" y="2922480"/>
            <a:ext cx="319824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Diritto tributario (art. 17 D.Lgs. 241/1997)</a:t>
            </a:r>
            <a:endParaRPr lang="it-IT" sz="1280" b="0" u="none" strike="noStrike">
              <a:solidFill>
                <a:srgbClr val="000000"/>
              </a:solidFill>
              <a:effectLst/>
              <a:uFillTx/>
              <a:latin typeface="Times New Roman"/>
            </a:endParaRPr>
          </a:p>
        </p:txBody>
      </p:sp>
      <p:sp>
        <p:nvSpPr>
          <p:cNvPr id="513" name="CasellaDiTesto 512"/>
          <p:cNvSpPr txBox="1"/>
          <p:nvPr/>
        </p:nvSpPr>
        <p:spPr>
          <a:xfrm>
            <a:off x="2533320" y="3301920"/>
            <a:ext cx="8892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Reciprocità</a:t>
            </a:r>
            <a:endParaRPr lang="it-IT" sz="1430" b="0" u="none" strike="noStrike">
              <a:solidFill>
                <a:srgbClr val="000000"/>
              </a:solidFill>
              <a:effectLst/>
              <a:uFillTx/>
              <a:latin typeface="Times New Roman"/>
            </a:endParaRPr>
          </a:p>
        </p:txBody>
      </p:sp>
      <p:sp>
        <p:nvSpPr>
          <p:cNvPr id="514" name="CasellaDiTesto 513"/>
          <p:cNvSpPr txBox="1"/>
          <p:nvPr/>
        </p:nvSpPr>
        <p:spPr>
          <a:xfrm>
            <a:off x="4375080" y="3301920"/>
            <a:ext cx="11419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Indispensabile</a:t>
            </a:r>
            <a:endParaRPr lang="it-IT" sz="1430" b="0" u="none" strike="noStrike">
              <a:solidFill>
                <a:srgbClr val="000000"/>
              </a:solidFill>
              <a:effectLst/>
              <a:uFillTx/>
              <a:latin typeface="Times New Roman"/>
            </a:endParaRPr>
          </a:p>
        </p:txBody>
      </p:sp>
      <p:sp>
        <p:nvSpPr>
          <p:cNvPr id="515" name="CasellaDiTesto 514"/>
          <p:cNvSpPr txBox="1"/>
          <p:nvPr/>
        </p:nvSpPr>
        <p:spPr>
          <a:xfrm>
            <a:off x="6141960" y="3301920"/>
            <a:ext cx="29682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Non richiesta: struttura </a:t>
            </a:r>
            <a:r>
              <a:rPr lang="it-IT" sz="1430" b="1" u="none" strike="noStrike">
                <a:solidFill>
                  <a:srgbClr val="00509E"/>
                </a:solidFill>
                <a:effectLst/>
                <a:uFillTx/>
                <a:latin typeface="SegoeUI"/>
                <a:ea typeface="SegoeUI"/>
              </a:rPr>
              <a:t>multilaterale</a:t>
            </a:r>
            <a:endParaRPr lang="it-IT" sz="1430" b="0" u="none" strike="noStrike">
              <a:solidFill>
                <a:srgbClr val="000000"/>
              </a:solidFill>
              <a:effectLst/>
              <a:uFillTx/>
              <a:latin typeface="Times New Roman"/>
            </a:endParaRPr>
          </a:p>
        </p:txBody>
      </p:sp>
      <p:sp>
        <p:nvSpPr>
          <p:cNvPr id="516" name="CasellaDiTesto 515"/>
          <p:cNvSpPr txBox="1"/>
          <p:nvPr/>
        </p:nvSpPr>
        <p:spPr>
          <a:xfrm>
            <a:off x="2533320" y="3701880"/>
            <a:ext cx="15883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Certezza del credito</a:t>
            </a:r>
            <a:endParaRPr lang="it-IT" sz="1430" b="0" u="none" strike="noStrike">
              <a:solidFill>
                <a:srgbClr val="000000"/>
              </a:solidFill>
              <a:effectLst/>
              <a:uFillTx/>
              <a:latin typeface="Times New Roman"/>
            </a:endParaRPr>
          </a:p>
        </p:txBody>
      </p:sp>
      <p:sp>
        <p:nvSpPr>
          <p:cNvPr id="517" name="CasellaDiTesto 516"/>
          <p:cNvSpPr txBox="1"/>
          <p:nvPr/>
        </p:nvSpPr>
        <p:spPr>
          <a:xfrm>
            <a:off x="4375080" y="3701880"/>
            <a:ext cx="15138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Richiesta (liquidità)</a:t>
            </a:r>
            <a:endParaRPr lang="it-IT" sz="1430" b="0" u="none" strike="noStrike">
              <a:solidFill>
                <a:srgbClr val="000000"/>
              </a:solidFill>
              <a:effectLst/>
              <a:uFillTx/>
              <a:latin typeface="Times New Roman"/>
            </a:endParaRPr>
          </a:p>
        </p:txBody>
      </p:sp>
      <p:sp>
        <p:nvSpPr>
          <p:cNvPr id="518" name="CasellaDiTesto 517"/>
          <p:cNvSpPr txBox="1"/>
          <p:nvPr/>
        </p:nvSpPr>
        <p:spPr>
          <a:xfrm>
            <a:off x="6141960" y="3701880"/>
            <a:ext cx="36842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Non richiesta</a:t>
            </a:r>
            <a:r>
              <a:rPr lang="it-IT" sz="1430" b="0" u="none" strike="noStrike">
                <a:solidFill>
                  <a:srgbClr val="212529"/>
                </a:solidFill>
                <a:effectLst/>
                <a:uFillTx/>
                <a:latin typeface="SegoeUI"/>
                <a:ea typeface="SegoeUI"/>
              </a:rPr>
              <a:t>: basta l'esposizione dichiarativa</a:t>
            </a:r>
            <a:endParaRPr lang="it-IT" sz="1430" b="0" u="none" strike="noStrike">
              <a:solidFill>
                <a:srgbClr val="000000"/>
              </a:solidFill>
              <a:effectLst/>
              <a:uFillTx/>
              <a:latin typeface="Times New Roman"/>
            </a:endParaRPr>
          </a:p>
        </p:txBody>
      </p:sp>
      <p:sp>
        <p:nvSpPr>
          <p:cNvPr id="519" name="CasellaDiTesto 518"/>
          <p:cNvSpPr txBox="1"/>
          <p:nvPr/>
        </p:nvSpPr>
        <p:spPr>
          <a:xfrm>
            <a:off x="2533320" y="4111560"/>
            <a:ext cx="5925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Origine</a:t>
            </a:r>
            <a:endParaRPr lang="it-IT" sz="1430" b="0" u="none" strike="noStrike">
              <a:solidFill>
                <a:srgbClr val="000000"/>
              </a:solidFill>
              <a:effectLst/>
              <a:uFillTx/>
              <a:latin typeface="Times New Roman"/>
            </a:endParaRPr>
          </a:p>
        </p:txBody>
      </p:sp>
      <p:sp>
        <p:nvSpPr>
          <p:cNvPr id="520" name="CasellaDiTesto 519"/>
          <p:cNvSpPr txBox="1"/>
          <p:nvPr/>
        </p:nvSpPr>
        <p:spPr>
          <a:xfrm>
            <a:off x="4375080" y="4111560"/>
            <a:ext cx="7113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Generale</a:t>
            </a:r>
            <a:endParaRPr lang="it-IT" sz="1430" b="0" u="none" strike="noStrike">
              <a:solidFill>
                <a:srgbClr val="000000"/>
              </a:solidFill>
              <a:effectLst/>
              <a:uFillTx/>
              <a:latin typeface="Times New Roman"/>
            </a:endParaRPr>
          </a:p>
        </p:txBody>
      </p:sp>
      <p:sp>
        <p:nvSpPr>
          <p:cNvPr id="521" name="CasellaDiTesto 520"/>
          <p:cNvSpPr txBox="1"/>
          <p:nvPr/>
        </p:nvSpPr>
        <p:spPr>
          <a:xfrm>
            <a:off x="6141960" y="4111560"/>
            <a:ext cx="265536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Tassativa</a:t>
            </a:r>
            <a:r>
              <a:rPr lang="it-IT" sz="1430" b="0" u="none" strike="noStrike">
                <a:solidFill>
                  <a:srgbClr val="212529"/>
                </a:solidFill>
                <a:effectLst/>
                <a:uFillTx/>
                <a:latin typeface="SegoeUI"/>
                <a:ea typeface="SegoeUI"/>
              </a:rPr>
              <a:t>: solo fattispecie tipiche</a:t>
            </a:r>
            <a:endParaRPr lang="it-IT" sz="1430" b="0" u="none" strike="noStrike">
              <a:solidFill>
                <a:srgbClr val="000000"/>
              </a:solidFill>
              <a:effectLst/>
              <a:uFillTx/>
              <a:latin typeface="Times New Roman"/>
            </a:endParaRPr>
          </a:p>
        </p:txBody>
      </p:sp>
      <p:sp>
        <p:nvSpPr>
          <p:cNvPr id="522" name="CasellaDiTesto 521"/>
          <p:cNvSpPr txBox="1"/>
          <p:nvPr/>
        </p:nvSpPr>
        <p:spPr>
          <a:xfrm>
            <a:off x="2533320" y="4511520"/>
            <a:ext cx="7106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Modalità</a:t>
            </a:r>
            <a:endParaRPr lang="it-IT" sz="1430" b="0" u="none" strike="noStrike">
              <a:solidFill>
                <a:srgbClr val="000000"/>
              </a:solidFill>
              <a:effectLst/>
              <a:uFillTx/>
              <a:latin typeface="Times New Roman"/>
            </a:endParaRPr>
          </a:p>
        </p:txBody>
      </p:sp>
      <p:sp>
        <p:nvSpPr>
          <p:cNvPr id="523" name="CasellaDiTesto 522"/>
          <p:cNvSpPr txBox="1"/>
          <p:nvPr/>
        </p:nvSpPr>
        <p:spPr>
          <a:xfrm>
            <a:off x="4375080" y="4511520"/>
            <a:ext cx="14529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Eccezione di parte</a:t>
            </a:r>
            <a:endParaRPr lang="it-IT" sz="1430" b="0" u="none" strike="noStrike">
              <a:solidFill>
                <a:srgbClr val="000000"/>
              </a:solidFill>
              <a:effectLst/>
              <a:uFillTx/>
              <a:latin typeface="Times New Roman"/>
            </a:endParaRPr>
          </a:p>
        </p:txBody>
      </p:sp>
      <p:sp>
        <p:nvSpPr>
          <p:cNvPr id="524" name="CasellaDiTesto 523"/>
          <p:cNvSpPr txBox="1"/>
          <p:nvPr/>
        </p:nvSpPr>
        <p:spPr>
          <a:xfrm>
            <a:off x="6141960" y="4511520"/>
            <a:ext cx="22406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Indicazione nel modello F24</a:t>
            </a:r>
            <a:endParaRPr lang="it-IT" sz="1430" b="0" u="none" strike="noStrike">
              <a:solidFill>
                <a:srgbClr val="000000"/>
              </a:solidFill>
              <a:effectLst/>
              <a:uFillTx/>
              <a:latin typeface="Times New Roman"/>
            </a:endParaRPr>
          </a:p>
        </p:txBody>
      </p:sp>
      <p:sp>
        <p:nvSpPr>
          <p:cNvPr id="525" name="CasellaDiTesto 524"/>
          <p:cNvSpPr txBox="1"/>
          <p:nvPr/>
        </p:nvSpPr>
        <p:spPr>
          <a:xfrm>
            <a:off x="2533320" y="4921200"/>
            <a:ext cx="467640" cy="241200"/>
          </a:xfrm>
          <a:prstGeom prst="rect">
            <a:avLst/>
          </a:prstGeom>
          <a:noFill/>
          <a:ln w="0">
            <a:noFill/>
          </a:ln>
        </p:spPr>
        <p:txBody>
          <a:bodyPr wrap="none" lIns="0" tIns="0" rIns="0" bIns="0" anchor="t">
            <a:spAutoFit/>
          </a:bodyPr>
          <a:lstStyle/>
          <a:p>
            <a:r>
              <a:rPr lang="it-IT" sz="1430" b="0" u="none" strike="noStrike" dirty="0">
                <a:solidFill>
                  <a:srgbClr val="212529"/>
                </a:solidFill>
                <a:effectLst/>
                <a:uFillTx/>
                <a:latin typeface="SegoeUI"/>
                <a:ea typeface="SegoeUI"/>
              </a:rPr>
              <a:t>Effetti</a:t>
            </a:r>
            <a:endParaRPr lang="it-IT" sz="1430" b="0" u="none" strike="noStrike" dirty="0">
              <a:solidFill>
                <a:srgbClr val="000000"/>
              </a:solidFill>
              <a:effectLst/>
              <a:uFillTx/>
              <a:latin typeface="Times New Roman"/>
            </a:endParaRPr>
          </a:p>
        </p:txBody>
      </p:sp>
      <p:sp>
        <p:nvSpPr>
          <p:cNvPr id="526" name="CasellaDiTesto 525"/>
          <p:cNvSpPr txBox="1"/>
          <p:nvPr/>
        </p:nvSpPr>
        <p:spPr>
          <a:xfrm>
            <a:off x="4375080" y="4921200"/>
            <a:ext cx="1200240" cy="241200"/>
          </a:xfrm>
          <a:prstGeom prst="rect">
            <a:avLst/>
          </a:prstGeom>
          <a:noFill/>
          <a:ln w="0">
            <a:noFill/>
          </a:ln>
        </p:spPr>
        <p:txBody>
          <a:bodyPr wrap="none" lIns="0" tIns="0" rIns="0" bIns="0" anchor="t">
            <a:spAutoFit/>
          </a:bodyPr>
          <a:lstStyle/>
          <a:p>
            <a:r>
              <a:rPr lang="it-IT" sz="1430" b="0" i="1" u="none" strike="noStrike">
                <a:solidFill>
                  <a:srgbClr val="495057"/>
                </a:solidFill>
                <a:effectLst/>
                <a:uFillTx/>
                <a:latin typeface="SegoeUI"/>
                <a:ea typeface="SegoeUI"/>
              </a:rPr>
              <a:t>Ex tunc</a:t>
            </a:r>
            <a:r>
              <a:rPr lang="it-IT" sz="1430" b="0" u="none" strike="noStrike">
                <a:solidFill>
                  <a:srgbClr val="212529"/>
                </a:solidFill>
                <a:effectLst/>
                <a:uFillTx/>
                <a:latin typeface="SegoeUI"/>
                <a:ea typeface="SegoeUI"/>
              </a:rPr>
              <a:t> (legale)</a:t>
            </a:r>
            <a:endParaRPr lang="it-IT" sz="1430" b="0" u="none" strike="noStrike">
              <a:solidFill>
                <a:srgbClr val="000000"/>
              </a:solidFill>
              <a:effectLst/>
              <a:uFillTx/>
              <a:latin typeface="Times New Roman"/>
            </a:endParaRPr>
          </a:p>
        </p:txBody>
      </p:sp>
      <p:sp>
        <p:nvSpPr>
          <p:cNvPr id="527" name="Figura a mano libera: forma 526"/>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28" name="CasellaDiTesto 527"/>
          <p:cNvSpPr txBox="1"/>
          <p:nvPr/>
        </p:nvSpPr>
        <p:spPr>
          <a:xfrm>
            <a:off x="6141960" y="4921200"/>
            <a:ext cx="22014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Dalla presentazione del F24</a:t>
            </a:r>
            <a:endParaRPr lang="it-IT" sz="1430" b="0" u="none" strike="noStrike">
              <a:solidFill>
                <a:srgbClr val="000000"/>
              </a:solidFill>
              <a:effectLst/>
              <a:uFillTx/>
              <a:latin typeface="Times New Roman"/>
            </a:endParaRPr>
          </a:p>
        </p:txBody>
      </p:sp>
      <p:sp>
        <p:nvSpPr>
          <p:cNvPr id="529" name="Figura a mano libera: forma 528"/>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30" name="CasellaDiTesto 529"/>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531" name="CasellaDiTesto 530"/>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18 / 73</a:t>
            </a:r>
            <a:endParaRPr lang="it-IT" sz="980" b="0" u="none" strike="noStrike">
              <a:solidFill>
                <a:srgbClr val="000000"/>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Figura a mano libera: forma 53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33" name="Figura a mano libera: forma 53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34" name="Figura a mano libera: forma 533"/>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35" name="Figura a mano libera: forma 534"/>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36" name="Figura a mano libera: forma 535"/>
          <p:cNvSpPr/>
          <p:nvPr/>
        </p:nvSpPr>
        <p:spPr>
          <a:xfrm>
            <a:off x="971280" y="24573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37" name="CasellaDiTesto 536"/>
          <p:cNvSpPr txBox="1"/>
          <p:nvPr/>
        </p:nvSpPr>
        <p:spPr>
          <a:xfrm>
            <a:off x="971640" y="1838160"/>
            <a:ext cx="85276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NUOVO ASSETTO NORMATIVO: D.LGS. 33/2025</a:t>
            </a:r>
            <a:endParaRPr lang="it-IT" sz="2850" b="0" u="none" strike="noStrike">
              <a:solidFill>
                <a:srgbClr val="000000"/>
              </a:solidFill>
              <a:effectLst/>
              <a:uFillTx/>
              <a:latin typeface="Times New Roman"/>
            </a:endParaRPr>
          </a:p>
        </p:txBody>
      </p:sp>
      <p:sp>
        <p:nvSpPr>
          <p:cNvPr id="538" name="CasellaDiTesto 537"/>
          <p:cNvSpPr txBox="1"/>
          <p:nvPr/>
        </p:nvSpPr>
        <p:spPr>
          <a:xfrm>
            <a:off x="971640" y="2593440"/>
            <a:ext cx="64684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Testo Unico in materia di versamenti e riscossione (in vigore dal 2025).</a:t>
            </a:r>
            <a:endParaRPr lang="it-IT" sz="1650" b="0" u="none" strike="noStrike">
              <a:solidFill>
                <a:srgbClr val="000000"/>
              </a:solidFill>
              <a:effectLst/>
              <a:uFillTx/>
              <a:latin typeface="Times New Roman"/>
            </a:endParaRPr>
          </a:p>
        </p:txBody>
      </p:sp>
      <p:sp>
        <p:nvSpPr>
          <p:cNvPr id="539" name="Figura a mano libera: forma 538"/>
          <p:cNvSpPr/>
          <p:nvPr/>
        </p:nvSpPr>
        <p:spPr>
          <a:xfrm>
            <a:off x="1028520" y="36572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6"/>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6"/>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40" name="CasellaDiTesto 539"/>
          <p:cNvSpPr txBox="1"/>
          <p:nvPr/>
        </p:nvSpPr>
        <p:spPr>
          <a:xfrm>
            <a:off x="971640" y="3069720"/>
            <a:ext cx="25815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Corrispondenze essenziali:</a:t>
            </a:r>
            <a:endParaRPr lang="it-IT" sz="1650" b="0" u="none" strike="noStrike">
              <a:solidFill>
                <a:srgbClr val="000000"/>
              </a:solidFill>
              <a:effectLst/>
              <a:uFillTx/>
              <a:latin typeface="Times New Roman"/>
            </a:endParaRPr>
          </a:p>
        </p:txBody>
      </p:sp>
      <p:sp>
        <p:nvSpPr>
          <p:cNvPr id="541" name="Figura a mano libera: forma 540"/>
          <p:cNvSpPr/>
          <p:nvPr/>
        </p:nvSpPr>
        <p:spPr>
          <a:xfrm>
            <a:off x="1028520" y="413352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4"/>
                  <a:pt x="65" y="8"/>
                </a:cubicBezTo>
                <a:cubicBezTo>
                  <a:pt x="78" y="3"/>
                  <a:pt x="92" y="0"/>
                  <a:pt x="106" y="0"/>
                </a:cubicBezTo>
                <a:cubicBezTo>
                  <a:pt x="120" y="0"/>
                  <a:pt x="133" y="3"/>
                  <a:pt x="146" y="8"/>
                </a:cubicBezTo>
                <a:cubicBezTo>
                  <a:pt x="159" y="14"/>
                  <a:pt x="171" y="22"/>
                  <a:pt x="181" y="32"/>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42" name="CasellaDiTesto 541"/>
          <p:cNvSpPr txBox="1"/>
          <p:nvPr/>
        </p:nvSpPr>
        <p:spPr>
          <a:xfrm>
            <a:off x="1238400" y="3546720"/>
            <a:ext cx="5086800" cy="265680"/>
          </a:xfrm>
          <a:prstGeom prst="rect">
            <a:avLst/>
          </a:prstGeom>
          <a:noFill/>
          <a:ln w="0">
            <a:noFill/>
          </a:ln>
        </p:spPr>
        <p:txBody>
          <a:bodyPr wrap="none" lIns="0" tIns="0" rIns="0" bIns="0" anchor="t">
            <a:spAutoFit/>
          </a:bodyPr>
          <a:lstStyle/>
          <a:p>
            <a:r>
              <a:rPr lang="it-IT" sz="1580" b="0" u="none" strike="noStrike" dirty="0">
                <a:solidFill>
                  <a:srgbClr val="343A40"/>
                </a:solidFill>
                <a:effectLst/>
                <a:uFillTx/>
                <a:latin typeface="SegoeUI"/>
                <a:ea typeface="SegoeUI"/>
              </a:rPr>
              <a:t>art. 3 TU riscossione = già art. 17, co. 1-5, </a:t>
            </a:r>
            <a:r>
              <a:rPr lang="it-IT" sz="1580" b="0" u="none" strike="noStrike" dirty="0" err="1">
                <a:solidFill>
                  <a:srgbClr val="343A40"/>
                </a:solidFill>
                <a:effectLst/>
                <a:uFillTx/>
                <a:latin typeface="SegoeUI"/>
                <a:ea typeface="SegoeUI"/>
              </a:rPr>
              <a:t>D.Lgs.</a:t>
            </a:r>
            <a:r>
              <a:rPr lang="it-IT" sz="1580" b="0" u="none" strike="noStrike" dirty="0">
                <a:solidFill>
                  <a:srgbClr val="343A40"/>
                </a:solidFill>
                <a:effectLst/>
                <a:uFillTx/>
                <a:latin typeface="SegoeUI"/>
                <a:ea typeface="SegoeUI"/>
              </a:rPr>
              <a:t> 241/1997</a:t>
            </a:r>
            <a:endParaRPr lang="it-IT" sz="1580" b="0" u="none" strike="noStrike" dirty="0">
              <a:solidFill>
                <a:srgbClr val="000000"/>
              </a:solidFill>
              <a:effectLst/>
              <a:uFillTx/>
              <a:latin typeface="Times New Roman"/>
            </a:endParaRPr>
          </a:p>
        </p:txBody>
      </p:sp>
      <p:sp>
        <p:nvSpPr>
          <p:cNvPr id="543" name="CasellaDiTesto 542"/>
          <p:cNvSpPr txBox="1"/>
          <p:nvPr/>
        </p:nvSpPr>
        <p:spPr>
          <a:xfrm>
            <a:off x="1238400" y="4022640"/>
            <a:ext cx="88635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art. 5 TU riscossione = già art. 37, commi 49-49-quinquies, D.L. 223/2006 e art. 11, co. 2, D.L. 66/2014</a:t>
            </a:r>
            <a:endParaRPr lang="it-IT" sz="1580" b="0" u="none" strike="noStrike">
              <a:solidFill>
                <a:srgbClr val="000000"/>
              </a:solidFill>
              <a:effectLst/>
              <a:uFillTx/>
              <a:latin typeface="Times New Roman"/>
            </a:endParaRPr>
          </a:p>
        </p:txBody>
      </p:sp>
      <p:sp>
        <p:nvSpPr>
          <p:cNvPr id="544" name="Figura a mano libera: forma 543"/>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45" name="CasellaDiTesto 544"/>
          <p:cNvSpPr txBox="1"/>
          <p:nvPr/>
        </p:nvSpPr>
        <p:spPr>
          <a:xfrm>
            <a:off x="971640" y="4507920"/>
            <a:ext cx="105274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Nella lezione si utilizzeranno entrambi i riferimenti: la disciplina sostanziale </a:t>
            </a:r>
            <a:r>
              <a:rPr lang="it-IT" sz="1650" b="1" u="none" strike="noStrike">
                <a:solidFill>
                  <a:srgbClr val="00509E"/>
                </a:solidFill>
                <a:effectLst/>
                <a:uFillTx/>
                <a:latin typeface="SegoeUI"/>
                <a:ea typeface="SegoeUI"/>
              </a:rPr>
              <a:t>non cambia</a:t>
            </a:r>
            <a:r>
              <a:rPr lang="it-IT" sz="1650" b="0" u="none" strike="noStrike">
                <a:solidFill>
                  <a:srgbClr val="212529"/>
                </a:solidFill>
                <a:effectLst/>
                <a:uFillTx/>
                <a:latin typeface="SegoeUI"/>
                <a:ea typeface="SegoeUI"/>
              </a:rPr>
              <a:t>, muta solo la collocazione.</a:t>
            </a:r>
            <a:endParaRPr lang="it-IT" sz="1650" b="0" u="none" strike="noStrike">
              <a:solidFill>
                <a:srgbClr val="000000"/>
              </a:solidFill>
              <a:effectLst/>
              <a:uFillTx/>
              <a:latin typeface="Times New Roman"/>
            </a:endParaRPr>
          </a:p>
        </p:txBody>
      </p:sp>
      <p:sp>
        <p:nvSpPr>
          <p:cNvPr id="546" name="Figura a mano libera: forma 545"/>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47" name="CasellaDiTesto 546"/>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548" name="CasellaDiTesto 547"/>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19 / 73</a:t>
            </a:r>
            <a:endParaRPr lang="it-IT" sz="980" b="0" u="none" strike="noStrike">
              <a:solidFill>
                <a:srgbClr val="000000"/>
              </a:solidFill>
              <a:effectLst/>
              <a:uFillTx/>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Figura a mano libera: forma 54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50" name="Figura a mano libera: forma 54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51" name="Figura a mano libera: forma 550"/>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52" name="Figura a mano libera: forma 551"/>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53" name="CasellaDiTesto 552"/>
          <p:cNvSpPr txBox="1"/>
          <p:nvPr/>
        </p:nvSpPr>
        <p:spPr>
          <a:xfrm>
            <a:off x="2219760" y="2697480"/>
            <a:ext cx="783396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LA COMPENSAZIONE ORIZZONTALE</a:t>
            </a:r>
            <a:endParaRPr lang="it-IT" sz="3600" b="0" u="none" strike="noStrike">
              <a:solidFill>
                <a:srgbClr val="000000"/>
              </a:solidFill>
              <a:effectLst/>
              <a:uFillTx/>
              <a:latin typeface="Times New Roman"/>
            </a:endParaRPr>
          </a:p>
        </p:txBody>
      </p:sp>
      <p:sp>
        <p:nvSpPr>
          <p:cNvPr id="554" name="Figura a mano libera: forma 553"/>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55" name="CasellaDiTesto 554"/>
          <p:cNvSpPr txBox="1"/>
          <p:nvPr/>
        </p:nvSpPr>
        <p:spPr>
          <a:xfrm>
            <a:off x="5212080" y="3647160"/>
            <a:ext cx="2251080" cy="306720"/>
          </a:xfrm>
          <a:prstGeom prst="rect">
            <a:avLst/>
          </a:prstGeom>
          <a:noFill/>
          <a:ln w="0">
            <a:noFill/>
          </a:ln>
        </p:spPr>
        <p:txBody>
          <a:bodyPr wrap="none" lIns="0" tIns="0" rIns="0" bIns="0" anchor="t">
            <a:spAutoFit/>
          </a:bodyPr>
          <a:lstStyle/>
          <a:p>
            <a:r>
              <a:rPr lang="it-IT" sz="1810" b="1" i="1" u="none" strike="noStrike">
                <a:solidFill>
                  <a:srgbClr val="495057"/>
                </a:solidFill>
                <a:effectLst/>
                <a:uFillTx/>
                <a:latin typeface="SegoeUI"/>
                <a:ea typeface="SegoeUI"/>
              </a:rPr>
              <a:t>art. 5 D.Lgs. 33/2025</a:t>
            </a:r>
            <a:endParaRPr lang="it-IT" sz="1810" b="0" u="none" strike="noStrike">
              <a:solidFill>
                <a:srgbClr val="000000"/>
              </a:solidFill>
              <a:effectLst/>
              <a:uFillTx/>
              <a:latin typeface="Times New Roman"/>
            </a:endParaRPr>
          </a:p>
        </p:txBody>
      </p:sp>
      <p:sp>
        <p:nvSpPr>
          <p:cNvPr id="556" name="Figura a mano libera: forma 555"/>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57" name="CasellaDiTesto 556"/>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558" name="CasellaDiTesto 557"/>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20 / 73</a:t>
            </a:r>
            <a:endParaRPr lang="it-IT" sz="980" b="0" u="none" strike="noStrike">
              <a:solidFill>
                <a:srgbClr val="000000"/>
              </a:solidFill>
              <a:effectLst/>
              <a:uFillTx/>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Figura a mano libera: forma 55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60" name="Figura a mano libera: forma 55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61" name="Figura a mano libera: forma 560"/>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62" name="Figura a mano libera: forma 561"/>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63" name="Figura a mano libera: forma 562"/>
          <p:cNvSpPr/>
          <p:nvPr/>
        </p:nvSpPr>
        <p:spPr>
          <a:xfrm>
            <a:off x="971280" y="14950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64" name="CasellaDiTesto 563"/>
          <p:cNvSpPr txBox="1"/>
          <p:nvPr/>
        </p:nvSpPr>
        <p:spPr>
          <a:xfrm>
            <a:off x="971640" y="876240"/>
            <a:ext cx="79927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RATIO E GENESI DELL'ART. 17 D.LGS. 241/1997</a:t>
            </a:r>
            <a:endParaRPr lang="it-IT" sz="2850" b="0" u="none" strike="noStrike">
              <a:solidFill>
                <a:srgbClr val="000000"/>
              </a:solidFill>
              <a:effectLst/>
              <a:uFillTx/>
              <a:latin typeface="Times New Roman"/>
            </a:endParaRPr>
          </a:p>
        </p:txBody>
      </p:sp>
      <p:sp>
        <p:nvSpPr>
          <p:cNvPr id="565" name="CasellaDiTesto 564"/>
          <p:cNvSpPr txBox="1"/>
          <p:nvPr/>
        </p:nvSpPr>
        <p:spPr>
          <a:xfrm>
            <a:off x="971640" y="1631160"/>
            <a:ext cx="102693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Prima del 1° gennaio 1999</a:t>
            </a:r>
            <a:r>
              <a:rPr lang="it-IT" sz="1650" b="0" u="none" strike="noStrike">
                <a:solidFill>
                  <a:srgbClr val="212529"/>
                </a:solidFill>
                <a:effectLst/>
                <a:uFillTx/>
                <a:latin typeface="SegoeUI"/>
                <a:ea typeface="SegoeUI"/>
              </a:rPr>
              <a:t>: versamenti diretti separati per tributo ed ente impositore; nessuna compensazione</a:t>
            </a:r>
            <a:endParaRPr lang="it-IT" sz="1650" b="0" u="none" strike="noStrike">
              <a:solidFill>
                <a:srgbClr val="000000"/>
              </a:solidFill>
              <a:effectLst/>
              <a:uFillTx/>
              <a:latin typeface="Times New Roman"/>
            </a:endParaRPr>
          </a:p>
        </p:txBody>
      </p:sp>
      <p:sp>
        <p:nvSpPr>
          <p:cNvPr id="566" name="CasellaDiTesto 565"/>
          <p:cNvSpPr txBox="1"/>
          <p:nvPr/>
        </p:nvSpPr>
        <p:spPr>
          <a:xfrm>
            <a:off x="971640" y="1955160"/>
            <a:ext cx="10576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orizzontale.</a:t>
            </a:r>
            <a:endParaRPr lang="it-IT" sz="1650" b="0" u="none" strike="noStrike">
              <a:solidFill>
                <a:srgbClr val="000000"/>
              </a:solidFill>
              <a:effectLst/>
              <a:uFillTx/>
              <a:latin typeface="Times New Roman"/>
            </a:endParaRPr>
          </a:p>
        </p:txBody>
      </p:sp>
      <p:sp>
        <p:nvSpPr>
          <p:cNvPr id="567" name="Figura a mano libera: forma 566"/>
          <p:cNvSpPr/>
          <p:nvPr/>
        </p:nvSpPr>
        <p:spPr>
          <a:xfrm>
            <a:off x="1028520" y="3019320"/>
            <a:ext cx="76680" cy="76320"/>
          </a:xfrm>
          <a:custGeom>
            <a:avLst/>
            <a:gdLst/>
            <a:ahLst/>
            <a:cxnLst/>
            <a:rect l="0" t="0" r="r" b="b"/>
            <a:pathLst>
              <a:path w="213" h="212">
                <a:moveTo>
                  <a:pt x="213" y="106"/>
                </a:moveTo>
                <a:cubicBezTo>
                  <a:pt x="213" y="120"/>
                  <a:pt x="210" y="133"/>
                  <a:pt x="205" y="146"/>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68" name="CasellaDiTesto 567"/>
          <p:cNvSpPr txBox="1"/>
          <p:nvPr/>
        </p:nvSpPr>
        <p:spPr>
          <a:xfrm>
            <a:off x="971640" y="2431440"/>
            <a:ext cx="9097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Dal 1999</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569" name="Figura a mano libera: forma 568"/>
          <p:cNvSpPr/>
          <p:nvPr/>
        </p:nvSpPr>
        <p:spPr>
          <a:xfrm>
            <a:off x="1028520" y="3504960"/>
            <a:ext cx="76680" cy="76680"/>
          </a:xfrm>
          <a:custGeom>
            <a:avLst/>
            <a:gdLst/>
            <a:ahLst/>
            <a:cxnLst/>
            <a:rect l="0" t="0" r="r" b="b"/>
            <a:pathLst>
              <a:path w="213" h="213">
                <a:moveTo>
                  <a:pt x="213" y="107"/>
                </a:moveTo>
                <a:cubicBezTo>
                  <a:pt x="213" y="121"/>
                  <a:pt x="210" y="135"/>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5"/>
                  <a:pt x="0" y="121"/>
                  <a:pt x="0" y="107"/>
                </a:cubicBezTo>
                <a:cubicBezTo>
                  <a:pt x="0" y="93"/>
                  <a:pt x="3" y="79"/>
                  <a:pt x="8" y="65"/>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5"/>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70" name="CasellaDiTesto 569"/>
          <p:cNvSpPr txBox="1"/>
          <p:nvPr/>
        </p:nvSpPr>
        <p:spPr>
          <a:xfrm>
            <a:off x="1238400" y="2908440"/>
            <a:ext cx="3814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versamento unitario mediante modello </a:t>
            </a:r>
            <a:r>
              <a:rPr lang="it-IT" sz="1580" b="1" u="none" strike="noStrike">
                <a:solidFill>
                  <a:srgbClr val="00509E"/>
                </a:solidFill>
                <a:effectLst/>
                <a:uFillTx/>
                <a:latin typeface="SegoeUI"/>
                <a:ea typeface="SegoeUI"/>
              </a:rPr>
              <a:t>F24</a:t>
            </a:r>
            <a:endParaRPr lang="it-IT" sz="1580" b="0" u="none" strike="noStrike">
              <a:solidFill>
                <a:srgbClr val="000000"/>
              </a:solidFill>
              <a:effectLst/>
              <a:uFillTx/>
              <a:latin typeface="Times New Roman"/>
            </a:endParaRPr>
          </a:p>
        </p:txBody>
      </p:sp>
      <p:sp>
        <p:nvSpPr>
          <p:cNvPr id="571" name="CasellaDiTesto 570"/>
          <p:cNvSpPr txBox="1"/>
          <p:nvPr/>
        </p:nvSpPr>
        <p:spPr>
          <a:xfrm>
            <a:off x="1238400" y="3394080"/>
            <a:ext cx="87577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istituita la </a:t>
            </a:r>
            <a:r>
              <a:rPr lang="it-IT" sz="1580" b="0" i="1" u="none" strike="noStrike">
                <a:solidFill>
                  <a:srgbClr val="495057"/>
                </a:solidFill>
                <a:effectLst/>
                <a:uFillTx/>
                <a:latin typeface="SegoeUI"/>
                <a:ea typeface="SegoeUI"/>
              </a:rPr>
              <a:t>Struttura di Gestione</a:t>
            </a:r>
            <a:r>
              <a:rPr lang="it-IT" sz="1580" b="0" u="none" strike="noStrike">
                <a:solidFill>
                  <a:srgbClr val="343A40"/>
                </a:solidFill>
                <a:effectLst/>
                <a:uFillTx/>
                <a:latin typeface="SegoeUI"/>
                <a:ea typeface="SegoeUI"/>
              </a:rPr>
              <a:t> presso il MEF (art. 22 D.Lgs. 241/1997; D.M. 22 maggio 1998, n. 183).</a:t>
            </a:r>
            <a:endParaRPr lang="it-IT" sz="1580" b="0" u="none" strike="noStrike">
              <a:solidFill>
                <a:srgbClr val="000000"/>
              </a:solidFill>
              <a:effectLst/>
              <a:uFillTx/>
              <a:latin typeface="Times New Roman"/>
            </a:endParaRPr>
          </a:p>
        </p:txBody>
      </p:sp>
      <p:sp>
        <p:nvSpPr>
          <p:cNvPr id="572" name="Figura a mano libera: forma 571"/>
          <p:cNvSpPr/>
          <p:nvPr/>
        </p:nvSpPr>
        <p:spPr>
          <a:xfrm>
            <a:off x="1028520" y="4457520"/>
            <a:ext cx="76680" cy="76680"/>
          </a:xfrm>
          <a:custGeom>
            <a:avLst/>
            <a:gdLst/>
            <a:ahLst/>
            <a:cxnLst/>
            <a:rect l="0" t="0" r="r" b="b"/>
            <a:pathLst>
              <a:path w="213" h="213">
                <a:moveTo>
                  <a:pt x="213" y="106"/>
                </a:moveTo>
                <a:cubicBezTo>
                  <a:pt x="213" y="120"/>
                  <a:pt x="210" y="133"/>
                  <a:pt x="205" y="146"/>
                </a:cubicBezTo>
                <a:cubicBezTo>
                  <a:pt x="198" y="159"/>
                  <a:pt x="191" y="171"/>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73" name="CasellaDiTesto 572"/>
          <p:cNvSpPr txBox="1"/>
          <p:nvPr/>
        </p:nvSpPr>
        <p:spPr>
          <a:xfrm>
            <a:off x="971640" y="3869640"/>
            <a:ext cx="20520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Obiettivi della riforma:</a:t>
            </a:r>
            <a:endParaRPr lang="it-IT" sz="1650" b="0" u="none" strike="noStrike">
              <a:solidFill>
                <a:srgbClr val="000000"/>
              </a:solidFill>
              <a:effectLst/>
              <a:uFillTx/>
              <a:latin typeface="Times New Roman"/>
            </a:endParaRPr>
          </a:p>
        </p:txBody>
      </p:sp>
      <p:sp>
        <p:nvSpPr>
          <p:cNvPr id="574" name="Figura a mano libera: forma 573"/>
          <p:cNvSpPr/>
          <p:nvPr/>
        </p:nvSpPr>
        <p:spPr>
          <a:xfrm>
            <a:off x="1028520" y="494316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75" name="CasellaDiTesto 574"/>
          <p:cNvSpPr txBox="1"/>
          <p:nvPr/>
        </p:nvSpPr>
        <p:spPr>
          <a:xfrm>
            <a:off x="1238400" y="4346640"/>
            <a:ext cx="2280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semplificazione ed equità;</a:t>
            </a:r>
            <a:endParaRPr lang="it-IT" sz="1580" b="0" u="none" strike="noStrike">
              <a:solidFill>
                <a:srgbClr val="000000"/>
              </a:solidFill>
              <a:effectLst/>
              <a:uFillTx/>
              <a:latin typeface="Times New Roman"/>
            </a:endParaRPr>
          </a:p>
        </p:txBody>
      </p:sp>
      <p:sp>
        <p:nvSpPr>
          <p:cNvPr id="576" name="Figura a mano libera: forma 575"/>
          <p:cNvSpPr/>
          <p:nvPr/>
        </p:nvSpPr>
        <p:spPr>
          <a:xfrm>
            <a:off x="1028520" y="54194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77" name="CasellaDiTesto 576"/>
          <p:cNvSpPr txBox="1"/>
          <p:nvPr/>
        </p:nvSpPr>
        <p:spPr>
          <a:xfrm>
            <a:off x="1238400" y="4832280"/>
            <a:ext cx="32490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razionalizzazione degli adempimenti;</a:t>
            </a:r>
            <a:endParaRPr lang="it-IT" sz="1580" b="0" u="none" strike="noStrike">
              <a:solidFill>
                <a:srgbClr val="000000"/>
              </a:solidFill>
              <a:effectLst/>
              <a:uFillTx/>
              <a:latin typeface="Times New Roman"/>
            </a:endParaRPr>
          </a:p>
        </p:txBody>
      </p:sp>
      <p:sp>
        <p:nvSpPr>
          <p:cNvPr id="578" name="Figura a mano libera: forma 57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79" name="CasellaDiTesto 578"/>
          <p:cNvSpPr txBox="1"/>
          <p:nvPr/>
        </p:nvSpPr>
        <p:spPr>
          <a:xfrm>
            <a:off x="1238400" y="5308560"/>
            <a:ext cx="74444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riequilibrio nei rapporti tra fisco e contribuente (</a:t>
            </a:r>
            <a:r>
              <a:rPr lang="it-IT" sz="1580" b="0" i="1" u="none" strike="noStrike">
                <a:solidFill>
                  <a:srgbClr val="495057"/>
                </a:solidFill>
                <a:effectLst/>
                <a:uFillTx/>
                <a:latin typeface="SegoeUI"/>
                <a:ea typeface="SegoeUI"/>
              </a:rPr>
              <a:t>non più: pago e poi chiedo rimborso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580" name="Figura a mano libera: forma 57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81" name="CasellaDiTesto 58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582" name="CasellaDiTesto 58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21 / 73</a:t>
            </a:r>
            <a:endParaRPr lang="it-IT" sz="980" b="0" u="none" strike="noStrike">
              <a:solidFill>
                <a:srgbClr val="000000"/>
              </a:solidFill>
              <a:effectLst/>
              <a:uFillTx/>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Figura a mano libera: forma 58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84" name="Figura a mano libera: forma 58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85" name="Figura a mano libera: forma 58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86" name="Figura a mano libera: forma 58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87" name="Figura a mano libera: forma 586"/>
          <p:cNvSpPr/>
          <p:nvPr/>
        </p:nvSpPr>
        <p:spPr>
          <a:xfrm>
            <a:off x="971280" y="1809720"/>
            <a:ext cx="10554120" cy="19080"/>
          </a:xfrm>
          <a:custGeom>
            <a:avLst/>
            <a:gdLst/>
            <a:ahLst/>
            <a:cxnLst/>
            <a:rect l="0" t="0" r="r" b="b"/>
            <a:pathLst>
              <a:path w="29317" h="53">
                <a:moveTo>
                  <a:pt x="0" y="0"/>
                </a:moveTo>
                <a:lnTo>
                  <a:pt x="29317" y="0"/>
                </a:lnTo>
                <a:lnTo>
                  <a:pt x="29317" y="53"/>
                </a:lnTo>
                <a:lnTo>
                  <a:pt x="0" y="53"/>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588" name="CasellaDiTesto 587"/>
          <p:cNvSpPr txBox="1"/>
          <p:nvPr/>
        </p:nvSpPr>
        <p:spPr>
          <a:xfrm>
            <a:off x="971640" y="1190520"/>
            <a:ext cx="73044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RUOLO DELLA STRUTTURA DI GESTIONE</a:t>
            </a:r>
            <a:endParaRPr lang="it-IT" sz="2850" b="0" u="none" strike="noStrike">
              <a:solidFill>
                <a:srgbClr val="000000"/>
              </a:solidFill>
              <a:effectLst/>
              <a:uFillTx/>
              <a:latin typeface="Times New Roman"/>
            </a:endParaRPr>
          </a:p>
        </p:txBody>
      </p:sp>
      <p:sp>
        <p:nvSpPr>
          <p:cNvPr id="589" name="CasellaDiTesto 588"/>
          <p:cNvSpPr txBox="1"/>
          <p:nvPr/>
        </p:nvSpPr>
        <p:spPr>
          <a:xfrm>
            <a:off x="971640" y="1945440"/>
            <a:ext cx="101250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Il modello F24 viene presentato all'Agenzia delle Entrate </a:t>
            </a:r>
            <a:r>
              <a:rPr lang="it-IT" sz="1650" b="1" u="none" strike="noStrike">
                <a:solidFill>
                  <a:srgbClr val="00509E"/>
                </a:solidFill>
                <a:effectLst/>
                <a:uFillTx/>
                <a:latin typeface="SegoeUI"/>
                <a:ea typeface="SegoeUI"/>
              </a:rPr>
              <a:t>per via telematica</a:t>
            </a:r>
            <a:r>
              <a:rPr lang="it-IT" sz="1650" b="0" u="none" strike="noStrike">
                <a:solidFill>
                  <a:srgbClr val="212529"/>
                </a:solidFill>
                <a:effectLst/>
                <a:uFillTx/>
                <a:latin typeface="SegoeUI"/>
                <a:ea typeface="SegoeUI"/>
              </a:rPr>
              <a:t> (Entratel/Fisconline o intermediari</a:t>
            </a:r>
            <a:endParaRPr lang="it-IT" sz="1650" b="0" u="none" strike="noStrike">
              <a:solidFill>
                <a:srgbClr val="000000"/>
              </a:solidFill>
              <a:effectLst/>
              <a:uFillTx/>
              <a:latin typeface="Times New Roman"/>
            </a:endParaRPr>
          </a:p>
        </p:txBody>
      </p:sp>
      <p:sp>
        <p:nvSpPr>
          <p:cNvPr id="590" name="CasellaDiTesto 589"/>
          <p:cNvSpPr txBox="1"/>
          <p:nvPr/>
        </p:nvSpPr>
        <p:spPr>
          <a:xfrm>
            <a:off x="971640" y="2269440"/>
            <a:ext cx="76996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abilitati per i soggetti IVA – obbligo generalizzato dal 2024 anche per INPS e INAIL).</a:t>
            </a:r>
            <a:endParaRPr lang="it-IT" sz="1650" b="0" u="none" strike="noStrike">
              <a:solidFill>
                <a:srgbClr val="000000"/>
              </a:solidFill>
              <a:effectLst/>
              <a:uFillTx/>
              <a:latin typeface="Times New Roman"/>
            </a:endParaRPr>
          </a:p>
        </p:txBody>
      </p:sp>
      <p:sp>
        <p:nvSpPr>
          <p:cNvPr id="591" name="Figura a mano libera: forma 590"/>
          <p:cNvSpPr/>
          <p:nvPr/>
        </p:nvSpPr>
        <p:spPr>
          <a:xfrm>
            <a:off x="1028520" y="3333600"/>
            <a:ext cx="76680" cy="76680"/>
          </a:xfrm>
          <a:custGeom>
            <a:avLst/>
            <a:gdLst/>
            <a:ahLst/>
            <a:cxnLst/>
            <a:rect l="0" t="0" r="r" b="b"/>
            <a:pathLst>
              <a:path w="213" h="213">
                <a:moveTo>
                  <a:pt x="213" y="106"/>
                </a:moveTo>
                <a:cubicBezTo>
                  <a:pt x="213" y="120"/>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92" name="CasellaDiTesto 591"/>
          <p:cNvSpPr txBox="1"/>
          <p:nvPr/>
        </p:nvSpPr>
        <p:spPr>
          <a:xfrm>
            <a:off x="971640" y="2745720"/>
            <a:ext cx="4550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 </a:t>
            </a:r>
            <a:r>
              <a:rPr lang="it-IT" sz="1650" b="1" u="none" strike="noStrike">
                <a:solidFill>
                  <a:srgbClr val="00509E"/>
                </a:solidFill>
                <a:effectLst/>
                <a:uFillTx/>
                <a:latin typeface="SegoeUI"/>
                <a:ea typeface="SegoeUI"/>
              </a:rPr>
              <a:t>Struttura di Gestione</a:t>
            </a:r>
            <a:r>
              <a:rPr lang="it-IT" sz="1650" b="0" u="none" strike="noStrike">
                <a:solidFill>
                  <a:srgbClr val="212529"/>
                </a:solidFill>
                <a:effectLst/>
                <a:uFillTx/>
                <a:latin typeface="SegoeUI"/>
                <a:ea typeface="SegoeUI"/>
              </a:rPr>
              <a:t> dei versamenti unificati:</a:t>
            </a:r>
            <a:endParaRPr lang="it-IT" sz="1650" b="0" u="none" strike="noStrike">
              <a:solidFill>
                <a:srgbClr val="000000"/>
              </a:solidFill>
              <a:effectLst/>
              <a:uFillTx/>
              <a:latin typeface="Times New Roman"/>
            </a:endParaRPr>
          </a:p>
        </p:txBody>
      </p:sp>
      <p:sp>
        <p:nvSpPr>
          <p:cNvPr id="593" name="Figura a mano libera: forma 592"/>
          <p:cNvSpPr/>
          <p:nvPr/>
        </p:nvSpPr>
        <p:spPr>
          <a:xfrm>
            <a:off x="1028520" y="38192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94" name="CasellaDiTesto 593"/>
          <p:cNvSpPr txBox="1"/>
          <p:nvPr/>
        </p:nvSpPr>
        <p:spPr>
          <a:xfrm>
            <a:off x="1238400" y="3222720"/>
            <a:ext cx="2067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riceve i flussi telematici;</a:t>
            </a:r>
            <a:endParaRPr lang="it-IT" sz="1580" b="0" u="none" strike="noStrike">
              <a:solidFill>
                <a:srgbClr val="000000"/>
              </a:solidFill>
              <a:effectLst/>
              <a:uFillTx/>
              <a:latin typeface="Times New Roman"/>
            </a:endParaRPr>
          </a:p>
        </p:txBody>
      </p:sp>
      <p:sp>
        <p:nvSpPr>
          <p:cNvPr id="595" name="Figura a mano libera: forma 594"/>
          <p:cNvSpPr/>
          <p:nvPr/>
        </p:nvSpPr>
        <p:spPr>
          <a:xfrm>
            <a:off x="1028520" y="4295520"/>
            <a:ext cx="76680" cy="76680"/>
          </a:xfrm>
          <a:custGeom>
            <a:avLst/>
            <a:gdLst/>
            <a:ahLst/>
            <a:cxnLst/>
            <a:rect l="0" t="0" r="r" b="b"/>
            <a:pathLst>
              <a:path w="213" h="213">
                <a:moveTo>
                  <a:pt x="213" y="106"/>
                </a:moveTo>
                <a:cubicBezTo>
                  <a:pt x="213" y="120"/>
                  <a:pt x="210" y="134"/>
                  <a:pt x="205" y="147"/>
                </a:cubicBezTo>
                <a:cubicBezTo>
                  <a:pt x="198" y="160"/>
                  <a:pt x="191" y="171"/>
                  <a:pt x="181" y="181"/>
                </a:cubicBezTo>
                <a:cubicBezTo>
                  <a:pt x="171" y="191"/>
                  <a:pt x="159" y="198"/>
                  <a:pt x="146" y="205"/>
                </a:cubicBezTo>
                <a:cubicBezTo>
                  <a:pt x="133" y="210"/>
                  <a:pt x="120" y="213"/>
                  <a:pt x="106" y="213"/>
                </a:cubicBezTo>
                <a:cubicBezTo>
                  <a:pt x="92" y="213"/>
                  <a:pt x="78" y="210"/>
                  <a:pt x="65" y="205"/>
                </a:cubicBezTo>
                <a:cubicBezTo>
                  <a:pt x="52" y="198"/>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96" name="CasellaDiTesto 595"/>
          <p:cNvSpPr txBox="1"/>
          <p:nvPr/>
        </p:nvSpPr>
        <p:spPr>
          <a:xfrm>
            <a:off x="1238400" y="3708360"/>
            <a:ext cx="3706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ripartisce gli importi tra gli enti impositori;</a:t>
            </a:r>
            <a:endParaRPr lang="it-IT" sz="1580" b="0" u="none" strike="noStrike">
              <a:solidFill>
                <a:srgbClr val="000000"/>
              </a:solidFill>
              <a:effectLst/>
              <a:uFillTx/>
              <a:latin typeface="Times New Roman"/>
            </a:endParaRPr>
          </a:p>
        </p:txBody>
      </p:sp>
      <p:sp>
        <p:nvSpPr>
          <p:cNvPr id="597" name="Figura a mano libera: forma 596"/>
          <p:cNvSpPr/>
          <p:nvPr/>
        </p:nvSpPr>
        <p:spPr>
          <a:xfrm>
            <a:off x="1028520" y="4781520"/>
            <a:ext cx="76680" cy="76320"/>
          </a:xfrm>
          <a:custGeom>
            <a:avLst/>
            <a:gdLst/>
            <a:ahLst/>
            <a:cxnLst/>
            <a:rect l="0" t="0" r="r" b="b"/>
            <a:pathLst>
              <a:path w="213" h="212">
                <a:moveTo>
                  <a:pt x="213" y="105"/>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598" name="CasellaDiTesto 597"/>
          <p:cNvSpPr txBox="1"/>
          <p:nvPr/>
        </p:nvSpPr>
        <p:spPr>
          <a:xfrm>
            <a:off x="1238400" y="4184640"/>
            <a:ext cx="63658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esegue la "girocontazione" delle somme </a:t>
            </a:r>
            <a:r>
              <a:rPr lang="it-IT" sz="1580" b="1" u="none" strike="noStrike">
                <a:solidFill>
                  <a:srgbClr val="00509E"/>
                </a:solidFill>
                <a:effectLst/>
                <a:uFillTx/>
                <a:latin typeface="SegoeUI"/>
                <a:ea typeface="SegoeUI"/>
              </a:rPr>
              <a:t>al lordo</a:t>
            </a:r>
            <a:r>
              <a:rPr lang="it-IT" sz="1580" b="0" u="none" strike="noStrike">
                <a:solidFill>
                  <a:srgbClr val="343A40"/>
                </a:solidFill>
                <a:effectLst/>
                <a:uFillTx/>
                <a:latin typeface="SegoeUI"/>
                <a:ea typeface="SegoeUI"/>
              </a:rPr>
              <a:t> dei crediti compensati;</a:t>
            </a:r>
            <a:endParaRPr lang="it-IT" sz="1580" b="0" u="none" strike="noStrike">
              <a:solidFill>
                <a:srgbClr val="000000"/>
              </a:solidFill>
              <a:effectLst/>
              <a:uFillTx/>
              <a:latin typeface="Times New Roman"/>
            </a:endParaRPr>
          </a:p>
        </p:txBody>
      </p:sp>
      <p:sp>
        <p:nvSpPr>
          <p:cNvPr id="599" name="CasellaDiTesto 598"/>
          <p:cNvSpPr txBox="1"/>
          <p:nvPr/>
        </p:nvSpPr>
        <p:spPr>
          <a:xfrm>
            <a:off x="1238400" y="4670640"/>
            <a:ext cx="7320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consente che ogni ente percepisca il dovuto come se fosse stato versato per intero.</a:t>
            </a:r>
            <a:endParaRPr lang="it-IT" sz="1580" b="0" u="none" strike="noStrike">
              <a:solidFill>
                <a:srgbClr val="000000"/>
              </a:solidFill>
              <a:effectLst/>
              <a:uFillTx/>
              <a:latin typeface="Times New Roman"/>
            </a:endParaRPr>
          </a:p>
        </p:txBody>
      </p:sp>
      <p:sp>
        <p:nvSpPr>
          <p:cNvPr id="600" name="Figura a mano libera: forma 59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01" name="CasellaDiTesto 600"/>
          <p:cNvSpPr txBox="1"/>
          <p:nvPr/>
        </p:nvSpPr>
        <p:spPr>
          <a:xfrm>
            <a:off x="971640" y="5145840"/>
            <a:ext cx="9343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 La compensazione orizzontale </a:t>
            </a:r>
            <a:r>
              <a:rPr lang="it-IT" sz="1650" b="1" u="none" strike="noStrike">
                <a:solidFill>
                  <a:srgbClr val="00509E"/>
                </a:solidFill>
                <a:effectLst/>
                <a:uFillTx/>
                <a:latin typeface="SegoeUI"/>
                <a:ea typeface="SegoeUI"/>
              </a:rPr>
              <a:t>non richiede reciprocità</a:t>
            </a:r>
            <a:r>
              <a:rPr lang="it-IT" sz="1650" b="0" u="none" strike="noStrike">
                <a:solidFill>
                  <a:srgbClr val="212529"/>
                </a:solidFill>
                <a:effectLst/>
                <a:uFillTx/>
                <a:latin typeface="SegoeUI"/>
                <a:ea typeface="SegoeUI"/>
              </a:rPr>
              <a:t>: opera come un meccanismo </a:t>
            </a:r>
            <a:r>
              <a:rPr lang="it-IT" sz="1650" b="0" i="1" u="none" strike="noStrike">
                <a:solidFill>
                  <a:srgbClr val="495057"/>
                </a:solidFill>
                <a:effectLst/>
                <a:uFillTx/>
                <a:latin typeface="SegoeUI"/>
                <a:ea typeface="SegoeUI"/>
              </a:rPr>
              <a:t>multilaterale</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602" name="Figura a mano libera: forma 60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03" name="CasellaDiTesto 60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604" name="CasellaDiTesto 60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22 / 73</a:t>
            </a:r>
            <a:endParaRPr lang="it-IT" sz="980" b="0" u="none" strike="noStrike">
              <a:solidFill>
                <a:srgbClr val="000000"/>
              </a:solidFill>
              <a:effectLst/>
              <a:uFillTx/>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 name="Figura a mano libera: forma 60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06" name="Figura a mano libera: forma 60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07" name="Figura a mano libera: forma 60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08" name="Figura a mano libera: forma 60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09" name="Figura a mano libera: forma 608"/>
          <p:cNvSpPr/>
          <p:nvPr/>
        </p:nvSpPr>
        <p:spPr>
          <a:xfrm>
            <a:off x="971280" y="17715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10" name="Figura a mano libera: forma 609"/>
          <p:cNvSpPr/>
          <p:nvPr/>
        </p:nvSpPr>
        <p:spPr>
          <a:xfrm>
            <a:off x="975960" y="1985760"/>
            <a:ext cx="10544760" cy="943200"/>
          </a:xfrm>
          <a:custGeom>
            <a:avLst/>
            <a:gdLst/>
            <a:ahLst/>
            <a:cxnLst/>
            <a:rect l="0" t="0" r="r" b="b"/>
            <a:pathLst>
              <a:path w="29291" h="2620">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0"/>
                  <a:pt x="29198" y="2620"/>
                </a:cubicBezTo>
                <a:lnTo>
                  <a:pt x="93" y="2620"/>
                </a:lnTo>
                <a:cubicBezTo>
                  <a:pt x="81" y="2620"/>
                  <a:pt x="69" y="2618"/>
                  <a:pt x="58" y="2613"/>
                </a:cubicBezTo>
                <a:cubicBezTo>
                  <a:pt x="46" y="2609"/>
                  <a:pt x="36" y="2602"/>
                  <a:pt x="28" y="2593"/>
                </a:cubicBezTo>
                <a:cubicBezTo>
                  <a:pt x="19" y="2585"/>
                  <a:pt x="12" y="2575"/>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11" name="Figura a mano libera: forma 610"/>
          <p:cNvSpPr/>
          <p:nvPr/>
        </p:nvSpPr>
        <p:spPr>
          <a:xfrm>
            <a:off x="975960" y="1985760"/>
            <a:ext cx="10544760" cy="943200"/>
          </a:xfrm>
          <a:custGeom>
            <a:avLst/>
            <a:gdLst/>
            <a:ahLst/>
            <a:cxnLst/>
            <a:rect l="0" t="0" r="r" b="b"/>
            <a:pathLst>
              <a:path w="29291" h="2620">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0"/>
                  <a:pt x="29198" y="2620"/>
                </a:cubicBezTo>
                <a:lnTo>
                  <a:pt x="93" y="2620"/>
                </a:lnTo>
                <a:cubicBezTo>
                  <a:pt x="81" y="2620"/>
                  <a:pt x="69" y="2618"/>
                  <a:pt x="58" y="2613"/>
                </a:cubicBezTo>
                <a:cubicBezTo>
                  <a:pt x="46" y="2609"/>
                  <a:pt x="36" y="2602"/>
                  <a:pt x="28" y="2593"/>
                </a:cubicBezTo>
                <a:cubicBezTo>
                  <a:pt x="19" y="2585"/>
                  <a:pt x="12" y="2575"/>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612" name="CasellaDiTesto 611"/>
          <p:cNvSpPr txBox="1"/>
          <p:nvPr/>
        </p:nvSpPr>
        <p:spPr>
          <a:xfrm>
            <a:off x="971640" y="1162080"/>
            <a:ext cx="92728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NATURA GIURIDICA DELLA COMPENSAZIONE FISCALE</a:t>
            </a:r>
            <a:endParaRPr lang="it-IT" sz="2850" b="0" u="none" strike="noStrike">
              <a:solidFill>
                <a:srgbClr val="000000"/>
              </a:solidFill>
              <a:effectLst/>
              <a:uFillTx/>
              <a:latin typeface="Times New Roman"/>
            </a:endParaRPr>
          </a:p>
        </p:txBody>
      </p:sp>
      <p:sp>
        <p:nvSpPr>
          <p:cNvPr id="613" name="CasellaDiTesto 612"/>
          <p:cNvSpPr txBox="1"/>
          <p:nvPr/>
        </p:nvSpPr>
        <p:spPr>
          <a:xfrm>
            <a:off x="1209600" y="2185200"/>
            <a:ext cx="986292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La compensazione ex art. 17 non è "</a:t>
            </a:r>
            <a:r>
              <a:rPr lang="it-IT" sz="1500" b="0" i="1" u="none" strike="noStrike">
                <a:solidFill>
                  <a:srgbClr val="495057"/>
                </a:solidFill>
                <a:effectLst/>
                <a:uFillTx/>
                <a:latin typeface="SegoeUI"/>
                <a:ea typeface="SegoeUI"/>
              </a:rPr>
              <a:t>compensazione</a:t>
            </a:r>
            <a:r>
              <a:rPr lang="it-IT" sz="1500" b="0" u="none" strike="noStrike">
                <a:solidFill>
                  <a:srgbClr val="343A40"/>
                </a:solidFill>
                <a:effectLst/>
                <a:uFillTx/>
                <a:latin typeface="SegoeUI"/>
                <a:ea typeface="SegoeUI"/>
              </a:rPr>
              <a:t>" in senso tecnico: è </a:t>
            </a:r>
            <a:r>
              <a:rPr lang="it-IT" sz="1500" b="1" u="none" strike="noStrike">
                <a:solidFill>
                  <a:srgbClr val="00509E"/>
                </a:solidFill>
                <a:effectLst/>
                <a:uFillTx/>
                <a:latin typeface="SegoeUI"/>
                <a:ea typeface="SegoeUI"/>
              </a:rPr>
              <a:t>riallocazione</a:t>
            </a:r>
            <a:r>
              <a:rPr lang="it-IT" sz="1500" b="0" u="none" strike="noStrike">
                <a:solidFill>
                  <a:srgbClr val="343A40"/>
                </a:solidFill>
                <a:effectLst/>
                <a:uFillTx/>
                <a:latin typeface="SegoeUI"/>
                <a:ea typeface="SegoeUI"/>
              </a:rPr>
              <a:t> di somme già nella disponibilità</a:t>
            </a:r>
            <a:endParaRPr lang="it-IT" sz="1500" b="0" u="none" strike="noStrike">
              <a:solidFill>
                <a:srgbClr val="000000"/>
              </a:solidFill>
              <a:effectLst/>
              <a:uFillTx/>
              <a:latin typeface="Times New Roman"/>
            </a:endParaRPr>
          </a:p>
        </p:txBody>
      </p:sp>
      <p:sp>
        <p:nvSpPr>
          <p:cNvPr id="614" name="CasellaDiTesto 613"/>
          <p:cNvSpPr txBox="1"/>
          <p:nvPr/>
        </p:nvSpPr>
        <p:spPr>
          <a:xfrm>
            <a:off x="1209600" y="2480400"/>
            <a:ext cx="87660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dell'erario.</a:t>
            </a:r>
            <a:endParaRPr lang="it-IT" sz="1500" b="0" u="none" strike="noStrike">
              <a:solidFill>
                <a:srgbClr val="000000"/>
              </a:solidFill>
              <a:effectLst/>
              <a:uFillTx/>
              <a:latin typeface="Times New Roman"/>
            </a:endParaRPr>
          </a:p>
        </p:txBody>
      </p:sp>
      <p:sp>
        <p:nvSpPr>
          <p:cNvPr id="615" name="Figura a mano libera: forma 614"/>
          <p:cNvSpPr/>
          <p:nvPr/>
        </p:nvSpPr>
        <p:spPr>
          <a:xfrm>
            <a:off x="1028520" y="3695400"/>
            <a:ext cx="76680" cy="76680"/>
          </a:xfrm>
          <a:custGeom>
            <a:avLst/>
            <a:gdLst/>
            <a:ahLst/>
            <a:cxnLst/>
            <a:rect l="0" t="0" r="r" b="b"/>
            <a:pathLst>
              <a:path w="213" h="213">
                <a:moveTo>
                  <a:pt x="213" y="106"/>
                </a:moveTo>
                <a:cubicBezTo>
                  <a:pt x="213" y="120"/>
                  <a:pt x="210" y="134"/>
                  <a:pt x="205" y="147"/>
                </a:cubicBezTo>
                <a:cubicBezTo>
                  <a:pt x="198" y="160"/>
                  <a:pt x="191" y="171"/>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16" name="CasellaDiTesto 615"/>
          <p:cNvSpPr txBox="1"/>
          <p:nvPr/>
        </p:nvSpPr>
        <p:spPr>
          <a:xfrm>
            <a:off x="971640" y="3107520"/>
            <a:ext cx="19033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Elementi a sostegno:</a:t>
            </a:r>
            <a:endParaRPr lang="it-IT" sz="1650" b="0" u="none" strike="noStrike">
              <a:solidFill>
                <a:srgbClr val="000000"/>
              </a:solidFill>
              <a:effectLst/>
              <a:uFillTx/>
              <a:latin typeface="Times New Roman"/>
            </a:endParaRPr>
          </a:p>
        </p:txBody>
      </p:sp>
      <p:sp>
        <p:nvSpPr>
          <p:cNvPr id="617" name="Figura a mano libera: forma 616"/>
          <p:cNvSpPr/>
          <p:nvPr/>
        </p:nvSpPr>
        <p:spPr>
          <a:xfrm>
            <a:off x="1028520" y="418140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18" name="CasellaDiTesto 617"/>
          <p:cNvSpPr txBox="1"/>
          <p:nvPr/>
        </p:nvSpPr>
        <p:spPr>
          <a:xfrm>
            <a:off x="1238400" y="3584520"/>
            <a:ext cx="6494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le somme compensate sono attinte dai fondi dei versamenti già effettuati;</a:t>
            </a:r>
            <a:endParaRPr lang="it-IT" sz="1580" b="0" u="none" strike="noStrike">
              <a:solidFill>
                <a:srgbClr val="000000"/>
              </a:solidFill>
              <a:effectLst/>
              <a:uFillTx/>
              <a:latin typeface="Times New Roman"/>
            </a:endParaRPr>
          </a:p>
        </p:txBody>
      </p:sp>
      <p:sp>
        <p:nvSpPr>
          <p:cNvPr id="619" name="Figura a mano libera: forma 618"/>
          <p:cNvSpPr/>
          <p:nvPr/>
        </p:nvSpPr>
        <p:spPr>
          <a:xfrm>
            <a:off x="1028520" y="4657680"/>
            <a:ext cx="76680" cy="76320"/>
          </a:xfrm>
          <a:custGeom>
            <a:avLst/>
            <a:gdLst/>
            <a:ahLst/>
            <a:cxnLst/>
            <a:rect l="0" t="0" r="r" b="b"/>
            <a:pathLst>
              <a:path w="213" h="212">
                <a:moveTo>
                  <a:pt x="213" y="106"/>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2"/>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2"/>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20" name="CasellaDiTesto 619"/>
          <p:cNvSpPr txBox="1"/>
          <p:nvPr/>
        </p:nvSpPr>
        <p:spPr>
          <a:xfrm>
            <a:off x="1238400" y="4070520"/>
            <a:ext cx="80175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 Struttura di Gestione non verifica la sussistenza del credito al momento dell'imputazione;</a:t>
            </a:r>
            <a:endParaRPr lang="it-IT" sz="1580" b="0" u="none" strike="noStrike">
              <a:solidFill>
                <a:srgbClr val="000000"/>
              </a:solidFill>
              <a:effectLst/>
              <a:uFillTx/>
              <a:latin typeface="Times New Roman"/>
            </a:endParaRPr>
          </a:p>
        </p:txBody>
      </p:sp>
      <p:sp>
        <p:nvSpPr>
          <p:cNvPr id="621" name="Figura a mano libera: forma 620"/>
          <p:cNvSpPr/>
          <p:nvPr/>
        </p:nvSpPr>
        <p:spPr>
          <a:xfrm>
            <a:off x="1028520" y="5143320"/>
            <a:ext cx="76680" cy="76680"/>
          </a:xfrm>
          <a:custGeom>
            <a:avLst/>
            <a:gdLst/>
            <a:ahLst/>
            <a:cxnLst/>
            <a:rect l="0" t="0" r="r" b="b"/>
            <a:pathLst>
              <a:path w="213" h="213">
                <a:moveTo>
                  <a:pt x="213" y="106"/>
                </a:moveTo>
                <a:cubicBezTo>
                  <a:pt x="213" y="120"/>
                  <a:pt x="210" y="133"/>
                  <a:pt x="205" y="146"/>
                </a:cubicBezTo>
                <a:cubicBezTo>
                  <a:pt x="198" y="159"/>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22" name="CasellaDiTesto 621"/>
          <p:cNvSpPr txBox="1"/>
          <p:nvPr/>
        </p:nvSpPr>
        <p:spPr>
          <a:xfrm>
            <a:off x="1238400" y="4546800"/>
            <a:ext cx="6315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l'avvenuta compensazione si perfeziona </a:t>
            </a:r>
            <a:r>
              <a:rPr lang="it-IT" sz="1580" b="1" u="none" strike="noStrike">
                <a:solidFill>
                  <a:srgbClr val="00509E"/>
                </a:solidFill>
                <a:effectLst/>
                <a:uFillTx/>
                <a:latin typeface="SegoeUI"/>
                <a:ea typeface="SegoeUI"/>
              </a:rPr>
              <a:t>anche con credito inesistente</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623" name="Figura a mano libera: forma 622"/>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24" name="CasellaDiTesto 623"/>
          <p:cNvSpPr txBox="1"/>
          <p:nvPr/>
        </p:nvSpPr>
        <p:spPr>
          <a:xfrm>
            <a:off x="1238400" y="5032440"/>
            <a:ext cx="7822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t>
            </a:r>
            <a:r>
              <a:rPr lang="it-IT" sz="1580" b="0" i="1" u="none" strike="noStrike">
                <a:solidFill>
                  <a:srgbClr val="495057"/>
                </a:solidFill>
                <a:effectLst/>
                <a:uFillTx/>
                <a:latin typeface="SegoeUI"/>
                <a:ea typeface="SegoeUI"/>
              </a:rPr>
              <a:t>opposizione</a:t>
            </a:r>
            <a:r>
              <a:rPr lang="it-IT" sz="1580" b="0" u="none" strike="noStrike">
                <a:solidFill>
                  <a:srgbClr val="343A40"/>
                </a:solidFill>
                <a:effectLst/>
                <a:uFillTx/>
                <a:latin typeface="SegoeUI"/>
                <a:ea typeface="SegoeUI"/>
              </a:rPr>
              <a:t> della compensazione è — sul piano degli effetti — </a:t>
            </a:r>
            <a:r>
              <a:rPr lang="it-IT" sz="1580" b="1" u="none" strike="noStrike">
                <a:solidFill>
                  <a:srgbClr val="00509E"/>
                </a:solidFill>
                <a:effectLst/>
                <a:uFillTx/>
                <a:latin typeface="SegoeUI"/>
                <a:ea typeface="SegoeUI"/>
              </a:rPr>
              <a:t>analoga al versamento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625" name="Figura a mano libera: forma 624"/>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26" name="CasellaDiTesto 625"/>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627" name="CasellaDiTesto 626"/>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23 / 73</a:t>
            </a:r>
            <a:endParaRPr lang="it-IT" sz="980" b="0" u="none" strike="noStrike">
              <a:solidFill>
                <a:srgbClr val="000000"/>
              </a:solidFill>
              <a:effectLst/>
              <a:uFillTx/>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Figura a mano libera: forma 62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29" name="Figura a mano libera: forma 62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30" name="Figura a mano libera: forma 629"/>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31" name="Figura a mano libera: forma 630"/>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32" name="Figura a mano libera: forma 631"/>
          <p:cNvSpPr/>
          <p:nvPr/>
        </p:nvSpPr>
        <p:spPr>
          <a:xfrm>
            <a:off x="971280" y="16570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33" name="CasellaDiTesto 632"/>
          <p:cNvSpPr txBox="1"/>
          <p:nvPr/>
        </p:nvSpPr>
        <p:spPr>
          <a:xfrm>
            <a:off x="971640" y="1038240"/>
            <a:ext cx="618984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AMBITO SOGGETTIVO E OGGETTIVO</a:t>
            </a:r>
            <a:endParaRPr lang="it-IT" sz="2850" b="0" u="none" strike="noStrike">
              <a:solidFill>
                <a:srgbClr val="000000"/>
              </a:solidFill>
              <a:effectLst/>
              <a:uFillTx/>
              <a:latin typeface="Times New Roman"/>
            </a:endParaRPr>
          </a:p>
        </p:txBody>
      </p:sp>
      <p:sp>
        <p:nvSpPr>
          <p:cNvPr id="634" name="CasellaDiTesto 633"/>
          <p:cNvSpPr txBox="1"/>
          <p:nvPr/>
        </p:nvSpPr>
        <p:spPr>
          <a:xfrm>
            <a:off x="971640" y="1793160"/>
            <a:ext cx="92998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Ambito soggettivo</a:t>
            </a:r>
            <a:r>
              <a:rPr lang="it-IT" sz="1650" b="0" u="none" strike="noStrike">
                <a:solidFill>
                  <a:srgbClr val="212529"/>
                </a:solidFill>
                <a:effectLst/>
                <a:uFillTx/>
                <a:latin typeface="SegoeUI"/>
                <a:ea typeface="SegoeUI"/>
              </a:rPr>
              <a:t>: tutti i contribuenti obbligati al versamento unitario (art. 3, co. 5, D.Lgs. 33/2025).</a:t>
            </a:r>
            <a:endParaRPr lang="it-IT" sz="1650" b="0" u="none" strike="noStrike">
              <a:solidFill>
                <a:srgbClr val="000000"/>
              </a:solidFill>
              <a:effectLst/>
              <a:uFillTx/>
              <a:latin typeface="Times New Roman"/>
            </a:endParaRPr>
          </a:p>
        </p:txBody>
      </p:sp>
      <p:sp>
        <p:nvSpPr>
          <p:cNvPr id="635" name="Figura a mano libera: forma 634"/>
          <p:cNvSpPr/>
          <p:nvPr/>
        </p:nvSpPr>
        <p:spPr>
          <a:xfrm>
            <a:off x="1028520" y="285732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2"/>
                  <a:pt x="159" y="199"/>
                  <a:pt x="146" y="205"/>
                </a:cubicBezTo>
                <a:cubicBezTo>
                  <a:pt x="133" y="210"/>
                  <a:pt x="120" y="213"/>
                  <a:pt x="106" y="213"/>
                </a:cubicBezTo>
                <a:cubicBezTo>
                  <a:pt x="92" y="213"/>
                  <a:pt x="78" y="210"/>
                  <a:pt x="65" y="205"/>
                </a:cubicBezTo>
                <a:cubicBezTo>
                  <a:pt x="52" y="199"/>
                  <a:pt x="41" y="192"/>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36" name="CasellaDiTesto 635"/>
          <p:cNvSpPr txBox="1"/>
          <p:nvPr/>
        </p:nvSpPr>
        <p:spPr>
          <a:xfrm>
            <a:off x="971640" y="2269440"/>
            <a:ext cx="40539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Ambito oggettivo — debiti compensabili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637" name="Figura a mano libera: forma 636"/>
          <p:cNvSpPr/>
          <p:nvPr/>
        </p:nvSpPr>
        <p:spPr>
          <a:xfrm>
            <a:off x="1028520" y="3333600"/>
            <a:ext cx="76680" cy="76680"/>
          </a:xfrm>
          <a:custGeom>
            <a:avLst/>
            <a:gdLst/>
            <a:ahLst/>
            <a:cxnLst/>
            <a:rect l="0" t="0" r="r" b="b"/>
            <a:pathLst>
              <a:path w="213" h="213">
                <a:moveTo>
                  <a:pt x="213" y="106"/>
                </a:moveTo>
                <a:cubicBezTo>
                  <a:pt x="213" y="120"/>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38" name="CasellaDiTesto 637"/>
          <p:cNvSpPr txBox="1"/>
          <p:nvPr/>
        </p:nvSpPr>
        <p:spPr>
          <a:xfrm>
            <a:off x="1238400" y="2746440"/>
            <a:ext cx="39855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imposte sui redditi (IRPEF, IRES) e addizionali;</a:t>
            </a:r>
            <a:endParaRPr lang="it-IT" sz="1580" b="0" u="none" strike="noStrike">
              <a:solidFill>
                <a:srgbClr val="000000"/>
              </a:solidFill>
              <a:effectLst/>
              <a:uFillTx/>
              <a:latin typeface="Times New Roman"/>
            </a:endParaRPr>
          </a:p>
        </p:txBody>
      </p:sp>
      <p:sp>
        <p:nvSpPr>
          <p:cNvPr id="639" name="Figura a mano libera: forma 638"/>
          <p:cNvSpPr/>
          <p:nvPr/>
        </p:nvSpPr>
        <p:spPr>
          <a:xfrm>
            <a:off x="1028520" y="38192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40" name="CasellaDiTesto 639"/>
          <p:cNvSpPr txBox="1"/>
          <p:nvPr/>
        </p:nvSpPr>
        <p:spPr>
          <a:xfrm>
            <a:off x="1238400" y="3222720"/>
            <a:ext cx="1605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ritenute alla fonte;</a:t>
            </a:r>
            <a:endParaRPr lang="it-IT" sz="1580" b="0" u="none" strike="noStrike">
              <a:solidFill>
                <a:srgbClr val="000000"/>
              </a:solidFill>
              <a:effectLst/>
              <a:uFillTx/>
              <a:latin typeface="Times New Roman"/>
            </a:endParaRPr>
          </a:p>
        </p:txBody>
      </p:sp>
      <p:sp>
        <p:nvSpPr>
          <p:cNvPr id="641" name="Figura a mano libera: forma 640"/>
          <p:cNvSpPr/>
          <p:nvPr/>
        </p:nvSpPr>
        <p:spPr>
          <a:xfrm>
            <a:off x="1028520" y="4295520"/>
            <a:ext cx="76680" cy="76680"/>
          </a:xfrm>
          <a:custGeom>
            <a:avLst/>
            <a:gdLst/>
            <a:ahLst/>
            <a:cxnLst/>
            <a:rect l="0" t="0" r="r" b="b"/>
            <a:pathLst>
              <a:path w="213" h="213">
                <a:moveTo>
                  <a:pt x="213" y="106"/>
                </a:moveTo>
                <a:cubicBezTo>
                  <a:pt x="213" y="120"/>
                  <a:pt x="210" y="134"/>
                  <a:pt x="205" y="147"/>
                </a:cubicBezTo>
                <a:cubicBezTo>
                  <a:pt x="198" y="160"/>
                  <a:pt x="191" y="171"/>
                  <a:pt x="181" y="181"/>
                </a:cubicBezTo>
                <a:cubicBezTo>
                  <a:pt x="171" y="191"/>
                  <a:pt x="159" y="198"/>
                  <a:pt x="146" y="205"/>
                </a:cubicBezTo>
                <a:cubicBezTo>
                  <a:pt x="133" y="210"/>
                  <a:pt x="120" y="213"/>
                  <a:pt x="106" y="213"/>
                </a:cubicBezTo>
                <a:cubicBezTo>
                  <a:pt x="92" y="213"/>
                  <a:pt x="78" y="210"/>
                  <a:pt x="65" y="205"/>
                </a:cubicBezTo>
                <a:cubicBezTo>
                  <a:pt x="52" y="198"/>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42" name="CasellaDiTesto 641"/>
          <p:cNvSpPr txBox="1"/>
          <p:nvPr/>
        </p:nvSpPr>
        <p:spPr>
          <a:xfrm>
            <a:off x="1238400" y="3708360"/>
            <a:ext cx="2624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IVA; imposte sostitutive; IRAP;</a:t>
            </a:r>
            <a:endParaRPr lang="it-IT" sz="1580" b="0" u="none" strike="noStrike">
              <a:solidFill>
                <a:srgbClr val="000000"/>
              </a:solidFill>
              <a:effectLst/>
              <a:uFillTx/>
              <a:latin typeface="Times New Roman"/>
            </a:endParaRPr>
          </a:p>
        </p:txBody>
      </p:sp>
      <p:sp>
        <p:nvSpPr>
          <p:cNvPr id="643" name="Figura a mano libera: forma 642"/>
          <p:cNvSpPr/>
          <p:nvPr/>
        </p:nvSpPr>
        <p:spPr>
          <a:xfrm>
            <a:off x="1028520" y="4781520"/>
            <a:ext cx="76680" cy="76320"/>
          </a:xfrm>
          <a:custGeom>
            <a:avLst/>
            <a:gdLst/>
            <a:ahLst/>
            <a:cxnLst/>
            <a:rect l="0" t="0" r="r" b="b"/>
            <a:pathLst>
              <a:path w="213" h="212">
                <a:moveTo>
                  <a:pt x="213" y="105"/>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44" name="CasellaDiTesto 643"/>
          <p:cNvSpPr txBox="1"/>
          <p:nvPr/>
        </p:nvSpPr>
        <p:spPr>
          <a:xfrm>
            <a:off x="1238400" y="4184640"/>
            <a:ext cx="48758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IMU (se il Comune ha sottoscritto convenzione con AE);</a:t>
            </a:r>
            <a:endParaRPr lang="it-IT" sz="1580" b="0" u="none" strike="noStrike">
              <a:solidFill>
                <a:srgbClr val="000000"/>
              </a:solidFill>
              <a:effectLst/>
              <a:uFillTx/>
              <a:latin typeface="Times New Roman"/>
            </a:endParaRPr>
          </a:p>
        </p:txBody>
      </p:sp>
      <p:sp>
        <p:nvSpPr>
          <p:cNvPr id="645" name="Figura a mano libera: forma 644"/>
          <p:cNvSpPr/>
          <p:nvPr/>
        </p:nvSpPr>
        <p:spPr>
          <a:xfrm>
            <a:off x="1028520" y="52574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46" name="CasellaDiTesto 645"/>
          <p:cNvSpPr txBox="1"/>
          <p:nvPr/>
        </p:nvSpPr>
        <p:spPr>
          <a:xfrm>
            <a:off x="1238400" y="4670640"/>
            <a:ext cx="59126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contributi INPS, premi INAIL, casse professionali (con convenzione);</a:t>
            </a:r>
            <a:endParaRPr lang="it-IT" sz="1580" b="0" u="none" strike="noStrike">
              <a:solidFill>
                <a:srgbClr val="000000"/>
              </a:solidFill>
              <a:effectLst/>
              <a:uFillTx/>
              <a:latin typeface="Times New Roman"/>
            </a:endParaRPr>
          </a:p>
        </p:txBody>
      </p:sp>
      <p:sp>
        <p:nvSpPr>
          <p:cNvPr id="647" name="Figura a mano libera: forma 646"/>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48" name="CasellaDiTesto 647"/>
          <p:cNvSpPr txBox="1"/>
          <p:nvPr/>
        </p:nvSpPr>
        <p:spPr>
          <a:xfrm>
            <a:off x="1238400" y="5146920"/>
            <a:ext cx="5631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diritti camerali, TOSAP/COSAP, Tari, tributi sulle successioni, ecc.</a:t>
            </a:r>
            <a:endParaRPr lang="it-IT" sz="1580" b="0" u="none" strike="noStrike">
              <a:solidFill>
                <a:srgbClr val="000000"/>
              </a:solidFill>
              <a:effectLst/>
              <a:uFillTx/>
              <a:latin typeface="Times New Roman"/>
            </a:endParaRPr>
          </a:p>
        </p:txBody>
      </p:sp>
      <p:sp>
        <p:nvSpPr>
          <p:cNvPr id="649" name="Figura a mano libera: forma 648"/>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50" name="CasellaDiTesto 649"/>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651" name="CasellaDiTesto 650"/>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24 / 73</a:t>
            </a:r>
            <a:endParaRPr lang="it-IT" sz="980" b="0" u="none" strike="noStrike">
              <a:solidFill>
                <a:srgbClr val="000000"/>
              </a:solidFill>
              <a:effectLst/>
              <a:uFillTx/>
              <a:latin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 name="Figura a mano libera: forma 65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53" name="Figura a mano libera: forma 65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54" name="Figura a mano libera: forma 653"/>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55" name="Figura a mano libera: forma 654"/>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56" name="Figura a mano libera: forma 655"/>
          <p:cNvSpPr/>
          <p:nvPr/>
        </p:nvSpPr>
        <p:spPr>
          <a:xfrm>
            <a:off x="971280" y="189540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57" name="CasellaDiTesto 656"/>
          <p:cNvSpPr txBox="1"/>
          <p:nvPr/>
        </p:nvSpPr>
        <p:spPr>
          <a:xfrm>
            <a:off x="971640" y="1276200"/>
            <a:ext cx="43207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 CREDITI COMPENSABILI</a:t>
            </a:r>
            <a:endParaRPr lang="it-IT" sz="2850" b="0" u="none" strike="noStrike">
              <a:solidFill>
                <a:srgbClr val="000000"/>
              </a:solidFill>
              <a:effectLst/>
              <a:uFillTx/>
              <a:latin typeface="Times New Roman"/>
            </a:endParaRPr>
          </a:p>
        </p:txBody>
      </p:sp>
      <p:sp>
        <p:nvSpPr>
          <p:cNvPr id="658" name="Figura a mano libera: forma 657"/>
          <p:cNvSpPr/>
          <p:nvPr/>
        </p:nvSpPr>
        <p:spPr>
          <a:xfrm>
            <a:off x="1028520" y="2619360"/>
            <a:ext cx="76680" cy="76320"/>
          </a:xfrm>
          <a:custGeom>
            <a:avLst/>
            <a:gdLst/>
            <a:ahLst/>
            <a:cxnLst/>
            <a:rect l="0" t="0" r="r" b="b"/>
            <a:pathLst>
              <a:path w="213" h="212">
                <a:moveTo>
                  <a:pt x="213" y="106"/>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1"/>
                  <a:pt x="31" y="32"/>
                </a:cubicBezTo>
                <a:cubicBezTo>
                  <a:pt x="41" y="22"/>
                  <a:pt x="52" y="14"/>
                  <a:pt x="65" y="9"/>
                </a:cubicBezTo>
                <a:cubicBezTo>
                  <a:pt x="78" y="2"/>
                  <a:pt x="92" y="0"/>
                  <a:pt x="106" y="0"/>
                </a:cubicBezTo>
                <a:cubicBezTo>
                  <a:pt x="120" y="0"/>
                  <a:pt x="133" y="2"/>
                  <a:pt x="146" y="9"/>
                </a:cubicBezTo>
                <a:cubicBezTo>
                  <a:pt x="159" y="14"/>
                  <a:pt x="171" y="22"/>
                  <a:pt x="181" y="32"/>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59" name="CasellaDiTesto 658"/>
          <p:cNvSpPr txBox="1"/>
          <p:nvPr/>
        </p:nvSpPr>
        <p:spPr>
          <a:xfrm>
            <a:off x="971640" y="2031480"/>
            <a:ext cx="6787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Principio di </a:t>
            </a:r>
            <a:r>
              <a:rPr lang="it-IT" sz="1650" b="1" u="none" strike="noStrike">
                <a:solidFill>
                  <a:srgbClr val="00509E"/>
                </a:solidFill>
                <a:effectLst/>
                <a:uFillTx/>
                <a:latin typeface="SegoeUI"/>
                <a:ea typeface="SegoeUI"/>
              </a:rPr>
              <a:t>non simmetria</a:t>
            </a:r>
            <a:r>
              <a:rPr lang="it-IT" sz="1650" b="0" u="none" strike="noStrike">
                <a:solidFill>
                  <a:srgbClr val="212529"/>
                </a:solidFill>
                <a:effectLst/>
                <a:uFillTx/>
                <a:latin typeface="SegoeUI"/>
                <a:ea typeface="SegoeUI"/>
              </a:rPr>
              <a:t> fra crediti compensabili e debiti compensabili:</a:t>
            </a:r>
            <a:endParaRPr lang="it-IT" sz="1650" b="0" u="none" strike="noStrike">
              <a:solidFill>
                <a:srgbClr val="000000"/>
              </a:solidFill>
              <a:effectLst/>
              <a:uFillTx/>
              <a:latin typeface="Times New Roman"/>
            </a:endParaRPr>
          </a:p>
        </p:txBody>
      </p:sp>
      <p:sp>
        <p:nvSpPr>
          <p:cNvPr id="660" name="Figura a mano libera: forma 659"/>
          <p:cNvSpPr/>
          <p:nvPr/>
        </p:nvSpPr>
        <p:spPr>
          <a:xfrm>
            <a:off x="1028520" y="3095280"/>
            <a:ext cx="76680" cy="76680"/>
          </a:xfrm>
          <a:custGeom>
            <a:avLst/>
            <a:gdLst/>
            <a:ahLst/>
            <a:cxnLst/>
            <a:rect l="0" t="0" r="r" b="b"/>
            <a:pathLst>
              <a:path w="213" h="213">
                <a:moveTo>
                  <a:pt x="213" y="106"/>
                </a:moveTo>
                <a:cubicBezTo>
                  <a:pt x="213" y="120"/>
                  <a:pt x="210" y="134"/>
                  <a:pt x="205" y="147"/>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7"/>
                </a:cubicBezTo>
                <a:cubicBezTo>
                  <a:pt x="3" y="134"/>
                  <a:pt x="0" y="120"/>
                  <a:pt x="0" y="106"/>
                </a:cubicBezTo>
                <a:cubicBezTo>
                  <a:pt x="0" y="92"/>
                  <a:pt x="3" y="79"/>
                  <a:pt x="8" y="66"/>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61" name="CasellaDiTesto 660"/>
          <p:cNvSpPr txBox="1"/>
          <p:nvPr/>
        </p:nvSpPr>
        <p:spPr>
          <a:xfrm>
            <a:off x="1238400" y="2508480"/>
            <a:ext cx="29815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il </a:t>
            </a:r>
            <a:r>
              <a:rPr lang="it-IT" sz="1580" b="1" u="none" strike="noStrike">
                <a:solidFill>
                  <a:srgbClr val="00509E"/>
                </a:solidFill>
                <a:effectLst/>
                <a:uFillTx/>
                <a:latin typeface="SegoeUI"/>
                <a:ea typeface="SegoeUI"/>
              </a:rPr>
              <a:t>debito IMU</a:t>
            </a:r>
            <a:r>
              <a:rPr lang="it-IT" sz="1580" b="0" u="none" strike="noStrike">
                <a:solidFill>
                  <a:srgbClr val="343A40"/>
                </a:solidFill>
                <a:effectLst/>
                <a:uFillTx/>
                <a:latin typeface="SegoeUI"/>
                <a:ea typeface="SegoeUI"/>
              </a:rPr>
              <a:t> si può compensare;</a:t>
            </a:r>
            <a:endParaRPr lang="it-IT" sz="1580" b="0" u="none" strike="noStrike">
              <a:solidFill>
                <a:srgbClr val="000000"/>
              </a:solidFill>
              <a:effectLst/>
              <a:uFillTx/>
              <a:latin typeface="Times New Roman"/>
            </a:endParaRPr>
          </a:p>
        </p:txBody>
      </p:sp>
      <p:sp>
        <p:nvSpPr>
          <p:cNvPr id="662" name="CasellaDiTesto 661"/>
          <p:cNvSpPr txBox="1"/>
          <p:nvPr/>
        </p:nvSpPr>
        <p:spPr>
          <a:xfrm>
            <a:off x="1238400" y="2984400"/>
            <a:ext cx="41821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il </a:t>
            </a:r>
            <a:r>
              <a:rPr lang="it-IT" sz="1580" b="1" u="none" strike="noStrike">
                <a:solidFill>
                  <a:srgbClr val="00509E"/>
                </a:solidFill>
                <a:effectLst/>
                <a:uFillTx/>
                <a:latin typeface="SegoeUI"/>
                <a:ea typeface="SegoeUI"/>
              </a:rPr>
              <a:t>credito IMU</a:t>
            </a:r>
            <a:r>
              <a:rPr lang="it-IT" sz="1580" b="0" u="none" strike="noStrike">
                <a:solidFill>
                  <a:srgbClr val="343A40"/>
                </a:solidFill>
                <a:effectLst/>
                <a:uFillTx/>
                <a:latin typeface="SegoeUI"/>
                <a:ea typeface="SegoeUI"/>
              </a:rPr>
              <a:t>, invece, </a:t>
            </a:r>
            <a:r>
              <a:rPr lang="it-IT" sz="1580" b="1" u="none" strike="noStrike">
                <a:solidFill>
                  <a:srgbClr val="00509E"/>
                </a:solidFill>
                <a:effectLst/>
                <a:uFillTx/>
                <a:latin typeface="SegoeUI"/>
                <a:ea typeface="SegoeUI"/>
              </a:rPr>
              <a:t>non</a:t>
            </a:r>
            <a:r>
              <a:rPr lang="it-IT" sz="1580" b="0" u="none" strike="noStrike">
                <a:solidFill>
                  <a:srgbClr val="343A40"/>
                </a:solidFill>
                <a:effectLst/>
                <a:uFillTx/>
                <a:latin typeface="SegoeUI"/>
                <a:ea typeface="SegoeUI"/>
              </a:rPr>
              <a:t> concorre al sistema.</a:t>
            </a:r>
            <a:endParaRPr lang="it-IT" sz="1580" b="0" u="none" strike="noStrike">
              <a:solidFill>
                <a:srgbClr val="000000"/>
              </a:solidFill>
              <a:effectLst/>
              <a:uFillTx/>
              <a:latin typeface="Times New Roman"/>
            </a:endParaRPr>
          </a:p>
        </p:txBody>
      </p:sp>
      <p:sp>
        <p:nvSpPr>
          <p:cNvPr id="663" name="Figura a mano libera: forma 662"/>
          <p:cNvSpPr/>
          <p:nvPr/>
        </p:nvSpPr>
        <p:spPr>
          <a:xfrm>
            <a:off x="1028520" y="405756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2"/>
                  <a:pt x="52" y="13"/>
                  <a:pt x="65" y="8"/>
                </a:cubicBezTo>
                <a:cubicBezTo>
                  <a:pt x="78" y="2"/>
                  <a:pt x="92" y="0"/>
                  <a:pt x="106" y="0"/>
                </a:cubicBezTo>
                <a:cubicBezTo>
                  <a:pt x="120" y="0"/>
                  <a:pt x="133" y="2"/>
                  <a:pt x="146" y="8"/>
                </a:cubicBezTo>
                <a:cubicBezTo>
                  <a:pt x="159" y="13"/>
                  <a:pt x="171" y="22"/>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64" name="CasellaDiTesto 663"/>
          <p:cNvSpPr txBox="1"/>
          <p:nvPr/>
        </p:nvSpPr>
        <p:spPr>
          <a:xfrm>
            <a:off x="971640" y="3469680"/>
            <a:ext cx="41961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Sono </a:t>
            </a:r>
            <a:r>
              <a:rPr lang="it-IT" sz="1650" b="1" u="none" strike="noStrike">
                <a:solidFill>
                  <a:srgbClr val="00509E"/>
                </a:solidFill>
                <a:effectLst/>
                <a:uFillTx/>
                <a:latin typeface="SegoeUI"/>
                <a:ea typeface="SegoeUI"/>
              </a:rPr>
              <a:t>compensabili</a:t>
            </a:r>
            <a:r>
              <a:rPr lang="it-IT" sz="1650" b="0" u="none" strike="noStrike">
                <a:solidFill>
                  <a:srgbClr val="212529"/>
                </a:solidFill>
                <a:effectLst/>
                <a:uFillTx/>
                <a:latin typeface="SegoeUI"/>
                <a:ea typeface="SegoeUI"/>
              </a:rPr>
              <a:t> solo i crediti risultanti da:</a:t>
            </a:r>
            <a:endParaRPr lang="it-IT" sz="1650" b="0" u="none" strike="noStrike">
              <a:solidFill>
                <a:srgbClr val="000000"/>
              </a:solidFill>
              <a:effectLst/>
              <a:uFillTx/>
              <a:latin typeface="Times New Roman"/>
            </a:endParaRPr>
          </a:p>
        </p:txBody>
      </p:sp>
      <p:sp>
        <p:nvSpPr>
          <p:cNvPr id="665" name="Figura a mano libera: forma 664"/>
          <p:cNvSpPr/>
          <p:nvPr/>
        </p:nvSpPr>
        <p:spPr>
          <a:xfrm>
            <a:off x="1028520" y="4543200"/>
            <a:ext cx="76680" cy="76680"/>
          </a:xfrm>
          <a:custGeom>
            <a:avLst/>
            <a:gdLst/>
            <a:ahLst/>
            <a:cxnLst/>
            <a:rect l="0" t="0" r="r" b="b"/>
            <a:pathLst>
              <a:path w="213" h="213">
                <a:moveTo>
                  <a:pt x="213" y="106"/>
                </a:moveTo>
                <a:cubicBezTo>
                  <a:pt x="213" y="120"/>
                  <a:pt x="210" y="133"/>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66" name="CasellaDiTesto 665"/>
          <p:cNvSpPr txBox="1"/>
          <p:nvPr/>
        </p:nvSpPr>
        <p:spPr>
          <a:xfrm>
            <a:off x="1238400" y="3946680"/>
            <a:ext cx="4442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dichiarazioni annuali / periodiche (IIDD, IVA, IRAP);</a:t>
            </a:r>
            <a:endParaRPr lang="it-IT" sz="1580" b="0" u="none" strike="noStrike">
              <a:solidFill>
                <a:srgbClr val="000000"/>
              </a:solidFill>
              <a:effectLst/>
              <a:uFillTx/>
              <a:latin typeface="Times New Roman"/>
            </a:endParaRPr>
          </a:p>
        </p:txBody>
      </p:sp>
      <p:sp>
        <p:nvSpPr>
          <p:cNvPr id="667" name="Figura a mano libera: forma 666"/>
          <p:cNvSpPr/>
          <p:nvPr/>
        </p:nvSpPr>
        <p:spPr>
          <a:xfrm>
            <a:off x="1028520" y="501948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68" name="CasellaDiTesto 667"/>
          <p:cNvSpPr txBox="1"/>
          <p:nvPr/>
        </p:nvSpPr>
        <p:spPr>
          <a:xfrm>
            <a:off x="1238400" y="4432320"/>
            <a:ext cx="63648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denunce periodiche contributive (DM10/2 INPS, autoliquidazione INAIL);</a:t>
            </a:r>
            <a:endParaRPr lang="it-IT" sz="1580" b="0" u="none" strike="noStrike">
              <a:solidFill>
                <a:srgbClr val="000000"/>
              </a:solidFill>
              <a:effectLst/>
              <a:uFillTx/>
              <a:latin typeface="Times New Roman"/>
            </a:endParaRPr>
          </a:p>
        </p:txBody>
      </p:sp>
      <p:sp>
        <p:nvSpPr>
          <p:cNvPr id="669" name="Figura a mano libera: forma 668"/>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70" name="CasellaDiTesto 669"/>
          <p:cNvSpPr txBox="1"/>
          <p:nvPr/>
        </p:nvSpPr>
        <p:spPr>
          <a:xfrm>
            <a:off x="1238400" y="4908600"/>
            <a:ext cx="47365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crediti d'imposta "agevolativi" esposti nel </a:t>
            </a:r>
            <a:r>
              <a:rPr lang="it-IT" sz="1580" b="1" u="none" strike="noStrike">
                <a:solidFill>
                  <a:srgbClr val="00509E"/>
                </a:solidFill>
                <a:effectLst/>
                <a:uFillTx/>
                <a:latin typeface="SegoeUI"/>
                <a:ea typeface="SegoeUI"/>
              </a:rPr>
              <a:t>quadro RU</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671" name="Figura a mano libera: forma 670"/>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72" name="CasellaDiTesto 671"/>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673" name="CasellaDiTesto 672"/>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25 / 73</a:t>
            </a:r>
            <a:endParaRPr lang="it-IT" sz="980" b="0" u="none" strike="noStrike">
              <a:solidFill>
                <a:srgbClr val="000000"/>
              </a:solidFill>
              <a:effectLst/>
              <a:uFillTx/>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 name="Figura a mano libera: forma 67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75" name="Figura a mano libera: forma 67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76" name="Figura a mano libera: forma 675"/>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77" name="Figura a mano libera: forma 676"/>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78" name="Figura a mano libera: forma 677"/>
          <p:cNvSpPr/>
          <p:nvPr/>
        </p:nvSpPr>
        <p:spPr>
          <a:xfrm>
            <a:off x="971280" y="189540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79" name="CasellaDiTesto 678"/>
          <p:cNvSpPr txBox="1"/>
          <p:nvPr/>
        </p:nvSpPr>
        <p:spPr>
          <a:xfrm>
            <a:off x="971640" y="1285920"/>
            <a:ext cx="82774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TRACCIABILITÀ DICHIARATIVA COME PERNO</a:t>
            </a:r>
            <a:endParaRPr lang="it-IT" sz="2850" b="0" u="none" strike="noStrike">
              <a:solidFill>
                <a:srgbClr val="000000"/>
              </a:solidFill>
              <a:effectLst/>
              <a:uFillTx/>
              <a:latin typeface="Times New Roman"/>
            </a:endParaRPr>
          </a:p>
        </p:txBody>
      </p:sp>
      <p:sp>
        <p:nvSpPr>
          <p:cNvPr id="680" name="CasellaDiTesto 679"/>
          <p:cNvSpPr txBox="1"/>
          <p:nvPr/>
        </p:nvSpPr>
        <p:spPr>
          <a:xfrm>
            <a:off x="971640" y="2031480"/>
            <a:ext cx="2545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 </a:t>
            </a:r>
            <a:r>
              <a:rPr lang="it-IT" sz="1650" b="1" u="none" strike="noStrike">
                <a:solidFill>
                  <a:srgbClr val="00509E"/>
                </a:solidFill>
                <a:effectLst/>
                <a:uFillTx/>
                <a:latin typeface="SegoeUI"/>
                <a:ea typeface="SegoeUI"/>
              </a:rPr>
              <a:t>dichiarazione</a:t>
            </a:r>
            <a:r>
              <a:rPr lang="it-IT" sz="1650" b="0" u="none" strike="noStrike">
                <a:solidFill>
                  <a:srgbClr val="212529"/>
                </a:solidFill>
                <a:effectLst/>
                <a:uFillTx/>
                <a:latin typeface="SegoeUI"/>
                <a:ea typeface="SegoeUI"/>
              </a:rPr>
              <a:t> è insieme:</a:t>
            </a:r>
            <a:endParaRPr lang="it-IT" sz="1650" b="0" u="none" strike="noStrike">
              <a:solidFill>
                <a:srgbClr val="000000"/>
              </a:solidFill>
              <a:effectLst/>
              <a:uFillTx/>
              <a:latin typeface="Times New Roman"/>
            </a:endParaRPr>
          </a:p>
        </p:txBody>
      </p:sp>
      <p:sp>
        <p:nvSpPr>
          <p:cNvPr id="681" name="CasellaDiTesto 680"/>
          <p:cNvSpPr txBox="1"/>
          <p:nvPr/>
        </p:nvSpPr>
        <p:spPr>
          <a:xfrm>
            <a:off x="1184400" y="2508480"/>
            <a:ext cx="6235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il </a:t>
            </a:r>
            <a:r>
              <a:rPr lang="it-IT" sz="1580" b="0" i="1" u="none" strike="noStrike">
                <a:solidFill>
                  <a:srgbClr val="495057"/>
                </a:solidFill>
                <a:effectLst/>
                <a:uFillTx/>
                <a:latin typeface="SegoeUI"/>
                <a:ea typeface="SegoeUI"/>
              </a:rPr>
              <a:t>luogo</a:t>
            </a:r>
            <a:r>
              <a:rPr lang="it-IT" sz="1580" b="0" u="none" strike="noStrike">
                <a:solidFill>
                  <a:srgbClr val="343A40"/>
                </a:solidFill>
                <a:effectLst/>
                <a:uFillTx/>
                <a:latin typeface="SegoeUI"/>
                <a:ea typeface="SegoeUI"/>
              </a:rPr>
              <a:t> in cui l'Amministrazione può verificare l'esistenza del credito;</a:t>
            </a:r>
            <a:endParaRPr lang="it-IT" sz="1580" b="0" u="none" strike="noStrike">
              <a:solidFill>
                <a:srgbClr val="000000"/>
              </a:solidFill>
              <a:effectLst/>
              <a:uFillTx/>
              <a:latin typeface="Times New Roman"/>
            </a:endParaRPr>
          </a:p>
        </p:txBody>
      </p:sp>
      <p:sp>
        <p:nvSpPr>
          <p:cNvPr id="682" name="CasellaDiTesto 681"/>
          <p:cNvSpPr txBox="1"/>
          <p:nvPr/>
        </p:nvSpPr>
        <p:spPr>
          <a:xfrm>
            <a:off x="1184400" y="2994120"/>
            <a:ext cx="72558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l'</a:t>
            </a:r>
            <a:r>
              <a:rPr lang="it-IT" sz="1580" b="0" i="1" u="none" strike="noStrike">
                <a:solidFill>
                  <a:srgbClr val="495057"/>
                </a:solidFill>
                <a:effectLst/>
                <a:uFillTx/>
                <a:latin typeface="SegoeUI"/>
                <a:ea typeface="SegoeUI"/>
              </a:rPr>
              <a:t>atto</a:t>
            </a:r>
            <a:r>
              <a:rPr lang="it-IT" sz="1580" b="0" u="none" strike="noStrike">
                <a:solidFill>
                  <a:srgbClr val="343A40"/>
                </a:solidFill>
                <a:effectLst/>
                <a:uFillTx/>
                <a:latin typeface="SegoeUI"/>
                <a:ea typeface="SegoeUI"/>
              </a:rPr>
              <a:t> con cui il contribuente manifesta la volontà di compensare (non rimborso).</a:t>
            </a:r>
            <a:endParaRPr lang="it-IT" sz="1580" b="0" u="none" strike="noStrike">
              <a:solidFill>
                <a:srgbClr val="000000"/>
              </a:solidFill>
              <a:effectLst/>
              <a:uFillTx/>
              <a:latin typeface="Times New Roman"/>
            </a:endParaRPr>
          </a:p>
        </p:txBody>
      </p:sp>
      <p:sp>
        <p:nvSpPr>
          <p:cNvPr id="683" name="CasellaDiTesto 682"/>
          <p:cNvSpPr txBox="1"/>
          <p:nvPr/>
        </p:nvSpPr>
        <p:spPr>
          <a:xfrm>
            <a:off x="971640" y="3469680"/>
            <a:ext cx="9851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Conseguenza sistemica: </a:t>
            </a:r>
            <a:r>
              <a:rPr lang="it-IT" sz="1650" b="1" u="none" strike="noStrike">
                <a:solidFill>
                  <a:srgbClr val="00509E"/>
                </a:solidFill>
                <a:effectLst/>
                <a:uFillTx/>
                <a:latin typeface="SegoeUI"/>
                <a:ea typeface="SegoeUI"/>
              </a:rPr>
              <a:t>non rileva la certezza giuridica</a:t>
            </a:r>
            <a:r>
              <a:rPr lang="it-IT" sz="1650" b="0" u="none" strike="noStrike">
                <a:solidFill>
                  <a:srgbClr val="212529"/>
                </a:solidFill>
                <a:effectLst/>
                <a:uFillTx/>
                <a:latin typeface="SegoeUI"/>
                <a:ea typeface="SegoeUI"/>
              </a:rPr>
              <a:t> del credito (non richiesta), ma la sua </a:t>
            </a:r>
            <a:r>
              <a:rPr lang="it-IT" sz="1650" b="1" u="none" strike="noStrike">
                <a:solidFill>
                  <a:srgbClr val="00509E"/>
                </a:solidFill>
                <a:effectLst/>
                <a:uFillTx/>
                <a:latin typeface="SegoeUI"/>
                <a:ea typeface="SegoeUI"/>
              </a:rPr>
              <a:t>tracciabilità</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684" name="Figura a mano libera: forma 683"/>
          <p:cNvSpPr/>
          <p:nvPr/>
        </p:nvSpPr>
        <p:spPr>
          <a:xfrm>
            <a:off x="1028520" y="4533840"/>
            <a:ext cx="76680" cy="76320"/>
          </a:xfrm>
          <a:custGeom>
            <a:avLst/>
            <a:gdLst/>
            <a:ahLst/>
            <a:cxnLst/>
            <a:rect l="0" t="0" r="r" b="b"/>
            <a:pathLst>
              <a:path w="213" h="212">
                <a:moveTo>
                  <a:pt x="213" y="105"/>
                </a:moveTo>
                <a:cubicBezTo>
                  <a:pt x="213" y="120"/>
                  <a:pt x="210" y="133"/>
                  <a:pt x="205" y="146"/>
                </a:cubicBezTo>
                <a:cubicBezTo>
                  <a:pt x="198" y="159"/>
                  <a:pt x="191" y="170"/>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0"/>
                  <a:pt x="13" y="159"/>
                  <a:pt x="8" y="146"/>
                </a:cubicBezTo>
                <a:cubicBezTo>
                  <a:pt x="3" y="133"/>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85" name="CasellaDiTesto 684"/>
          <p:cNvSpPr txBox="1"/>
          <p:nvPr/>
        </p:nvSpPr>
        <p:spPr>
          <a:xfrm>
            <a:off x="971640" y="3945960"/>
            <a:ext cx="63468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Corollario problematico: restano </a:t>
            </a:r>
            <a:r>
              <a:rPr lang="it-IT" sz="1650" b="1" u="none" strike="noStrike">
                <a:solidFill>
                  <a:srgbClr val="00509E"/>
                </a:solidFill>
                <a:effectLst/>
                <a:uFillTx/>
                <a:latin typeface="SegoeUI"/>
                <a:ea typeface="SegoeUI"/>
              </a:rPr>
              <a:t>estranei</a:t>
            </a:r>
            <a:r>
              <a:rPr lang="it-IT" sz="1650" b="0" u="none" strike="noStrike">
                <a:solidFill>
                  <a:srgbClr val="212529"/>
                </a:solidFill>
                <a:effectLst/>
                <a:uFillTx/>
                <a:latin typeface="SegoeUI"/>
                <a:ea typeface="SegoeUI"/>
              </a:rPr>
              <a:t> alla compensazione fiscale:</a:t>
            </a:r>
            <a:endParaRPr lang="it-IT" sz="1650" b="0" u="none" strike="noStrike">
              <a:solidFill>
                <a:srgbClr val="000000"/>
              </a:solidFill>
              <a:effectLst/>
              <a:uFillTx/>
              <a:latin typeface="Times New Roman"/>
            </a:endParaRPr>
          </a:p>
        </p:txBody>
      </p:sp>
      <p:sp>
        <p:nvSpPr>
          <p:cNvPr id="686" name="Figura a mano libera: forma 685"/>
          <p:cNvSpPr/>
          <p:nvPr/>
        </p:nvSpPr>
        <p:spPr>
          <a:xfrm>
            <a:off x="1028520" y="501948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87" name="CasellaDiTesto 686"/>
          <p:cNvSpPr txBox="1"/>
          <p:nvPr/>
        </p:nvSpPr>
        <p:spPr>
          <a:xfrm>
            <a:off x="1238400" y="4422960"/>
            <a:ext cx="6136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 crediti da </a:t>
            </a:r>
            <a:r>
              <a:rPr lang="it-IT" sz="1580" b="1" u="none" strike="noStrike">
                <a:solidFill>
                  <a:srgbClr val="00509E"/>
                </a:solidFill>
                <a:effectLst/>
                <a:uFillTx/>
                <a:latin typeface="SegoeUI"/>
                <a:ea typeface="SegoeUI"/>
              </a:rPr>
              <a:t>pagamento indebito</a:t>
            </a:r>
            <a:r>
              <a:rPr lang="it-IT" sz="1580" b="0" u="none" strike="noStrike">
                <a:solidFill>
                  <a:srgbClr val="343A40"/>
                </a:solidFill>
                <a:effectLst/>
                <a:uFillTx/>
                <a:latin typeface="SegoeUI"/>
                <a:ea typeface="SegoeUI"/>
              </a:rPr>
              <a:t> già accertati con sentenza definitiva;</a:t>
            </a:r>
            <a:endParaRPr lang="it-IT" sz="1580" b="0" u="none" strike="noStrike">
              <a:solidFill>
                <a:srgbClr val="000000"/>
              </a:solidFill>
              <a:effectLst/>
              <a:uFillTx/>
              <a:latin typeface="Times New Roman"/>
            </a:endParaRPr>
          </a:p>
        </p:txBody>
      </p:sp>
      <p:sp>
        <p:nvSpPr>
          <p:cNvPr id="688" name="Figura a mano libera: forma 68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89" name="CasellaDiTesto 688"/>
          <p:cNvSpPr txBox="1"/>
          <p:nvPr/>
        </p:nvSpPr>
        <p:spPr>
          <a:xfrm>
            <a:off x="1238400" y="4908600"/>
            <a:ext cx="85320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 crediti da </a:t>
            </a:r>
            <a:r>
              <a:rPr lang="it-IT" sz="1580" b="1" u="none" strike="noStrike">
                <a:solidFill>
                  <a:srgbClr val="00509E"/>
                </a:solidFill>
                <a:effectLst/>
                <a:uFillTx/>
                <a:latin typeface="SegoeUI"/>
                <a:ea typeface="SegoeUI"/>
              </a:rPr>
              <a:t>accisa</a:t>
            </a:r>
            <a:r>
              <a:rPr lang="it-IT" sz="1580" b="0" u="none" strike="noStrike">
                <a:solidFill>
                  <a:srgbClr val="343A40"/>
                </a:solidFill>
                <a:effectLst/>
                <a:uFillTx/>
                <a:latin typeface="SegoeUI"/>
                <a:ea typeface="SegoeUI"/>
              </a:rPr>
              <a:t> (art. 14 D.Lgs. 504/1995 — disciplina speciale del "rimborso tramite accredito").</a:t>
            </a:r>
            <a:endParaRPr lang="it-IT" sz="1580" b="0" u="none" strike="noStrike">
              <a:solidFill>
                <a:srgbClr val="000000"/>
              </a:solidFill>
              <a:effectLst/>
              <a:uFillTx/>
              <a:latin typeface="Times New Roman"/>
            </a:endParaRPr>
          </a:p>
        </p:txBody>
      </p:sp>
      <p:sp>
        <p:nvSpPr>
          <p:cNvPr id="690" name="Figura a mano libera: forma 68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91" name="CasellaDiTesto 69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692" name="CasellaDiTesto 69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26 / 73</a:t>
            </a:r>
            <a:endParaRPr lang="it-IT" sz="980" b="0" u="none" strike="noStrike">
              <a:solidFill>
                <a:srgbClr val="000000"/>
              </a:solidFill>
              <a:effectLst/>
              <a:uFillTx/>
              <a:latin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Figura a mano libera: forma 69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94" name="Figura a mano libera: forma 69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95" name="Figura a mano libera: forma 69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96" name="Figura a mano libera: forma 69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697" name="Figura a mano libera: forma 696"/>
          <p:cNvSpPr/>
          <p:nvPr/>
        </p:nvSpPr>
        <p:spPr>
          <a:xfrm>
            <a:off x="971280" y="148572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98" name="Figura a mano libera: forma 697"/>
          <p:cNvSpPr/>
          <p:nvPr/>
        </p:nvSpPr>
        <p:spPr>
          <a:xfrm>
            <a:off x="975960" y="4348080"/>
            <a:ext cx="10544760" cy="943200"/>
          </a:xfrm>
          <a:custGeom>
            <a:avLst/>
            <a:gdLst/>
            <a:ahLst/>
            <a:cxnLst/>
            <a:rect l="0" t="0" r="r" b="b"/>
            <a:pathLst>
              <a:path w="29291" h="2620">
                <a:moveTo>
                  <a:pt x="0" y="2527"/>
                </a:moveTo>
                <a:lnTo>
                  <a:pt x="0" y="92"/>
                </a:lnTo>
                <a:cubicBezTo>
                  <a:pt x="0" y="80"/>
                  <a:pt x="3" y="68"/>
                  <a:pt x="8" y="57"/>
                </a:cubicBezTo>
                <a:cubicBezTo>
                  <a:pt x="12" y="46"/>
                  <a:pt x="19" y="36"/>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6"/>
                  <a:pt x="29279" y="46"/>
                  <a:pt x="29284" y="57"/>
                </a:cubicBezTo>
                <a:cubicBezTo>
                  <a:pt x="29288" y="68"/>
                  <a:pt x="29291" y="80"/>
                  <a:pt x="29291" y="92"/>
                </a:cubicBezTo>
                <a:lnTo>
                  <a:pt x="29291" y="2527"/>
                </a:lnTo>
                <a:cubicBezTo>
                  <a:pt x="29291" y="2540"/>
                  <a:pt x="29288" y="2552"/>
                  <a:pt x="29284" y="2563"/>
                </a:cubicBezTo>
                <a:cubicBezTo>
                  <a:pt x="29279" y="2574"/>
                  <a:pt x="29272" y="2584"/>
                  <a:pt x="29264" y="2593"/>
                </a:cubicBezTo>
                <a:cubicBezTo>
                  <a:pt x="29255" y="2602"/>
                  <a:pt x="29245" y="2608"/>
                  <a:pt x="29234" y="2613"/>
                </a:cubicBezTo>
                <a:cubicBezTo>
                  <a:pt x="29222" y="2618"/>
                  <a:pt x="29211" y="2620"/>
                  <a:pt x="29198" y="2620"/>
                </a:cubicBezTo>
                <a:lnTo>
                  <a:pt x="93" y="2620"/>
                </a:lnTo>
                <a:cubicBezTo>
                  <a:pt x="81" y="2620"/>
                  <a:pt x="69" y="2618"/>
                  <a:pt x="58" y="2613"/>
                </a:cubicBezTo>
                <a:cubicBezTo>
                  <a:pt x="46" y="2608"/>
                  <a:pt x="36" y="2602"/>
                  <a:pt x="28" y="2593"/>
                </a:cubicBezTo>
                <a:cubicBezTo>
                  <a:pt x="19" y="2584"/>
                  <a:pt x="12" y="2574"/>
                  <a:pt x="8" y="2563"/>
                </a:cubicBezTo>
                <a:cubicBezTo>
                  <a:pt x="3" y="2552"/>
                  <a:pt x="0" y="2540"/>
                  <a:pt x="0" y="2527"/>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699" name="Figura a mano libera: forma 698"/>
          <p:cNvSpPr/>
          <p:nvPr/>
        </p:nvSpPr>
        <p:spPr>
          <a:xfrm>
            <a:off x="975960" y="4348080"/>
            <a:ext cx="10544760" cy="943200"/>
          </a:xfrm>
          <a:custGeom>
            <a:avLst/>
            <a:gdLst/>
            <a:ahLst/>
            <a:cxnLst/>
            <a:rect l="0" t="0" r="r" b="b"/>
            <a:pathLst>
              <a:path w="29291" h="2620">
                <a:moveTo>
                  <a:pt x="0" y="2527"/>
                </a:moveTo>
                <a:lnTo>
                  <a:pt x="0" y="92"/>
                </a:lnTo>
                <a:cubicBezTo>
                  <a:pt x="0" y="80"/>
                  <a:pt x="3" y="68"/>
                  <a:pt x="8" y="57"/>
                </a:cubicBezTo>
                <a:cubicBezTo>
                  <a:pt x="12" y="46"/>
                  <a:pt x="19" y="36"/>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6"/>
                  <a:pt x="29279" y="46"/>
                  <a:pt x="29284" y="57"/>
                </a:cubicBezTo>
                <a:cubicBezTo>
                  <a:pt x="29288" y="68"/>
                  <a:pt x="29291" y="80"/>
                  <a:pt x="29291" y="92"/>
                </a:cubicBezTo>
                <a:lnTo>
                  <a:pt x="29291" y="2527"/>
                </a:lnTo>
                <a:cubicBezTo>
                  <a:pt x="29291" y="2540"/>
                  <a:pt x="29288" y="2552"/>
                  <a:pt x="29284" y="2563"/>
                </a:cubicBezTo>
                <a:cubicBezTo>
                  <a:pt x="29279" y="2574"/>
                  <a:pt x="29272" y="2584"/>
                  <a:pt x="29264" y="2593"/>
                </a:cubicBezTo>
                <a:cubicBezTo>
                  <a:pt x="29255" y="2602"/>
                  <a:pt x="29245" y="2608"/>
                  <a:pt x="29234" y="2613"/>
                </a:cubicBezTo>
                <a:cubicBezTo>
                  <a:pt x="29222" y="2618"/>
                  <a:pt x="29211" y="2620"/>
                  <a:pt x="29198" y="2620"/>
                </a:cubicBezTo>
                <a:lnTo>
                  <a:pt x="93" y="2620"/>
                </a:lnTo>
                <a:cubicBezTo>
                  <a:pt x="81" y="2620"/>
                  <a:pt x="69" y="2618"/>
                  <a:pt x="58" y="2613"/>
                </a:cubicBezTo>
                <a:cubicBezTo>
                  <a:pt x="46" y="2608"/>
                  <a:pt x="36" y="2602"/>
                  <a:pt x="28" y="2593"/>
                </a:cubicBezTo>
                <a:cubicBezTo>
                  <a:pt x="19" y="2584"/>
                  <a:pt x="12" y="2574"/>
                  <a:pt x="8" y="2563"/>
                </a:cubicBezTo>
                <a:cubicBezTo>
                  <a:pt x="3" y="2552"/>
                  <a:pt x="0" y="2540"/>
                  <a:pt x="0" y="2527"/>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700" name="CasellaDiTesto 699"/>
          <p:cNvSpPr txBox="1"/>
          <p:nvPr/>
        </p:nvSpPr>
        <p:spPr>
          <a:xfrm>
            <a:off x="971640" y="876240"/>
            <a:ext cx="93733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STRUTTURA MULTILATERALE: "I MEDESIMI SOGGETTI"</a:t>
            </a:r>
            <a:endParaRPr lang="it-IT" sz="2850" b="0" u="none" strike="noStrike">
              <a:solidFill>
                <a:srgbClr val="000000"/>
              </a:solidFill>
              <a:effectLst/>
              <a:uFillTx/>
              <a:latin typeface="Times New Roman"/>
            </a:endParaRPr>
          </a:p>
        </p:txBody>
      </p:sp>
      <p:sp>
        <p:nvSpPr>
          <p:cNvPr id="701" name="CasellaDiTesto 700"/>
          <p:cNvSpPr txBox="1"/>
          <p:nvPr/>
        </p:nvSpPr>
        <p:spPr>
          <a:xfrm>
            <a:off x="971640" y="1621800"/>
            <a:ext cx="105184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Il comma 1 dell'art. 17 (oggi art. 3 D.Lgs. 33/2025) parla di compensazione «nei confronti dei </a:t>
            </a:r>
            <a:r>
              <a:rPr lang="it-IT" sz="1650" b="1" u="none" strike="noStrike">
                <a:solidFill>
                  <a:srgbClr val="00509E"/>
                </a:solidFill>
                <a:effectLst/>
                <a:uFillTx/>
                <a:latin typeface="SegoeUI"/>
                <a:ea typeface="SegoeUI"/>
              </a:rPr>
              <a:t>medesimi soggetti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702" name="Figura a mano libera: forma 701"/>
          <p:cNvSpPr/>
          <p:nvPr/>
        </p:nvSpPr>
        <p:spPr>
          <a:xfrm>
            <a:off x="1028520" y="268596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1"/>
                  <a:pt x="52" y="13"/>
                  <a:pt x="65" y="8"/>
                </a:cubicBezTo>
                <a:cubicBezTo>
                  <a:pt x="78" y="2"/>
                  <a:pt x="92" y="0"/>
                  <a:pt x="106" y="0"/>
                </a:cubicBezTo>
                <a:cubicBezTo>
                  <a:pt x="120" y="0"/>
                  <a:pt x="133" y="2"/>
                  <a:pt x="146" y="8"/>
                </a:cubicBezTo>
                <a:cubicBezTo>
                  <a:pt x="159" y="13"/>
                  <a:pt x="171" y="21"/>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03" name="CasellaDiTesto 702"/>
          <p:cNvSpPr txBox="1"/>
          <p:nvPr/>
        </p:nvSpPr>
        <p:spPr>
          <a:xfrm>
            <a:off x="971640" y="2098080"/>
            <a:ext cx="13896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Interpretazioni:</a:t>
            </a:r>
            <a:endParaRPr lang="it-IT" sz="1650" b="0" u="none" strike="noStrike">
              <a:solidFill>
                <a:srgbClr val="000000"/>
              </a:solidFill>
              <a:effectLst/>
              <a:uFillTx/>
              <a:latin typeface="Times New Roman"/>
            </a:endParaRPr>
          </a:p>
        </p:txBody>
      </p:sp>
      <p:sp>
        <p:nvSpPr>
          <p:cNvPr id="704" name="CasellaDiTesto 703"/>
          <p:cNvSpPr txBox="1"/>
          <p:nvPr/>
        </p:nvSpPr>
        <p:spPr>
          <a:xfrm>
            <a:off x="1238400" y="2575080"/>
            <a:ext cx="9278502" cy="243143"/>
          </a:xfrm>
          <a:prstGeom prst="rect">
            <a:avLst/>
          </a:prstGeom>
          <a:noFill/>
          <a:ln w="0">
            <a:noFill/>
          </a:ln>
        </p:spPr>
        <p:txBody>
          <a:bodyPr wrap="none" lIns="0" tIns="0" rIns="0" bIns="0" anchor="t">
            <a:spAutoFit/>
          </a:bodyPr>
          <a:lstStyle/>
          <a:p>
            <a:r>
              <a:rPr lang="it-IT" sz="1580" b="1" u="none" strike="noStrike" dirty="0">
                <a:solidFill>
                  <a:srgbClr val="00509E"/>
                </a:solidFill>
                <a:effectLst/>
                <a:uFillTx/>
                <a:latin typeface="SegoeUI"/>
                <a:ea typeface="SegoeUI"/>
              </a:rPr>
              <a:t>Restrittiva</a:t>
            </a:r>
            <a:r>
              <a:rPr lang="it-IT" sz="1580" b="0" u="none" strike="noStrike" dirty="0">
                <a:solidFill>
                  <a:srgbClr val="343A40"/>
                </a:solidFill>
                <a:effectLst/>
                <a:uFillTx/>
                <a:latin typeface="SegoeUI"/>
                <a:ea typeface="SegoeUI"/>
              </a:rPr>
              <a:t> (</a:t>
            </a:r>
            <a:r>
              <a:rPr lang="it-IT" sz="1580" b="0" u="none" strike="noStrike" dirty="0">
                <a:solidFill>
                  <a:srgbClr val="0969DA"/>
                </a:solidFill>
                <a:effectLst/>
                <a:uFillTx/>
                <a:latin typeface="SegoeUI"/>
                <a:ea typeface="SegoeUI"/>
                <a:hlinkClick r:id="rId2"/>
              </a:rPr>
              <a:t>Trib. Milano 7823/2022</a:t>
            </a:r>
            <a:r>
              <a:rPr lang="it-IT" sz="1580" b="0" u="none" strike="noStrike" dirty="0">
                <a:solidFill>
                  <a:srgbClr val="343A40"/>
                </a:solidFill>
                <a:effectLst/>
                <a:uFillTx/>
                <a:latin typeface="SegoeUI"/>
                <a:ea typeface="SegoeUI"/>
              </a:rPr>
              <a:t>; INPS): solo debiti/crediti reciproci nei confronti dello </a:t>
            </a:r>
            <a:r>
              <a:rPr lang="it-IT" sz="1580" b="1" u="none" strike="noStrike" dirty="0">
                <a:solidFill>
                  <a:srgbClr val="00509E"/>
                </a:solidFill>
                <a:effectLst/>
                <a:uFillTx/>
                <a:latin typeface="SegoeUI"/>
                <a:ea typeface="SegoeUI"/>
              </a:rPr>
              <a:t>stesso</a:t>
            </a:r>
            <a:r>
              <a:rPr lang="it-IT" sz="1580" b="0" u="none" strike="noStrike" dirty="0">
                <a:solidFill>
                  <a:srgbClr val="343A40"/>
                </a:solidFill>
                <a:effectLst/>
                <a:uFillTx/>
                <a:latin typeface="SegoeUI"/>
                <a:ea typeface="SegoeUI"/>
              </a:rPr>
              <a:t> ente. →</a:t>
            </a:r>
            <a:endParaRPr lang="it-IT" sz="1580" b="0" u="none" strike="noStrike" dirty="0">
              <a:solidFill>
                <a:srgbClr val="000000"/>
              </a:solidFill>
              <a:effectLst/>
              <a:uFillTx/>
              <a:latin typeface="Times New Roman"/>
            </a:endParaRPr>
          </a:p>
        </p:txBody>
      </p:sp>
      <p:sp>
        <p:nvSpPr>
          <p:cNvPr id="705" name="Figura a mano libera: forma 704"/>
          <p:cNvSpPr/>
          <p:nvPr/>
        </p:nvSpPr>
        <p:spPr>
          <a:xfrm>
            <a:off x="1028520" y="3485880"/>
            <a:ext cx="76680" cy="76680"/>
          </a:xfrm>
          <a:custGeom>
            <a:avLst/>
            <a:gdLst/>
            <a:ahLst/>
            <a:cxnLst/>
            <a:rect l="0" t="0" r="r" b="b"/>
            <a:pathLst>
              <a:path w="213" h="213">
                <a:moveTo>
                  <a:pt x="213" y="106"/>
                </a:moveTo>
                <a:cubicBezTo>
                  <a:pt x="213" y="120"/>
                  <a:pt x="210" y="135"/>
                  <a:pt x="205" y="148"/>
                </a:cubicBezTo>
                <a:cubicBezTo>
                  <a:pt x="198" y="161"/>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1"/>
                  <a:pt x="8" y="148"/>
                </a:cubicBezTo>
                <a:cubicBezTo>
                  <a:pt x="3" y="135"/>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06" name="CasellaDiTesto 705"/>
          <p:cNvSpPr txBox="1"/>
          <p:nvPr/>
        </p:nvSpPr>
        <p:spPr>
          <a:xfrm>
            <a:off x="1238400" y="2889360"/>
            <a:ext cx="66794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Inammissibilità della compensazione tra crediti erariali e debiti previdenziali.</a:t>
            </a:r>
            <a:endParaRPr lang="it-IT" sz="1580" b="0" u="none" strike="noStrike">
              <a:solidFill>
                <a:srgbClr val="000000"/>
              </a:solidFill>
              <a:effectLst/>
              <a:uFillTx/>
              <a:latin typeface="Times New Roman"/>
            </a:endParaRPr>
          </a:p>
        </p:txBody>
      </p:sp>
      <p:sp>
        <p:nvSpPr>
          <p:cNvPr id="707" name="CasellaDiTesto 706"/>
          <p:cNvSpPr txBox="1"/>
          <p:nvPr/>
        </p:nvSpPr>
        <p:spPr>
          <a:xfrm>
            <a:off x="1238400" y="3375000"/>
            <a:ext cx="97153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Estensiva</a:t>
            </a:r>
            <a:r>
              <a:rPr lang="it-IT" sz="1580" b="0" u="none" strike="noStrike">
                <a:solidFill>
                  <a:srgbClr val="343A40"/>
                </a:solidFill>
                <a:effectLst/>
                <a:uFillTx/>
                <a:latin typeface="SegoeUI"/>
                <a:ea typeface="SegoeUI"/>
              </a:rPr>
              <a:t> (dottrina): la locuzione identifica gli enti destinatari del versamento unitario, non impone reciprocità.</a:t>
            </a:r>
            <a:endParaRPr lang="it-IT" sz="1580" b="0" u="none" strike="noStrike">
              <a:solidFill>
                <a:srgbClr val="000000"/>
              </a:solidFill>
              <a:effectLst/>
              <a:uFillTx/>
              <a:latin typeface="Times New Roman"/>
            </a:endParaRPr>
          </a:p>
        </p:txBody>
      </p:sp>
      <p:sp>
        <p:nvSpPr>
          <p:cNvPr id="708" name="CasellaDiTesto 707"/>
          <p:cNvSpPr txBox="1"/>
          <p:nvPr/>
        </p:nvSpPr>
        <p:spPr>
          <a:xfrm>
            <a:off x="971640" y="3850560"/>
            <a:ext cx="73252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Interpretazione autentica: </a:t>
            </a:r>
            <a:r>
              <a:rPr lang="it-IT" sz="1650" b="1" u="none" strike="noStrike">
                <a:solidFill>
                  <a:srgbClr val="00509E"/>
                </a:solidFill>
                <a:effectLst/>
                <a:uFillTx/>
                <a:latin typeface="SegoeUI"/>
                <a:ea typeface="SegoeUI"/>
              </a:rPr>
              <a:t>Art. 2-quater D.L. 11/2023</a:t>
            </a:r>
            <a:r>
              <a:rPr lang="it-IT" sz="1650" b="0" u="none" strike="noStrike">
                <a:solidFill>
                  <a:srgbClr val="212529"/>
                </a:solidFill>
                <a:effectLst/>
                <a:uFillTx/>
                <a:latin typeface="SegoeUI"/>
                <a:ea typeface="SegoeUI"/>
              </a:rPr>
              <a:t>, inserito dalla L. 38/2023:</a:t>
            </a:r>
            <a:endParaRPr lang="it-IT" sz="1650" b="0" u="none" strike="noStrike">
              <a:solidFill>
                <a:srgbClr val="000000"/>
              </a:solidFill>
              <a:effectLst/>
              <a:uFillTx/>
              <a:latin typeface="Times New Roman"/>
            </a:endParaRPr>
          </a:p>
        </p:txBody>
      </p:sp>
      <p:sp>
        <p:nvSpPr>
          <p:cNvPr id="709" name="CasellaDiTesto 708"/>
          <p:cNvSpPr txBox="1"/>
          <p:nvPr/>
        </p:nvSpPr>
        <p:spPr>
          <a:xfrm>
            <a:off x="1209600" y="4547520"/>
            <a:ext cx="956520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L'art. 17 del D.Lgs. 241/1997 deve essere interpretato nel senso che la compensazione ivi disciplinata può avvenire</a:t>
            </a:r>
            <a:endParaRPr lang="it-IT" sz="1500" b="0" u="none" strike="noStrike">
              <a:solidFill>
                <a:srgbClr val="000000"/>
              </a:solidFill>
              <a:effectLst/>
              <a:uFillTx/>
              <a:latin typeface="Times New Roman"/>
            </a:endParaRPr>
          </a:p>
        </p:txBody>
      </p:sp>
      <p:sp>
        <p:nvSpPr>
          <p:cNvPr id="710" name="CasellaDiTesto 709"/>
          <p:cNvSpPr txBox="1"/>
          <p:nvPr/>
        </p:nvSpPr>
        <p:spPr>
          <a:xfrm>
            <a:off x="1209600" y="4842720"/>
            <a:ext cx="5198760" cy="253440"/>
          </a:xfrm>
          <a:prstGeom prst="rect">
            <a:avLst/>
          </a:prstGeom>
          <a:noFill/>
          <a:ln w="0">
            <a:noFill/>
          </a:ln>
        </p:spPr>
        <p:txBody>
          <a:bodyPr wrap="none" lIns="0" tIns="0" rIns="0" bIns="0" anchor="t">
            <a:spAutoFit/>
          </a:bodyPr>
          <a:lstStyle/>
          <a:p>
            <a:r>
              <a:rPr lang="it-IT" sz="1500" b="1" u="none" strike="noStrike">
                <a:solidFill>
                  <a:srgbClr val="00509E"/>
                </a:solidFill>
                <a:effectLst/>
                <a:uFillTx/>
                <a:latin typeface="SegoeUI"/>
                <a:ea typeface="SegoeUI"/>
              </a:rPr>
              <a:t>anche tra debiti previdenziali e crediti tributari</a:t>
            </a:r>
            <a:r>
              <a:rPr lang="it-IT" sz="1500" b="0" u="none" strike="noStrike">
                <a:solidFill>
                  <a:srgbClr val="343A40"/>
                </a:solidFill>
                <a:effectLst/>
                <a:uFillTx/>
                <a:latin typeface="SegoeUI"/>
                <a:ea typeface="SegoeUI"/>
              </a:rPr>
              <a:t> o viceversa.</a:t>
            </a:r>
            <a:endParaRPr lang="it-IT" sz="1500" b="0" u="none" strike="noStrike">
              <a:solidFill>
                <a:srgbClr val="000000"/>
              </a:solidFill>
              <a:effectLst/>
              <a:uFillTx/>
              <a:latin typeface="Times New Roman"/>
            </a:endParaRPr>
          </a:p>
        </p:txBody>
      </p:sp>
      <p:sp>
        <p:nvSpPr>
          <p:cNvPr id="711" name="Figura a mano libera: forma 71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12" name="CasellaDiTesto 711"/>
          <p:cNvSpPr txBox="1"/>
          <p:nvPr/>
        </p:nvSpPr>
        <p:spPr>
          <a:xfrm>
            <a:off x="971640" y="5469840"/>
            <a:ext cx="92062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Intervento </a:t>
            </a:r>
            <a:r>
              <a:rPr lang="it-IT" sz="1650" b="0" i="1" u="none" strike="noStrike">
                <a:solidFill>
                  <a:srgbClr val="495057"/>
                </a:solidFill>
                <a:effectLst/>
                <a:uFillTx/>
                <a:latin typeface="SegoeUI"/>
                <a:ea typeface="SegoeUI"/>
              </a:rPr>
              <a:t>quasi superfluo</a:t>
            </a:r>
            <a:r>
              <a:rPr lang="it-IT" sz="1650" b="0" u="none" strike="noStrike">
                <a:solidFill>
                  <a:srgbClr val="212529"/>
                </a:solidFill>
                <a:effectLst/>
                <a:uFillTx/>
                <a:latin typeface="SegoeUI"/>
                <a:ea typeface="SegoeUI"/>
              </a:rPr>
              <a:t>, ma dirimente dopo il filone giuslavoristico che negava la compensazione.</a:t>
            </a:r>
            <a:endParaRPr lang="it-IT" sz="1650" b="0" u="none" strike="noStrike">
              <a:solidFill>
                <a:srgbClr val="000000"/>
              </a:solidFill>
              <a:effectLst/>
              <a:uFillTx/>
              <a:latin typeface="Times New Roman"/>
            </a:endParaRPr>
          </a:p>
        </p:txBody>
      </p:sp>
      <p:sp>
        <p:nvSpPr>
          <p:cNvPr id="713" name="Figura a mano libera: forma 71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14" name="CasellaDiTesto 71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715" name="CasellaDiTesto 71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27 / 73</a:t>
            </a:r>
            <a:endParaRPr lang="it-IT" sz="980" b="0" u="none" strike="noStrike">
              <a:solidFill>
                <a:srgbClr val="000000"/>
              </a:solidFill>
              <a:effectLst/>
              <a:uFillTx/>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 name="Figura a mano libera: forma 71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17" name="Figura a mano libera: forma 71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18" name="Figura a mano libera: forma 71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19" name="Figura a mano libera: forma 71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20" name="Figura a mano libera: forma 719"/>
          <p:cNvSpPr/>
          <p:nvPr/>
        </p:nvSpPr>
        <p:spPr>
          <a:xfrm>
            <a:off x="971280" y="157140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21" name="CasellaDiTesto 720"/>
          <p:cNvSpPr txBox="1"/>
          <p:nvPr/>
        </p:nvSpPr>
        <p:spPr>
          <a:xfrm>
            <a:off x="971640" y="952560"/>
            <a:ext cx="347364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MODELLO F24...</a:t>
            </a:r>
            <a:endParaRPr lang="it-IT" sz="2850" b="0" u="none" strike="noStrike">
              <a:solidFill>
                <a:srgbClr val="000000"/>
              </a:solidFill>
              <a:effectLst/>
              <a:uFillTx/>
              <a:latin typeface="Times New Roman"/>
            </a:endParaRPr>
          </a:p>
        </p:txBody>
      </p:sp>
      <p:sp>
        <p:nvSpPr>
          <p:cNvPr id="722" name="Figura a mano libera: forma 721"/>
          <p:cNvSpPr/>
          <p:nvPr/>
        </p:nvSpPr>
        <p:spPr>
          <a:xfrm>
            <a:off x="1028520" y="229536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23" name="CasellaDiTesto 722"/>
          <p:cNvSpPr txBox="1"/>
          <p:nvPr/>
        </p:nvSpPr>
        <p:spPr>
          <a:xfrm>
            <a:off x="971640" y="1707480"/>
            <a:ext cx="2858090" cy="253916"/>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Il F24 (</a:t>
            </a:r>
            <a:r>
              <a:rPr lang="it-IT" sz="1650" b="0" u="none" strike="noStrike" dirty="0">
                <a:solidFill>
                  <a:srgbClr val="0969DA"/>
                </a:solidFill>
                <a:effectLst/>
                <a:uFillTx/>
                <a:latin typeface="SegoeUI"/>
                <a:ea typeface="SegoeUI"/>
                <a:hlinkClick r:id="rId2"/>
              </a:rPr>
              <a:t>qui</a:t>
            </a:r>
            <a:r>
              <a:rPr lang="it-IT" sz="1650" b="0" u="none" strike="noStrike" dirty="0">
                <a:solidFill>
                  <a:srgbClr val="212529"/>
                </a:solidFill>
                <a:effectLst/>
                <a:uFillTx/>
                <a:latin typeface="SegoeUI"/>
                <a:ea typeface="SegoeUI"/>
              </a:rPr>
              <a:t>) è simultaneamente:</a:t>
            </a:r>
            <a:endParaRPr lang="it-IT" sz="1650" b="0" u="none" strike="noStrike" dirty="0">
              <a:solidFill>
                <a:srgbClr val="000000"/>
              </a:solidFill>
              <a:effectLst/>
              <a:uFillTx/>
              <a:latin typeface="Times New Roman"/>
            </a:endParaRPr>
          </a:p>
        </p:txBody>
      </p:sp>
      <p:sp>
        <p:nvSpPr>
          <p:cNvPr id="724" name="Figura a mano libera: forma 723"/>
          <p:cNvSpPr/>
          <p:nvPr/>
        </p:nvSpPr>
        <p:spPr>
          <a:xfrm>
            <a:off x="1028520" y="277164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1"/>
                  <a:pt x="159" y="199"/>
                  <a:pt x="146" y="204"/>
                </a:cubicBezTo>
                <a:cubicBezTo>
                  <a:pt x="133" y="210"/>
                  <a:pt x="120" y="213"/>
                  <a:pt x="106" y="213"/>
                </a:cubicBezTo>
                <a:cubicBezTo>
                  <a:pt x="92" y="213"/>
                  <a:pt x="78" y="210"/>
                  <a:pt x="65" y="204"/>
                </a:cubicBezTo>
                <a:cubicBezTo>
                  <a:pt x="52" y="199"/>
                  <a:pt x="41" y="191"/>
                  <a:pt x="31" y="182"/>
                </a:cubicBezTo>
                <a:cubicBezTo>
                  <a:pt x="21" y="172"/>
                  <a:pt x="13" y="160"/>
                  <a:pt x="8" y="147"/>
                </a:cubicBezTo>
                <a:cubicBezTo>
                  <a:pt x="3" y="134"/>
                  <a:pt x="0" y="121"/>
                  <a:pt x="0" y="107"/>
                </a:cubicBezTo>
                <a:cubicBezTo>
                  <a:pt x="0" y="93"/>
                  <a:pt x="3" y="79"/>
                  <a:pt x="8" y="66"/>
                </a:cubicBezTo>
                <a:cubicBezTo>
                  <a:pt x="13" y="53"/>
                  <a:pt x="21" y="42"/>
                  <a:pt x="31" y="32"/>
                </a:cubicBezTo>
                <a:cubicBezTo>
                  <a:pt x="41" y="22"/>
                  <a:pt x="52" y="14"/>
                  <a:pt x="65" y="9"/>
                </a:cubicBezTo>
                <a:cubicBezTo>
                  <a:pt x="78" y="4"/>
                  <a:pt x="92" y="0"/>
                  <a:pt x="106" y="0"/>
                </a:cubicBezTo>
                <a:cubicBezTo>
                  <a:pt x="120" y="0"/>
                  <a:pt x="133" y="4"/>
                  <a:pt x="146" y="9"/>
                </a:cubicBezTo>
                <a:cubicBezTo>
                  <a:pt x="159" y="14"/>
                  <a:pt x="171" y="22"/>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25" name="CasellaDiTesto 724"/>
          <p:cNvSpPr txBox="1"/>
          <p:nvPr/>
        </p:nvSpPr>
        <p:spPr>
          <a:xfrm>
            <a:off x="1238400" y="2184480"/>
            <a:ext cx="43632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ordine di pagamento</a:t>
            </a:r>
            <a:r>
              <a:rPr lang="it-IT" sz="1580" b="0" u="none" strike="noStrike">
                <a:solidFill>
                  <a:srgbClr val="343A40"/>
                </a:solidFill>
                <a:effectLst/>
                <a:uFillTx/>
                <a:latin typeface="SegoeUI"/>
                <a:ea typeface="SegoeUI"/>
              </a:rPr>
              <a:t> impartito all'intermediario;</a:t>
            </a:r>
            <a:endParaRPr lang="it-IT" sz="1580" b="0" u="none" strike="noStrike">
              <a:solidFill>
                <a:srgbClr val="000000"/>
              </a:solidFill>
              <a:effectLst/>
              <a:uFillTx/>
              <a:latin typeface="Times New Roman"/>
            </a:endParaRPr>
          </a:p>
        </p:txBody>
      </p:sp>
      <p:sp>
        <p:nvSpPr>
          <p:cNvPr id="726" name="Figura a mano libera: forma 725"/>
          <p:cNvSpPr/>
          <p:nvPr/>
        </p:nvSpPr>
        <p:spPr>
          <a:xfrm>
            <a:off x="1028520" y="3257280"/>
            <a:ext cx="76680" cy="76680"/>
          </a:xfrm>
          <a:custGeom>
            <a:avLst/>
            <a:gdLst/>
            <a:ahLst/>
            <a:cxnLst/>
            <a:rect l="0" t="0" r="r" b="b"/>
            <a:pathLst>
              <a:path w="213" h="213">
                <a:moveTo>
                  <a:pt x="213" y="106"/>
                </a:moveTo>
                <a:cubicBezTo>
                  <a:pt x="213" y="120"/>
                  <a:pt x="210" y="135"/>
                  <a:pt x="205" y="148"/>
                </a:cubicBezTo>
                <a:cubicBezTo>
                  <a:pt x="198" y="161"/>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1"/>
                  <a:pt x="8" y="148"/>
                </a:cubicBezTo>
                <a:cubicBezTo>
                  <a:pt x="3" y="135"/>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27" name="CasellaDiTesto 726"/>
          <p:cNvSpPr txBox="1"/>
          <p:nvPr/>
        </p:nvSpPr>
        <p:spPr>
          <a:xfrm>
            <a:off x="1238400" y="2660760"/>
            <a:ext cx="40240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giustificativo</a:t>
            </a:r>
            <a:r>
              <a:rPr lang="it-IT" sz="1580" b="0" u="none" strike="noStrike">
                <a:solidFill>
                  <a:srgbClr val="343A40"/>
                </a:solidFill>
                <a:effectLst/>
                <a:uFillTx/>
                <a:latin typeface="SegoeUI"/>
                <a:ea typeface="SegoeUI"/>
              </a:rPr>
              <a:t> del versamento (codici tributo);</a:t>
            </a:r>
            <a:endParaRPr lang="it-IT" sz="1580" b="0" u="none" strike="noStrike">
              <a:solidFill>
                <a:srgbClr val="000000"/>
              </a:solidFill>
              <a:effectLst/>
              <a:uFillTx/>
              <a:latin typeface="Times New Roman"/>
            </a:endParaRPr>
          </a:p>
        </p:txBody>
      </p:sp>
      <p:sp>
        <p:nvSpPr>
          <p:cNvPr id="728" name="CasellaDiTesto 727"/>
          <p:cNvSpPr txBox="1"/>
          <p:nvPr/>
        </p:nvSpPr>
        <p:spPr>
          <a:xfrm>
            <a:off x="1238400" y="3146400"/>
            <a:ext cx="39477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strumento</a:t>
            </a:r>
            <a:r>
              <a:rPr lang="it-IT" sz="1580" b="0" u="none" strike="noStrike">
                <a:solidFill>
                  <a:srgbClr val="343A40"/>
                </a:solidFill>
                <a:effectLst/>
                <a:uFillTx/>
                <a:latin typeface="SegoeUI"/>
                <a:ea typeface="SegoeUI"/>
              </a:rPr>
              <a:t> della compensazione orizzontale.</a:t>
            </a:r>
            <a:endParaRPr lang="it-IT" sz="1580" b="0" u="none" strike="noStrike">
              <a:solidFill>
                <a:srgbClr val="000000"/>
              </a:solidFill>
              <a:effectLst/>
              <a:uFillTx/>
              <a:latin typeface="Times New Roman"/>
            </a:endParaRPr>
          </a:p>
        </p:txBody>
      </p:sp>
      <p:sp>
        <p:nvSpPr>
          <p:cNvPr id="729" name="Figura a mano libera: forma 728"/>
          <p:cNvSpPr/>
          <p:nvPr/>
        </p:nvSpPr>
        <p:spPr>
          <a:xfrm>
            <a:off x="1028520" y="4219560"/>
            <a:ext cx="76680" cy="76320"/>
          </a:xfrm>
          <a:custGeom>
            <a:avLst/>
            <a:gdLst/>
            <a:ahLst/>
            <a:cxnLst/>
            <a:rect l="0" t="0" r="r" b="b"/>
            <a:pathLst>
              <a:path w="213" h="212">
                <a:moveTo>
                  <a:pt x="213" y="105"/>
                </a:moveTo>
                <a:cubicBezTo>
                  <a:pt x="213" y="119"/>
                  <a:pt x="210" y="133"/>
                  <a:pt x="205" y="146"/>
                </a:cubicBezTo>
                <a:cubicBezTo>
                  <a:pt x="198" y="159"/>
                  <a:pt x="191" y="170"/>
                  <a:pt x="181" y="180"/>
                </a:cubicBezTo>
                <a:cubicBezTo>
                  <a:pt x="171" y="190"/>
                  <a:pt x="159" y="198"/>
                  <a:pt x="146" y="204"/>
                </a:cubicBezTo>
                <a:cubicBezTo>
                  <a:pt x="133" y="210"/>
                  <a:pt x="120" y="212"/>
                  <a:pt x="106" y="212"/>
                </a:cubicBezTo>
                <a:cubicBezTo>
                  <a:pt x="92" y="212"/>
                  <a:pt x="78" y="210"/>
                  <a:pt x="65" y="204"/>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0"/>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30" name="CasellaDiTesto 729"/>
          <p:cNvSpPr txBox="1"/>
          <p:nvPr/>
        </p:nvSpPr>
        <p:spPr>
          <a:xfrm>
            <a:off x="971640" y="3621960"/>
            <a:ext cx="46731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Modalità di presentazione</a:t>
            </a:r>
            <a:r>
              <a:rPr lang="it-IT" sz="1650" b="0" u="none" strike="noStrike">
                <a:solidFill>
                  <a:srgbClr val="212529"/>
                </a:solidFill>
                <a:effectLst/>
                <a:uFillTx/>
                <a:latin typeface="SegoeUI"/>
                <a:ea typeface="SegoeUI"/>
              </a:rPr>
              <a:t> (art. 5 D.Lgs. 33/2025):</a:t>
            </a:r>
            <a:endParaRPr lang="it-IT" sz="1650" b="0" u="none" strike="noStrike">
              <a:solidFill>
                <a:srgbClr val="000000"/>
              </a:solidFill>
              <a:effectLst/>
              <a:uFillTx/>
              <a:latin typeface="Times New Roman"/>
            </a:endParaRPr>
          </a:p>
        </p:txBody>
      </p:sp>
      <p:sp>
        <p:nvSpPr>
          <p:cNvPr id="731" name="Figura a mano libera: forma 730"/>
          <p:cNvSpPr/>
          <p:nvPr/>
        </p:nvSpPr>
        <p:spPr>
          <a:xfrm>
            <a:off x="1028520" y="4695480"/>
            <a:ext cx="76680" cy="76680"/>
          </a:xfrm>
          <a:custGeom>
            <a:avLst/>
            <a:gdLst/>
            <a:ahLst/>
            <a:cxnLst/>
            <a:rect l="0" t="0" r="r" b="b"/>
            <a:pathLst>
              <a:path w="213" h="213">
                <a:moveTo>
                  <a:pt x="213" y="106"/>
                </a:moveTo>
                <a:cubicBezTo>
                  <a:pt x="213" y="120"/>
                  <a:pt x="210" y="134"/>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4"/>
                  <a:pt x="0" y="120"/>
                  <a:pt x="0" y="106"/>
                </a:cubicBezTo>
                <a:cubicBezTo>
                  <a:pt x="0" y="92"/>
                  <a:pt x="3" y="79"/>
                  <a:pt x="8" y="66"/>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32" name="CasellaDiTesto 731"/>
          <p:cNvSpPr txBox="1"/>
          <p:nvPr/>
        </p:nvSpPr>
        <p:spPr>
          <a:xfrm>
            <a:off x="1238400" y="4108680"/>
            <a:ext cx="60098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soggetti IVA</a:t>
            </a:r>
            <a:r>
              <a:rPr lang="it-IT" sz="1580" b="0" u="none" strike="noStrike">
                <a:solidFill>
                  <a:srgbClr val="343A40"/>
                </a:solidFill>
                <a:effectLst/>
                <a:uFillTx/>
                <a:latin typeface="SegoeUI"/>
                <a:ea typeface="SegoeUI"/>
              </a:rPr>
              <a:t>: sempre telematica (Entratel/Fisconline o intermediari);</a:t>
            </a:r>
            <a:endParaRPr lang="it-IT" sz="1580" b="0" u="none" strike="noStrike">
              <a:solidFill>
                <a:srgbClr val="000000"/>
              </a:solidFill>
              <a:effectLst/>
              <a:uFillTx/>
              <a:latin typeface="Times New Roman"/>
            </a:endParaRPr>
          </a:p>
        </p:txBody>
      </p:sp>
      <p:sp>
        <p:nvSpPr>
          <p:cNvPr id="733" name="CasellaDiTesto 732"/>
          <p:cNvSpPr txBox="1"/>
          <p:nvPr/>
        </p:nvSpPr>
        <p:spPr>
          <a:xfrm>
            <a:off x="1238400" y="4584600"/>
            <a:ext cx="51951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non IVA</a:t>
            </a:r>
            <a:r>
              <a:rPr lang="it-IT" sz="1580" b="0" u="none" strike="noStrike">
                <a:solidFill>
                  <a:srgbClr val="343A40"/>
                </a:solidFill>
                <a:effectLst/>
                <a:uFillTx/>
                <a:latin typeface="SegoeUI"/>
                <a:ea typeface="SegoeUI"/>
              </a:rPr>
              <a:t>: telematica se il F24 contiene una compensazione.</a:t>
            </a:r>
            <a:endParaRPr lang="it-IT" sz="1580" b="0" u="none" strike="noStrike">
              <a:solidFill>
                <a:srgbClr val="000000"/>
              </a:solidFill>
              <a:effectLst/>
              <a:uFillTx/>
              <a:latin typeface="Times New Roman"/>
            </a:endParaRPr>
          </a:p>
        </p:txBody>
      </p:sp>
      <p:sp>
        <p:nvSpPr>
          <p:cNvPr id="734" name="CasellaDiTesto 733"/>
          <p:cNvSpPr txBox="1"/>
          <p:nvPr/>
        </p:nvSpPr>
        <p:spPr>
          <a:xfrm>
            <a:off x="971640" y="5069880"/>
            <a:ext cx="102877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Obbligo di canali diretti AE se il F24 compensa crediti erariali (IVA, IIDD, IRAP) — esteso ai crediti INPS/INAIL dal</a:t>
            </a:r>
            <a:endParaRPr lang="it-IT" sz="1650" b="0" u="none" strike="noStrike">
              <a:solidFill>
                <a:srgbClr val="000000"/>
              </a:solidFill>
              <a:effectLst/>
              <a:uFillTx/>
              <a:latin typeface="Times New Roman"/>
            </a:endParaRPr>
          </a:p>
        </p:txBody>
      </p:sp>
      <p:sp>
        <p:nvSpPr>
          <p:cNvPr id="735" name="Figura a mano libera: forma 73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36" name="CasellaDiTesto 735"/>
          <p:cNvSpPr txBox="1"/>
          <p:nvPr/>
        </p:nvSpPr>
        <p:spPr>
          <a:xfrm>
            <a:off x="971640" y="5393520"/>
            <a:ext cx="13168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1° luglio 2024.</a:t>
            </a:r>
            <a:endParaRPr lang="it-IT" sz="1650" b="0" u="none" strike="noStrike">
              <a:solidFill>
                <a:srgbClr val="000000"/>
              </a:solidFill>
              <a:effectLst/>
              <a:uFillTx/>
              <a:latin typeface="Times New Roman"/>
            </a:endParaRPr>
          </a:p>
        </p:txBody>
      </p:sp>
      <p:sp>
        <p:nvSpPr>
          <p:cNvPr id="737" name="Figura a mano libera: forma 736"/>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38" name="CasellaDiTesto 737"/>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739" name="CasellaDiTesto 738"/>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28 / 73</a:t>
            </a:r>
            <a:endParaRPr lang="it-IT" sz="980" b="0" u="none" strike="noStrike">
              <a:solidFill>
                <a:srgbClr val="000000"/>
              </a:solidFill>
              <a:effectLst/>
              <a:uFillTx/>
              <a:latin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Figura a mano libera: forma 73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41" name="Figura a mano libera: forma 74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42" name="Figura a mano libera: forma 74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dirty="0">
              <a:solidFill>
                <a:srgbClr val="000000"/>
              </a:solidFill>
              <a:effectLst/>
              <a:uFillTx/>
              <a:latin typeface="Times New Roman"/>
            </a:endParaRPr>
          </a:p>
        </p:txBody>
      </p:sp>
      <p:sp>
        <p:nvSpPr>
          <p:cNvPr id="743" name="Figura a mano libera: forma 74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744" name="Figura a mano libera: forma 743"/>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782" name="CasellaDiTesto 781"/>
          <p:cNvSpPr txBox="1"/>
          <p:nvPr/>
        </p:nvSpPr>
        <p:spPr>
          <a:xfrm>
            <a:off x="971640" y="552600"/>
            <a:ext cx="36028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 O "I" MODELLI F24</a:t>
            </a:r>
            <a:endParaRPr lang="it-IT" sz="2850" b="0" u="none" strike="noStrike">
              <a:solidFill>
                <a:srgbClr val="000000"/>
              </a:solidFill>
              <a:effectLst/>
              <a:uFillTx/>
              <a:latin typeface="Times New Roman"/>
            </a:endParaRPr>
          </a:p>
        </p:txBody>
      </p:sp>
      <p:graphicFrame>
        <p:nvGraphicFramePr>
          <p:cNvPr id="2" name="Tabella 1">
            <a:extLst>
              <a:ext uri="{FF2B5EF4-FFF2-40B4-BE49-F238E27FC236}">
                <a16:creationId xmlns:a16="http://schemas.microsoft.com/office/drawing/2014/main" id="{9FE37EC0-7F7C-45DC-C032-B8CDB72D0E98}"/>
              </a:ext>
            </a:extLst>
          </p:cNvPr>
          <p:cNvGraphicFramePr>
            <a:graphicFrameLocks noGrp="1"/>
          </p:cNvGraphicFramePr>
          <p:nvPr>
            <p:extLst>
              <p:ext uri="{D42A27DB-BD31-4B8C-83A1-F6EECF244321}">
                <p14:modId xmlns:p14="http://schemas.microsoft.com/office/powerpoint/2010/main" val="3891248687"/>
              </p:ext>
            </p:extLst>
          </p:nvPr>
        </p:nvGraphicFramePr>
        <p:xfrm>
          <a:off x="698171" y="1516061"/>
          <a:ext cx="10910257" cy="4749966"/>
        </p:xfrm>
        <a:graphic>
          <a:graphicData uri="http://schemas.openxmlformats.org/drawingml/2006/table">
            <a:tbl>
              <a:tblPr firstRow="1">
                <a:tableStyleId>{9DCAF9ED-07DC-4A11-8D7F-57B35C25682E}</a:tableStyleId>
              </a:tblPr>
              <a:tblGrid>
                <a:gridCol w="1668628">
                  <a:extLst>
                    <a:ext uri="{9D8B030D-6E8A-4147-A177-3AD203B41FA5}">
                      <a16:colId xmlns:a16="http://schemas.microsoft.com/office/drawing/2014/main" val="3284645806"/>
                    </a:ext>
                  </a:extLst>
                </a:gridCol>
                <a:gridCol w="9241629">
                  <a:extLst>
                    <a:ext uri="{9D8B030D-6E8A-4147-A177-3AD203B41FA5}">
                      <a16:colId xmlns:a16="http://schemas.microsoft.com/office/drawing/2014/main" val="3038737462"/>
                    </a:ext>
                  </a:extLst>
                </a:gridCol>
              </a:tblGrid>
              <a:tr h="188862">
                <a:tc>
                  <a:txBody>
                    <a:bodyPr/>
                    <a:lstStyle/>
                    <a:p>
                      <a:pPr algn="ctr" fontAlgn="ctr">
                        <a:buNone/>
                      </a:pPr>
                      <a:r>
                        <a:rPr lang="it-IT" sz="1200" u="none" strike="noStrike" dirty="0">
                          <a:effectLst/>
                          <a:latin typeface="Segoe UI" panose="020B0502040204020203" pitchFamily="34" charset="0"/>
                          <a:cs typeface="Segoe UI" panose="020B0502040204020203" pitchFamily="34" charset="0"/>
                        </a:rPr>
                        <a:t>Modello</a:t>
                      </a:r>
                      <a:endParaRPr lang="it-IT" sz="1200" b="1" i="0" u="none" strike="noStrike" dirty="0">
                        <a:solidFill>
                          <a:srgbClr val="F3F3F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ctr" fontAlgn="ctr">
                        <a:buNone/>
                      </a:pPr>
                      <a:r>
                        <a:rPr lang="it-IT" sz="1200" u="none" strike="noStrike" dirty="0">
                          <a:effectLst/>
                          <a:latin typeface="Segoe UI" panose="020B0502040204020203" pitchFamily="34" charset="0"/>
                          <a:cs typeface="Segoe UI" panose="020B0502040204020203" pitchFamily="34" charset="0"/>
                        </a:rPr>
                        <a:t>Ambito di applicazione e funzione</a:t>
                      </a:r>
                      <a:endParaRPr lang="it-IT" sz="1200" b="1" i="0" u="none" strike="noStrike" dirty="0">
                        <a:solidFill>
                          <a:srgbClr val="F3F3F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404751400"/>
                  </a:ext>
                </a:extLst>
              </a:tr>
              <a:tr h="727401">
                <a:tc>
                  <a:txBody>
                    <a:bodyPr/>
                    <a:lstStyle/>
                    <a:p>
                      <a:pPr algn="l" fontAlgn="ctr">
                        <a:buNone/>
                      </a:pPr>
                      <a:r>
                        <a:rPr lang="it-IT" sz="1200" b="1" u="none" strike="noStrike" dirty="0">
                          <a:effectLst/>
                          <a:latin typeface="Segoe UI" panose="020B0502040204020203" pitchFamily="34" charset="0"/>
                          <a:cs typeface="Segoe UI" panose="020B0502040204020203" pitchFamily="34" charset="0"/>
                        </a:rPr>
                        <a:t>F24 ordinario</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latin typeface="Segoe UI" panose="020B0502040204020203" pitchFamily="34" charset="0"/>
                          <a:cs typeface="Segoe UI" panose="020B0502040204020203" pitchFamily="34" charset="0"/>
                        </a:rPr>
                        <a:t>Modello di utilizzo generale per l'esecuzione dei versamenti unitari e delle compensazioni ex art. 17 d.lgs. n. 241/1997 (oggi d.lgs. n. 33/2025). Strumento ordinario mediante cui il contribuente conferisce delega irrevocabile alla banca convenzionata per il versamento della generalità dei tributi erariali, regionali e locali, dei contributi previdenziali e dei premi assicurativi.</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2057784298"/>
                  </a:ext>
                </a:extLst>
              </a:tr>
              <a:tr h="906913">
                <a:tc>
                  <a:txBody>
                    <a:bodyPr/>
                    <a:lstStyle/>
                    <a:p>
                      <a:pPr algn="l" fontAlgn="ctr">
                        <a:buNone/>
                      </a:pPr>
                      <a:r>
                        <a:rPr lang="it-IT" sz="1200" b="1" u="none" strike="noStrike" dirty="0">
                          <a:effectLst/>
                          <a:latin typeface="Segoe UI" panose="020B0502040204020203" pitchFamily="34" charset="0"/>
                          <a:cs typeface="Segoe UI" panose="020B0502040204020203" pitchFamily="34" charset="0"/>
                        </a:rPr>
                        <a:t>F24 ELIDE (Elementi Identificativi)</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latin typeface="Segoe UI" panose="020B0502040204020203" pitchFamily="34" charset="0"/>
                          <a:cs typeface="Segoe UI" panose="020B0502040204020203" pitchFamily="34" charset="0"/>
                        </a:rPr>
                        <a:t>Utilizzato per i versamenti che richiedono l'indicazione di elementi identificativi ulteriori rispetto a quelli previsti dall'F24 ordinario (a titolo esemplificativo: imposta sostitutiva neo-domiciliati ex l. n. 232/2016; restituzione contributi a fondo perduto non dovuti; IVA per estrazione beni dal deposito IVA; somme richieste con atti di recupero su crediti IVA indebitamente compensati; sanzioni AGCM; IVA immatricolazione auto UE; diritti di brevetto e tasse marchi; restituzione aiuti di Stato Covid-19; riversamento credito d'imposta R&amp;S).</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2709543981"/>
                  </a:ext>
                </a:extLst>
              </a:tr>
              <a:tr h="547888">
                <a:tc>
                  <a:txBody>
                    <a:bodyPr/>
                    <a:lstStyle/>
                    <a:p>
                      <a:pPr algn="l" fontAlgn="ctr">
                        <a:buNone/>
                      </a:pPr>
                      <a:r>
                        <a:rPr lang="it-IT" sz="1200" b="1" u="none" strike="noStrike" dirty="0">
                          <a:effectLst/>
                          <a:latin typeface="Segoe UI" panose="020B0502040204020203" pitchFamily="34" charset="0"/>
                          <a:cs typeface="Segoe UI" panose="020B0502040204020203" pitchFamily="34" charset="0"/>
                        </a:rPr>
                        <a:t>F24 accise</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a:effectLst/>
                          <a:latin typeface="Segoe UI" panose="020B0502040204020203" pitchFamily="34" charset="0"/>
                          <a:cs typeface="Segoe UI" panose="020B0502040204020203" pitchFamily="34" charset="0"/>
                        </a:rPr>
                        <a:t>Riservato al versamento di tributi e somme di pertinenza dell'Agenzia delle Dogane e dei Monopoli, nonché dei contributi INPGI, Cassa Geometri ed ENPAPI. Tratto distintivo: non consente l'utilizzo delle eccedenze in compensazione.</a:t>
                      </a:r>
                      <a:endParaRPr lang="it-IT" sz="1200" b="0" i="0" u="none" strike="noStrike">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011585629"/>
                  </a:ext>
                </a:extLst>
              </a:tr>
              <a:tr h="906913">
                <a:tc>
                  <a:txBody>
                    <a:bodyPr/>
                    <a:lstStyle/>
                    <a:p>
                      <a:pPr algn="l" fontAlgn="ctr">
                        <a:buNone/>
                      </a:pPr>
                      <a:r>
                        <a:rPr lang="it-IT" sz="1200" b="1" u="none" strike="noStrike" dirty="0">
                          <a:effectLst/>
                          <a:latin typeface="Segoe UI" panose="020B0502040204020203" pitchFamily="34" charset="0"/>
                          <a:cs typeface="Segoe UI" panose="020B0502040204020203" pitchFamily="34" charset="0"/>
                        </a:rPr>
                        <a:t>F24 semplificato</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a:effectLst/>
                          <a:latin typeface="Segoe UI" panose="020B0502040204020203" pitchFamily="34" charset="0"/>
                          <a:cs typeface="Segoe UI" panose="020B0502040204020203" pitchFamily="34" charset="0"/>
                        </a:rPr>
                        <a:t>Modello monopagina destinato esclusivamente al versamento di imposte erariali, regionali e degli enti locali (compresa l'IMU) presso agenti della riscossione, banche convenzionate e uffici postali. La struttura ridotta risponde a un'esigenza di semplificazione e di abbattimento dei costi di postalizzazione e archiviazione, segnatamente per i Comuni. La sezione "Motivo del pagamento" reca i codici ER (erariali), RG (regionali), EL (enti locali).</a:t>
                      </a:r>
                      <a:endParaRPr lang="it-IT" sz="1200" b="0" i="0" u="none" strike="noStrike">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583422659"/>
                  </a:ext>
                </a:extLst>
              </a:tr>
              <a:tr h="727401">
                <a:tc>
                  <a:txBody>
                    <a:bodyPr/>
                    <a:lstStyle/>
                    <a:p>
                      <a:pPr algn="l" fontAlgn="ctr">
                        <a:buNone/>
                      </a:pPr>
                      <a:r>
                        <a:rPr lang="it-IT" sz="1200" b="1" u="none" strike="noStrike" dirty="0">
                          <a:effectLst/>
                          <a:latin typeface="Segoe UI" panose="020B0502040204020203" pitchFamily="34" charset="0"/>
                          <a:cs typeface="Segoe UI" panose="020B0502040204020203" pitchFamily="34" charset="0"/>
                        </a:rPr>
                        <a:t>F24 EP (Enti Pubblici)</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a:effectLst/>
                          <a:latin typeface="Segoe UI" panose="020B0502040204020203" pitchFamily="34" charset="0"/>
                          <a:cs typeface="Segoe UI" panose="020B0502040204020203" pitchFamily="34" charset="0"/>
                        </a:rPr>
                        <a:t>Modello riservato agli enti pubblici sottoposti al sistema di tesoreria unica, alle Amministrazioni centrali dello Stato titolari di conti presso la tesoreria centrale e agli enti titolari di contabilità speciale autorizzati dalla Ragioneria Generale dello Stato (I.Ge.P.A.), per il versamento di ritenute alla fonte, IRAP, tributi erariali e comunali, contributi previdenziali e premi INAIL.</a:t>
                      </a:r>
                      <a:endParaRPr lang="it-IT" sz="1200" b="0" i="0" u="none" strike="noStrike">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2009918397"/>
                  </a:ext>
                </a:extLst>
              </a:tr>
              <a:tr h="727401">
                <a:tc>
                  <a:txBody>
                    <a:bodyPr/>
                    <a:lstStyle/>
                    <a:p>
                      <a:pPr algn="l" fontAlgn="ctr">
                        <a:buNone/>
                      </a:pPr>
                      <a:r>
                        <a:rPr lang="it-IT" sz="1200" b="1" u="none" strike="noStrike" dirty="0">
                          <a:effectLst/>
                          <a:latin typeface="Segoe UI" panose="020B0502040204020203" pitchFamily="34" charset="0"/>
                          <a:cs typeface="Segoe UI" panose="020B0502040204020203" pitchFamily="34" charset="0"/>
                        </a:rPr>
                        <a:t>F24 crediti PP.AA.</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latin typeface="Segoe UI" panose="020B0502040204020203" pitchFamily="34" charset="0"/>
                          <a:cs typeface="Segoe UI" panose="020B0502040204020203" pitchFamily="34" charset="0"/>
                        </a:rPr>
                        <a:t>Strumento previsto dall'art. 16 d.lgs. n. 33/2025 (già art. 28-quinquies d.P.R. n. 602/1973) per la compensazione delle somme dovute a seguito di applicazione di istituti deflativi del contenzioso tributario con crediti non prescritti, certi, liquidi ed esigibili vantati nei confronti delle pubbliche amministrazioni di cui all'art. 1, comma 2, d.lgs. n. 165/2001, per somministrazioni, prestazioni professionali, forniture e appalti.</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15088017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Figura a mano libera: forma 81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16" name="Figura a mano libera: forma 81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17" name="Figura a mano libera: forma 81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18" name="Figura a mano libera: forma 81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19" name="Figura a mano libera: forma 818"/>
          <p:cNvSpPr/>
          <p:nvPr/>
        </p:nvSpPr>
        <p:spPr>
          <a:xfrm>
            <a:off x="971280" y="22953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20" name="CasellaDiTesto 819"/>
          <p:cNvSpPr txBox="1"/>
          <p:nvPr/>
        </p:nvSpPr>
        <p:spPr>
          <a:xfrm>
            <a:off x="971640" y="1685880"/>
            <a:ext cx="44308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VISTO DI CONFORMITÀ</a:t>
            </a:r>
            <a:endParaRPr lang="it-IT" sz="2850" b="0" u="none" strike="noStrike">
              <a:solidFill>
                <a:srgbClr val="000000"/>
              </a:solidFill>
              <a:effectLst/>
              <a:uFillTx/>
              <a:latin typeface="Times New Roman"/>
            </a:endParaRPr>
          </a:p>
        </p:txBody>
      </p:sp>
      <p:sp>
        <p:nvSpPr>
          <p:cNvPr id="821" name="Figura a mano libera: forma 820"/>
          <p:cNvSpPr/>
          <p:nvPr/>
        </p:nvSpPr>
        <p:spPr>
          <a:xfrm>
            <a:off x="1028520" y="3019320"/>
            <a:ext cx="76680" cy="76320"/>
          </a:xfrm>
          <a:custGeom>
            <a:avLst/>
            <a:gdLst/>
            <a:ahLst/>
            <a:cxnLst/>
            <a:rect l="0" t="0" r="r" b="b"/>
            <a:pathLst>
              <a:path w="213" h="212">
                <a:moveTo>
                  <a:pt x="213" y="106"/>
                </a:moveTo>
                <a:cubicBezTo>
                  <a:pt x="213" y="120"/>
                  <a:pt x="210" y="133"/>
                  <a:pt x="205" y="146"/>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22" name="CasellaDiTesto 821"/>
          <p:cNvSpPr txBox="1"/>
          <p:nvPr/>
        </p:nvSpPr>
        <p:spPr>
          <a:xfrm>
            <a:off x="971640" y="2431440"/>
            <a:ext cx="601020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Art. 1, co. 574, L. 147/2013</a:t>
            </a:r>
            <a:r>
              <a:rPr lang="it-IT" sz="1650" b="0" u="none" strike="noStrike">
                <a:solidFill>
                  <a:srgbClr val="212529"/>
                </a:solidFill>
                <a:effectLst/>
                <a:uFillTx/>
                <a:latin typeface="SegoeUI"/>
                <a:ea typeface="SegoeUI"/>
              </a:rPr>
              <a:t> ( modificato dall'art. 3 D.L. 50/2017):</a:t>
            </a:r>
            <a:endParaRPr lang="it-IT" sz="1650" b="0" u="none" strike="noStrike">
              <a:solidFill>
                <a:srgbClr val="000000"/>
              </a:solidFill>
              <a:effectLst/>
              <a:uFillTx/>
              <a:latin typeface="Times New Roman"/>
            </a:endParaRPr>
          </a:p>
        </p:txBody>
      </p:sp>
      <p:sp>
        <p:nvSpPr>
          <p:cNvPr id="823" name="CasellaDiTesto 822"/>
          <p:cNvSpPr txBox="1"/>
          <p:nvPr/>
        </p:nvSpPr>
        <p:spPr>
          <a:xfrm>
            <a:off x="1238400" y="2908440"/>
            <a:ext cx="99266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obbligatorio per la compensazione di crediti relativi a IIDD, addizionali, imposte sostitutive, IRAP, </a:t>
            </a:r>
            <a:r>
              <a:rPr lang="it-IT" sz="1580" b="1" u="none" strike="noStrike">
                <a:solidFill>
                  <a:srgbClr val="00509E"/>
                </a:solidFill>
                <a:effectLst/>
                <a:uFillTx/>
                <a:latin typeface="SegoeUI"/>
                <a:ea typeface="SegoeUI"/>
              </a:rPr>
              <a:t>IVA</a:t>
            </a:r>
            <a:r>
              <a:rPr lang="it-IT" sz="1580" b="0" u="none" strike="noStrike">
                <a:solidFill>
                  <a:srgbClr val="343A40"/>
                </a:solidFill>
                <a:effectLst/>
                <a:uFillTx/>
                <a:latin typeface="SegoeUI"/>
                <a:ea typeface="SegoeUI"/>
              </a:rPr>
              <a:t> per importi</a:t>
            </a:r>
            <a:endParaRPr lang="it-IT" sz="1580" b="0" u="none" strike="noStrike">
              <a:solidFill>
                <a:srgbClr val="000000"/>
              </a:solidFill>
              <a:effectLst/>
              <a:uFillTx/>
              <a:latin typeface="Times New Roman"/>
            </a:endParaRPr>
          </a:p>
        </p:txBody>
      </p:sp>
      <p:sp>
        <p:nvSpPr>
          <p:cNvPr id="824" name="Figura a mano libera: forma 823"/>
          <p:cNvSpPr/>
          <p:nvPr/>
        </p:nvSpPr>
        <p:spPr>
          <a:xfrm>
            <a:off x="1028520" y="38098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25" name="CasellaDiTesto 824"/>
          <p:cNvSpPr txBox="1"/>
          <p:nvPr/>
        </p:nvSpPr>
        <p:spPr>
          <a:xfrm>
            <a:off x="1238400" y="3222720"/>
            <a:ext cx="2253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superiori a </a:t>
            </a:r>
            <a:r>
              <a:rPr lang="it-IT" sz="1580" b="1" u="none" strike="noStrike">
                <a:solidFill>
                  <a:srgbClr val="00509E"/>
                </a:solidFill>
                <a:effectLst/>
                <a:uFillTx/>
                <a:latin typeface="SegoeUI"/>
                <a:ea typeface="SegoeUI"/>
              </a:rPr>
              <a:t>5.000 €</a:t>
            </a:r>
            <a:r>
              <a:rPr lang="it-IT" sz="1580" b="0" u="none" strike="noStrike">
                <a:solidFill>
                  <a:srgbClr val="343A40"/>
                </a:solidFill>
                <a:effectLst/>
                <a:uFillTx/>
                <a:latin typeface="SegoeUI"/>
                <a:ea typeface="SegoeUI"/>
              </a:rPr>
              <a:t> annui.</a:t>
            </a:r>
            <a:endParaRPr lang="it-IT" sz="1580" b="0" u="none" strike="noStrike">
              <a:solidFill>
                <a:srgbClr val="000000"/>
              </a:solidFill>
              <a:effectLst/>
              <a:uFillTx/>
              <a:latin typeface="Times New Roman"/>
            </a:endParaRPr>
          </a:p>
        </p:txBody>
      </p:sp>
      <p:sp>
        <p:nvSpPr>
          <p:cNvPr id="826" name="CasellaDiTesto 825"/>
          <p:cNvSpPr txBox="1"/>
          <p:nvPr/>
        </p:nvSpPr>
        <p:spPr>
          <a:xfrm>
            <a:off x="1238400" y="3699000"/>
            <a:ext cx="6439320" cy="265680"/>
          </a:xfrm>
          <a:prstGeom prst="rect">
            <a:avLst/>
          </a:prstGeom>
          <a:noFill/>
          <a:ln w="0">
            <a:noFill/>
          </a:ln>
        </p:spPr>
        <p:txBody>
          <a:bodyPr wrap="none" lIns="0" tIns="0" rIns="0" bIns="0" anchor="t">
            <a:spAutoFit/>
          </a:bodyPr>
          <a:lstStyle/>
          <a:p>
            <a:r>
              <a:rPr lang="it-IT" sz="1580" b="0" u="none" strike="noStrike" dirty="0">
                <a:solidFill>
                  <a:srgbClr val="343A40"/>
                </a:solidFill>
                <a:effectLst/>
                <a:uFillTx/>
                <a:latin typeface="SegoeUI"/>
                <a:ea typeface="SegoeUI"/>
              </a:rPr>
              <a:t>Alternative: sottoscrizione da parte del revisore legale ex art. 2409-bis c.c.</a:t>
            </a:r>
            <a:endParaRPr lang="it-IT" sz="1580" b="0" u="none" strike="noStrike" dirty="0">
              <a:solidFill>
                <a:srgbClr val="000000"/>
              </a:solidFill>
              <a:effectLst/>
              <a:uFillTx/>
              <a:latin typeface="Times New Roman"/>
            </a:endParaRPr>
          </a:p>
        </p:txBody>
      </p:sp>
      <p:sp>
        <p:nvSpPr>
          <p:cNvPr id="827" name="CasellaDiTesto 826"/>
          <p:cNvSpPr txBox="1"/>
          <p:nvPr/>
        </p:nvSpPr>
        <p:spPr>
          <a:xfrm>
            <a:off x="971640" y="4183920"/>
            <a:ext cx="90471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In assenza del visto: il credito è utilizzabile in compensazione fino a 5.000 € per periodo d'imposta.</a:t>
            </a:r>
            <a:endParaRPr lang="it-IT" sz="1650" b="0" u="none" strike="noStrike">
              <a:solidFill>
                <a:srgbClr val="000000"/>
              </a:solidFill>
              <a:effectLst/>
              <a:uFillTx/>
              <a:latin typeface="Times New Roman"/>
            </a:endParaRPr>
          </a:p>
        </p:txBody>
      </p:sp>
      <p:sp>
        <p:nvSpPr>
          <p:cNvPr id="828" name="Figura a mano libera: forma 82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29" name="CasellaDiTesto 828"/>
          <p:cNvSpPr txBox="1"/>
          <p:nvPr/>
        </p:nvSpPr>
        <p:spPr>
          <a:xfrm>
            <a:off x="971640" y="4660200"/>
            <a:ext cx="100699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Attenzione</a:t>
            </a:r>
            <a:r>
              <a:rPr lang="it-IT" sz="1650" b="0" u="none" strike="noStrike">
                <a:solidFill>
                  <a:srgbClr val="212529"/>
                </a:solidFill>
                <a:effectLst/>
                <a:uFillTx/>
                <a:latin typeface="SegoeUI"/>
                <a:ea typeface="SegoeUI"/>
              </a:rPr>
              <a:t>: il visto di conformità garantisce la </a:t>
            </a:r>
            <a:r>
              <a:rPr lang="it-IT" sz="1650" b="0" i="1" u="none" strike="noStrike">
                <a:solidFill>
                  <a:srgbClr val="495057"/>
                </a:solidFill>
                <a:effectLst/>
                <a:uFillTx/>
                <a:latin typeface="SegoeUI"/>
                <a:ea typeface="SegoeUI"/>
              </a:rPr>
              <a:t>regolarità formale</a:t>
            </a:r>
            <a:r>
              <a:rPr lang="it-IT" sz="1650" b="0" u="none" strike="noStrike">
                <a:solidFill>
                  <a:srgbClr val="212529"/>
                </a:solidFill>
                <a:effectLst/>
                <a:uFillTx/>
                <a:latin typeface="SegoeUI"/>
                <a:ea typeface="SegoeUI"/>
              </a:rPr>
              <a:t> del credito, non la sua </a:t>
            </a:r>
            <a:r>
              <a:rPr lang="it-IT" sz="1650" b="0" i="1" u="none" strike="noStrike">
                <a:solidFill>
                  <a:srgbClr val="495057"/>
                </a:solidFill>
                <a:effectLst/>
                <a:uFillTx/>
                <a:latin typeface="SegoeUI"/>
                <a:ea typeface="SegoeUI"/>
              </a:rPr>
              <a:t>spettanza sostanziale</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830" name="Figura a mano libera: forma 82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31" name="CasellaDiTesto 83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832" name="CasellaDiTesto 83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30 / 73</a:t>
            </a:r>
            <a:endParaRPr lang="it-IT" sz="980" b="0" u="none" strike="noStrike">
              <a:solidFill>
                <a:srgbClr val="000000"/>
              </a:solidFill>
              <a:effectLst/>
              <a:uFillTx/>
              <a:latin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Figura a mano libera: forma 83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34" name="Figura a mano libera: forma 83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35" name="Figura a mano libera: forma 83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36" name="Figura a mano libera: forma 83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37" name="Figura a mano libera: forma 836"/>
          <p:cNvSpPr/>
          <p:nvPr/>
        </p:nvSpPr>
        <p:spPr>
          <a:xfrm>
            <a:off x="971280" y="253332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38" name="CasellaDiTesto 837"/>
          <p:cNvSpPr txBox="1"/>
          <p:nvPr/>
        </p:nvSpPr>
        <p:spPr>
          <a:xfrm>
            <a:off x="971640" y="1924200"/>
            <a:ext cx="40690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 REQUISITI TEMPORALI</a:t>
            </a:r>
            <a:endParaRPr lang="it-IT" sz="2850" b="0" u="none" strike="noStrike">
              <a:solidFill>
                <a:srgbClr val="000000"/>
              </a:solidFill>
              <a:effectLst/>
              <a:uFillTx/>
              <a:latin typeface="Times New Roman"/>
            </a:endParaRPr>
          </a:p>
        </p:txBody>
      </p:sp>
      <p:sp>
        <p:nvSpPr>
          <p:cNvPr id="839" name="CasellaDiTesto 838"/>
          <p:cNvSpPr txBox="1"/>
          <p:nvPr/>
        </p:nvSpPr>
        <p:spPr>
          <a:xfrm>
            <a:off x="971640" y="2669400"/>
            <a:ext cx="95727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Momento iniziale</a:t>
            </a:r>
            <a:r>
              <a:rPr lang="it-IT" sz="1650" b="0" u="none" strike="noStrike">
                <a:solidFill>
                  <a:srgbClr val="212529"/>
                </a:solidFill>
                <a:effectLst/>
                <a:uFillTx/>
                <a:latin typeface="SegoeUI"/>
                <a:ea typeface="SegoeUI"/>
              </a:rPr>
              <a:t>: dal 1° gennaio del periodo d'imposta successivo a quello di maturazione del credito.</a:t>
            </a:r>
            <a:endParaRPr lang="it-IT" sz="1650" b="0" u="none" strike="noStrike">
              <a:solidFill>
                <a:srgbClr val="000000"/>
              </a:solidFill>
              <a:effectLst/>
              <a:uFillTx/>
              <a:latin typeface="Times New Roman"/>
            </a:endParaRPr>
          </a:p>
        </p:txBody>
      </p:sp>
      <p:sp>
        <p:nvSpPr>
          <p:cNvPr id="840" name="CasellaDiTesto 839"/>
          <p:cNvSpPr txBox="1"/>
          <p:nvPr/>
        </p:nvSpPr>
        <p:spPr>
          <a:xfrm>
            <a:off x="971640" y="3145680"/>
            <a:ext cx="1039500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Per crediti IIDD, addizionali, imp. sost., IRAP, IVA &gt; 5.000 €</a:t>
            </a:r>
            <a:r>
              <a:rPr lang="it-IT" sz="1650" b="0" u="none" strike="noStrike">
                <a:solidFill>
                  <a:srgbClr val="212529"/>
                </a:solidFill>
                <a:effectLst/>
                <a:uFillTx/>
                <a:latin typeface="SegoeUI"/>
                <a:ea typeface="SegoeUI"/>
              </a:rPr>
              <a:t>: dal </a:t>
            </a:r>
            <a:r>
              <a:rPr lang="it-IT" sz="1650" b="1" u="none" strike="noStrike">
                <a:solidFill>
                  <a:srgbClr val="00509E"/>
                </a:solidFill>
                <a:effectLst/>
                <a:uFillTx/>
                <a:latin typeface="SegoeUI"/>
                <a:ea typeface="SegoeUI"/>
              </a:rPr>
              <a:t>decimo giorno</a:t>
            </a:r>
            <a:r>
              <a:rPr lang="it-IT" sz="1650" b="0" u="none" strike="noStrike">
                <a:solidFill>
                  <a:srgbClr val="212529"/>
                </a:solidFill>
                <a:effectLst/>
                <a:uFillTx/>
                <a:latin typeface="SegoeUI"/>
                <a:ea typeface="SegoeUI"/>
              </a:rPr>
              <a:t> successivo alla presentazione</a:t>
            </a:r>
            <a:endParaRPr lang="it-IT" sz="1650" b="0" u="none" strike="noStrike">
              <a:solidFill>
                <a:srgbClr val="000000"/>
              </a:solidFill>
              <a:effectLst/>
              <a:uFillTx/>
              <a:latin typeface="Times New Roman"/>
            </a:endParaRPr>
          </a:p>
        </p:txBody>
      </p:sp>
      <p:sp>
        <p:nvSpPr>
          <p:cNvPr id="841" name="CasellaDiTesto 840"/>
          <p:cNvSpPr txBox="1"/>
          <p:nvPr/>
        </p:nvSpPr>
        <p:spPr>
          <a:xfrm>
            <a:off x="971640" y="3469680"/>
            <a:ext cx="39902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della dichiarazione da cui il credito emerge.</a:t>
            </a:r>
            <a:endParaRPr lang="it-IT" sz="1650" b="0" u="none" strike="noStrike">
              <a:solidFill>
                <a:srgbClr val="000000"/>
              </a:solidFill>
              <a:effectLst/>
              <a:uFillTx/>
              <a:latin typeface="Times New Roman"/>
            </a:endParaRPr>
          </a:p>
        </p:txBody>
      </p:sp>
      <p:sp>
        <p:nvSpPr>
          <p:cNvPr id="842" name="CasellaDiTesto 841"/>
          <p:cNvSpPr txBox="1"/>
          <p:nvPr/>
        </p:nvSpPr>
        <p:spPr>
          <a:xfrm>
            <a:off x="971640" y="3945960"/>
            <a:ext cx="73029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Momento finale</a:t>
            </a:r>
            <a:r>
              <a:rPr lang="it-IT" sz="1650" b="0" u="none" strike="noStrike">
                <a:solidFill>
                  <a:srgbClr val="212529"/>
                </a:solidFill>
                <a:effectLst/>
                <a:uFillTx/>
                <a:latin typeface="SegoeUI"/>
                <a:ea typeface="SegoeUI"/>
              </a:rPr>
              <a:t>: entro la data di presentazione della dichiarazione </a:t>
            </a:r>
            <a:r>
              <a:rPr lang="it-IT" sz="1650" b="1" u="none" strike="noStrike">
                <a:solidFill>
                  <a:srgbClr val="00509E"/>
                </a:solidFill>
                <a:effectLst/>
                <a:uFillTx/>
                <a:latin typeface="SegoeUI"/>
                <a:ea typeface="SegoeUI"/>
              </a:rPr>
              <a:t>successiva</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843" name="Figura a mano libera: forma 842"/>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44" name="CasellaDiTesto 843"/>
          <p:cNvSpPr txBox="1"/>
          <p:nvPr/>
        </p:nvSpPr>
        <p:spPr>
          <a:xfrm>
            <a:off x="971640" y="4422240"/>
            <a:ext cx="93945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Eventuale credito residuo → riportato nella dichiarazione susseguente e utilizzabile nel nuovo periodo.</a:t>
            </a:r>
            <a:endParaRPr lang="it-IT" sz="1650" b="0" u="none" strike="noStrike">
              <a:solidFill>
                <a:srgbClr val="000000"/>
              </a:solidFill>
              <a:effectLst/>
              <a:uFillTx/>
              <a:latin typeface="Times New Roman"/>
            </a:endParaRPr>
          </a:p>
        </p:txBody>
      </p:sp>
      <p:sp>
        <p:nvSpPr>
          <p:cNvPr id="845" name="Figura a mano libera: forma 844"/>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46" name="CasellaDiTesto 845"/>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847" name="CasellaDiTesto 846"/>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31 / 73</a:t>
            </a:r>
            <a:endParaRPr lang="it-IT" sz="980" b="0" u="none" strike="noStrike">
              <a:solidFill>
                <a:srgbClr val="000000"/>
              </a:solidFill>
              <a:effectLst/>
              <a:uFillTx/>
              <a:latin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 name="Figura a mano libera: forma 84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49" name="Figura a mano libera: forma 84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50" name="Figura a mano libera: forma 849"/>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51" name="Figura a mano libera: forma 850"/>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52" name="Figura a mano libera: forma 851"/>
          <p:cNvSpPr/>
          <p:nvPr/>
        </p:nvSpPr>
        <p:spPr>
          <a:xfrm>
            <a:off x="971280" y="19713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53" name="CasellaDiTesto 852"/>
          <p:cNvSpPr txBox="1"/>
          <p:nvPr/>
        </p:nvSpPr>
        <p:spPr>
          <a:xfrm>
            <a:off x="971640" y="1361880"/>
            <a:ext cx="37332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LIMITI QUANTITATIVI</a:t>
            </a:r>
            <a:endParaRPr lang="it-IT" sz="2850" b="0" u="none" strike="noStrike">
              <a:solidFill>
                <a:srgbClr val="000000"/>
              </a:solidFill>
              <a:effectLst/>
              <a:uFillTx/>
              <a:latin typeface="Times New Roman"/>
            </a:endParaRPr>
          </a:p>
        </p:txBody>
      </p:sp>
      <p:sp>
        <p:nvSpPr>
          <p:cNvPr id="854" name="Figura a mano libera: forma 853"/>
          <p:cNvSpPr/>
          <p:nvPr/>
        </p:nvSpPr>
        <p:spPr>
          <a:xfrm>
            <a:off x="1028520" y="269532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5"/>
                  <a:pt x="65" y="9"/>
                </a:cubicBezTo>
                <a:cubicBezTo>
                  <a:pt x="78" y="3"/>
                  <a:pt x="92" y="0"/>
                  <a:pt x="106" y="0"/>
                </a:cubicBezTo>
                <a:cubicBezTo>
                  <a:pt x="120" y="0"/>
                  <a:pt x="133" y="3"/>
                  <a:pt x="146" y="9"/>
                </a:cubicBezTo>
                <a:cubicBezTo>
                  <a:pt x="159" y="15"/>
                  <a:pt x="171" y="22"/>
                  <a:pt x="181" y="32"/>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55" name="CasellaDiTesto 854"/>
          <p:cNvSpPr txBox="1"/>
          <p:nvPr/>
        </p:nvSpPr>
        <p:spPr>
          <a:xfrm>
            <a:off x="971640" y="2107440"/>
            <a:ext cx="903204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Limite annuale di compensabilità</a:t>
            </a:r>
            <a:r>
              <a:rPr lang="it-IT" sz="1650" b="0" u="none" strike="noStrike">
                <a:solidFill>
                  <a:srgbClr val="212529"/>
                </a:solidFill>
                <a:effectLst/>
                <a:uFillTx/>
                <a:latin typeface="SegoeUI"/>
                <a:ea typeface="SegoeUI"/>
              </a:rPr>
              <a:t> (art. 34, co. 1, L. 388/2000, come modificato dalla L. 234/2021):</a:t>
            </a:r>
            <a:endParaRPr lang="it-IT" sz="1650" b="0" u="none" strike="noStrike">
              <a:solidFill>
                <a:srgbClr val="000000"/>
              </a:solidFill>
              <a:effectLst/>
              <a:uFillTx/>
              <a:latin typeface="Times New Roman"/>
            </a:endParaRPr>
          </a:p>
        </p:txBody>
      </p:sp>
      <p:sp>
        <p:nvSpPr>
          <p:cNvPr id="856" name="CasellaDiTesto 855"/>
          <p:cNvSpPr txBox="1"/>
          <p:nvPr/>
        </p:nvSpPr>
        <p:spPr>
          <a:xfrm>
            <a:off x="1238400" y="2584440"/>
            <a:ext cx="38440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2.000.000 €</a:t>
            </a:r>
            <a:r>
              <a:rPr lang="it-IT" sz="1580" b="0" u="none" strike="noStrike">
                <a:solidFill>
                  <a:srgbClr val="343A40"/>
                </a:solidFill>
                <a:effectLst/>
                <a:uFillTx/>
                <a:latin typeface="SegoeUI"/>
                <a:ea typeface="SegoeUI"/>
              </a:rPr>
              <a:t> per ciascun periodo d'imposta.</a:t>
            </a:r>
            <a:endParaRPr lang="it-IT" sz="1580" b="0" u="none" strike="noStrike">
              <a:solidFill>
                <a:srgbClr val="000000"/>
              </a:solidFill>
              <a:effectLst/>
              <a:uFillTx/>
              <a:latin typeface="Times New Roman"/>
            </a:endParaRPr>
          </a:p>
        </p:txBody>
      </p:sp>
      <p:sp>
        <p:nvSpPr>
          <p:cNvPr id="857" name="CasellaDiTesto 856"/>
          <p:cNvSpPr txBox="1"/>
          <p:nvPr/>
        </p:nvSpPr>
        <p:spPr>
          <a:xfrm>
            <a:off x="971640" y="3069720"/>
            <a:ext cx="42616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Ratio: tutela degli equilibri di finanza pubblica.</a:t>
            </a:r>
            <a:endParaRPr lang="it-IT" sz="1650" b="0" u="none" strike="noStrike">
              <a:solidFill>
                <a:srgbClr val="000000"/>
              </a:solidFill>
              <a:effectLst/>
              <a:uFillTx/>
              <a:latin typeface="Times New Roman"/>
            </a:endParaRPr>
          </a:p>
        </p:txBody>
      </p:sp>
      <p:sp>
        <p:nvSpPr>
          <p:cNvPr id="858" name="Figura a mano libera: forma 857"/>
          <p:cNvSpPr/>
          <p:nvPr/>
        </p:nvSpPr>
        <p:spPr>
          <a:xfrm>
            <a:off x="1028520" y="413352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4"/>
                  <a:pt x="65" y="8"/>
                </a:cubicBezTo>
                <a:cubicBezTo>
                  <a:pt x="78" y="3"/>
                  <a:pt x="92" y="0"/>
                  <a:pt x="106" y="0"/>
                </a:cubicBezTo>
                <a:cubicBezTo>
                  <a:pt x="120" y="0"/>
                  <a:pt x="133" y="3"/>
                  <a:pt x="146" y="8"/>
                </a:cubicBezTo>
                <a:cubicBezTo>
                  <a:pt x="159" y="14"/>
                  <a:pt x="171" y="22"/>
                  <a:pt x="181" y="32"/>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59" name="CasellaDiTesto 858"/>
          <p:cNvSpPr txBox="1"/>
          <p:nvPr/>
        </p:nvSpPr>
        <p:spPr>
          <a:xfrm>
            <a:off x="971640" y="3545640"/>
            <a:ext cx="16657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Esclusi dal limite</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860" name="Figura a mano libera: forma 859"/>
          <p:cNvSpPr/>
          <p:nvPr/>
        </p:nvSpPr>
        <p:spPr>
          <a:xfrm>
            <a:off x="1028520" y="4619520"/>
            <a:ext cx="76680" cy="76320"/>
          </a:xfrm>
          <a:custGeom>
            <a:avLst/>
            <a:gdLst/>
            <a:ahLst/>
            <a:cxnLst/>
            <a:rect l="0" t="0" r="r" b="b"/>
            <a:pathLst>
              <a:path w="213" h="212">
                <a:moveTo>
                  <a:pt x="213" y="106"/>
                </a:moveTo>
                <a:cubicBezTo>
                  <a:pt x="213" y="120"/>
                  <a:pt x="210" y="133"/>
                  <a:pt x="205" y="147"/>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61" name="CasellaDiTesto 860"/>
          <p:cNvSpPr txBox="1"/>
          <p:nvPr/>
        </p:nvSpPr>
        <p:spPr>
          <a:xfrm>
            <a:off x="1238400" y="4022640"/>
            <a:ext cx="37382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compensazione </a:t>
            </a:r>
            <a:r>
              <a:rPr lang="it-IT" sz="1580" b="1" u="none" strike="noStrike">
                <a:solidFill>
                  <a:srgbClr val="00509E"/>
                </a:solidFill>
                <a:effectLst/>
                <a:uFillTx/>
                <a:latin typeface="SegoeUI"/>
                <a:ea typeface="SegoeUI"/>
              </a:rPr>
              <a:t>verticale</a:t>
            </a:r>
            <a:r>
              <a:rPr lang="it-IT" sz="1580" b="0" u="none" strike="noStrike">
                <a:solidFill>
                  <a:srgbClr val="343A40"/>
                </a:solidFill>
                <a:effectLst/>
                <a:uFillTx/>
                <a:latin typeface="SegoeUI"/>
                <a:ea typeface="SegoeUI"/>
              </a:rPr>
              <a:t> (stessa imposta);</a:t>
            </a:r>
            <a:endParaRPr lang="it-IT" sz="1580" b="0" u="none" strike="noStrike">
              <a:solidFill>
                <a:srgbClr val="000000"/>
              </a:solidFill>
              <a:effectLst/>
              <a:uFillTx/>
              <a:latin typeface="Times New Roman"/>
            </a:endParaRPr>
          </a:p>
        </p:txBody>
      </p:sp>
      <p:sp>
        <p:nvSpPr>
          <p:cNvPr id="862" name="CasellaDiTesto 861"/>
          <p:cNvSpPr txBox="1"/>
          <p:nvPr/>
        </p:nvSpPr>
        <p:spPr>
          <a:xfrm>
            <a:off x="1238400" y="4508640"/>
            <a:ext cx="7422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crediti d'imposta con finalità </a:t>
            </a:r>
            <a:r>
              <a:rPr lang="it-IT" sz="1580" b="1" u="none" strike="noStrike">
                <a:solidFill>
                  <a:srgbClr val="00509E"/>
                </a:solidFill>
                <a:effectLst/>
                <a:uFillTx/>
                <a:latin typeface="SegoeUI"/>
                <a:ea typeface="SegoeUI"/>
              </a:rPr>
              <a:t>agevolativa</a:t>
            </a:r>
            <a:r>
              <a:rPr lang="it-IT" sz="1580" b="0" u="none" strike="noStrike">
                <a:solidFill>
                  <a:srgbClr val="343A40"/>
                </a:solidFill>
                <a:effectLst/>
                <a:uFillTx/>
                <a:latin typeface="SegoeUI"/>
                <a:ea typeface="SegoeUI"/>
              </a:rPr>
              <a:t> (perché già "coperti" dalla legge istitutiva).</a:t>
            </a:r>
            <a:endParaRPr lang="it-IT" sz="1580" b="0" u="none" strike="noStrike">
              <a:solidFill>
                <a:srgbClr val="000000"/>
              </a:solidFill>
              <a:effectLst/>
              <a:uFillTx/>
              <a:latin typeface="Times New Roman"/>
            </a:endParaRPr>
          </a:p>
        </p:txBody>
      </p:sp>
      <p:sp>
        <p:nvSpPr>
          <p:cNvPr id="863" name="Figura a mano libera: forma 862"/>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64" name="CasellaDiTesto 863"/>
          <p:cNvSpPr txBox="1"/>
          <p:nvPr/>
        </p:nvSpPr>
        <p:spPr>
          <a:xfrm>
            <a:off x="971640" y="4984200"/>
            <a:ext cx="98233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Superamento del tetto → </a:t>
            </a:r>
            <a:r>
              <a:rPr lang="it-IT" sz="1650" b="1" u="none" strike="noStrike">
                <a:solidFill>
                  <a:srgbClr val="00509E"/>
                </a:solidFill>
                <a:effectLst/>
                <a:uFillTx/>
                <a:latin typeface="SegoeUI"/>
                <a:ea typeface="SegoeUI"/>
              </a:rPr>
              <a:t>scarto del modello F24</a:t>
            </a:r>
            <a:r>
              <a:rPr lang="it-IT" sz="1650" b="0" u="none" strike="noStrike">
                <a:solidFill>
                  <a:srgbClr val="212529"/>
                </a:solidFill>
                <a:effectLst/>
                <a:uFillTx/>
                <a:latin typeface="SegoeUI"/>
                <a:ea typeface="SegoeUI"/>
              </a:rPr>
              <a:t> (art. 17, co. 2-ter) = non si è verificato alcun pagamento.</a:t>
            </a:r>
            <a:endParaRPr lang="it-IT" sz="1650" b="0" u="none" strike="noStrike">
              <a:solidFill>
                <a:srgbClr val="000000"/>
              </a:solidFill>
              <a:effectLst/>
              <a:uFillTx/>
              <a:latin typeface="Times New Roman"/>
            </a:endParaRPr>
          </a:p>
        </p:txBody>
      </p:sp>
      <p:sp>
        <p:nvSpPr>
          <p:cNvPr id="865" name="Figura a mano libera: forma 864"/>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66" name="CasellaDiTesto 865"/>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867" name="CasellaDiTesto 866"/>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32 / 73</a:t>
            </a:r>
            <a:endParaRPr lang="it-IT" sz="980" b="0" u="none" strike="noStrike">
              <a:solidFill>
                <a:srgbClr val="000000"/>
              </a:solidFill>
              <a:effectLst/>
              <a:uFillTx/>
              <a:latin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 name="Figura a mano libera: forma 86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69" name="Figura a mano libera: forma 86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70" name="Figura a mano libera: forma 869"/>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71" name="Figura a mano libera: forma 870"/>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72" name="Figura a mano libera: forma 871"/>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73" name="CasellaDiTesto 872"/>
          <p:cNvSpPr txBox="1"/>
          <p:nvPr/>
        </p:nvSpPr>
        <p:spPr>
          <a:xfrm>
            <a:off x="971640" y="552600"/>
            <a:ext cx="90334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DIVIETO DI COMPENSAZIONE PER RUOLI SCADUTI</a:t>
            </a:r>
            <a:endParaRPr lang="it-IT" sz="2850" b="0" u="none" strike="noStrike">
              <a:solidFill>
                <a:srgbClr val="000000"/>
              </a:solidFill>
              <a:effectLst/>
              <a:uFillTx/>
              <a:latin typeface="Times New Roman"/>
            </a:endParaRPr>
          </a:p>
        </p:txBody>
      </p:sp>
      <p:sp>
        <p:nvSpPr>
          <p:cNvPr id="874" name="CasellaDiTesto 873"/>
          <p:cNvSpPr txBox="1"/>
          <p:nvPr/>
        </p:nvSpPr>
        <p:spPr>
          <a:xfrm>
            <a:off x="971640" y="1277280"/>
            <a:ext cx="196236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art. 31 D.L. 78/2010</a:t>
            </a:r>
            <a:endParaRPr lang="it-IT" sz="1800" b="0" u="none" strike="noStrike">
              <a:solidFill>
                <a:srgbClr val="000000"/>
              </a:solidFill>
              <a:effectLst/>
              <a:uFillTx/>
              <a:latin typeface="Times New Roman"/>
            </a:endParaRPr>
          </a:p>
        </p:txBody>
      </p:sp>
      <p:sp>
        <p:nvSpPr>
          <p:cNvPr id="875" name="Figura a mano libera: forma 874"/>
          <p:cNvSpPr/>
          <p:nvPr/>
        </p:nvSpPr>
        <p:spPr>
          <a:xfrm>
            <a:off x="1028160" y="2397960"/>
            <a:ext cx="76680" cy="76320"/>
          </a:xfrm>
          <a:custGeom>
            <a:avLst/>
            <a:gdLst/>
            <a:ahLst/>
            <a:cxnLst/>
            <a:rect l="0" t="0" r="r" b="b"/>
            <a:pathLst>
              <a:path w="213" h="212">
                <a:moveTo>
                  <a:pt x="213" y="106"/>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76" name="CasellaDiTesto 875"/>
          <p:cNvSpPr txBox="1"/>
          <p:nvPr/>
        </p:nvSpPr>
        <p:spPr>
          <a:xfrm>
            <a:off x="971280" y="1810080"/>
            <a:ext cx="120744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Presupposti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877" name="Figura a mano libera: forma 876"/>
          <p:cNvSpPr/>
          <p:nvPr/>
        </p:nvSpPr>
        <p:spPr>
          <a:xfrm>
            <a:off x="1028160" y="2874240"/>
            <a:ext cx="76680" cy="76320"/>
          </a:xfrm>
          <a:custGeom>
            <a:avLst/>
            <a:gdLst/>
            <a:ahLst/>
            <a:cxnLst/>
            <a:rect l="0" t="0" r="r" b="b"/>
            <a:pathLst>
              <a:path w="213" h="212">
                <a:moveTo>
                  <a:pt x="213" y="106"/>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78" name="CasellaDiTesto 877"/>
          <p:cNvSpPr txBox="1"/>
          <p:nvPr/>
        </p:nvSpPr>
        <p:spPr>
          <a:xfrm>
            <a:off x="1238040" y="2287080"/>
            <a:ext cx="46796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debiti per </a:t>
            </a:r>
            <a:r>
              <a:rPr lang="it-IT" sz="1580" b="1" u="none" strike="noStrike">
                <a:solidFill>
                  <a:srgbClr val="00509E"/>
                </a:solidFill>
                <a:effectLst/>
                <a:uFillTx/>
                <a:latin typeface="SegoeUI"/>
                <a:ea typeface="SegoeUI"/>
              </a:rPr>
              <a:t>imposte erariali</a:t>
            </a:r>
            <a:r>
              <a:rPr lang="it-IT" sz="1580" b="0" u="none" strike="noStrike">
                <a:solidFill>
                  <a:srgbClr val="343A40"/>
                </a:solidFill>
                <a:effectLst/>
                <a:uFillTx/>
                <a:latin typeface="SegoeUI"/>
                <a:ea typeface="SegoeUI"/>
              </a:rPr>
              <a:t> e accessori iscritti a ruolo;</a:t>
            </a:r>
            <a:endParaRPr lang="it-IT" sz="1580" b="0" u="none" strike="noStrike">
              <a:solidFill>
                <a:srgbClr val="000000"/>
              </a:solidFill>
              <a:effectLst/>
              <a:uFillTx/>
              <a:latin typeface="Times New Roman"/>
            </a:endParaRPr>
          </a:p>
        </p:txBody>
      </p:sp>
      <p:sp>
        <p:nvSpPr>
          <p:cNvPr id="879" name="Figura a mano libera: forma 878"/>
          <p:cNvSpPr/>
          <p:nvPr/>
        </p:nvSpPr>
        <p:spPr>
          <a:xfrm>
            <a:off x="1028160" y="3359880"/>
            <a:ext cx="76680" cy="76680"/>
          </a:xfrm>
          <a:custGeom>
            <a:avLst/>
            <a:gdLst/>
            <a:ahLst/>
            <a:cxnLst/>
            <a:rect l="0" t="0" r="r" b="b"/>
            <a:pathLst>
              <a:path w="213" h="213">
                <a:moveTo>
                  <a:pt x="213" y="106"/>
                </a:moveTo>
                <a:cubicBezTo>
                  <a:pt x="213" y="120"/>
                  <a:pt x="210" y="133"/>
                  <a:pt x="205" y="146"/>
                </a:cubicBezTo>
                <a:cubicBezTo>
                  <a:pt x="198" y="159"/>
                  <a:pt x="191" y="171"/>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80" name="CasellaDiTesto 879"/>
          <p:cNvSpPr txBox="1"/>
          <p:nvPr/>
        </p:nvSpPr>
        <p:spPr>
          <a:xfrm>
            <a:off x="1238040" y="2763360"/>
            <a:ext cx="3128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ammontare complessivo &gt; </a:t>
            </a:r>
            <a:r>
              <a:rPr lang="it-IT" sz="1580" b="1" u="none" strike="noStrike">
                <a:solidFill>
                  <a:srgbClr val="00509E"/>
                </a:solidFill>
                <a:effectLst/>
                <a:uFillTx/>
                <a:latin typeface="SegoeUI"/>
                <a:ea typeface="SegoeUI"/>
              </a:rPr>
              <a:t>1.500 €</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881" name="CasellaDiTesto 880"/>
          <p:cNvSpPr txBox="1"/>
          <p:nvPr/>
        </p:nvSpPr>
        <p:spPr>
          <a:xfrm>
            <a:off x="1238040" y="3249000"/>
            <a:ext cx="2800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termine di pagamento </a:t>
            </a:r>
            <a:r>
              <a:rPr lang="it-IT" sz="1580" b="1" u="none" strike="noStrike">
                <a:solidFill>
                  <a:srgbClr val="00509E"/>
                </a:solidFill>
                <a:effectLst/>
                <a:uFillTx/>
                <a:latin typeface="SegoeUI"/>
                <a:ea typeface="SegoeUI"/>
              </a:rPr>
              <a:t>scaduto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882" name="CasellaDiTesto 881"/>
          <p:cNvSpPr txBox="1"/>
          <p:nvPr/>
        </p:nvSpPr>
        <p:spPr>
          <a:xfrm>
            <a:off x="971280" y="3724560"/>
            <a:ext cx="966564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Effetto</a:t>
            </a:r>
            <a:r>
              <a:rPr lang="it-IT" sz="1650" b="0" u="none" strike="noStrike">
                <a:solidFill>
                  <a:srgbClr val="212529"/>
                </a:solidFill>
                <a:effectLst/>
                <a:uFillTx/>
                <a:latin typeface="SegoeUI"/>
                <a:ea typeface="SegoeUI"/>
              </a:rPr>
              <a:t>: preclusione all'utilizzo dei crediti erariali per compensare </a:t>
            </a:r>
            <a:r>
              <a:rPr lang="it-IT" sz="1650" b="1" u="none" strike="noStrike">
                <a:solidFill>
                  <a:srgbClr val="00509E"/>
                </a:solidFill>
                <a:effectLst/>
                <a:uFillTx/>
                <a:latin typeface="SegoeUI"/>
                <a:ea typeface="SegoeUI"/>
              </a:rPr>
              <a:t>altri</a:t>
            </a:r>
            <a:r>
              <a:rPr lang="it-IT" sz="1650" b="0" u="none" strike="noStrike">
                <a:solidFill>
                  <a:srgbClr val="212529"/>
                </a:solidFill>
                <a:effectLst/>
                <a:uFillTx/>
                <a:latin typeface="SegoeUI"/>
                <a:ea typeface="SegoeUI"/>
              </a:rPr>
              <a:t> debiti (il debito a ruolo può essere</a:t>
            </a:r>
            <a:endParaRPr lang="it-IT" sz="1650" b="0" u="none" strike="noStrike">
              <a:solidFill>
                <a:srgbClr val="000000"/>
              </a:solidFill>
              <a:effectLst/>
              <a:uFillTx/>
              <a:latin typeface="Times New Roman"/>
            </a:endParaRPr>
          </a:p>
        </p:txBody>
      </p:sp>
      <p:sp>
        <p:nvSpPr>
          <p:cNvPr id="883" name="CasellaDiTesto 882"/>
          <p:cNvSpPr txBox="1"/>
          <p:nvPr/>
        </p:nvSpPr>
        <p:spPr>
          <a:xfrm>
            <a:off x="971280" y="4057920"/>
            <a:ext cx="12456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compensato).</a:t>
            </a:r>
            <a:endParaRPr lang="it-IT" sz="1650" b="0" u="none" strike="noStrike">
              <a:solidFill>
                <a:srgbClr val="000000"/>
              </a:solidFill>
              <a:effectLst/>
              <a:uFillTx/>
              <a:latin typeface="Times New Roman"/>
            </a:endParaRPr>
          </a:p>
        </p:txBody>
      </p:sp>
      <p:sp>
        <p:nvSpPr>
          <p:cNvPr id="884" name="Figura a mano libera: forma 883"/>
          <p:cNvSpPr/>
          <p:nvPr/>
        </p:nvSpPr>
        <p:spPr>
          <a:xfrm>
            <a:off x="1028160" y="5122080"/>
            <a:ext cx="76680" cy="76320"/>
          </a:xfrm>
          <a:custGeom>
            <a:avLst/>
            <a:gdLst/>
            <a:ahLst/>
            <a:cxnLst/>
            <a:rect l="0" t="0" r="r" b="b"/>
            <a:pathLst>
              <a:path w="213" h="212">
                <a:moveTo>
                  <a:pt x="213" y="106"/>
                </a:moveTo>
                <a:cubicBezTo>
                  <a:pt x="213" y="120"/>
                  <a:pt x="210" y="133"/>
                  <a:pt x="205" y="147"/>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85" name="CasellaDiTesto 884"/>
          <p:cNvSpPr txBox="1"/>
          <p:nvPr/>
        </p:nvSpPr>
        <p:spPr>
          <a:xfrm>
            <a:off x="971280" y="4534200"/>
            <a:ext cx="9993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Esclusioni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886" name="Figura a mano libera: forma 885"/>
          <p:cNvSpPr/>
          <p:nvPr/>
        </p:nvSpPr>
        <p:spPr>
          <a:xfrm>
            <a:off x="1028160" y="559836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87" name="CasellaDiTesto 886"/>
          <p:cNvSpPr txBox="1"/>
          <p:nvPr/>
        </p:nvSpPr>
        <p:spPr>
          <a:xfrm>
            <a:off x="1238040" y="5011200"/>
            <a:ext cx="36428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crediti di natura agevolativa (Quadro RU);</a:t>
            </a:r>
            <a:endParaRPr lang="it-IT" sz="1580" b="0" u="none" strike="noStrike">
              <a:solidFill>
                <a:srgbClr val="000000"/>
              </a:solidFill>
              <a:effectLst/>
              <a:uFillTx/>
              <a:latin typeface="Times New Roman"/>
            </a:endParaRPr>
          </a:p>
        </p:txBody>
      </p:sp>
      <p:sp>
        <p:nvSpPr>
          <p:cNvPr id="888" name="Figura a mano libera: forma 887"/>
          <p:cNvSpPr/>
          <p:nvPr/>
        </p:nvSpPr>
        <p:spPr>
          <a:xfrm>
            <a:off x="1028160" y="608400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1"/>
                  <a:pt x="159" y="198"/>
                  <a:pt x="146" y="204"/>
                </a:cubicBezTo>
                <a:cubicBezTo>
                  <a:pt x="133" y="209"/>
                  <a:pt x="120" y="213"/>
                  <a:pt x="106" y="213"/>
                </a:cubicBezTo>
                <a:cubicBezTo>
                  <a:pt x="92" y="213"/>
                  <a:pt x="78" y="209"/>
                  <a:pt x="65" y="204"/>
                </a:cubicBezTo>
                <a:cubicBezTo>
                  <a:pt x="52" y="198"/>
                  <a:pt x="41" y="191"/>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89" name="CasellaDiTesto 888"/>
          <p:cNvSpPr txBox="1"/>
          <p:nvPr/>
        </p:nvSpPr>
        <p:spPr>
          <a:xfrm>
            <a:off x="1238040" y="5487480"/>
            <a:ext cx="45766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tributi locali (es. IMU - risposta interpello 385/2020);</a:t>
            </a:r>
            <a:endParaRPr lang="it-IT" sz="1580" b="0" u="none" strike="noStrike">
              <a:solidFill>
                <a:srgbClr val="000000"/>
              </a:solidFill>
              <a:effectLst/>
              <a:uFillTx/>
              <a:latin typeface="Times New Roman"/>
            </a:endParaRPr>
          </a:p>
        </p:txBody>
      </p:sp>
      <p:sp>
        <p:nvSpPr>
          <p:cNvPr id="890" name="Figura a mano libera: forma 889"/>
          <p:cNvSpPr/>
          <p:nvPr/>
        </p:nvSpPr>
        <p:spPr>
          <a:xfrm>
            <a:off x="970920" y="604584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91" name="CasellaDiTesto 890"/>
          <p:cNvSpPr txBox="1"/>
          <p:nvPr/>
        </p:nvSpPr>
        <p:spPr>
          <a:xfrm>
            <a:off x="1238040" y="5973120"/>
            <a:ext cx="14871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contributi/premi.</a:t>
            </a:r>
            <a:endParaRPr lang="it-IT" sz="1580" b="0" u="none" strike="noStrike">
              <a:solidFill>
                <a:srgbClr val="000000"/>
              </a:solidFill>
              <a:effectLst/>
              <a:uFillTx/>
              <a:latin typeface="Times New Roman"/>
            </a:endParaRPr>
          </a:p>
        </p:txBody>
      </p:sp>
      <p:sp>
        <p:nvSpPr>
          <p:cNvPr id="892" name="Figura a mano libera: forma 891"/>
          <p:cNvSpPr/>
          <p:nvPr/>
        </p:nvSpPr>
        <p:spPr>
          <a:xfrm>
            <a:off x="10648440" y="604584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93" name="CasellaDiTesto 89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894" name="CasellaDiTesto 89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33 / 73</a:t>
            </a:r>
            <a:endParaRPr lang="it-IT" sz="980" b="0" u="none" strike="noStrike">
              <a:solidFill>
                <a:srgbClr val="000000"/>
              </a:solidFill>
              <a:effectLst/>
              <a:uFillTx/>
              <a:latin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5" name="Figura a mano libera: forma 89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96" name="Figura a mano libera: forma 89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97" name="Figura a mano libera: forma 89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898" name="Figura a mano libera: forma 89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899" name="Figura a mano libera: forma 898"/>
          <p:cNvSpPr/>
          <p:nvPr/>
        </p:nvSpPr>
        <p:spPr>
          <a:xfrm>
            <a:off x="971280" y="14666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00" name="CasellaDiTesto 899"/>
          <p:cNvSpPr txBox="1"/>
          <p:nvPr/>
        </p:nvSpPr>
        <p:spPr>
          <a:xfrm>
            <a:off x="971640" y="857160"/>
            <a:ext cx="90658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DIVIETO DI COMPENSAZIONE PER CARICHI AFFIDATI</a:t>
            </a:r>
            <a:endParaRPr lang="it-IT" sz="2850" b="0" u="none" strike="noStrike">
              <a:solidFill>
                <a:srgbClr val="000000"/>
              </a:solidFill>
              <a:effectLst/>
              <a:uFillTx/>
              <a:latin typeface="Times New Roman"/>
            </a:endParaRPr>
          </a:p>
        </p:txBody>
      </p:sp>
      <p:sp>
        <p:nvSpPr>
          <p:cNvPr id="901" name="CasellaDiTesto 900"/>
          <p:cNvSpPr txBox="1"/>
          <p:nvPr/>
        </p:nvSpPr>
        <p:spPr>
          <a:xfrm>
            <a:off x="971640" y="1572480"/>
            <a:ext cx="261684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art. 1, co. 116, L. 199/2025</a:t>
            </a:r>
            <a:endParaRPr lang="it-IT" sz="1800" b="0" u="none" strike="noStrike">
              <a:solidFill>
                <a:srgbClr val="000000"/>
              </a:solidFill>
              <a:effectLst/>
              <a:uFillTx/>
              <a:latin typeface="Times New Roman"/>
            </a:endParaRPr>
          </a:p>
        </p:txBody>
      </p:sp>
      <p:sp>
        <p:nvSpPr>
          <p:cNvPr id="902" name="CasellaDiTesto 901"/>
          <p:cNvSpPr txBox="1"/>
          <p:nvPr/>
        </p:nvSpPr>
        <p:spPr>
          <a:xfrm>
            <a:off x="971640" y="2288520"/>
            <a:ext cx="80071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Modifica il comma 49-quinquies dell'art. 37 D.L. 223/2006 / art. 5, co. 7, D.Lgs. 33/2025.</a:t>
            </a:r>
            <a:endParaRPr lang="it-IT" sz="1650" b="0" u="none" strike="noStrike">
              <a:solidFill>
                <a:srgbClr val="000000"/>
              </a:solidFill>
              <a:effectLst/>
              <a:uFillTx/>
              <a:latin typeface="Times New Roman"/>
            </a:endParaRPr>
          </a:p>
        </p:txBody>
      </p:sp>
      <p:sp>
        <p:nvSpPr>
          <p:cNvPr id="903" name="CasellaDiTesto 902"/>
          <p:cNvSpPr txBox="1"/>
          <p:nvPr/>
        </p:nvSpPr>
        <p:spPr>
          <a:xfrm>
            <a:off x="971640" y="2764800"/>
            <a:ext cx="5591211"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rPr>
              <a:t>Fino al 31/12/2025</a:t>
            </a:r>
            <a:r>
              <a:rPr lang="it-IT" sz="1650" b="0" u="none" strike="noStrike" dirty="0">
                <a:solidFill>
                  <a:srgbClr val="212529"/>
                </a:solidFill>
                <a:effectLst/>
                <a:uFillTx/>
                <a:latin typeface="SegoeUI"/>
                <a:ea typeface="SegoeUI"/>
              </a:rPr>
              <a:t>: divieto con debiti affidati &gt; </a:t>
            </a:r>
            <a:r>
              <a:rPr lang="it-IT" sz="1650" b="1" u="none" strike="noStrike" dirty="0">
                <a:solidFill>
                  <a:srgbClr val="00509E"/>
                </a:solidFill>
                <a:effectLst/>
                <a:uFillTx/>
                <a:latin typeface="SegoeUI"/>
                <a:ea typeface="SegoeUI"/>
              </a:rPr>
              <a:t>100.000 €</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904" name="CasellaDiTesto 903"/>
          <p:cNvSpPr txBox="1"/>
          <p:nvPr/>
        </p:nvSpPr>
        <p:spPr>
          <a:xfrm>
            <a:off x="971640" y="3088440"/>
            <a:ext cx="5195268"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rPr>
              <a:t>Dal 01/01/2026</a:t>
            </a:r>
            <a:r>
              <a:rPr lang="it-IT" sz="1650" b="0" u="none" strike="noStrike" dirty="0">
                <a:solidFill>
                  <a:srgbClr val="212529"/>
                </a:solidFill>
                <a:effectLst/>
                <a:uFillTx/>
                <a:latin typeface="SegoeUI"/>
                <a:ea typeface="SegoeUI"/>
              </a:rPr>
              <a:t>: divieto con debiti affidati &gt; </a:t>
            </a:r>
            <a:r>
              <a:rPr lang="it-IT" sz="1650" b="1" u="none" strike="noStrike" dirty="0">
                <a:solidFill>
                  <a:srgbClr val="00509E"/>
                </a:solidFill>
                <a:effectLst/>
                <a:uFillTx/>
                <a:latin typeface="SegoeUI"/>
                <a:ea typeface="SegoeUI"/>
              </a:rPr>
              <a:t>50.000 €</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905" name="Figura a mano libera: forma 904"/>
          <p:cNvSpPr/>
          <p:nvPr/>
        </p:nvSpPr>
        <p:spPr>
          <a:xfrm>
            <a:off x="1028520" y="4162320"/>
            <a:ext cx="76680" cy="76320"/>
          </a:xfrm>
          <a:custGeom>
            <a:avLst/>
            <a:gdLst/>
            <a:ahLst/>
            <a:cxnLst/>
            <a:rect l="0" t="0" r="r" b="b"/>
            <a:pathLst>
              <a:path w="213" h="212">
                <a:moveTo>
                  <a:pt x="213" y="106"/>
                </a:moveTo>
                <a:cubicBezTo>
                  <a:pt x="213" y="120"/>
                  <a:pt x="210" y="133"/>
                  <a:pt x="205" y="146"/>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06" name="CasellaDiTesto 905"/>
          <p:cNvSpPr txBox="1"/>
          <p:nvPr/>
        </p:nvSpPr>
        <p:spPr>
          <a:xfrm>
            <a:off x="971640" y="3574440"/>
            <a:ext cx="13680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Caratteristiche:</a:t>
            </a:r>
            <a:endParaRPr lang="it-IT" sz="1650" b="0" u="none" strike="noStrike">
              <a:solidFill>
                <a:srgbClr val="000000"/>
              </a:solidFill>
              <a:effectLst/>
              <a:uFillTx/>
              <a:latin typeface="Times New Roman"/>
            </a:endParaRPr>
          </a:p>
        </p:txBody>
      </p:sp>
      <p:sp>
        <p:nvSpPr>
          <p:cNvPr id="907" name="Figura a mano libera: forma 906"/>
          <p:cNvSpPr/>
          <p:nvPr/>
        </p:nvSpPr>
        <p:spPr>
          <a:xfrm>
            <a:off x="1028520" y="4638600"/>
            <a:ext cx="76680" cy="76320"/>
          </a:xfrm>
          <a:custGeom>
            <a:avLst/>
            <a:gdLst/>
            <a:ahLst/>
            <a:cxnLst/>
            <a:rect l="0" t="0" r="r" b="b"/>
            <a:pathLst>
              <a:path w="213" h="212">
                <a:moveTo>
                  <a:pt x="213" y="107"/>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08" name="CasellaDiTesto 907"/>
          <p:cNvSpPr txBox="1"/>
          <p:nvPr/>
        </p:nvSpPr>
        <p:spPr>
          <a:xfrm>
            <a:off x="1238400" y="4051440"/>
            <a:ext cx="43185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opera come </a:t>
            </a:r>
            <a:r>
              <a:rPr lang="it-IT" sz="1580" b="1" u="none" strike="noStrike">
                <a:solidFill>
                  <a:srgbClr val="00509E"/>
                </a:solidFill>
                <a:effectLst/>
                <a:uFillTx/>
                <a:latin typeface="SegoeUI"/>
                <a:ea typeface="SegoeUI"/>
              </a:rPr>
              <a:t>limite assoluto</a:t>
            </a:r>
            <a:r>
              <a:rPr lang="it-IT" sz="1580" b="0" u="none" strike="noStrike">
                <a:solidFill>
                  <a:srgbClr val="343A40"/>
                </a:solidFill>
                <a:effectLst/>
                <a:uFillTx/>
                <a:latin typeface="SegoeUI"/>
                <a:ea typeface="SegoeUI"/>
              </a:rPr>
              <a:t> (Circ. AE 16/E/2024);</a:t>
            </a:r>
            <a:endParaRPr lang="it-IT" sz="1580" b="0" u="none" strike="noStrike">
              <a:solidFill>
                <a:srgbClr val="000000"/>
              </a:solidFill>
              <a:effectLst/>
              <a:uFillTx/>
              <a:latin typeface="Times New Roman"/>
            </a:endParaRPr>
          </a:p>
        </p:txBody>
      </p:sp>
      <p:sp>
        <p:nvSpPr>
          <p:cNvPr id="909" name="Figura a mano libera: forma 908"/>
          <p:cNvSpPr/>
          <p:nvPr/>
        </p:nvSpPr>
        <p:spPr>
          <a:xfrm>
            <a:off x="1028520" y="512424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2"/>
                  <a:pt x="31" y="32"/>
                </a:cubicBezTo>
                <a:cubicBezTo>
                  <a:pt x="41" y="22"/>
                  <a:pt x="52" y="15"/>
                  <a:pt x="65" y="8"/>
                </a:cubicBezTo>
                <a:cubicBezTo>
                  <a:pt x="78" y="3"/>
                  <a:pt x="92" y="0"/>
                  <a:pt x="106" y="0"/>
                </a:cubicBezTo>
                <a:cubicBezTo>
                  <a:pt x="120" y="0"/>
                  <a:pt x="133" y="3"/>
                  <a:pt x="146" y="8"/>
                </a:cubicBezTo>
                <a:cubicBezTo>
                  <a:pt x="159" y="15"/>
                  <a:pt x="171" y="22"/>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10" name="CasellaDiTesto 909"/>
          <p:cNvSpPr txBox="1"/>
          <p:nvPr/>
        </p:nvSpPr>
        <p:spPr>
          <a:xfrm>
            <a:off x="1238400" y="4527720"/>
            <a:ext cx="56991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riguarda </a:t>
            </a:r>
            <a:r>
              <a:rPr lang="it-IT" sz="1580" b="0" i="1" u="none" strike="noStrike">
                <a:solidFill>
                  <a:srgbClr val="495057"/>
                </a:solidFill>
                <a:effectLst/>
                <a:uFillTx/>
                <a:latin typeface="SegoeUI"/>
                <a:ea typeface="SegoeUI"/>
              </a:rPr>
              <a:t>tutti</a:t>
            </a:r>
            <a:r>
              <a:rPr lang="it-IT" sz="1580" b="0" u="none" strike="noStrike">
                <a:solidFill>
                  <a:srgbClr val="343A40"/>
                </a:solidFill>
                <a:effectLst/>
                <a:uFillTx/>
                <a:latin typeface="SegoeUI"/>
                <a:ea typeface="SegoeUI"/>
              </a:rPr>
              <a:t> i crediti (erariali + agevolativi), esclusi INPS e INAIL;</a:t>
            </a:r>
            <a:endParaRPr lang="it-IT" sz="1580" b="0" u="none" strike="noStrike">
              <a:solidFill>
                <a:srgbClr val="000000"/>
              </a:solidFill>
              <a:effectLst/>
              <a:uFillTx/>
              <a:latin typeface="Times New Roman"/>
            </a:endParaRPr>
          </a:p>
        </p:txBody>
      </p:sp>
      <p:sp>
        <p:nvSpPr>
          <p:cNvPr id="911" name="CasellaDiTesto 910"/>
          <p:cNvSpPr txBox="1"/>
          <p:nvPr/>
        </p:nvSpPr>
        <p:spPr>
          <a:xfrm>
            <a:off x="1238400" y="5013360"/>
            <a:ext cx="7009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si sblocca estinguendo o rateizzando regolarmente fino a scendere sotto soglia.</a:t>
            </a:r>
            <a:endParaRPr lang="it-IT" sz="1580" b="0" u="none" strike="noStrike">
              <a:solidFill>
                <a:srgbClr val="000000"/>
              </a:solidFill>
              <a:effectLst/>
              <a:uFillTx/>
              <a:latin typeface="Times New Roman"/>
            </a:endParaRPr>
          </a:p>
        </p:txBody>
      </p:sp>
      <p:sp>
        <p:nvSpPr>
          <p:cNvPr id="912" name="Figura a mano libera: forma 911"/>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13" name="CasellaDiTesto 912"/>
          <p:cNvSpPr txBox="1"/>
          <p:nvPr/>
        </p:nvSpPr>
        <p:spPr>
          <a:xfrm>
            <a:off x="971640" y="5488920"/>
            <a:ext cx="75412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Coordinamento</a:t>
            </a:r>
            <a:r>
              <a:rPr lang="it-IT" sz="1650" b="0" u="none" strike="noStrike">
                <a:solidFill>
                  <a:srgbClr val="212529"/>
                </a:solidFill>
                <a:effectLst/>
                <a:uFillTx/>
                <a:latin typeface="SegoeUI"/>
                <a:ea typeface="SegoeUI"/>
              </a:rPr>
              <a:t> con l'art. 31 D.L. 78/2010 (soglia 1.500 €): i due divieti convivono.</a:t>
            </a:r>
            <a:endParaRPr lang="it-IT" sz="1650" b="0" u="none" strike="noStrike">
              <a:solidFill>
                <a:srgbClr val="000000"/>
              </a:solidFill>
              <a:effectLst/>
              <a:uFillTx/>
              <a:latin typeface="Times New Roman"/>
            </a:endParaRPr>
          </a:p>
        </p:txBody>
      </p:sp>
      <p:sp>
        <p:nvSpPr>
          <p:cNvPr id="914" name="Figura a mano libera: forma 913"/>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15" name="CasellaDiTesto 914"/>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916" name="CasellaDiTesto 915"/>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34 / 73</a:t>
            </a:r>
            <a:endParaRPr lang="it-IT" sz="980" b="0" u="none" strike="noStrike">
              <a:solidFill>
                <a:srgbClr val="000000"/>
              </a:solidFill>
              <a:effectLst/>
              <a:uFillTx/>
              <a:latin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Figura a mano libera: forma 91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18" name="Figura a mano libera: forma 91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19" name="Figura a mano libera: forma 918"/>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20" name="Figura a mano libera: forma 919"/>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21" name="Figura a mano libera: forma 920"/>
          <p:cNvSpPr/>
          <p:nvPr/>
        </p:nvSpPr>
        <p:spPr>
          <a:xfrm>
            <a:off x="971280" y="24476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22" name="CasellaDiTesto 921"/>
          <p:cNvSpPr txBox="1"/>
          <p:nvPr/>
        </p:nvSpPr>
        <p:spPr>
          <a:xfrm>
            <a:off x="971640" y="1838160"/>
            <a:ext cx="72691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SOSPENSIONE PER SOGGETTI "A RISCHIO"</a:t>
            </a:r>
            <a:endParaRPr lang="it-IT" sz="2850" b="0" u="none" strike="noStrike">
              <a:solidFill>
                <a:srgbClr val="000000"/>
              </a:solidFill>
              <a:effectLst/>
              <a:uFillTx/>
              <a:latin typeface="Times New Roman"/>
            </a:endParaRPr>
          </a:p>
        </p:txBody>
      </p:sp>
      <p:sp>
        <p:nvSpPr>
          <p:cNvPr id="923" name="Figura a mano libera: forma 922"/>
          <p:cNvSpPr/>
          <p:nvPr/>
        </p:nvSpPr>
        <p:spPr>
          <a:xfrm>
            <a:off x="1028520" y="3171600"/>
            <a:ext cx="76680" cy="76680"/>
          </a:xfrm>
          <a:custGeom>
            <a:avLst/>
            <a:gdLst/>
            <a:ahLst/>
            <a:cxnLst/>
            <a:rect l="0" t="0" r="r" b="b"/>
            <a:pathLst>
              <a:path w="213" h="213">
                <a:moveTo>
                  <a:pt x="213" y="106"/>
                </a:moveTo>
                <a:cubicBezTo>
                  <a:pt x="213" y="120"/>
                  <a:pt x="210" y="133"/>
                  <a:pt x="205" y="146"/>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24" name="CasellaDiTesto 923"/>
          <p:cNvSpPr txBox="1"/>
          <p:nvPr/>
        </p:nvSpPr>
        <p:spPr>
          <a:xfrm>
            <a:off x="971640" y="2583720"/>
            <a:ext cx="619344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Art. 5, co. 5, D.Lgs. 33/2025</a:t>
            </a:r>
            <a:r>
              <a:rPr lang="it-IT" sz="1650" b="0" u="none" strike="noStrike">
                <a:solidFill>
                  <a:srgbClr val="212529"/>
                </a:solidFill>
                <a:effectLst/>
                <a:uFillTx/>
                <a:latin typeface="SegoeUI"/>
                <a:ea typeface="SegoeUI"/>
              </a:rPr>
              <a:t> (già art. 37, co. 49-ter, D.L. 223/2006):</a:t>
            </a:r>
            <a:endParaRPr lang="it-IT" sz="1650" b="0" u="none" strike="noStrike">
              <a:solidFill>
                <a:srgbClr val="000000"/>
              </a:solidFill>
              <a:effectLst/>
              <a:uFillTx/>
              <a:latin typeface="Times New Roman"/>
            </a:endParaRPr>
          </a:p>
        </p:txBody>
      </p:sp>
      <p:sp>
        <p:nvSpPr>
          <p:cNvPr id="925" name="Figura a mano libera: forma 924"/>
          <p:cNvSpPr/>
          <p:nvPr/>
        </p:nvSpPr>
        <p:spPr>
          <a:xfrm>
            <a:off x="1028520" y="36572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6"/>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6"/>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26" name="CasellaDiTesto 925"/>
          <p:cNvSpPr txBox="1"/>
          <p:nvPr/>
        </p:nvSpPr>
        <p:spPr>
          <a:xfrm>
            <a:off x="1238400" y="3060720"/>
            <a:ext cx="83707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l'Agenzia può </a:t>
            </a:r>
            <a:r>
              <a:rPr lang="it-IT" sz="1580" b="1" u="none" strike="noStrike">
                <a:solidFill>
                  <a:srgbClr val="00509E"/>
                </a:solidFill>
                <a:effectLst/>
                <a:uFillTx/>
                <a:latin typeface="SegoeUI"/>
                <a:ea typeface="SegoeUI"/>
              </a:rPr>
              <a:t>sospendere per max 30 giorni</a:t>
            </a:r>
            <a:r>
              <a:rPr lang="it-IT" sz="1580" b="0" u="none" strike="noStrike">
                <a:solidFill>
                  <a:srgbClr val="343A40"/>
                </a:solidFill>
                <a:effectLst/>
                <a:uFillTx/>
                <a:latin typeface="SegoeUI"/>
                <a:ea typeface="SegoeUI"/>
              </a:rPr>
              <a:t> le deleghe contenenti compensazioni "a rischio";</a:t>
            </a:r>
            <a:endParaRPr lang="it-IT" sz="1580" b="0" u="none" strike="noStrike">
              <a:solidFill>
                <a:srgbClr val="000000"/>
              </a:solidFill>
              <a:effectLst/>
              <a:uFillTx/>
              <a:latin typeface="Times New Roman"/>
            </a:endParaRPr>
          </a:p>
        </p:txBody>
      </p:sp>
      <p:sp>
        <p:nvSpPr>
          <p:cNvPr id="927" name="Figura a mano libera: forma 926"/>
          <p:cNvSpPr/>
          <p:nvPr/>
        </p:nvSpPr>
        <p:spPr>
          <a:xfrm>
            <a:off x="1028520" y="414324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0"/>
                  <a:pt x="159" y="198"/>
                  <a:pt x="146" y="204"/>
                </a:cubicBezTo>
                <a:cubicBezTo>
                  <a:pt x="133" y="210"/>
                  <a:pt x="120" y="213"/>
                  <a:pt x="106" y="213"/>
                </a:cubicBezTo>
                <a:cubicBezTo>
                  <a:pt x="92" y="213"/>
                  <a:pt x="78" y="210"/>
                  <a:pt x="65" y="204"/>
                </a:cubicBezTo>
                <a:cubicBezTo>
                  <a:pt x="52" y="198"/>
                  <a:pt x="41" y="190"/>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28" name="CasellaDiTesto 927"/>
          <p:cNvSpPr txBox="1"/>
          <p:nvPr/>
        </p:nvSpPr>
        <p:spPr>
          <a:xfrm>
            <a:off x="1238400" y="3546720"/>
            <a:ext cx="63489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selezione in base ai criteri del </a:t>
            </a:r>
            <a:r>
              <a:rPr lang="it-IT" sz="1580" b="0" i="1" u="none" strike="noStrike">
                <a:solidFill>
                  <a:srgbClr val="495057"/>
                </a:solidFill>
                <a:effectLst/>
                <a:uFillTx/>
                <a:latin typeface="SegoeUI"/>
                <a:ea typeface="SegoeUI"/>
              </a:rPr>
              <a:t>Provvedimento direttoriale 28 agosto 2018</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929" name="CasellaDiTesto 928"/>
          <p:cNvSpPr txBox="1"/>
          <p:nvPr/>
        </p:nvSpPr>
        <p:spPr>
          <a:xfrm>
            <a:off x="1238400" y="4032360"/>
            <a:ext cx="80236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se il controllo rivela crediti non utilizzabili, entro 30 giorni comunica la mancata esecuzione.</a:t>
            </a:r>
            <a:endParaRPr lang="it-IT" sz="1580" b="0" u="none" strike="noStrike">
              <a:solidFill>
                <a:srgbClr val="000000"/>
              </a:solidFill>
              <a:effectLst/>
              <a:uFillTx/>
              <a:latin typeface="Times New Roman"/>
            </a:endParaRPr>
          </a:p>
        </p:txBody>
      </p:sp>
      <p:sp>
        <p:nvSpPr>
          <p:cNvPr id="930" name="Figura a mano libera: forma 92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31" name="CasellaDiTesto 930"/>
          <p:cNvSpPr txBox="1"/>
          <p:nvPr/>
        </p:nvSpPr>
        <p:spPr>
          <a:xfrm>
            <a:off x="971640" y="4507920"/>
            <a:ext cx="70527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Abrogazione sanzione</a:t>
            </a:r>
            <a:r>
              <a:rPr lang="it-IT" sz="1650" b="0" u="none" strike="noStrike">
                <a:solidFill>
                  <a:srgbClr val="212529"/>
                </a:solidFill>
                <a:effectLst/>
                <a:uFillTx/>
                <a:latin typeface="SegoeUI"/>
                <a:ea typeface="SegoeUI"/>
              </a:rPr>
              <a:t> (5% o 250 €) dal 1° settembre 2024 (D.Lgs. 87/2024).</a:t>
            </a:r>
            <a:endParaRPr lang="it-IT" sz="1650" b="0" u="none" strike="noStrike">
              <a:solidFill>
                <a:srgbClr val="000000"/>
              </a:solidFill>
              <a:effectLst/>
              <a:uFillTx/>
              <a:latin typeface="Times New Roman"/>
            </a:endParaRPr>
          </a:p>
        </p:txBody>
      </p:sp>
      <p:sp>
        <p:nvSpPr>
          <p:cNvPr id="932" name="Figura a mano libera: forma 93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33" name="CasellaDiTesto 93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934" name="CasellaDiTesto 93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35 / 73</a:t>
            </a:r>
            <a:endParaRPr lang="it-IT" sz="980" b="0" u="none" strike="noStrike">
              <a:solidFill>
                <a:srgbClr val="000000"/>
              </a:solidFill>
              <a:effectLst/>
              <a:uFillTx/>
              <a:latin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 name="Figura a mano libera: forma 93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36" name="Figura a mano libera: forma 93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37" name="Figura a mano libera: forma 936"/>
          <p:cNvSpPr/>
          <p:nvPr/>
        </p:nvSpPr>
        <p:spPr>
          <a:xfrm>
            <a:off x="661222" y="3204949"/>
            <a:ext cx="10864178" cy="352548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r>
              <a:rPr lang="it-IT" sz="1400" b="1" dirty="0">
                <a:latin typeface="Segoe UI" panose="020B0502040204020203" pitchFamily="34" charset="0"/>
                <a:cs typeface="Segoe UI" panose="020B0502040204020203" pitchFamily="34" charset="0"/>
              </a:rPr>
              <a:t>Architettura del regime: deroga al principio generale di compensazione</a:t>
            </a:r>
            <a:endParaRPr lang="it-IT" sz="14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it-IT" sz="1400" b="1" dirty="0">
                <a:latin typeface="Segoe UI" panose="020B0502040204020203" pitchFamily="34" charset="0"/>
                <a:cs typeface="Segoe UI" panose="020B0502040204020203" pitchFamily="34" charset="0"/>
              </a:rPr>
              <a:t>Ambito di applicazione</a:t>
            </a:r>
            <a:r>
              <a:rPr lang="it-IT" sz="1400" dirty="0">
                <a:latin typeface="Segoe UI" panose="020B0502040204020203" pitchFamily="34" charset="0"/>
                <a:cs typeface="Segoe UI" panose="020B0502040204020203" pitchFamily="34" charset="0"/>
              </a:rPr>
              <a:t>: appalti, subappalti e affidamenti </a:t>
            </a:r>
            <a:r>
              <a:rPr lang="it-IT" sz="1400" i="1" dirty="0">
                <a:latin typeface="Segoe UI" panose="020B0502040204020203" pitchFamily="34" charset="0"/>
                <a:cs typeface="Segoe UI" panose="020B0502040204020203" pitchFamily="34" charset="0"/>
              </a:rPr>
              <a:t>labour-intensive</a:t>
            </a:r>
            <a:r>
              <a:rPr lang="it-IT" sz="1400" dirty="0">
                <a:latin typeface="Segoe UI" panose="020B0502040204020203" pitchFamily="34" charset="0"/>
                <a:cs typeface="Segoe UI" panose="020B0502040204020203" pitchFamily="34" charset="0"/>
              </a:rPr>
              <a:t> di valore annuo &gt; € 200.000, eseguiti presso le sedi del committente con beni strumentali a questi riconducibili.</a:t>
            </a:r>
          </a:p>
          <a:p>
            <a:pPr marL="285750" indent="-285750">
              <a:buFont typeface="Arial" panose="020B0604020202020204" pitchFamily="34" charset="0"/>
              <a:buChar char="•"/>
            </a:pPr>
            <a:r>
              <a:rPr lang="it-IT" sz="1400" b="1" dirty="0">
                <a:latin typeface="Segoe UI" panose="020B0502040204020203" pitchFamily="34" charset="0"/>
                <a:cs typeface="Segoe UI" panose="020B0502040204020203" pitchFamily="34" charset="0"/>
              </a:rPr>
              <a:t>Adempimento dell'appaltatore </a:t>
            </a:r>
            <a:r>
              <a:rPr lang="it-IT" sz="1400" dirty="0">
                <a:latin typeface="Segoe UI" panose="020B0502040204020203" pitchFamily="34" charset="0"/>
                <a:cs typeface="Segoe UI" panose="020B0502040204020203" pitchFamily="34" charset="0"/>
              </a:rPr>
              <a:t>(comma 1, </a:t>
            </a:r>
            <a:r>
              <a:rPr lang="it-IT" sz="1400" i="1" dirty="0">
                <a:latin typeface="Segoe UI" panose="020B0502040204020203" pitchFamily="34" charset="0"/>
                <a:cs typeface="Segoe UI" panose="020B0502040204020203" pitchFamily="34" charset="0"/>
              </a:rPr>
              <a:t>in fine</a:t>
            </a:r>
            <a:r>
              <a:rPr lang="it-IT" sz="1400" dirty="0">
                <a:latin typeface="Segoe UI" panose="020B0502040204020203" pitchFamily="34" charset="0"/>
                <a:cs typeface="Segoe UI" panose="020B0502040204020203" pitchFamily="34" charset="0"/>
              </a:rPr>
              <a:t>): versamento delle ritenute con </a:t>
            </a:r>
            <a:r>
              <a:rPr lang="it-IT" sz="1400" b="1" dirty="0">
                <a:latin typeface="Segoe UI" panose="020B0502040204020203" pitchFamily="34" charset="0"/>
                <a:cs typeface="Segoe UI" panose="020B0502040204020203" pitchFamily="34" charset="0"/>
              </a:rPr>
              <a:t>distinte deleghe per ciascun committente</a:t>
            </a:r>
            <a:r>
              <a:rPr lang="it-IT" sz="1400" dirty="0">
                <a:latin typeface="Segoe UI" panose="020B0502040204020203" pitchFamily="34" charset="0"/>
                <a:cs typeface="Segoe UI" panose="020B0502040204020203" pitchFamily="34" charset="0"/>
              </a:rPr>
              <a:t>, </a:t>
            </a:r>
            <a:r>
              <a:rPr lang="it-IT" sz="1400" b="1" dirty="0">
                <a:latin typeface="Segoe UI" panose="020B0502040204020203" pitchFamily="34" charset="0"/>
                <a:cs typeface="Segoe UI" panose="020B0502040204020203" pitchFamily="34" charset="0"/>
              </a:rPr>
              <a:t>senza possibilità di compensazione</a:t>
            </a:r>
            <a:r>
              <a:rPr lang="it-IT" sz="1400" dirty="0">
                <a:latin typeface="Segoe UI" panose="020B0502040204020203" pitchFamily="34" charset="0"/>
                <a:cs typeface="Segoe UI" panose="020B0502040204020203" pitchFamily="34" charset="0"/>
              </a:rPr>
              <a:t> — è qui la </a:t>
            </a:r>
            <a:r>
              <a:rPr lang="it-IT" sz="1400" i="1" dirty="0" err="1">
                <a:latin typeface="Segoe UI" panose="020B0502040204020203" pitchFamily="34" charset="0"/>
                <a:cs typeface="Segoe UI" panose="020B0502040204020203" pitchFamily="34" charset="0"/>
              </a:rPr>
              <a:t>lex</a:t>
            </a:r>
            <a:r>
              <a:rPr lang="it-IT" sz="1400" i="1" dirty="0">
                <a:latin typeface="Segoe UI" panose="020B0502040204020203" pitchFamily="34" charset="0"/>
                <a:cs typeface="Segoe UI" panose="020B0502040204020203" pitchFamily="34" charset="0"/>
              </a:rPr>
              <a:t> </a:t>
            </a:r>
            <a:r>
              <a:rPr lang="it-IT" sz="1400" i="1" dirty="0" err="1">
                <a:latin typeface="Segoe UI" panose="020B0502040204020203" pitchFamily="34" charset="0"/>
                <a:cs typeface="Segoe UI" panose="020B0502040204020203" pitchFamily="34" charset="0"/>
              </a:rPr>
              <a:t>specialis</a:t>
            </a:r>
            <a:r>
              <a:rPr lang="it-IT" sz="1400" i="1" dirty="0">
                <a:latin typeface="Segoe UI" panose="020B0502040204020203" pitchFamily="34" charset="0"/>
                <a:cs typeface="Segoe UI" panose="020B0502040204020203" pitchFamily="34" charset="0"/>
              </a:rPr>
              <a:t> </a:t>
            </a:r>
            <a:r>
              <a:rPr lang="it-IT" sz="1400" dirty="0">
                <a:latin typeface="Segoe UI" panose="020B0502040204020203" pitchFamily="34" charset="0"/>
                <a:cs typeface="Segoe UI" panose="020B0502040204020203" pitchFamily="34" charset="0"/>
              </a:rPr>
              <a:t>derogatoria rispetto all'art. 3.</a:t>
            </a:r>
          </a:p>
          <a:p>
            <a:pPr marL="285750" indent="-285750">
              <a:buFont typeface="Arial" panose="020B0604020202020204" pitchFamily="34" charset="0"/>
              <a:buChar char="•"/>
            </a:pPr>
            <a:r>
              <a:rPr lang="it-IT" sz="1400" b="1" dirty="0">
                <a:latin typeface="Segoe UI" panose="020B0502040204020203" pitchFamily="34" charset="0"/>
                <a:cs typeface="Segoe UI" panose="020B0502040204020203" pitchFamily="34" charset="0"/>
              </a:rPr>
              <a:t>Obblighi informativi</a:t>
            </a:r>
            <a:r>
              <a:rPr lang="it-IT" sz="1400" dirty="0">
                <a:latin typeface="Segoe UI" panose="020B0502040204020203" pitchFamily="34" charset="0"/>
                <a:cs typeface="Segoe UI" panose="020B0502040204020203" pitchFamily="34" charset="0"/>
              </a:rPr>
              <a:t> (comma 2): trasmissione al committente, entro cinque giorni dalla scadenza, delle deleghe di versamento e dell'elenco nominativo dei lavoratori impiegati.</a:t>
            </a:r>
          </a:p>
          <a:p>
            <a:pPr marL="285750" indent="-285750">
              <a:buFont typeface="Arial" panose="020B0604020202020204" pitchFamily="34" charset="0"/>
              <a:buChar char="•"/>
            </a:pPr>
            <a:r>
              <a:rPr lang="it-IT" sz="1400" b="1" dirty="0">
                <a:latin typeface="Segoe UI" panose="020B0502040204020203" pitchFamily="34" charset="0"/>
                <a:cs typeface="Segoe UI" panose="020B0502040204020203" pitchFamily="34" charset="0"/>
              </a:rPr>
              <a:t>Posizione del committente</a:t>
            </a:r>
            <a:r>
              <a:rPr lang="it-IT" sz="1400" dirty="0">
                <a:latin typeface="Segoe UI" panose="020B0502040204020203" pitchFamily="34" charset="0"/>
                <a:cs typeface="Segoe UI" panose="020B0502040204020203" pitchFamily="34" charset="0"/>
              </a:rPr>
              <a:t> (commi 3-4): obbligo di sospensione del pagamento dei corrispettivi maturati in caso di inadempimento dell'appaltatore; in difetto, </a:t>
            </a:r>
            <a:r>
              <a:rPr lang="it-IT" sz="1400" b="1" dirty="0">
                <a:latin typeface="Segoe UI" panose="020B0502040204020203" pitchFamily="34" charset="0"/>
                <a:cs typeface="Segoe UI" panose="020B0502040204020203" pitchFamily="34" charset="0"/>
              </a:rPr>
              <a:t>sanzione pari a quella irrogata all'appaltatore</a:t>
            </a:r>
            <a:r>
              <a:rPr lang="it-IT" sz="1400" dirty="0">
                <a:latin typeface="Segoe UI" panose="020B0502040204020203" pitchFamily="34" charset="0"/>
                <a:cs typeface="Segoe UI" panose="020B0502040204020203" pitchFamily="34" charset="0"/>
              </a:rPr>
              <a:t>.</a:t>
            </a:r>
          </a:p>
          <a:p>
            <a:pPr marL="285750" indent="-285750">
              <a:buFont typeface="Arial" panose="020B0604020202020204" pitchFamily="34" charset="0"/>
              <a:buChar char="•"/>
            </a:pPr>
            <a:r>
              <a:rPr lang="it-IT" sz="1400" b="1" dirty="0">
                <a:latin typeface="Segoe UI" panose="020B0502040204020203" pitchFamily="34" charset="0"/>
                <a:cs typeface="Segoe UI" panose="020B0502040204020203" pitchFamily="34" charset="0"/>
              </a:rPr>
              <a:t>Estensione previdenziale</a:t>
            </a:r>
            <a:r>
              <a:rPr lang="it-IT" sz="1400" dirty="0">
                <a:latin typeface="Segoe UI" panose="020B0502040204020203" pitchFamily="34" charset="0"/>
                <a:cs typeface="Segoe UI" panose="020B0502040204020203" pitchFamily="34" charset="0"/>
              </a:rPr>
              <a:t> (comma 8): il divieto di compensazione si applica altresì ai </a:t>
            </a:r>
            <a:r>
              <a:rPr lang="it-IT" sz="1400" b="1" dirty="0">
                <a:latin typeface="Segoe UI" panose="020B0502040204020203" pitchFamily="34" charset="0"/>
                <a:cs typeface="Segoe UI" panose="020B0502040204020203" pitchFamily="34" charset="0"/>
              </a:rPr>
              <a:t>contributi previdenziali e assistenziali</a:t>
            </a:r>
            <a:r>
              <a:rPr lang="it-IT" sz="1400" dirty="0">
                <a:latin typeface="Segoe UI" panose="020B0502040204020203" pitchFamily="34" charset="0"/>
                <a:cs typeface="Segoe UI" panose="020B0502040204020203" pitchFamily="34" charset="0"/>
              </a:rPr>
              <a:t> maturati con riguardo ai medesimi lavoratori.</a:t>
            </a:r>
          </a:p>
          <a:p>
            <a:endParaRPr lang="it-IT" sz="1400" dirty="0">
              <a:latin typeface="Segoe UI" panose="020B0502040204020203" pitchFamily="34" charset="0"/>
              <a:cs typeface="Segoe UI" panose="020B0502040204020203" pitchFamily="34" charset="0"/>
            </a:endParaRPr>
          </a:p>
          <a:p>
            <a:r>
              <a:rPr lang="it-IT" sz="1400" b="1" dirty="0">
                <a:latin typeface="Segoe UI" panose="020B0502040204020203" pitchFamily="34" charset="0"/>
                <a:cs typeface="Segoe UI" panose="020B0502040204020203" pitchFamily="34" charset="0"/>
              </a:rPr>
              <a:t>Ratio antielusiva</a:t>
            </a:r>
            <a:r>
              <a:rPr lang="it-IT" sz="1400" dirty="0">
                <a:latin typeface="Segoe UI" panose="020B0502040204020203" pitchFamily="34" charset="0"/>
                <a:cs typeface="Segoe UI" panose="020B0502040204020203" pitchFamily="34" charset="0"/>
              </a:rPr>
              <a:t>: </a:t>
            </a:r>
            <a:r>
              <a:rPr lang="it-IT" sz="1400" i="1" dirty="0">
                <a:latin typeface="Segoe UI" panose="020B0502040204020203" pitchFamily="34" charset="0"/>
                <a:cs typeface="Segoe UI" panose="020B0502040204020203" pitchFamily="34" charset="0"/>
              </a:rPr>
              <a:t>il regime mira a contrastare il fenomeno dell'omesso versamento delle ritenute nelle filiere ad alta intensità di manodopera, nelle quali la compensazione con crediti d'imposta inesistenti o non spettanti era frequentemente impiegata come strumento di occultamento.</a:t>
            </a:r>
            <a:endParaRPr lang="it-IT" sz="1400" dirty="0">
              <a:latin typeface="Segoe UI" panose="020B0502040204020203" pitchFamily="34" charset="0"/>
              <a:cs typeface="Segoe UI" panose="020B0502040204020203" pitchFamily="34" charset="0"/>
            </a:endParaRPr>
          </a:p>
          <a:p>
            <a:br>
              <a:rPr lang="it-IT" sz="1400" dirty="0">
                <a:latin typeface="Segoe UI" panose="020B0502040204020203" pitchFamily="34" charset="0"/>
                <a:cs typeface="Segoe UI" panose="020B0502040204020203" pitchFamily="34" charset="0"/>
              </a:rPr>
            </a:br>
            <a:endParaRPr lang="it-IT" sz="1400" dirty="0">
              <a:latin typeface="Segoe UI" panose="020B0502040204020203" pitchFamily="34" charset="0"/>
              <a:cs typeface="Segoe UI" panose="020B0502040204020203" pitchFamily="34" charset="0"/>
            </a:endParaRPr>
          </a:p>
        </p:txBody>
      </p:sp>
      <p:sp>
        <p:nvSpPr>
          <p:cNvPr id="938" name="Figura a mano libera: forma 93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39" name="Figura a mano libera: forma 938"/>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40" name="Figura a mano libera: forma 939"/>
          <p:cNvSpPr/>
          <p:nvPr/>
        </p:nvSpPr>
        <p:spPr>
          <a:xfrm>
            <a:off x="878220" y="1329120"/>
            <a:ext cx="10544760" cy="1533960"/>
          </a:xfrm>
          <a:custGeom>
            <a:avLst/>
            <a:gdLst/>
            <a:ahLst/>
            <a:cxnLst/>
            <a:rect l="0" t="0" r="r" b="b"/>
            <a:pathLst>
              <a:path w="29291" h="4261">
                <a:moveTo>
                  <a:pt x="0" y="416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4168"/>
                </a:lnTo>
                <a:cubicBezTo>
                  <a:pt x="29291" y="4181"/>
                  <a:pt x="29288" y="4192"/>
                  <a:pt x="29284" y="4204"/>
                </a:cubicBezTo>
                <a:cubicBezTo>
                  <a:pt x="29279" y="4215"/>
                  <a:pt x="29272" y="4225"/>
                  <a:pt x="29264" y="4234"/>
                </a:cubicBezTo>
                <a:cubicBezTo>
                  <a:pt x="29255" y="4243"/>
                  <a:pt x="29245" y="4249"/>
                  <a:pt x="29234" y="4254"/>
                </a:cubicBezTo>
                <a:cubicBezTo>
                  <a:pt x="29222" y="4259"/>
                  <a:pt x="29211" y="4261"/>
                  <a:pt x="29198" y="4261"/>
                </a:cubicBezTo>
                <a:lnTo>
                  <a:pt x="93" y="4261"/>
                </a:lnTo>
                <a:cubicBezTo>
                  <a:pt x="81" y="4261"/>
                  <a:pt x="69" y="4259"/>
                  <a:pt x="58" y="4254"/>
                </a:cubicBezTo>
                <a:cubicBezTo>
                  <a:pt x="46" y="4249"/>
                  <a:pt x="36" y="4243"/>
                  <a:pt x="28" y="4234"/>
                </a:cubicBezTo>
                <a:cubicBezTo>
                  <a:pt x="19" y="4225"/>
                  <a:pt x="12" y="4215"/>
                  <a:pt x="8" y="4204"/>
                </a:cubicBezTo>
                <a:cubicBezTo>
                  <a:pt x="3" y="4192"/>
                  <a:pt x="0" y="4181"/>
                  <a:pt x="0" y="416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41" name="Figura a mano libera: forma 940"/>
          <p:cNvSpPr/>
          <p:nvPr/>
        </p:nvSpPr>
        <p:spPr>
          <a:xfrm>
            <a:off x="878220" y="1329120"/>
            <a:ext cx="10544760" cy="1533960"/>
          </a:xfrm>
          <a:custGeom>
            <a:avLst/>
            <a:gdLst/>
            <a:ahLst/>
            <a:cxnLst/>
            <a:rect l="0" t="0" r="r" b="b"/>
            <a:pathLst>
              <a:path w="29291" h="4261">
                <a:moveTo>
                  <a:pt x="0" y="416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4168"/>
                </a:lnTo>
                <a:cubicBezTo>
                  <a:pt x="29291" y="4181"/>
                  <a:pt x="29288" y="4192"/>
                  <a:pt x="29284" y="4204"/>
                </a:cubicBezTo>
                <a:cubicBezTo>
                  <a:pt x="29279" y="4215"/>
                  <a:pt x="29272" y="4225"/>
                  <a:pt x="29264" y="4234"/>
                </a:cubicBezTo>
                <a:cubicBezTo>
                  <a:pt x="29255" y="4243"/>
                  <a:pt x="29245" y="4249"/>
                  <a:pt x="29234" y="4254"/>
                </a:cubicBezTo>
                <a:cubicBezTo>
                  <a:pt x="29222" y="4259"/>
                  <a:pt x="29211" y="4261"/>
                  <a:pt x="29198" y="4261"/>
                </a:cubicBezTo>
                <a:lnTo>
                  <a:pt x="93" y="4261"/>
                </a:lnTo>
                <a:cubicBezTo>
                  <a:pt x="81" y="4261"/>
                  <a:pt x="69" y="4259"/>
                  <a:pt x="58" y="4254"/>
                </a:cubicBezTo>
                <a:cubicBezTo>
                  <a:pt x="46" y="4249"/>
                  <a:pt x="36" y="4243"/>
                  <a:pt x="28" y="4234"/>
                </a:cubicBezTo>
                <a:cubicBezTo>
                  <a:pt x="19" y="4225"/>
                  <a:pt x="12" y="4215"/>
                  <a:pt x="8" y="4204"/>
                </a:cubicBezTo>
                <a:cubicBezTo>
                  <a:pt x="3" y="4192"/>
                  <a:pt x="0" y="4181"/>
                  <a:pt x="0" y="416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942" name="CasellaDiTesto 941"/>
          <p:cNvSpPr txBox="1"/>
          <p:nvPr/>
        </p:nvSpPr>
        <p:spPr>
          <a:xfrm>
            <a:off x="971640" y="552600"/>
            <a:ext cx="100173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REGIME DEGLI APPALTI — ART. 7 DEL D.LGS. N. 33/2025</a:t>
            </a:r>
            <a:endParaRPr lang="it-IT" sz="2850" b="0" u="none" strike="noStrike">
              <a:solidFill>
                <a:srgbClr val="000000"/>
              </a:solidFill>
              <a:effectLst/>
              <a:uFillTx/>
              <a:latin typeface="Times New Roman"/>
            </a:endParaRPr>
          </a:p>
        </p:txBody>
      </p:sp>
      <p:sp>
        <p:nvSpPr>
          <p:cNvPr id="943" name="CasellaDiTesto 942"/>
          <p:cNvSpPr txBox="1"/>
          <p:nvPr/>
        </p:nvSpPr>
        <p:spPr>
          <a:xfrm>
            <a:off x="1111860" y="1528560"/>
            <a:ext cx="996912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a:t>
            </a:r>
            <a:r>
              <a:rPr lang="it-IT" sz="1500" b="1" u="none" strike="noStrike">
                <a:solidFill>
                  <a:srgbClr val="00509E"/>
                </a:solidFill>
                <a:effectLst/>
                <a:uFillTx/>
                <a:latin typeface="SegoeUI"/>
                <a:ea typeface="SegoeUI"/>
              </a:rPr>
              <a:t>In deroga</a:t>
            </a:r>
            <a:r>
              <a:rPr lang="it-IT" sz="1500" b="0" u="none" strike="noStrike">
                <a:solidFill>
                  <a:srgbClr val="343A40"/>
                </a:solidFill>
                <a:effectLst/>
                <a:uFillTx/>
                <a:latin typeface="SegoeUI"/>
                <a:ea typeface="SegoeUI"/>
              </a:rPr>
              <a:t> alla disposizione di cui all'articolo 3, comma 1, i soggetti [...] che affidano il compimento di una o più opere</a:t>
            </a:r>
            <a:endParaRPr lang="it-IT" sz="1500" b="0" u="none" strike="noStrike">
              <a:solidFill>
                <a:srgbClr val="000000"/>
              </a:solidFill>
              <a:effectLst/>
              <a:uFillTx/>
              <a:latin typeface="Times New Roman"/>
            </a:endParaRPr>
          </a:p>
        </p:txBody>
      </p:sp>
      <p:sp>
        <p:nvSpPr>
          <p:cNvPr id="944" name="CasellaDiTesto 943"/>
          <p:cNvSpPr txBox="1"/>
          <p:nvPr/>
        </p:nvSpPr>
        <p:spPr>
          <a:xfrm>
            <a:off x="1111860" y="1823760"/>
            <a:ext cx="101044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o di uno o più servizi di importo complessivo annuo superiore a euro 200.000 [...] caratterizzati da </a:t>
            </a:r>
            <a:r>
              <a:rPr lang="it-IT" sz="1500" b="1" u="none" strike="noStrike">
                <a:solidFill>
                  <a:srgbClr val="00509E"/>
                </a:solidFill>
                <a:effectLst/>
                <a:uFillTx/>
                <a:latin typeface="SegoeUI"/>
                <a:ea typeface="SegoeUI"/>
              </a:rPr>
              <a:t>prevalente utilizzo di</a:t>
            </a:r>
            <a:endParaRPr lang="it-IT" sz="1500" b="0" u="none" strike="noStrike">
              <a:solidFill>
                <a:srgbClr val="000000"/>
              </a:solidFill>
              <a:effectLst/>
              <a:uFillTx/>
              <a:latin typeface="Times New Roman"/>
            </a:endParaRPr>
          </a:p>
        </p:txBody>
      </p:sp>
      <p:sp>
        <p:nvSpPr>
          <p:cNvPr id="945" name="CasellaDiTesto 944"/>
          <p:cNvSpPr txBox="1"/>
          <p:nvPr/>
        </p:nvSpPr>
        <p:spPr>
          <a:xfrm>
            <a:off x="1111860" y="2119320"/>
            <a:ext cx="10316520" cy="253440"/>
          </a:xfrm>
          <a:prstGeom prst="rect">
            <a:avLst/>
          </a:prstGeom>
          <a:noFill/>
          <a:ln w="0">
            <a:noFill/>
          </a:ln>
        </p:spPr>
        <p:txBody>
          <a:bodyPr wrap="none" lIns="0" tIns="0" rIns="0" bIns="0" anchor="t">
            <a:spAutoFit/>
          </a:bodyPr>
          <a:lstStyle/>
          <a:p>
            <a:r>
              <a:rPr lang="it-IT" sz="1500" b="1" u="none" strike="noStrike" dirty="0">
                <a:solidFill>
                  <a:srgbClr val="00509E"/>
                </a:solidFill>
                <a:effectLst/>
                <a:uFillTx/>
                <a:latin typeface="SegoeUI"/>
                <a:ea typeface="SegoeUI"/>
              </a:rPr>
              <a:t>manodopera presso le sedi di attività del committente con l'utilizzo di beni strumentali di proprietà di quest'ultimo</a:t>
            </a:r>
            <a:endParaRPr lang="it-IT" sz="1500" b="0" u="none" strike="noStrike" dirty="0">
              <a:solidFill>
                <a:srgbClr val="000000"/>
              </a:solidFill>
              <a:effectLst/>
              <a:uFillTx/>
              <a:latin typeface="Times New Roman"/>
            </a:endParaRPr>
          </a:p>
        </p:txBody>
      </p:sp>
      <p:sp>
        <p:nvSpPr>
          <p:cNvPr id="946" name="CasellaDiTesto 945"/>
          <p:cNvSpPr txBox="1"/>
          <p:nvPr/>
        </p:nvSpPr>
        <p:spPr>
          <a:xfrm>
            <a:off x="1111860" y="2414520"/>
            <a:ext cx="883764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 </a:t>
            </a:r>
            <a:r>
              <a:rPr lang="it-IT" sz="1500" b="0" i="1" u="none" strike="noStrike">
                <a:solidFill>
                  <a:srgbClr val="495057"/>
                </a:solidFill>
                <a:effectLst/>
                <a:uFillTx/>
                <a:latin typeface="SegoeUI"/>
                <a:ea typeface="SegoeUI"/>
              </a:rPr>
              <a:t>Art. 7, comma 1, d.lgs. n. 33/2025 (già art. 17-bis, d.lgs. n. 241/1997 e art. 35, c. 6-ter, d.l. n. 223/2006)</a:t>
            </a:r>
            <a:endParaRPr lang="it-IT" sz="1500" b="0" u="none" strike="noStrike">
              <a:solidFill>
                <a:srgbClr val="000000"/>
              </a:solidFill>
              <a:effectLst/>
              <a:uFillTx/>
              <a:latin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 name="Figura a mano libera: forma 98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86" name="Figura a mano libera: forma 98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87" name="Figura a mano libera: forma 98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88" name="Figura a mano libera: forma 98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89" name="Figura a mano libera: forma 988"/>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90" name="Figura a mano libera: forma 989"/>
          <p:cNvSpPr/>
          <p:nvPr/>
        </p:nvSpPr>
        <p:spPr>
          <a:xfrm>
            <a:off x="978169" y="2961000"/>
            <a:ext cx="486000" cy="371880"/>
          </a:xfrm>
          <a:custGeom>
            <a:avLst/>
            <a:gdLst/>
            <a:ahLst/>
            <a:cxnLst/>
            <a:rect l="0" t="0" r="r" b="b"/>
            <a:pathLst>
              <a:path w="1350" h="1033">
                <a:moveTo>
                  <a:pt x="0" y="0"/>
                </a:moveTo>
                <a:lnTo>
                  <a:pt x="1350" y="0"/>
                </a:lnTo>
                <a:lnTo>
                  <a:pt x="1350"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91" name="Figura a mano libera: forma 990"/>
          <p:cNvSpPr/>
          <p:nvPr/>
        </p:nvSpPr>
        <p:spPr>
          <a:xfrm>
            <a:off x="1463809" y="2961000"/>
            <a:ext cx="7182360" cy="371880"/>
          </a:xfrm>
          <a:custGeom>
            <a:avLst/>
            <a:gdLst/>
            <a:ahLst/>
            <a:cxnLst/>
            <a:rect l="0" t="0" r="r" b="b"/>
            <a:pathLst>
              <a:path w="19951" h="1033">
                <a:moveTo>
                  <a:pt x="0" y="0"/>
                </a:moveTo>
                <a:lnTo>
                  <a:pt x="19951" y="0"/>
                </a:lnTo>
                <a:lnTo>
                  <a:pt x="19951"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92" name="Figura a mano libera: forma 991"/>
          <p:cNvSpPr/>
          <p:nvPr/>
        </p:nvSpPr>
        <p:spPr>
          <a:xfrm>
            <a:off x="8645809" y="2961000"/>
            <a:ext cx="2876760" cy="371880"/>
          </a:xfrm>
          <a:custGeom>
            <a:avLst/>
            <a:gdLst/>
            <a:ahLst/>
            <a:cxnLst/>
            <a:rect l="0" t="0" r="r" b="b"/>
            <a:pathLst>
              <a:path w="7991" h="1033">
                <a:moveTo>
                  <a:pt x="7991" y="1033"/>
                </a:moveTo>
                <a:lnTo>
                  <a:pt x="0" y="1033"/>
                </a:lnTo>
                <a:lnTo>
                  <a:pt x="0" y="0"/>
                </a:lnTo>
                <a:lnTo>
                  <a:pt x="7991" y="0"/>
                </a:lnTo>
                <a:lnTo>
                  <a:pt x="7991" y="1033"/>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93" name="Figura a mano libera: forma 992"/>
          <p:cNvSpPr/>
          <p:nvPr/>
        </p:nvSpPr>
        <p:spPr>
          <a:xfrm>
            <a:off x="978169" y="2961000"/>
            <a:ext cx="486000" cy="371880"/>
          </a:xfrm>
          <a:custGeom>
            <a:avLst/>
            <a:gdLst/>
            <a:ahLst/>
            <a:cxnLst/>
            <a:rect l="0" t="0" r="r" b="b"/>
            <a:pathLst>
              <a:path w="1350" h="1033">
                <a:moveTo>
                  <a:pt x="0" y="0"/>
                </a:moveTo>
                <a:lnTo>
                  <a:pt x="1350" y="0"/>
                </a:lnTo>
                <a:lnTo>
                  <a:pt x="1350"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94" name="Figura a mano libera: forma 993"/>
          <p:cNvSpPr/>
          <p:nvPr/>
        </p:nvSpPr>
        <p:spPr>
          <a:xfrm>
            <a:off x="1463809" y="2961000"/>
            <a:ext cx="7182360" cy="371880"/>
          </a:xfrm>
          <a:custGeom>
            <a:avLst/>
            <a:gdLst/>
            <a:ahLst/>
            <a:cxnLst/>
            <a:rect l="0" t="0" r="r" b="b"/>
            <a:pathLst>
              <a:path w="19951" h="1033">
                <a:moveTo>
                  <a:pt x="0" y="0"/>
                </a:moveTo>
                <a:lnTo>
                  <a:pt x="19951" y="0"/>
                </a:lnTo>
                <a:lnTo>
                  <a:pt x="19951"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95" name="Figura a mano libera: forma 994"/>
          <p:cNvSpPr/>
          <p:nvPr/>
        </p:nvSpPr>
        <p:spPr>
          <a:xfrm>
            <a:off x="8645809" y="2961000"/>
            <a:ext cx="2876760" cy="371880"/>
          </a:xfrm>
          <a:custGeom>
            <a:avLst/>
            <a:gdLst/>
            <a:ahLst/>
            <a:cxnLst/>
            <a:rect l="0" t="0" r="r" b="b"/>
            <a:pathLst>
              <a:path w="7991" h="1033">
                <a:moveTo>
                  <a:pt x="7991" y="1033"/>
                </a:moveTo>
                <a:lnTo>
                  <a:pt x="0" y="1033"/>
                </a:lnTo>
                <a:lnTo>
                  <a:pt x="0" y="0"/>
                </a:lnTo>
                <a:lnTo>
                  <a:pt x="7991" y="0"/>
                </a:lnTo>
                <a:lnTo>
                  <a:pt x="7991" y="1033"/>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996" name="Figura a mano libera: forma 995"/>
          <p:cNvSpPr/>
          <p:nvPr/>
        </p:nvSpPr>
        <p:spPr>
          <a:xfrm>
            <a:off x="978169" y="3332520"/>
            <a:ext cx="486000" cy="686160"/>
          </a:xfrm>
          <a:custGeom>
            <a:avLst/>
            <a:gdLst/>
            <a:ahLst/>
            <a:cxnLst/>
            <a:rect l="0" t="0" r="r" b="b"/>
            <a:pathLst>
              <a:path w="1350" h="1906">
                <a:moveTo>
                  <a:pt x="0" y="0"/>
                </a:moveTo>
                <a:lnTo>
                  <a:pt x="1350" y="0"/>
                </a:lnTo>
                <a:lnTo>
                  <a:pt x="1350"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97" name="Figura a mano libera: forma 996"/>
          <p:cNvSpPr/>
          <p:nvPr/>
        </p:nvSpPr>
        <p:spPr>
          <a:xfrm>
            <a:off x="1463809" y="3332520"/>
            <a:ext cx="7182360" cy="686160"/>
          </a:xfrm>
          <a:custGeom>
            <a:avLst/>
            <a:gdLst/>
            <a:ahLst/>
            <a:cxnLst/>
            <a:rect l="0" t="0" r="r" b="b"/>
            <a:pathLst>
              <a:path w="19951" h="1906">
                <a:moveTo>
                  <a:pt x="0" y="0"/>
                </a:moveTo>
                <a:lnTo>
                  <a:pt x="19951" y="0"/>
                </a:lnTo>
                <a:lnTo>
                  <a:pt x="19951"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98" name="Figura a mano libera: forma 997"/>
          <p:cNvSpPr/>
          <p:nvPr/>
        </p:nvSpPr>
        <p:spPr>
          <a:xfrm>
            <a:off x="8645809" y="3332520"/>
            <a:ext cx="2876760" cy="686160"/>
          </a:xfrm>
          <a:custGeom>
            <a:avLst/>
            <a:gdLst/>
            <a:ahLst/>
            <a:cxnLst/>
            <a:rect l="0" t="0" r="r" b="b"/>
            <a:pathLst>
              <a:path w="7991" h="1906">
                <a:moveTo>
                  <a:pt x="7991" y="1906"/>
                </a:moveTo>
                <a:lnTo>
                  <a:pt x="0" y="1906"/>
                </a:lnTo>
                <a:lnTo>
                  <a:pt x="0" y="0"/>
                </a:lnTo>
                <a:lnTo>
                  <a:pt x="7991" y="0"/>
                </a:lnTo>
                <a:lnTo>
                  <a:pt x="7991" y="1906"/>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999" name="Figura a mano libera: forma 998"/>
          <p:cNvSpPr/>
          <p:nvPr/>
        </p:nvSpPr>
        <p:spPr>
          <a:xfrm>
            <a:off x="978169" y="4018320"/>
            <a:ext cx="486000" cy="686160"/>
          </a:xfrm>
          <a:custGeom>
            <a:avLst/>
            <a:gdLst/>
            <a:ahLst/>
            <a:cxnLst/>
            <a:rect l="0" t="0" r="r" b="b"/>
            <a:pathLst>
              <a:path w="1350" h="1906">
                <a:moveTo>
                  <a:pt x="0" y="0"/>
                </a:moveTo>
                <a:lnTo>
                  <a:pt x="1350" y="0"/>
                </a:lnTo>
                <a:lnTo>
                  <a:pt x="1350" y="1906"/>
                </a:lnTo>
                <a:lnTo>
                  <a:pt x="0" y="1906"/>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0" name="Figura a mano libera: forma 999"/>
          <p:cNvSpPr/>
          <p:nvPr/>
        </p:nvSpPr>
        <p:spPr>
          <a:xfrm>
            <a:off x="1463809" y="4018320"/>
            <a:ext cx="7182360" cy="686160"/>
          </a:xfrm>
          <a:custGeom>
            <a:avLst/>
            <a:gdLst/>
            <a:ahLst/>
            <a:cxnLst/>
            <a:rect l="0" t="0" r="r" b="b"/>
            <a:pathLst>
              <a:path w="19951" h="1906">
                <a:moveTo>
                  <a:pt x="0" y="0"/>
                </a:moveTo>
                <a:lnTo>
                  <a:pt x="19951" y="0"/>
                </a:lnTo>
                <a:lnTo>
                  <a:pt x="19951" y="1906"/>
                </a:lnTo>
                <a:lnTo>
                  <a:pt x="0" y="1906"/>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1" name="Figura a mano libera: forma 1000"/>
          <p:cNvSpPr/>
          <p:nvPr/>
        </p:nvSpPr>
        <p:spPr>
          <a:xfrm>
            <a:off x="8645809" y="4018320"/>
            <a:ext cx="2876760" cy="686160"/>
          </a:xfrm>
          <a:custGeom>
            <a:avLst/>
            <a:gdLst/>
            <a:ahLst/>
            <a:cxnLst/>
            <a:rect l="0" t="0" r="r" b="b"/>
            <a:pathLst>
              <a:path w="7991" h="1906">
                <a:moveTo>
                  <a:pt x="7991" y="1906"/>
                </a:moveTo>
                <a:lnTo>
                  <a:pt x="0" y="1906"/>
                </a:lnTo>
                <a:lnTo>
                  <a:pt x="0" y="0"/>
                </a:lnTo>
                <a:lnTo>
                  <a:pt x="7991" y="0"/>
                </a:lnTo>
                <a:lnTo>
                  <a:pt x="7991" y="1906"/>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2" name="Figura a mano libera: forma 1001"/>
          <p:cNvSpPr/>
          <p:nvPr/>
        </p:nvSpPr>
        <p:spPr>
          <a:xfrm>
            <a:off x="978169" y="4704120"/>
            <a:ext cx="486000" cy="686160"/>
          </a:xfrm>
          <a:custGeom>
            <a:avLst/>
            <a:gdLst/>
            <a:ahLst/>
            <a:cxnLst/>
            <a:rect l="0" t="0" r="r" b="b"/>
            <a:pathLst>
              <a:path w="1350" h="1906">
                <a:moveTo>
                  <a:pt x="0" y="0"/>
                </a:moveTo>
                <a:lnTo>
                  <a:pt x="1350" y="0"/>
                </a:lnTo>
                <a:lnTo>
                  <a:pt x="1350"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3" name="Figura a mano libera: forma 1002"/>
          <p:cNvSpPr/>
          <p:nvPr/>
        </p:nvSpPr>
        <p:spPr>
          <a:xfrm>
            <a:off x="1463809" y="4704120"/>
            <a:ext cx="7182360" cy="686160"/>
          </a:xfrm>
          <a:custGeom>
            <a:avLst/>
            <a:gdLst/>
            <a:ahLst/>
            <a:cxnLst/>
            <a:rect l="0" t="0" r="r" b="b"/>
            <a:pathLst>
              <a:path w="19951" h="1906">
                <a:moveTo>
                  <a:pt x="0" y="0"/>
                </a:moveTo>
                <a:lnTo>
                  <a:pt x="19951" y="0"/>
                </a:lnTo>
                <a:lnTo>
                  <a:pt x="19951"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4" name="Figura a mano libera: forma 1003"/>
          <p:cNvSpPr/>
          <p:nvPr/>
        </p:nvSpPr>
        <p:spPr>
          <a:xfrm>
            <a:off x="8645809" y="4704120"/>
            <a:ext cx="2876760" cy="686160"/>
          </a:xfrm>
          <a:custGeom>
            <a:avLst/>
            <a:gdLst/>
            <a:ahLst/>
            <a:cxnLst/>
            <a:rect l="0" t="0" r="r" b="b"/>
            <a:pathLst>
              <a:path w="7991" h="1906">
                <a:moveTo>
                  <a:pt x="7991" y="1906"/>
                </a:moveTo>
                <a:lnTo>
                  <a:pt x="0" y="1906"/>
                </a:lnTo>
                <a:lnTo>
                  <a:pt x="0" y="0"/>
                </a:lnTo>
                <a:lnTo>
                  <a:pt x="7991" y="0"/>
                </a:lnTo>
                <a:lnTo>
                  <a:pt x="7991" y="1906"/>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5" name="Figura a mano libera: forma 1004"/>
          <p:cNvSpPr/>
          <p:nvPr/>
        </p:nvSpPr>
        <p:spPr>
          <a:xfrm>
            <a:off x="978169" y="5389920"/>
            <a:ext cx="486000" cy="676440"/>
          </a:xfrm>
          <a:custGeom>
            <a:avLst/>
            <a:gdLst/>
            <a:ahLst/>
            <a:cxnLst/>
            <a:rect l="0" t="0" r="r" b="b"/>
            <a:pathLst>
              <a:path w="1350" h="1879">
                <a:moveTo>
                  <a:pt x="0" y="1879"/>
                </a:moveTo>
                <a:lnTo>
                  <a:pt x="0" y="0"/>
                </a:lnTo>
                <a:lnTo>
                  <a:pt x="1350" y="0"/>
                </a:lnTo>
                <a:lnTo>
                  <a:pt x="1350" y="1879"/>
                </a:lnTo>
                <a:lnTo>
                  <a:pt x="0" y="1879"/>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6" name="Figura a mano libera: forma 1005"/>
          <p:cNvSpPr/>
          <p:nvPr/>
        </p:nvSpPr>
        <p:spPr>
          <a:xfrm>
            <a:off x="1463809" y="5389920"/>
            <a:ext cx="7182360" cy="676440"/>
          </a:xfrm>
          <a:custGeom>
            <a:avLst/>
            <a:gdLst/>
            <a:ahLst/>
            <a:cxnLst/>
            <a:rect l="0" t="0" r="r" b="b"/>
            <a:pathLst>
              <a:path w="19951" h="1879">
                <a:moveTo>
                  <a:pt x="0" y="1879"/>
                </a:moveTo>
                <a:lnTo>
                  <a:pt x="0" y="0"/>
                </a:lnTo>
                <a:lnTo>
                  <a:pt x="19951" y="0"/>
                </a:lnTo>
                <a:lnTo>
                  <a:pt x="19951" y="1879"/>
                </a:lnTo>
                <a:lnTo>
                  <a:pt x="0" y="1879"/>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7" name="Figura a mano libera: forma 1006"/>
          <p:cNvSpPr/>
          <p:nvPr/>
        </p:nvSpPr>
        <p:spPr>
          <a:xfrm>
            <a:off x="8645809" y="5389920"/>
            <a:ext cx="2876760" cy="676440"/>
          </a:xfrm>
          <a:custGeom>
            <a:avLst/>
            <a:gdLst/>
            <a:ahLst/>
            <a:cxnLst/>
            <a:rect l="0" t="0" r="r" b="b"/>
            <a:pathLst>
              <a:path w="7991" h="1879">
                <a:moveTo>
                  <a:pt x="7991" y="1879"/>
                </a:moveTo>
                <a:lnTo>
                  <a:pt x="0" y="1879"/>
                </a:lnTo>
                <a:lnTo>
                  <a:pt x="0" y="0"/>
                </a:lnTo>
                <a:lnTo>
                  <a:pt x="7991" y="0"/>
                </a:lnTo>
                <a:lnTo>
                  <a:pt x="7991" y="1879"/>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8" name="Figura a mano libera: forma 1007"/>
          <p:cNvSpPr/>
          <p:nvPr/>
        </p:nvSpPr>
        <p:spPr>
          <a:xfrm>
            <a:off x="968449" y="2951640"/>
            <a:ext cx="10080" cy="381240"/>
          </a:xfrm>
          <a:custGeom>
            <a:avLst/>
            <a:gdLst/>
            <a:ahLst/>
            <a:cxn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09" name="Figura a mano libera: forma 1008"/>
          <p:cNvSpPr/>
          <p:nvPr/>
        </p:nvSpPr>
        <p:spPr>
          <a:xfrm>
            <a:off x="968449" y="2951640"/>
            <a:ext cx="495720" cy="9720"/>
          </a:xfrm>
          <a:custGeom>
            <a:avLst/>
            <a:gdLst/>
            <a:ahLst/>
            <a:cxnLst/>
            <a:rect l="0" t="0" r="r" b="b"/>
            <a:pathLst>
              <a:path w="1377" h="27">
                <a:moveTo>
                  <a:pt x="0" y="0"/>
                </a:moveTo>
                <a:lnTo>
                  <a:pt x="1377" y="0"/>
                </a:lnTo>
                <a:lnTo>
                  <a:pt x="1377"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0" name="Figura a mano libera: forma 1009"/>
          <p:cNvSpPr/>
          <p:nvPr/>
        </p:nvSpPr>
        <p:spPr>
          <a:xfrm>
            <a:off x="1454449" y="2951640"/>
            <a:ext cx="9720" cy="381240"/>
          </a:xfrm>
          <a:custGeom>
            <a:avLst/>
            <a:gdLst/>
            <a:ahLst/>
            <a:cxn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1" name="Figura a mano libera: forma 1010"/>
          <p:cNvSpPr/>
          <p:nvPr/>
        </p:nvSpPr>
        <p:spPr>
          <a:xfrm>
            <a:off x="1463809" y="2951640"/>
            <a:ext cx="7191720" cy="9720"/>
          </a:xfrm>
          <a:custGeom>
            <a:avLst/>
            <a:gdLst/>
            <a:ahLst/>
            <a:cxnLst/>
            <a:rect l="0" t="0" r="r" b="b"/>
            <a:pathLst>
              <a:path w="19977" h="27">
                <a:moveTo>
                  <a:pt x="0" y="0"/>
                </a:moveTo>
                <a:lnTo>
                  <a:pt x="19977" y="0"/>
                </a:lnTo>
                <a:lnTo>
                  <a:pt x="19977"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2" name="Figura a mano libera: forma 1011"/>
          <p:cNvSpPr/>
          <p:nvPr/>
        </p:nvSpPr>
        <p:spPr>
          <a:xfrm>
            <a:off x="8645809" y="2951640"/>
            <a:ext cx="9720" cy="381240"/>
          </a:xfrm>
          <a:custGeom>
            <a:avLst/>
            <a:gdLst/>
            <a:ahLst/>
            <a:cxn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3" name="Figura a mano libera: forma 1012"/>
          <p:cNvSpPr/>
          <p:nvPr/>
        </p:nvSpPr>
        <p:spPr>
          <a:xfrm>
            <a:off x="8655169" y="2951640"/>
            <a:ext cx="2867400" cy="9720"/>
          </a:xfrm>
          <a:custGeom>
            <a:avLst/>
            <a:gdLst/>
            <a:ahLst/>
            <a:cxnLst/>
            <a:rect l="0" t="0" r="r" b="b"/>
            <a:pathLst>
              <a:path w="7965" h="27">
                <a:moveTo>
                  <a:pt x="7965" y="27"/>
                </a:moveTo>
                <a:lnTo>
                  <a:pt x="0" y="27"/>
                </a:lnTo>
                <a:lnTo>
                  <a:pt x="0" y="0"/>
                </a:lnTo>
                <a:lnTo>
                  <a:pt x="7965" y="0"/>
                </a:lnTo>
                <a:lnTo>
                  <a:pt x="7965" y="27"/>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4" name="Figura a mano libera: forma 1013"/>
          <p:cNvSpPr/>
          <p:nvPr/>
        </p:nvSpPr>
        <p:spPr>
          <a:xfrm>
            <a:off x="11512849" y="2951640"/>
            <a:ext cx="9720" cy="381240"/>
          </a:xfrm>
          <a:custGeom>
            <a:avLst/>
            <a:gdLst/>
            <a:ahLst/>
            <a:cxnLst/>
            <a:rect l="0" t="0" r="r" b="b"/>
            <a:pathLst>
              <a:path w="27" h="1059">
                <a:moveTo>
                  <a:pt x="27" y="1059"/>
                </a:moveTo>
                <a:lnTo>
                  <a:pt x="0" y="1059"/>
                </a:lnTo>
                <a:lnTo>
                  <a:pt x="0" y="0"/>
                </a:lnTo>
                <a:lnTo>
                  <a:pt x="27" y="0"/>
                </a:lnTo>
                <a:lnTo>
                  <a:pt x="27" y="105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5" name="Figura a mano libera: forma 1014"/>
          <p:cNvSpPr/>
          <p:nvPr/>
        </p:nvSpPr>
        <p:spPr>
          <a:xfrm>
            <a:off x="968449" y="3322800"/>
            <a:ext cx="495720" cy="10080"/>
          </a:xfrm>
          <a:custGeom>
            <a:avLst/>
            <a:gdLst/>
            <a:ahLst/>
            <a:cxnLst/>
            <a:rect l="0" t="0" r="r" b="b"/>
            <a:pathLst>
              <a:path w="1377" h="28">
                <a:moveTo>
                  <a:pt x="0" y="0"/>
                </a:moveTo>
                <a:lnTo>
                  <a:pt x="1377" y="0"/>
                </a:lnTo>
                <a:lnTo>
                  <a:pt x="13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6" name="Figura a mano libera: forma 1015"/>
          <p:cNvSpPr/>
          <p:nvPr/>
        </p:nvSpPr>
        <p:spPr>
          <a:xfrm>
            <a:off x="1463809" y="3322800"/>
            <a:ext cx="7191720" cy="10080"/>
          </a:xfrm>
          <a:custGeom>
            <a:avLst/>
            <a:gdLst/>
            <a:ahLst/>
            <a:cxnLst/>
            <a:rect l="0" t="0" r="r" b="b"/>
            <a:pathLst>
              <a:path w="19977" h="28">
                <a:moveTo>
                  <a:pt x="0" y="0"/>
                </a:moveTo>
                <a:lnTo>
                  <a:pt x="19977" y="0"/>
                </a:lnTo>
                <a:lnTo>
                  <a:pt x="199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7" name="Figura a mano libera: forma 1016"/>
          <p:cNvSpPr/>
          <p:nvPr/>
        </p:nvSpPr>
        <p:spPr>
          <a:xfrm>
            <a:off x="8655169" y="3322800"/>
            <a:ext cx="2867400" cy="10080"/>
          </a:xfrm>
          <a:custGeom>
            <a:avLst/>
            <a:gdLst/>
            <a:ahLst/>
            <a:cxnLst/>
            <a:rect l="0" t="0" r="r" b="b"/>
            <a:pathLst>
              <a:path w="7965" h="28">
                <a:moveTo>
                  <a:pt x="7965" y="28"/>
                </a:moveTo>
                <a:lnTo>
                  <a:pt x="0" y="28"/>
                </a:lnTo>
                <a:lnTo>
                  <a:pt x="0" y="0"/>
                </a:lnTo>
                <a:lnTo>
                  <a:pt x="7965" y="0"/>
                </a:lnTo>
                <a:lnTo>
                  <a:pt x="7965" y="28"/>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8" name="Figura a mano libera: forma 1017"/>
          <p:cNvSpPr/>
          <p:nvPr/>
        </p:nvSpPr>
        <p:spPr>
          <a:xfrm>
            <a:off x="968449" y="333252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19" name="Figura a mano libera: forma 1018"/>
          <p:cNvSpPr/>
          <p:nvPr/>
        </p:nvSpPr>
        <p:spPr>
          <a:xfrm>
            <a:off x="1454449" y="333252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0" name="Figura a mano libera: forma 1019"/>
          <p:cNvSpPr/>
          <p:nvPr/>
        </p:nvSpPr>
        <p:spPr>
          <a:xfrm>
            <a:off x="8645809" y="333252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1" name="Figura a mano libera: forma 1020"/>
          <p:cNvSpPr/>
          <p:nvPr/>
        </p:nvSpPr>
        <p:spPr>
          <a:xfrm>
            <a:off x="11512849" y="333252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2" name="Figura a mano libera: forma 1021"/>
          <p:cNvSpPr/>
          <p:nvPr/>
        </p:nvSpPr>
        <p:spPr>
          <a:xfrm>
            <a:off x="968449" y="401832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3" name="Figura a mano libera: forma 1022"/>
          <p:cNvSpPr/>
          <p:nvPr/>
        </p:nvSpPr>
        <p:spPr>
          <a:xfrm>
            <a:off x="968449" y="4008600"/>
            <a:ext cx="495720" cy="10080"/>
          </a:xfrm>
          <a:custGeom>
            <a:avLst/>
            <a:gdLst/>
            <a:ahLst/>
            <a:cxnLst/>
            <a:rect l="0" t="0" r="r" b="b"/>
            <a:pathLst>
              <a:path w="1377" h="28">
                <a:moveTo>
                  <a:pt x="0" y="0"/>
                </a:moveTo>
                <a:lnTo>
                  <a:pt x="1377" y="0"/>
                </a:lnTo>
                <a:lnTo>
                  <a:pt x="13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4" name="Figura a mano libera: forma 1023"/>
          <p:cNvSpPr/>
          <p:nvPr/>
        </p:nvSpPr>
        <p:spPr>
          <a:xfrm>
            <a:off x="1454449" y="401832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5" name="Figura a mano libera: forma 1024"/>
          <p:cNvSpPr/>
          <p:nvPr/>
        </p:nvSpPr>
        <p:spPr>
          <a:xfrm>
            <a:off x="1463809" y="4008600"/>
            <a:ext cx="7191720" cy="10080"/>
          </a:xfrm>
          <a:custGeom>
            <a:avLst/>
            <a:gdLst/>
            <a:ahLst/>
            <a:cxnLst/>
            <a:rect l="0" t="0" r="r" b="b"/>
            <a:pathLst>
              <a:path w="19977" h="28">
                <a:moveTo>
                  <a:pt x="0" y="0"/>
                </a:moveTo>
                <a:lnTo>
                  <a:pt x="19977" y="0"/>
                </a:lnTo>
                <a:lnTo>
                  <a:pt x="199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6" name="Figura a mano libera: forma 1025"/>
          <p:cNvSpPr/>
          <p:nvPr/>
        </p:nvSpPr>
        <p:spPr>
          <a:xfrm>
            <a:off x="8645809" y="401832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7" name="Figura a mano libera: forma 1026"/>
          <p:cNvSpPr/>
          <p:nvPr/>
        </p:nvSpPr>
        <p:spPr>
          <a:xfrm>
            <a:off x="8655169" y="4008600"/>
            <a:ext cx="2867400" cy="10080"/>
          </a:xfrm>
          <a:custGeom>
            <a:avLst/>
            <a:gdLst/>
            <a:ahLst/>
            <a:cxnLst/>
            <a:rect l="0" t="0" r="r" b="b"/>
            <a:pathLst>
              <a:path w="7965" h="28">
                <a:moveTo>
                  <a:pt x="7965" y="28"/>
                </a:moveTo>
                <a:lnTo>
                  <a:pt x="0" y="28"/>
                </a:lnTo>
                <a:lnTo>
                  <a:pt x="0" y="0"/>
                </a:lnTo>
                <a:lnTo>
                  <a:pt x="7965" y="0"/>
                </a:lnTo>
                <a:lnTo>
                  <a:pt x="7965" y="28"/>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8" name="Figura a mano libera: forma 1027"/>
          <p:cNvSpPr/>
          <p:nvPr/>
        </p:nvSpPr>
        <p:spPr>
          <a:xfrm>
            <a:off x="11512849" y="401832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29" name="Figura a mano libera: forma 1028"/>
          <p:cNvSpPr/>
          <p:nvPr/>
        </p:nvSpPr>
        <p:spPr>
          <a:xfrm>
            <a:off x="968449" y="470412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0" name="Figura a mano libera: forma 1029"/>
          <p:cNvSpPr/>
          <p:nvPr/>
        </p:nvSpPr>
        <p:spPr>
          <a:xfrm>
            <a:off x="968449" y="4694400"/>
            <a:ext cx="495720" cy="10080"/>
          </a:xfrm>
          <a:custGeom>
            <a:avLst/>
            <a:gdLst/>
            <a:ahLst/>
            <a:cxnLst/>
            <a:rect l="0" t="0" r="r" b="b"/>
            <a:pathLst>
              <a:path w="1377" h="28">
                <a:moveTo>
                  <a:pt x="0" y="0"/>
                </a:moveTo>
                <a:lnTo>
                  <a:pt x="1377" y="0"/>
                </a:lnTo>
                <a:lnTo>
                  <a:pt x="13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1" name="Figura a mano libera: forma 1030"/>
          <p:cNvSpPr/>
          <p:nvPr/>
        </p:nvSpPr>
        <p:spPr>
          <a:xfrm>
            <a:off x="1454449" y="470412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2" name="Figura a mano libera: forma 1031"/>
          <p:cNvSpPr/>
          <p:nvPr/>
        </p:nvSpPr>
        <p:spPr>
          <a:xfrm>
            <a:off x="1463809" y="4694400"/>
            <a:ext cx="7191720" cy="10080"/>
          </a:xfrm>
          <a:custGeom>
            <a:avLst/>
            <a:gdLst/>
            <a:ahLst/>
            <a:cxnLst/>
            <a:rect l="0" t="0" r="r" b="b"/>
            <a:pathLst>
              <a:path w="19977" h="28">
                <a:moveTo>
                  <a:pt x="0" y="0"/>
                </a:moveTo>
                <a:lnTo>
                  <a:pt x="19977" y="0"/>
                </a:lnTo>
                <a:lnTo>
                  <a:pt x="199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3" name="Figura a mano libera: forma 1032"/>
          <p:cNvSpPr/>
          <p:nvPr/>
        </p:nvSpPr>
        <p:spPr>
          <a:xfrm>
            <a:off x="8645809" y="470412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4" name="Figura a mano libera: forma 1033"/>
          <p:cNvSpPr/>
          <p:nvPr/>
        </p:nvSpPr>
        <p:spPr>
          <a:xfrm>
            <a:off x="8655169" y="4694400"/>
            <a:ext cx="2867400" cy="10080"/>
          </a:xfrm>
          <a:custGeom>
            <a:avLst/>
            <a:gdLst/>
            <a:ahLst/>
            <a:cxnLst/>
            <a:rect l="0" t="0" r="r" b="b"/>
            <a:pathLst>
              <a:path w="7965" h="28">
                <a:moveTo>
                  <a:pt x="7965" y="28"/>
                </a:moveTo>
                <a:lnTo>
                  <a:pt x="0" y="28"/>
                </a:lnTo>
                <a:lnTo>
                  <a:pt x="0" y="0"/>
                </a:lnTo>
                <a:lnTo>
                  <a:pt x="7965" y="0"/>
                </a:lnTo>
                <a:lnTo>
                  <a:pt x="7965" y="28"/>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5" name="Figura a mano libera: forma 1034"/>
          <p:cNvSpPr/>
          <p:nvPr/>
        </p:nvSpPr>
        <p:spPr>
          <a:xfrm>
            <a:off x="11512849" y="470412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6" name="Figura a mano libera: forma 1035"/>
          <p:cNvSpPr/>
          <p:nvPr/>
        </p:nvSpPr>
        <p:spPr>
          <a:xfrm>
            <a:off x="968449" y="5389920"/>
            <a:ext cx="10080" cy="676440"/>
          </a:xfrm>
          <a:custGeom>
            <a:avLst/>
            <a:gdLst/>
            <a:ahLst/>
            <a:cxnLst/>
            <a:rect l="0" t="0" r="r" b="b"/>
            <a:pathLst>
              <a:path w="28" h="1879">
                <a:moveTo>
                  <a:pt x="0" y="1879"/>
                </a:moveTo>
                <a:lnTo>
                  <a:pt x="0" y="0"/>
                </a:lnTo>
                <a:lnTo>
                  <a:pt x="28" y="0"/>
                </a:lnTo>
                <a:lnTo>
                  <a:pt x="28" y="1879"/>
                </a:lnTo>
                <a:lnTo>
                  <a:pt x="0"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7" name="Figura a mano libera: forma 1036"/>
          <p:cNvSpPr/>
          <p:nvPr/>
        </p:nvSpPr>
        <p:spPr>
          <a:xfrm>
            <a:off x="968449" y="5380200"/>
            <a:ext cx="495720" cy="10080"/>
          </a:xfrm>
          <a:custGeom>
            <a:avLst/>
            <a:gdLst/>
            <a:ahLst/>
            <a:cxnLst/>
            <a:rect l="0" t="0" r="r" b="b"/>
            <a:pathLst>
              <a:path w="1377" h="28">
                <a:moveTo>
                  <a:pt x="0" y="0"/>
                </a:moveTo>
                <a:lnTo>
                  <a:pt x="1377" y="0"/>
                </a:lnTo>
                <a:lnTo>
                  <a:pt x="13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8" name="Figura a mano libera: forma 1037"/>
          <p:cNvSpPr/>
          <p:nvPr/>
        </p:nvSpPr>
        <p:spPr>
          <a:xfrm>
            <a:off x="1454449" y="5389920"/>
            <a:ext cx="9720" cy="676440"/>
          </a:xfrm>
          <a:custGeom>
            <a:avLst/>
            <a:gdLst/>
            <a:ahLst/>
            <a:cxnLst/>
            <a:rect l="0" t="0" r="r" b="b"/>
            <a:pathLst>
              <a:path w="27" h="1879">
                <a:moveTo>
                  <a:pt x="0" y="1879"/>
                </a:moveTo>
                <a:lnTo>
                  <a:pt x="0" y="0"/>
                </a:lnTo>
                <a:lnTo>
                  <a:pt x="27" y="0"/>
                </a:lnTo>
                <a:lnTo>
                  <a:pt x="27" y="1879"/>
                </a:lnTo>
                <a:lnTo>
                  <a:pt x="0"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39" name="Figura a mano libera: forma 1038"/>
          <p:cNvSpPr/>
          <p:nvPr/>
        </p:nvSpPr>
        <p:spPr>
          <a:xfrm>
            <a:off x="1463809" y="5380200"/>
            <a:ext cx="7191720" cy="10080"/>
          </a:xfrm>
          <a:custGeom>
            <a:avLst/>
            <a:gdLst/>
            <a:ahLst/>
            <a:cxnLst/>
            <a:rect l="0" t="0" r="r" b="b"/>
            <a:pathLst>
              <a:path w="19977" h="28">
                <a:moveTo>
                  <a:pt x="0" y="0"/>
                </a:moveTo>
                <a:lnTo>
                  <a:pt x="19977" y="0"/>
                </a:lnTo>
                <a:lnTo>
                  <a:pt x="19977"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40" name="Figura a mano libera: forma 1039"/>
          <p:cNvSpPr/>
          <p:nvPr/>
        </p:nvSpPr>
        <p:spPr>
          <a:xfrm>
            <a:off x="8645809" y="5389920"/>
            <a:ext cx="9720" cy="676440"/>
          </a:xfrm>
          <a:custGeom>
            <a:avLst/>
            <a:gdLst/>
            <a:ahLst/>
            <a:cxnLst/>
            <a:rect l="0" t="0" r="r" b="b"/>
            <a:pathLst>
              <a:path w="27" h="1879">
                <a:moveTo>
                  <a:pt x="0" y="1879"/>
                </a:moveTo>
                <a:lnTo>
                  <a:pt x="0" y="0"/>
                </a:lnTo>
                <a:lnTo>
                  <a:pt x="27" y="0"/>
                </a:lnTo>
                <a:lnTo>
                  <a:pt x="27" y="1879"/>
                </a:lnTo>
                <a:lnTo>
                  <a:pt x="0"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41" name="Figura a mano libera: forma 1040"/>
          <p:cNvSpPr/>
          <p:nvPr/>
        </p:nvSpPr>
        <p:spPr>
          <a:xfrm>
            <a:off x="8655169" y="5380200"/>
            <a:ext cx="2867400" cy="10080"/>
          </a:xfrm>
          <a:custGeom>
            <a:avLst/>
            <a:gdLst/>
            <a:ahLst/>
            <a:cxnLst/>
            <a:rect l="0" t="0" r="r" b="b"/>
            <a:pathLst>
              <a:path w="7965" h="28">
                <a:moveTo>
                  <a:pt x="7965" y="28"/>
                </a:moveTo>
                <a:lnTo>
                  <a:pt x="0" y="28"/>
                </a:lnTo>
                <a:lnTo>
                  <a:pt x="0" y="0"/>
                </a:lnTo>
                <a:lnTo>
                  <a:pt x="7965" y="0"/>
                </a:lnTo>
                <a:lnTo>
                  <a:pt x="7965" y="28"/>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42" name="Figura a mano libera: forma 1041"/>
          <p:cNvSpPr/>
          <p:nvPr/>
        </p:nvSpPr>
        <p:spPr>
          <a:xfrm>
            <a:off x="11512849" y="5389920"/>
            <a:ext cx="9720" cy="676440"/>
          </a:xfrm>
          <a:custGeom>
            <a:avLst/>
            <a:gdLst/>
            <a:ahLst/>
            <a:cxnLst/>
            <a:rect l="0" t="0" r="r" b="b"/>
            <a:pathLst>
              <a:path w="27" h="1879">
                <a:moveTo>
                  <a:pt x="27" y="1879"/>
                </a:moveTo>
                <a:lnTo>
                  <a:pt x="0" y="1879"/>
                </a:lnTo>
                <a:lnTo>
                  <a:pt x="0" y="0"/>
                </a:lnTo>
                <a:lnTo>
                  <a:pt x="27" y="0"/>
                </a:lnTo>
                <a:lnTo>
                  <a:pt x="27"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43" name="CasellaDiTesto 1042"/>
          <p:cNvSpPr txBox="1"/>
          <p:nvPr/>
        </p:nvSpPr>
        <p:spPr>
          <a:xfrm>
            <a:off x="971640" y="552600"/>
            <a:ext cx="93052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DURF — IL REGIME DI ESONERO (ART. 7, COMMA 5)</a:t>
            </a:r>
            <a:endParaRPr lang="it-IT" sz="2850" b="0" u="none" strike="noStrike">
              <a:solidFill>
                <a:srgbClr val="000000"/>
              </a:solidFill>
              <a:effectLst/>
              <a:uFillTx/>
              <a:latin typeface="Times New Roman"/>
            </a:endParaRPr>
          </a:p>
        </p:txBody>
      </p:sp>
      <p:sp>
        <p:nvSpPr>
          <p:cNvPr id="1044" name="CasellaDiTesto 1043"/>
          <p:cNvSpPr txBox="1"/>
          <p:nvPr/>
        </p:nvSpPr>
        <p:spPr>
          <a:xfrm>
            <a:off x="971640" y="1307520"/>
            <a:ext cx="9973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L'art. 7, comma 5, del d.lgs. n. 33/2025 sottrae l'impresa appaltatrice/subappaltatrice agli obblighi dei commi</a:t>
            </a:r>
            <a:endParaRPr lang="it-IT" sz="1650" b="0" u="none" strike="noStrike">
              <a:solidFill>
                <a:srgbClr val="000000"/>
              </a:solidFill>
              <a:effectLst/>
              <a:uFillTx/>
              <a:latin typeface="Times New Roman"/>
            </a:endParaRPr>
          </a:p>
        </p:txBody>
      </p:sp>
      <p:sp>
        <p:nvSpPr>
          <p:cNvPr id="1045" name="CasellaDiTesto 1044"/>
          <p:cNvSpPr txBox="1"/>
          <p:nvPr/>
        </p:nvSpPr>
        <p:spPr>
          <a:xfrm>
            <a:off x="971640" y="1631160"/>
            <a:ext cx="94888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precedenti — restituendole la facoltà di compensare ritenute e contributi — qualora essa </a:t>
            </a:r>
            <a:r>
              <a:rPr lang="it-IT" sz="1650" b="1" u="none" strike="noStrike">
                <a:solidFill>
                  <a:srgbClr val="00509E"/>
                </a:solidFill>
                <a:effectLst/>
                <a:uFillTx/>
                <a:latin typeface="SegoeUI"/>
                <a:ea typeface="SegoeUI"/>
              </a:rPr>
              <a:t>comunichi al</a:t>
            </a:r>
            <a:endParaRPr lang="it-IT" sz="1650" b="0" u="none" strike="noStrike">
              <a:solidFill>
                <a:srgbClr val="000000"/>
              </a:solidFill>
              <a:effectLst/>
              <a:uFillTx/>
              <a:latin typeface="Times New Roman"/>
            </a:endParaRPr>
          </a:p>
        </p:txBody>
      </p:sp>
      <p:sp>
        <p:nvSpPr>
          <p:cNvPr id="1046" name="CasellaDiTesto 1045"/>
          <p:cNvSpPr txBox="1"/>
          <p:nvPr/>
        </p:nvSpPr>
        <p:spPr>
          <a:xfrm>
            <a:off x="971640" y="1955160"/>
            <a:ext cx="103219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committente, allegando il certificato dell'Agenzia delle Entrate (DURF)</a:t>
            </a:r>
            <a:r>
              <a:rPr lang="it-IT" sz="1650" b="0" u="none" strike="noStrike">
                <a:solidFill>
                  <a:srgbClr val="212529"/>
                </a:solidFill>
                <a:effectLst/>
                <a:uFillTx/>
                <a:latin typeface="SegoeUI"/>
                <a:ea typeface="SegoeUI"/>
              </a:rPr>
              <a:t>, la sussistenza, nell'ultimo giorno del</a:t>
            </a:r>
            <a:endParaRPr lang="it-IT" sz="1650" b="0" u="none" strike="noStrike">
              <a:solidFill>
                <a:srgbClr val="000000"/>
              </a:solidFill>
              <a:effectLst/>
              <a:uFillTx/>
              <a:latin typeface="Times New Roman"/>
            </a:endParaRPr>
          </a:p>
        </p:txBody>
      </p:sp>
      <p:sp>
        <p:nvSpPr>
          <p:cNvPr id="1047" name="CasellaDiTesto 1046"/>
          <p:cNvSpPr txBox="1"/>
          <p:nvPr/>
        </p:nvSpPr>
        <p:spPr>
          <a:xfrm>
            <a:off x="971640" y="2278800"/>
            <a:ext cx="8953920" cy="277920"/>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mese precedente la scadenza del versamento, di tutti i seguenti requisiti (validità quadrimestrale).</a:t>
            </a:r>
            <a:endParaRPr lang="it-IT" sz="1650" b="0" u="none" strike="noStrike" dirty="0">
              <a:solidFill>
                <a:srgbClr val="000000"/>
              </a:solidFill>
              <a:effectLst/>
              <a:uFillTx/>
              <a:latin typeface="Times New Roman"/>
            </a:endParaRPr>
          </a:p>
        </p:txBody>
      </p:sp>
      <p:sp>
        <p:nvSpPr>
          <p:cNvPr id="1048" name="CasellaDiTesto 1047"/>
          <p:cNvSpPr txBox="1"/>
          <p:nvPr/>
        </p:nvSpPr>
        <p:spPr>
          <a:xfrm>
            <a:off x="971280" y="2628000"/>
            <a:ext cx="4635360" cy="306720"/>
          </a:xfrm>
          <a:prstGeom prst="rect">
            <a:avLst/>
          </a:prstGeom>
          <a:noFill/>
          <a:ln w="0">
            <a:noFill/>
          </a:ln>
        </p:spPr>
        <p:txBody>
          <a:bodyPr wrap="none" lIns="0" tIns="0" rIns="0" bIns="0" anchor="t">
            <a:spAutoFit/>
          </a:bodyPr>
          <a:lstStyle/>
          <a:p>
            <a:r>
              <a:rPr lang="it-IT" sz="1810" b="1" u="none" strike="noStrike" dirty="0">
                <a:solidFill>
                  <a:srgbClr val="212529"/>
                </a:solidFill>
                <a:effectLst/>
                <a:uFillTx/>
                <a:latin typeface="SegoeUI"/>
                <a:ea typeface="SegoeUI"/>
              </a:rPr>
              <a:t>I quattro requisiti cumulativi (</a:t>
            </a:r>
            <a:r>
              <a:rPr lang="it-IT" sz="1810" b="1" i="1" u="none" strike="noStrike" dirty="0" err="1">
                <a:solidFill>
                  <a:srgbClr val="495057"/>
                </a:solidFill>
                <a:effectLst/>
                <a:uFillTx/>
                <a:latin typeface="SegoeUI"/>
                <a:ea typeface="SegoeUI"/>
              </a:rPr>
              <a:t>lex</a:t>
            </a:r>
            <a:r>
              <a:rPr lang="it-IT" sz="1810" b="1" i="1" u="none" strike="noStrike" dirty="0">
                <a:solidFill>
                  <a:srgbClr val="495057"/>
                </a:solidFill>
                <a:effectLst/>
                <a:uFillTx/>
                <a:latin typeface="SegoeUI"/>
                <a:ea typeface="SegoeUI"/>
              </a:rPr>
              <a:t> </a:t>
            </a:r>
            <a:r>
              <a:rPr lang="it-IT" sz="1810" b="1" i="1" u="none" strike="noStrike" dirty="0" err="1">
                <a:solidFill>
                  <a:srgbClr val="495057"/>
                </a:solidFill>
                <a:effectLst/>
                <a:uFillTx/>
                <a:latin typeface="SegoeUI"/>
                <a:ea typeface="SegoeUI"/>
              </a:rPr>
              <a:t>specialis</a:t>
            </a:r>
            <a:r>
              <a:rPr lang="it-IT" sz="1810" b="1" u="none" strike="noStrike" dirty="0">
                <a:solidFill>
                  <a:srgbClr val="212529"/>
                </a:solidFill>
                <a:effectLst/>
                <a:uFillTx/>
                <a:latin typeface="SegoeUI"/>
                <a:ea typeface="SegoeUI"/>
              </a:rPr>
              <a:t>)</a:t>
            </a:r>
            <a:endParaRPr lang="it-IT" sz="1810" b="0" u="none" strike="noStrike" dirty="0">
              <a:solidFill>
                <a:srgbClr val="000000"/>
              </a:solidFill>
              <a:effectLst/>
              <a:uFillTx/>
              <a:latin typeface="Times New Roman"/>
            </a:endParaRPr>
          </a:p>
        </p:txBody>
      </p:sp>
      <p:sp>
        <p:nvSpPr>
          <p:cNvPr id="1049" name="CasellaDiTesto 1048"/>
          <p:cNvSpPr txBox="1"/>
          <p:nvPr/>
        </p:nvSpPr>
        <p:spPr>
          <a:xfrm>
            <a:off x="1102009" y="3034080"/>
            <a:ext cx="16164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a:t>
            </a:r>
            <a:endParaRPr lang="it-IT" sz="1280" b="0" u="none" strike="noStrike">
              <a:solidFill>
                <a:srgbClr val="000000"/>
              </a:solidFill>
              <a:effectLst/>
              <a:uFillTx/>
              <a:latin typeface="Times New Roman"/>
            </a:endParaRPr>
          </a:p>
        </p:txBody>
      </p:sp>
      <p:sp>
        <p:nvSpPr>
          <p:cNvPr id="1050" name="CasellaDiTesto 1049"/>
          <p:cNvSpPr txBox="1"/>
          <p:nvPr/>
        </p:nvSpPr>
        <p:spPr>
          <a:xfrm>
            <a:off x="1588729" y="3034080"/>
            <a:ext cx="71568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Requisito</a:t>
            </a:r>
            <a:endParaRPr lang="it-IT" sz="1280" b="0" u="none" strike="noStrike">
              <a:solidFill>
                <a:srgbClr val="000000"/>
              </a:solidFill>
              <a:effectLst/>
              <a:uFillTx/>
              <a:latin typeface="Times New Roman"/>
            </a:endParaRPr>
          </a:p>
        </p:txBody>
      </p:sp>
      <p:sp>
        <p:nvSpPr>
          <p:cNvPr id="1051" name="CasellaDiTesto 1050"/>
          <p:cNvSpPr txBox="1"/>
          <p:nvPr/>
        </p:nvSpPr>
        <p:spPr>
          <a:xfrm>
            <a:off x="8776849" y="3034080"/>
            <a:ext cx="404640" cy="215280"/>
          </a:xfrm>
          <a:prstGeom prst="rect">
            <a:avLst/>
          </a:prstGeom>
          <a:noFill/>
          <a:ln w="0">
            <a:noFill/>
          </a:ln>
        </p:spPr>
        <p:txBody>
          <a:bodyPr wrap="none" lIns="0" tIns="0" rIns="0" bIns="0" anchor="t">
            <a:spAutoFit/>
          </a:bodyPr>
          <a:lstStyle/>
          <a:p>
            <a:r>
              <a:rPr lang="it-IT" sz="1280" b="1" i="1" u="none" strike="noStrike">
                <a:solidFill>
                  <a:srgbClr val="495057"/>
                </a:solidFill>
                <a:effectLst/>
                <a:uFillTx/>
                <a:latin typeface="SegoeUI"/>
                <a:ea typeface="SegoeUI"/>
              </a:rPr>
              <a:t>Ratio</a:t>
            </a:r>
            <a:endParaRPr lang="it-IT" sz="1280" b="0" u="none" strike="noStrike">
              <a:solidFill>
                <a:srgbClr val="000000"/>
              </a:solidFill>
              <a:effectLst/>
              <a:uFillTx/>
              <a:latin typeface="Times New Roman"/>
            </a:endParaRPr>
          </a:p>
        </p:txBody>
      </p:sp>
      <p:sp>
        <p:nvSpPr>
          <p:cNvPr id="1052" name="CasellaDiTesto 1051"/>
          <p:cNvSpPr txBox="1"/>
          <p:nvPr/>
        </p:nvSpPr>
        <p:spPr>
          <a:xfrm>
            <a:off x="1102009" y="3404160"/>
            <a:ext cx="23220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(a)</a:t>
            </a:r>
            <a:endParaRPr lang="it-IT" sz="1430" b="0" u="none" strike="noStrike">
              <a:solidFill>
                <a:srgbClr val="000000"/>
              </a:solidFill>
              <a:effectLst/>
              <a:uFillTx/>
              <a:latin typeface="Times New Roman"/>
            </a:endParaRPr>
          </a:p>
        </p:txBody>
      </p:sp>
      <p:sp>
        <p:nvSpPr>
          <p:cNvPr id="1053" name="CasellaDiTesto 1052"/>
          <p:cNvSpPr txBox="1"/>
          <p:nvPr/>
        </p:nvSpPr>
        <p:spPr>
          <a:xfrm>
            <a:off x="1588729" y="3404160"/>
            <a:ext cx="61610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Esercizio dell'attività </a:t>
            </a:r>
            <a:r>
              <a:rPr lang="it-IT" sz="1430" b="1" u="none" strike="noStrike">
                <a:solidFill>
                  <a:srgbClr val="00509E"/>
                </a:solidFill>
                <a:effectLst/>
                <a:uFillTx/>
                <a:latin typeface="SegoeUI"/>
                <a:ea typeface="SegoeUI"/>
              </a:rPr>
              <a:t>da almeno 3 anni</a:t>
            </a:r>
            <a:r>
              <a:rPr lang="it-IT" sz="1430" b="0" u="none" strike="noStrike">
                <a:solidFill>
                  <a:srgbClr val="212529"/>
                </a:solidFill>
                <a:effectLst/>
                <a:uFillTx/>
                <a:latin typeface="SegoeUI"/>
                <a:ea typeface="SegoeUI"/>
              </a:rPr>
              <a:t> e regolarità degli obblighi dichiarativi</a:t>
            </a:r>
            <a:endParaRPr lang="it-IT" sz="1430" b="0" u="none" strike="noStrike">
              <a:solidFill>
                <a:srgbClr val="000000"/>
              </a:solidFill>
              <a:effectLst/>
              <a:uFillTx/>
              <a:latin typeface="Times New Roman"/>
            </a:endParaRPr>
          </a:p>
        </p:txBody>
      </p:sp>
      <p:sp>
        <p:nvSpPr>
          <p:cNvPr id="1054" name="CasellaDiTesto 1053"/>
          <p:cNvSpPr txBox="1"/>
          <p:nvPr/>
        </p:nvSpPr>
        <p:spPr>
          <a:xfrm>
            <a:off x="8776849" y="3404160"/>
            <a:ext cx="2203560" cy="241200"/>
          </a:xfrm>
          <a:prstGeom prst="rect">
            <a:avLst/>
          </a:prstGeom>
          <a:noFill/>
          <a:ln w="0">
            <a:noFill/>
          </a:ln>
        </p:spPr>
        <p:txBody>
          <a:bodyPr wrap="none" lIns="0" tIns="0" rIns="0" bIns="0" anchor="t">
            <a:spAutoFit/>
          </a:bodyPr>
          <a:lstStyle/>
          <a:p>
            <a:r>
              <a:rPr lang="it-IT" sz="1430" b="0" i="1" u="none" strike="noStrike">
                <a:solidFill>
                  <a:srgbClr val="495057"/>
                </a:solidFill>
                <a:effectLst/>
                <a:uFillTx/>
                <a:latin typeface="SegoeUI"/>
                <a:ea typeface="SegoeUI"/>
              </a:rPr>
              <a:t>Track record</a:t>
            </a:r>
            <a:r>
              <a:rPr lang="it-IT" sz="1430" b="0" u="none" strike="noStrike">
                <a:solidFill>
                  <a:srgbClr val="212529"/>
                </a:solidFill>
                <a:effectLst/>
                <a:uFillTx/>
                <a:latin typeface="SegoeUI"/>
                <a:ea typeface="SegoeUI"/>
              </a:rPr>
              <a:t> di affidabilità e</a:t>
            </a:r>
            <a:endParaRPr lang="it-IT" sz="1430" b="0" u="none" strike="noStrike">
              <a:solidFill>
                <a:srgbClr val="000000"/>
              </a:solidFill>
              <a:effectLst/>
              <a:uFillTx/>
              <a:latin typeface="Times New Roman"/>
            </a:endParaRPr>
          </a:p>
        </p:txBody>
      </p:sp>
      <p:sp>
        <p:nvSpPr>
          <p:cNvPr id="1055" name="CasellaDiTesto 1054"/>
          <p:cNvSpPr txBox="1"/>
          <p:nvPr/>
        </p:nvSpPr>
        <p:spPr>
          <a:xfrm>
            <a:off x="8776849" y="3690000"/>
            <a:ext cx="14702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trasparenza fiscale</a:t>
            </a:r>
            <a:endParaRPr lang="it-IT" sz="1430" b="0" u="none" strike="noStrike">
              <a:solidFill>
                <a:srgbClr val="000000"/>
              </a:solidFill>
              <a:effectLst/>
              <a:uFillTx/>
              <a:latin typeface="Times New Roman"/>
            </a:endParaRPr>
          </a:p>
        </p:txBody>
      </p:sp>
      <p:sp>
        <p:nvSpPr>
          <p:cNvPr id="1056" name="CasellaDiTesto 1055"/>
          <p:cNvSpPr txBox="1"/>
          <p:nvPr/>
        </p:nvSpPr>
        <p:spPr>
          <a:xfrm>
            <a:off x="1102009" y="4089960"/>
            <a:ext cx="24696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(b)</a:t>
            </a:r>
            <a:endParaRPr lang="it-IT" sz="1430" b="0" u="none" strike="noStrike">
              <a:solidFill>
                <a:srgbClr val="000000"/>
              </a:solidFill>
              <a:effectLst/>
              <a:uFillTx/>
              <a:latin typeface="Times New Roman"/>
            </a:endParaRPr>
          </a:p>
        </p:txBody>
      </p:sp>
      <p:sp>
        <p:nvSpPr>
          <p:cNvPr id="1057" name="CasellaDiTesto 1056"/>
          <p:cNvSpPr txBox="1"/>
          <p:nvPr/>
        </p:nvSpPr>
        <p:spPr>
          <a:xfrm>
            <a:off x="1588729" y="4089960"/>
            <a:ext cx="63849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Versamenti registrati nel conto fiscale </a:t>
            </a:r>
            <a:r>
              <a:rPr lang="it-IT" sz="1430" b="1" u="none" strike="noStrike">
                <a:solidFill>
                  <a:srgbClr val="00509E"/>
                </a:solidFill>
                <a:effectLst/>
                <a:uFillTx/>
                <a:latin typeface="SegoeUI"/>
                <a:ea typeface="SegoeUI"/>
              </a:rPr>
              <a:t>≥ 10% dei ricavi/compensi</a:t>
            </a:r>
            <a:r>
              <a:rPr lang="it-IT" sz="1430" b="0" u="none" strike="noStrike">
                <a:solidFill>
                  <a:srgbClr val="212529"/>
                </a:solidFill>
                <a:effectLst/>
                <a:uFillTx/>
                <a:latin typeface="SegoeUI"/>
                <a:ea typeface="SegoeUI"/>
              </a:rPr>
              <a:t> dichiarati nel</a:t>
            </a:r>
            <a:endParaRPr lang="it-IT" sz="1430" b="0" u="none" strike="noStrike">
              <a:solidFill>
                <a:srgbClr val="000000"/>
              </a:solidFill>
              <a:effectLst/>
              <a:uFillTx/>
              <a:latin typeface="Times New Roman"/>
            </a:endParaRPr>
          </a:p>
        </p:txBody>
      </p:sp>
      <p:sp>
        <p:nvSpPr>
          <p:cNvPr id="1058" name="CasellaDiTesto 1057"/>
          <p:cNvSpPr txBox="1"/>
          <p:nvPr/>
        </p:nvSpPr>
        <p:spPr>
          <a:xfrm>
            <a:off x="1588729" y="4375800"/>
            <a:ext cx="6195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triennio</a:t>
            </a:r>
            <a:endParaRPr lang="it-IT" sz="1430" b="0" u="none" strike="noStrike">
              <a:solidFill>
                <a:srgbClr val="000000"/>
              </a:solidFill>
              <a:effectLst/>
              <a:uFillTx/>
              <a:latin typeface="Times New Roman"/>
            </a:endParaRPr>
          </a:p>
        </p:txBody>
      </p:sp>
      <p:sp>
        <p:nvSpPr>
          <p:cNvPr id="1059" name="CasellaDiTesto 1058"/>
          <p:cNvSpPr txBox="1"/>
          <p:nvPr/>
        </p:nvSpPr>
        <p:spPr>
          <a:xfrm>
            <a:off x="8776849" y="4089960"/>
            <a:ext cx="19857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Indice di patrimonialità e</a:t>
            </a:r>
            <a:endParaRPr lang="it-IT" sz="1430" b="0" u="none" strike="noStrike">
              <a:solidFill>
                <a:srgbClr val="000000"/>
              </a:solidFill>
              <a:effectLst/>
              <a:uFillTx/>
              <a:latin typeface="Times New Roman"/>
            </a:endParaRPr>
          </a:p>
        </p:txBody>
      </p:sp>
      <p:sp>
        <p:nvSpPr>
          <p:cNvPr id="1060" name="CasellaDiTesto 1059"/>
          <p:cNvSpPr txBox="1"/>
          <p:nvPr/>
        </p:nvSpPr>
        <p:spPr>
          <a:xfrm>
            <a:off x="8776849" y="4375800"/>
            <a:ext cx="17996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contribuzione effettiva</a:t>
            </a:r>
            <a:endParaRPr lang="it-IT" sz="1430" b="0" u="none" strike="noStrike">
              <a:solidFill>
                <a:srgbClr val="000000"/>
              </a:solidFill>
              <a:effectLst/>
              <a:uFillTx/>
              <a:latin typeface="Times New Roman"/>
            </a:endParaRPr>
          </a:p>
        </p:txBody>
      </p:sp>
      <p:sp>
        <p:nvSpPr>
          <p:cNvPr id="1061" name="CasellaDiTesto 1060"/>
          <p:cNvSpPr txBox="1"/>
          <p:nvPr/>
        </p:nvSpPr>
        <p:spPr>
          <a:xfrm>
            <a:off x="1102009" y="4775760"/>
            <a:ext cx="22176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(c)</a:t>
            </a:r>
            <a:endParaRPr lang="it-IT" sz="1430" b="0" u="none" strike="noStrike">
              <a:solidFill>
                <a:srgbClr val="000000"/>
              </a:solidFill>
              <a:effectLst/>
              <a:uFillTx/>
              <a:latin typeface="Times New Roman"/>
            </a:endParaRPr>
          </a:p>
        </p:txBody>
      </p:sp>
      <p:sp>
        <p:nvSpPr>
          <p:cNvPr id="1062" name="CasellaDiTesto 1061"/>
          <p:cNvSpPr txBox="1"/>
          <p:nvPr/>
        </p:nvSpPr>
        <p:spPr>
          <a:xfrm>
            <a:off x="1588729" y="4775760"/>
            <a:ext cx="68896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Assenza di iscrizioni a ruolo, accertamenti esecutivi o avvisi di addebito non pagati per</a:t>
            </a:r>
            <a:endParaRPr lang="it-IT" sz="1430" b="0" u="none" strike="noStrike">
              <a:solidFill>
                <a:srgbClr val="000000"/>
              </a:solidFill>
              <a:effectLst/>
              <a:uFillTx/>
              <a:latin typeface="Times New Roman"/>
            </a:endParaRPr>
          </a:p>
        </p:txBody>
      </p:sp>
      <p:sp>
        <p:nvSpPr>
          <p:cNvPr id="1063" name="CasellaDiTesto 1062"/>
          <p:cNvSpPr txBox="1"/>
          <p:nvPr/>
        </p:nvSpPr>
        <p:spPr>
          <a:xfrm>
            <a:off x="1588729" y="5061600"/>
            <a:ext cx="45914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imposte sui redditi, IRAP, ritenute e contributi </a:t>
            </a:r>
            <a:r>
              <a:rPr lang="it-IT" sz="1430" b="1" u="none" strike="noStrike">
                <a:solidFill>
                  <a:srgbClr val="00509E"/>
                </a:solidFill>
                <a:effectLst/>
                <a:uFillTx/>
                <a:latin typeface="SegoeUI"/>
                <a:ea typeface="SegoeUI"/>
              </a:rPr>
              <a:t>&gt; € 50.000</a:t>
            </a:r>
            <a:endParaRPr lang="it-IT" sz="1430" b="0" u="none" strike="noStrike">
              <a:solidFill>
                <a:srgbClr val="000000"/>
              </a:solidFill>
              <a:effectLst/>
              <a:uFillTx/>
              <a:latin typeface="Times New Roman"/>
            </a:endParaRPr>
          </a:p>
        </p:txBody>
      </p:sp>
      <p:sp>
        <p:nvSpPr>
          <p:cNvPr id="1064" name="CasellaDiTesto 1063"/>
          <p:cNvSpPr txBox="1"/>
          <p:nvPr/>
        </p:nvSpPr>
        <p:spPr>
          <a:xfrm>
            <a:off x="8776849" y="4775760"/>
            <a:ext cx="18709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Affidabilità reddituale e</a:t>
            </a:r>
            <a:endParaRPr lang="it-IT" sz="1430" b="0" u="none" strike="noStrike">
              <a:solidFill>
                <a:srgbClr val="000000"/>
              </a:solidFill>
              <a:effectLst/>
              <a:uFillTx/>
              <a:latin typeface="Times New Roman"/>
            </a:endParaRPr>
          </a:p>
        </p:txBody>
      </p:sp>
      <p:sp>
        <p:nvSpPr>
          <p:cNvPr id="1065" name="CasellaDiTesto 1064"/>
          <p:cNvSpPr txBox="1"/>
          <p:nvPr/>
        </p:nvSpPr>
        <p:spPr>
          <a:xfrm>
            <a:off x="8776849" y="5061600"/>
            <a:ext cx="9554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contributiva</a:t>
            </a:r>
            <a:endParaRPr lang="it-IT" sz="1430" b="0" u="none" strike="noStrike">
              <a:solidFill>
                <a:srgbClr val="000000"/>
              </a:solidFill>
              <a:effectLst/>
              <a:uFillTx/>
              <a:latin typeface="Times New Roman"/>
            </a:endParaRPr>
          </a:p>
        </p:txBody>
      </p:sp>
      <p:sp>
        <p:nvSpPr>
          <p:cNvPr id="1066" name="CasellaDiTesto 1065"/>
          <p:cNvSpPr txBox="1"/>
          <p:nvPr/>
        </p:nvSpPr>
        <p:spPr>
          <a:xfrm>
            <a:off x="1102009" y="5461560"/>
            <a:ext cx="24696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(d)</a:t>
            </a:r>
            <a:endParaRPr lang="it-IT" sz="1430" b="0" u="none" strike="noStrike">
              <a:solidFill>
                <a:srgbClr val="000000"/>
              </a:solidFill>
              <a:effectLst/>
              <a:uFillTx/>
              <a:latin typeface="Times New Roman"/>
            </a:endParaRPr>
          </a:p>
        </p:txBody>
      </p:sp>
      <p:sp>
        <p:nvSpPr>
          <p:cNvPr id="1067" name="CasellaDiTesto 1066"/>
          <p:cNvSpPr txBox="1"/>
          <p:nvPr/>
        </p:nvSpPr>
        <p:spPr>
          <a:xfrm>
            <a:off x="1588729" y="5461560"/>
            <a:ext cx="50979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Assenza di provvedimenti di sospensione sui carichi di cui sopra</a:t>
            </a:r>
            <a:endParaRPr lang="it-IT" sz="1430" b="0" u="none" strike="noStrike">
              <a:solidFill>
                <a:srgbClr val="000000"/>
              </a:solidFill>
              <a:effectLst/>
              <a:uFillTx/>
              <a:latin typeface="Times New Roman"/>
            </a:endParaRPr>
          </a:p>
        </p:txBody>
      </p:sp>
      <p:sp>
        <p:nvSpPr>
          <p:cNvPr id="1068" name="CasellaDiTesto 1067"/>
          <p:cNvSpPr txBox="1"/>
          <p:nvPr/>
        </p:nvSpPr>
        <p:spPr>
          <a:xfrm>
            <a:off x="8776849" y="5461560"/>
            <a:ext cx="17395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Effettività del presidio</a:t>
            </a:r>
            <a:endParaRPr lang="it-IT" sz="1430" b="0" u="none" strike="noStrike">
              <a:solidFill>
                <a:srgbClr val="000000"/>
              </a:solidFill>
              <a:effectLst/>
              <a:uFillTx/>
              <a:latin typeface="Times New Roman"/>
            </a:endParaRPr>
          </a:p>
        </p:txBody>
      </p:sp>
      <p:sp>
        <p:nvSpPr>
          <p:cNvPr id="1069" name="CasellaDiTesto 1068"/>
          <p:cNvSpPr txBox="1"/>
          <p:nvPr/>
        </p:nvSpPr>
        <p:spPr>
          <a:xfrm>
            <a:off x="8776849" y="5747400"/>
            <a:ext cx="8564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antielusivo</a:t>
            </a:r>
            <a:endParaRPr lang="it-IT" sz="1430" b="0" u="none" strike="noStrike">
              <a:solidFill>
                <a:srgbClr val="000000"/>
              </a:solidFill>
              <a:effectLst/>
              <a:uFillTx/>
              <a:latin typeface="Times New Roman"/>
            </a:endParaRPr>
          </a:p>
        </p:txBody>
      </p:sp>
      <p:sp>
        <p:nvSpPr>
          <p:cNvPr id="1070" name="Figura a mano libera: forma 1069"/>
          <p:cNvSpPr/>
          <p:nvPr/>
        </p:nvSpPr>
        <p:spPr>
          <a:xfrm>
            <a:off x="968449" y="589464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71" name="CasellaDiTesto 1070"/>
          <p:cNvSpPr txBox="1"/>
          <p:nvPr/>
        </p:nvSpPr>
        <p:spPr>
          <a:xfrm>
            <a:off x="2191893" y="6166440"/>
            <a:ext cx="8480335"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rPr>
              <a:t>Attenzione</a:t>
            </a:r>
            <a:r>
              <a:rPr lang="it-IT" sz="1650" b="0" u="none" strike="noStrike" dirty="0">
                <a:solidFill>
                  <a:srgbClr val="212529"/>
                </a:solidFill>
                <a:effectLst/>
                <a:uFillTx/>
                <a:latin typeface="SegoeUI"/>
                <a:ea typeface="SegoeUI"/>
              </a:rPr>
              <a:t>: </a:t>
            </a:r>
            <a:r>
              <a:rPr lang="it-IT" sz="1650" b="0" u="none" strike="noStrike" dirty="0" err="1">
                <a:solidFill>
                  <a:srgbClr val="212529"/>
                </a:solidFill>
                <a:effectLst/>
                <a:uFillTx/>
                <a:latin typeface="SegoeUI"/>
                <a:ea typeface="SegoeUI"/>
              </a:rPr>
              <a:t>AdE</a:t>
            </a:r>
            <a:r>
              <a:rPr lang="it-IT" sz="1650" b="0" u="none" strike="noStrike" dirty="0">
                <a:solidFill>
                  <a:srgbClr val="212529"/>
                </a:solidFill>
                <a:effectLst/>
                <a:uFillTx/>
                <a:latin typeface="SegoeUI"/>
                <a:ea typeface="SegoeUI"/>
              </a:rPr>
              <a:t>, </a:t>
            </a:r>
            <a:r>
              <a:rPr lang="it-IT" sz="1650" b="0" u="none" strike="noStrike" dirty="0">
                <a:solidFill>
                  <a:srgbClr val="0969DA"/>
                </a:solidFill>
                <a:effectLst/>
                <a:uFillTx/>
                <a:latin typeface="SegoeUI"/>
                <a:ea typeface="SegoeUI"/>
                <a:hlinkClick r:id="rId2"/>
              </a:rPr>
              <a:t>Risposta 50/2026</a:t>
            </a:r>
            <a:r>
              <a:rPr lang="it-IT" sz="1650" b="0" u="none" strike="noStrike" dirty="0">
                <a:solidFill>
                  <a:srgbClr val="212529"/>
                </a:solidFill>
                <a:effectLst/>
                <a:uFillTx/>
                <a:latin typeface="SegoeUI"/>
                <a:ea typeface="SegoeUI"/>
              </a:rPr>
              <a:t>, </a:t>
            </a:r>
            <a:r>
              <a:rPr lang="it-IT" sz="1650" b="0" i="1" u="none" strike="noStrike" dirty="0">
                <a:solidFill>
                  <a:srgbClr val="495057"/>
                </a:solidFill>
                <a:effectLst/>
                <a:uFillTx/>
                <a:latin typeface="SegoeUI"/>
                <a:ea typeface="SegoeUI"/>
              </a:rPr>
              <a:t>Scissione mediante scorporo di società ex art. 2506.1 c.c.</a:t>
            </a:r>
            <a:endParaRPr lang="it-IT" sz="1650" b="0" u="none" strike="noStrike" dirty="0">
              <a:solidFill>
                <a:srgbClr val="000000"/>
              </a:solidFill>
              <a:effectLst/>
              <a:uFillTx/>
              <a:latin typeface="Times New Roman"/>
            </a:endParaRPr>
          </a:p>
        </p:txBody>
      </p:sp>
      <p:sp>
        <p:nvSpPr>
          <p:cNvPr id="1072" name="Figura a mano libera: forma 1071"/>
          <p:cNvSpPr/>
          <p:nvPr/>
        </p:nvSpPr>
        <p:spPr>
          <a:xfrm>
            <a:off x="10645969" y="589464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73" name="CasellaDiTesto 107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074" name="CasellaDiTesto 107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37 / 73</a:t>
            </a:r>
            <a:endParaRPr lang="it-IT" sz="980" b="0" u="none" strike="noStrike">
              <a:solidFill>
                <a:srgbClr val="000000"/>
              </a:solidFill>
              <a:effectLst/>
              <a:uFillTx/>
              <a:latin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 name="Figura a mano libera: forma 107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76" name="Figura a mano libera: forma 107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77" name="Figura a mano libera: forma 107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78" name="Figura a mano libera: forma 107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079" name="CasellaDiTesto 1078"/>
          <p:cNvSpPr txBox="1"/>
          <p:nvPr/>
        </p:nvSpPr>
        <p:spPr>
          <a:xfrm>
            <a:off x="2607840" y="2697480"/>
            <a:ext cx="705780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LA COMPENSAZIONE VERTICALE</a:t>
            </a:r>
            <a:endParaRPr lang="it-IT" sz="3600" b="0" u="none" strike="noStrike">
              <a:solidFill>
                <a:srgbClr val="000000"/>
              </a:solidFill>
              <a:effectLst/>
              <a:uFillTx/>
              <a:latin typeface="Times New Roman"/>
            </a:endParaRPr>
          </a:p>
        </p:txBody>
      </p:sp>
      <p:sp>
        <p:nvSpPr>
          <p:cNvPr id="1080" name="Figura a mano libera: forma 107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81" name="CasellaDiTesto 1080"/>
          <p:cNvSpPr txBox="1"/>
          <p:nvPr/>
        </p:nvSpPr>
        <p:spPr>
          <a:xfrm>
            <a:off x="5360400" y="3647160"/>
            <a:ext cx="1868760" cy="306720"/>
          </a:xfrm>
          <a:prstGeom prst="rect">
            <a:avLst/>
          </a:prstGeom>
          <a:noFill/>
          <a:ln w="0">
            <a:noFill/>
          </a:ln>
        </p:spPr>
        <p:txBody>
          <a:bodyPr wrap="none" lIns="0" tIns="0" rIns="0" bIns="0" anchor="t">
            <a:spAutoFit/>
          </a:bodyPr>
          <a:lstStyle/>
          <a:p>
            <a:r>
              <a:rPr lang="it-IT" sz="1810" b="1" i="1" u="none" strike="noStrike">
                <a:solidFill>
                  <a:srgbClr val="495057"/>
                </a:solidFill>
                <a:effectLst/>
                <a:uFillTx/>
                <a:latin typeface="SegoeUI"/>
                <a:ea typeface="SegoeUI"/>
              </a:rPr>
              <a:t>nei singoli tributi</a:t>
            </a:r>
            <a:endParaRPr lang="it-IT" sz="1810" b="0" u="none" strike="noStrike">
              <a:solidFill>
                <a:srgbClr val="000000"/>
              </a:solidFill>
              <a:effectLst/>
              <a:uFillTx/>
              <a:latin typeface="Times New Roman"/>
            </a:endParaRPr>
          </a:p>
        </p:txBody>
      </p:sp>
      <p:sp>
        <p:nvSpPr>
          <p:cNvPr id="1082" name="Figura a mano libera: forma 108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83" name="CasellaDiTesto 108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084" name="CasellaDiTesto 108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38 / 73</a:t>
            </a:r>
            <a:endParaRPr lang="it-IT" sz="980" b="0" u="none" strike="noStrike">
              <a:solidFill>
                <a:srgbClr val="000000"/>
              </a:solidFill>
              <a:effectLst/>
              <a:uFillTx/>
              <a:latin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 name="Figura a mano libera: forma 108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86" name="Figura a mano libera: forma 108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87" name="Figura a mano libera: forma 108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88" name="Figura a mano libera: forma 108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089" name="Figura a mano libera: forma 1088"/>
          <p:cNvSpPr/>
          <p:nvPr/>
        </p:nvSpPr>
        <p:spPr>
          <a:xfrm>
            <a:off x="971280" y="24573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90" name="CasellaDiTesto 1089"/>
          <p:cNvSpPr txBox="1"/>
          <p:nvPr/>
        </p:nvSpPr>
        <p:spPr>
          <a:xfrm>
            <a:off x="971640" y="1847880"/>
            <a:ext cx="86040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COMPENSAZIONE NELLE IMPOSTE SUI REDDITI</a:t>
            </a:r>
            <a:endParaRPr lang="it-IT" sz="2850" b="0" u="none" strike="noStrike">
              <a:solidFill>
                <a:srgbClr val="000000"/>
              </a:solidFill>
              <a:effectLst/>
              <a:uFillTx/>
              <a:latin typeface="Times New Roman"/>
            </a:endParaRPr>
          </a:p>
        </p:txBody>
      </p:sp>
      <p:sp>
        <p:nvSpPr>
          <p:cNvPr id="1091" name="CasellaDiTesto 1090"/>
          <p:cNvSpPr txBox="1"/>
          <p:nvPr/>
        </p:nvSpPr>
        <p:spPr>
          <a:xfrm>
            <a:off x="971640" y="2593440"/>
            <a:ext cx="14288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Due dinamiche:</a:t>
            </a:r>
            <a:endParaRPr lang="it-IT" sz="1650" b="0" u="none" strike="noStrike">
              <a:solidFill>
                <a:srgbClr val="000000"/>
              </a:solidFill>
              <a:effectLst/>
              <a:uFillTx/>
              <a:latin typeface="Times New Roman"/>
            </a:endParaRPr>
          </a:p>
        </p:txBody>
      </p:sp>
      <p:sp>
        <p:nvSpPr>
          <p:cNvPr id="1092" name="CasellaDiTesto 1091"/>
          <p:cNvSpPr txBox="1"/>
          <p:nvPr/>
        </p:nvSpPr>
        <p:spPr>
          <a:xfrm>
            <a:off x="1184400" y="3070440"/>
            <a:ext cx="10270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a:t>
            </a:r>
            <a:r>
              <a:rPr lang="it-IT" sz="1580" b="1" u="none" strike="noStrike">
                <a:solidFill>
                  <a:srgbClr val="00509E"/>
                </a:solidFill>
                <a:effectLst/>
                <a:uFillTx/>
                <a:latin typeface="SegoeUI"/>
                <a:ea typeface="SegoeUI"/>
              </a:rPr>
              <a:t>Verticale "interna" (scomputo)</a:t>
            </a:r>
            <a:r>
              <a:rPr lang="it-IT" sz="1580" b="0" u="none" strike="noStrike">
                <a:solidFill>
                  <a:srgbClr val="343A40"/>
                </a:solidFill>
                <a:effectLst/>
                <a:uFillTx/>
                <a:latin typeface="SegoeUI"/>
                <a:ea typeface="SegoeUI"/>
              </a:rPr>
              <a:t>: detrazioni (artt. 12 e ss. TUIR), ritenute d'acconto, crediti d'imposta (art. 22 TUIR).</a:t>
            </a:r>
            <a:endParaRPr lang="it-IT" sz="1580" b="0" u="none" strike="noStrike">
              <a:solidFill>
                <a:srgbClr val="000000"/>
              </a:solidFill>
              <a:effectLst/>
              <a:uFillTx/>
              <a:latin typeface="Times New Roman"/>
            </a:endParaRPr>
          </a:p>
        </p:txBody>
      </p:sp>
      <p:sp>
        <p:nvSpPr>
          <p:cNvPr id="1093" name="CasellaDiTesto 1092"/>
          <p:cNvSpPr txBox="1"/>
          <p:nvPr/>
        </p:nvSpPr>
        <p:spPr>
          <a:xfrm>
            <a:off x="1390680" y="3384720"/>
            <a:ext cx="65667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Non è compensazione in senso tecnico, ma procedimento di </a:t>
            </a:r>
            <a:r>
              <a:rPr lang="it-IT" sz="1580" b="1" u="none" strike="noStrike">
                <a:solidFill>
                  <a:srgbClr val="00509E"/>
                </a:solidFill>
                <a:effectLst/>
                <a:uFillTx/>
                <a:latin typeface="SegoeUI"/>
                <a:ea typeface="SegoeUI"/>
              </a:rPr>
              <a:t>liquidazione</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1094" name="CasellaDiTesto 1093"/>
          <p:cNvSpPr txBox="1"/>
          <p:nvPr/>
        </p:nvSpPr>
        <p:spPr>
          <a:xfrm>
            <a:off x="1184400" y="3861000"/>
            <a:ext cx="7176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a:t>
            </a:r>
            <a:r>
              <a:rPr lang="it-IT" sz="1580" b="1" u="none" strike="noStrike">
                <a:solidFill>
                  <a:srgbClr val="00509E"/>
                </a:solidFill>
                <a:effectLst/>
                <a:uFillTx/>
                <a:latin typeface="SegoeUI"/>
                <a:ea typeface="SegoeUI"/>
              </a:rPr>
              <a:t>Verticale "cronologica"</a:t>
            </a:r>
            <a:r>
              <a:rPr lang="it-IT" sz="1580" b="0" u="none" strike="noStrike">
                <a:solidFill>
                  <a:srgbClr val="343A40"/>
                </a:solidFill>
                <a:effectLst/>
                <a:uFillTx/>
                <a:latin typeface="SegoeUI"/>
                <a:ea typeface="SegoeUI"/>
              </a:rPr>
              <a:t>: eccedenze riportate all'anno successivo (art. 80 TUIR).</a:t>
            </a:r>
            <a:endParaRPr lang="it-IT" sz="1580" b="0" u="none" strike="noStrike">
              <a:solidFill>
                <a:srgbClr val="000000"/>
              </a:solidFill>
              <a:effectLst/>
              <a:uFillTx/>
              <a:latin typeface="Times New Roman"/>
            </a:endParaRPr>
          </a:p>
        </p:txBody>
      </p:sp>
      <p:sp>
        <p:nvSpPr>
          <p:cNvPr id="1095" name="Figura a mano libera: forma 109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96" name="CasellaDiTesto 1095"/>
          <p:cNvSpPr txBox="1"/>
          <p:nvPr/>
        </p:nvSpPr>
        <p:spPr>
          <a:xfrm>
            <a:off x="1184400" y="4346640"/>
            <a:ext cx="65696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3. </a:t>
            </a:r>
            <a:r>
              <a:rPr lang="it-IT" sz="1580" b="1" u="none" strike="noStrike">
                <a:solidFill>
                  <a:srgbClr val="00509E"/>
                </a:solidFill>
                <a:effectLst/>
                <a:uFillTx/>
                <a:latin typeface="SegoeUI"/>
                <a:ea typeface="SegoeUI"/>
              </a:rPr>
              <a:t>Orizzontale</a:t>
            </a:r>
            <a:r>
              <a:rPr lang="it-IT" sz="1580" b="0" u="none" strike="noStrike">
                <a:solidFill>
                  <a:srgbClr val="343A40"/>
                </a:solidFill>
                <a:effectLst/>
                <a:uFillTx/>
                <a:latin typeface="SegoeUI"/>
                <a:ea typeface="SegoeUI"/>
              </a:rPr>
              <a:t>: via art. 17 D.Lgs. 241/1997, con tracciatura in dichiarazione.</a:t>
            </a:r>
            <a:endParaRPr lang="it-IT" sz="1580" b="0" u="none" strike="noStrike">
              <a:solidFill>
                <a:srgbClr val="000000"/>
              </a:solidFill>
              <a:effectLst/>
              <a:uFillTx/>
              <a:latin typeface="Times New Roman"/>
            </a:endParaRPr>
          </a:p>
        </p:txBody>
      </p:sp>
      <p:sp>
        <p:nvSpPr>
          <p:cNvPr id="1097" name="Figura a mano libera: forma 1096"/>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098" name="CasellaDiTesto 1097"/>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099" name="CasellaDiTesto 1098"/>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39 / 73</a:t>
            </a:r>
            <a:endParaRPr lang="it-IT" sz="980" b="0" u="none" strike="noStrike">
              <a:solidFill>
                <a:srgbClr val="000000"/>
              </a:solidFill>
              <a:effectLst/>
              <a:uFillTx/>
              <a:latin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 name="Figura a mano libera: forma 109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01" name="Figura a mano libera: forma 110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02" name="Figura a mano libera: forma 110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03" name="Figura a mano libera: forma 110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04" name="Figura a mano libera: forma 1103"/>
          <p:cNvSpPr/>
          <p:nvPr/>
        </p:nvSpPr>
        <p:spPr>
          <a:xfrm>
            <a:off x="971280" y="24382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05" name="CasellaDiTesto 1104"/>
          <p:cNvSpPr txBox="1"/>
          <p:nvPr/>
        </p:nvSpPr>
        <p:spPr>
          <a:xfrm>
            <a:off x="971640" y="1371600"/>
            <a:ext cx="766944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TRASMISSIONE DEL CREDITO AI SOCI PER</a:t>
            </a:r>
            <a:endParaRPr lang="it-IT" sz="2850" b="0" u="none" strike="noStrike">
              <a:solidFill>
                <a:srgbClr val="000000"/>
              </a:solidFill>
              <a:effectLst/>
              <a:uFillTx/>
              <a:latin typeface="Times New Roman"/>
            </a:endParaRPr>
          </a:p>
        </p:txBody>
      </p:sp>
      <p:sp>
        <p:nvSpPr>
          <p:cNvPr id="1106" name="CasellaDiTesto 1105"/>
          <p:cNvSpPr txBox="1"/>
          <p:nvPr/>
        </p:nvSpPr>
        <p:spPr>
          <a:xfrm>
            <a:off x="971640" y="1819080"/>
            <a:ext cx="25668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TRASPARENZA</a:t>
            </a:r>
            <a:endParaRPr lang="it-IT" sz="2850" b="0" u="none" strike="noStrike">
              <a:solidFill>
                <a:srgbClr val="000000"/>
              </a:solidFill>
              <a:effectLst/>
              <a:uFillTx/>
              <a:latin typeface="Times New Roman"/>
            </a:endParaRPr>
          </a:p>
        </p:txBody>
      </p:sp>
      <p:sp>
        <p:nvSpPr>
          <p:cNvPr id="1107" name="CasellaDiTesto 1106"/>
          <p:cNvSpPr txBox="1"/>
          <p:nvPr/>
        </p:nvSpPr>
        <p:spPr>
          <a:xfrm>
            <a:off x="971640" y="2574360"/>
            <a:ext cx="1737655"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hlinkClick r:id="rId2"/>
              </a:rPr>
              <a:t>Cass. 32848/2025</a:t>
            </a:r>
            <a:endParaRPr lang="it-IT" sz="1650" b="0" u="none" strike="noStrike" dirty="0">
              <a:solidFill>
                <a:srgbClr val="000000"/>
              </a:solidFill>
              <a:effectLst/>
              <a:uFillTx/>
              <a:latin typeface="Times New Roman"/>
            </a:endParaRPr>
          </a:p>
        </p:txBody>
      </p:sp>
      <p:sp>
        <p:nvSpPr>
          <p:cNvPr id="1108" name="CasellaDiTesto 1107"/>
          <p:cNvSpPr txBox="1"/>
          <p:nvPr/>
        </p:nvSpPr>
        <p:spPr>
          <a:xfrm>
            <a:off x="971640" y="3050640"/>
            <a:ext cx="1047564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Massima</a:t>
            </a:r>
            <a:r>
              <a:rPr lang="it-IT" sz="1650" b="0" u="none" strike="noStrike">
                <a:solidFill>
                  <a:srgbClr val="212529"/>
                </a:solidFill>
                <a:effectLst/>
                <a:uFillTx/>
                <a:latin typeface="SegoeUI"/>
                <a:ea typeface="SegoeUI"/>
              </a:rPr>
              <a:t>: in tema di credito d'imposta maturato da una </a:t>
            </a:r>
            <a:r>
              <a:rPr lang="it-IT" sz="1650" b="1" u="none" strike="noStrike">
                <a:solidFill>
                  <a:srgbClr val="00509E"/>
                </a:solidFill>
                <a:effectLst/>
                <a:uFillTx/>
                <a:latin typeface="SegoeUI"/>
                <a:ea typeface="SegoeUI"/>
              </a:rPr>
              <a:t>società di persone</a:t>
            </a:r>
            <a:r>
              <a:rPr lang="it-IT" sz="1650" b="0" u="none" strike="noStrike">
                <a:solidFill>
                  <a:srgbClr val="212529"/>
                </a:solidFill>
                <a:effectLst/>
                <a:uFillTx/>
                <a:latin typeface="SegoeUI"/>
                <a:ea typeface="SegoeUI"/>
              </a:rPr>
              <a:t>, in virtù del principio di trasparenza ex</a:t>
            </a:r>
            <a:endParaRPr lang="it-IT" sz="1650" b="0" u="none" strike="noStrike">
              <a:solidFill>
                <a:srgbClr val="000000"/>
              </a:solidFill>
              <a:effectLst/>
              <a:uFillTx/>
              <a:latin typeface="Times New Roman"/>
            </a:endParaRPr>
          </a:p>
        </p:txBody>
      </p:sp>
      <p:sp>
        <p:nvSpPr>
          <p:cNvPr id="1109" name="CasellaDiTesto 1108"/>
          <p:cNvSpPr txBox="1"/>
          <p:nvPr/>
        </p:nvSpPr>
        <p:spPr>
          <a:xfrm>
            <a:off x="971640" y="3374280"/>
            <a:ext cx="87883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art. 5 TUIR, è consentita l'</a:t>
            </a:r>
            <a:r>
              <a:rPr lang="it-IT" sz="1650" b="1" u="none" strike="noStrike">
                <a:solidFill>
                  <a:srgbClr val="00509E"/>
                </a:solidFill>
                <a:effectLst/>
                <a:uFillTx/>
                <a:latin typeface="SegoeUI"/>
                <a:ea typeface="SegoeUI"/>
              </a:rPr>
              <a:t>attribuzione</a:t>
            </a:r>
            <a:r>
              <a:rPr lang="it-IT" sz="1650" b="0" u="none" strike="noStrike">
                <a:solidFill>
                  <a:srgbClr val="212529"/>
                </a:solidFill>
                <a:effectLst/>
                <a:uFillTx/>
                <a:latin typeface="SegoeUI"/>
                <a:ea typeface="SegoeUI"/>
              </a:rPr>
              <a:t>, in tutto o in parte, ai soci in proporzione alle loro quote.</a:t>
            </a:r>
            <a:endParaRPr lang="it-IT" sz="1650" b="0" u="none" strike="noStrike">
              <a:solidFill>
                <a:srgbClr val="000000"/>
              </a:solidFill>
              <a:effectLst/>
              <a:uFillTx/>
              <a:latin typeface="Times New Roman"/>
            </a:endParaRPr>
          </a:p>
        </p:txBody>
      </p:sp>
      <p:sp>
        <p:nvSpPr>
          <p:cNvPr id="1110" name="CasellaDiTesto 1109"/>
          <p:cNvSpPr txBox="1"/>
          <p:nvPr/>
        </p:nvSpPr>
        <p:spPr>
          <a:xfrm>
            <a:off x="971640" y="3850560"/>
            <a:ext cx="1020492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Qualificazione giuridica</a:t>
            </a:r>
            <a:r>
              <a:rPr lang="it-IT" sz="1650" b="0" u="none" strike="noStrike">
                <a:solidFill>
                  <a:srgbClr val="212529"/>
                </a:solidFill>
                <a:effectLst/>
                <a:uFillTx/>
                <a:latin typeface="SegoeUI"/>
                <a:ea typeface="SegoeUI"/>
              </a:rPr>
              <a:t>: </a:t>
            </a:r>
            <a:r>
              <a:rPr lang="it-IT" sz="1650" b="1" u="none" strike="noStrike">
                <a:solidFill>
                  <a:srgbClr val="00509E"/>
                </a:solidFill>
                <a:effectLst/>
                <a:uFillTx/>
                <a:latin typeface="SegoeUI"/>
                <a:ea typeface="SegoeUI"/>
              </a:rPr>
              <a:t>non</a:t>
            </a:r>
            <a:r>
              <a:rPr lang="it-IT" sz="1650" b="0" u="none" strike="noStrike">
                <a:solidFill>
                  <a:srgbClr val="212529"/>
                </a:solidFill>
                <a:effectLst/>
                <a:uFillTx/>
                <a:latin typeface="SegoeUI"/>
                <a:ea typeface="SegoeUI"/>
              </a:rPr>
              <a:t> si tratta di cessione del credito in senso proprio, ma di </a:t>
            </a:r>
            <a:r>
              <a:rPr lang="it-IT" sz="1650" b="0" i="1" u="none" strike="noStrike">
                <a:solidFill>
                  <a:srgbClr val="495057"/>
                </a:solidFill>
                <a:effectLst/>
                <a:uFillTx/>
                <a:latin typeface="SegoeUI"/>
                <a:ea typeface="SegoeUI"/>
              </a:rPr>
              <a:t>particolare forma di utilizzo</a:t>
            </a:r>
            <a:endParaRPr lang="it-IT" sz="1650" b="0" u="none" strike="noStrike">
              <a:solidFill>
                <a:srgbClr val="000000"/>
              </a:solidFill>
              <a:effectLst/>
              <a:uFillTx/>
              <a:latin typeface="Times New Roman"/>
            </a:endParaRPr>
          </a:p>
        </p:txBody>
      </p:sp>
      <p:sp>
        <p:nvSpPr>
          <p:cNvPr id="1111" name="CasellaDiTesto 1110"/>
          <p:cNvSpPr txBox="1"/>
          <p:nvPr/>
        </p:nvSpPr>
        <p:spPr>
          <a:xfrm>
            <a:off x="971640" y="4174560"/>
            <a:ext cx="2050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del credito medesimo.</a:t>
            </a:r>
            <a:endParaRPr lang="it-IT" sz="1650" b="0" u="none" strike="noStrike">
              <a:solidFill>
                <a:srgbClr val="000000"/>
              </a:solidFill>
              <a:effectLst/>
              <a:uFillTx/>
              <a:latin typeface="Times New Roman"/>
            </a:endParaRPr>
          </a:p>
        </p:txBody>
      </p:sp>
      <p:sp>
        <p:nvSpPr>
          <p:cNvPr id="1112" name="CasellaDiTesto 1111"/>
          <p:cNvSpPr txBox="1"/>
          <p:nvPr/>
        </p:nvSpPr>
        <p:spPr>
          <a:xfrm>
            <a:off x="971640" y="4650840"/>
            <a:ext cx="1039788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Rilievo pratico</a:t>
            </a:r>
            <a:r>
              <a:rPr lang="it-IT" sz="1650" b="0" u="none" strike="noStrike">
                <a:solidFill>
                  <a:srgbClr val="212529"/>
                </a:solidFill>
                <a:effectLst/>
                <a:uFillTx/>
                <a:latin typeface="SegoeUI"/>
                <a:ea typeface="SegoeUI"/>
              </a:rPr>
              <a:t>: il regime di trasparenza incide non solo sulla tassazione del reddito ma anche sull'imputazione dei</a:t>
            </a:r>
            <a:endParaRPr lang="it-IT" sz="1650" b="0" u="none" strike="noStrike">
              <a:solidFill>
                <a:srgbClr val="000000"/>
              </a:solidFill>
              <a:effectLst/>
              <a:uFillTx/>
              <a:latin typeface="Times New Roman"/>
            </a:endParaRPr>
          </a:p>
        </p:txBody>
      </p:sp>
      <p:sp>
        <p:nvSpPr>
          <p:cNvPr id="1113" name="Figura a mano libera: forma 1112"/>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14" name="CasellaDiTesto 1113"/>
          <p:cNvSpPr txBox="1"/>
          <p:nvPr/>
        </p:nvSpPr>
        <p:spPr>
          <a:xfrm>
            <a:off x="971640" y="4974480"/>
            <a:ext cx="38404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crediti d'imposta generati a livello sociale.</a:t>
            </a:r>
            <a:endParaRPr lang="it-IT" sz="1650" b="0" u="none" strike="noStrike">
              <a:solidFill>
                <a:srgbClr val="000000"/>
              </a:solidFill>
              <a:effectLst/>
              <a:uFillTx/>
              <a:latin typeface="Times New Roman"/>
            </a:endParaRPr>
          </a:p>
        </p:txBody>
      </p:sp>
      <p:sp>
        <p:nvSpPr>
          <p:cNvPr id="1115" name="Figura a mano libera: forma 1114"/>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16" name="CasellaDiTesto 1115"/>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117" name="CasellaDiTesto 1116"/>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40 / 73</a:t>
            </a:r>
            <a:endParaRPr lang="it-IT" sz="980" b="0" u="none" strike="noStrike">
              <a:solidFill>
                <a:srgbClr val="000000"/>
              </a:solidFill>
              <a:effectLst/>
              <a:uFillTx/>
              <a:latin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 name="Figura a mano libera: forma 111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19" name="Figura a mano libera: forma 111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20" name="Figura a mano libera: forma 1119"/>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21" name="Figura a mano libera: forma 1120"/>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22" name="Figura a mano libera: forma 1121"/>
          <p:cNvSpPr/>
          <p:nvPr/>
        </p:nvSpPr>
        <p:spPr>
          <a:xfrm>
            <a:off x="971280" y="143820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23" name="Figura a mano libera: forma 1122"/>
          <p:cNvSpPr/>
          <p:nvPr/>
        </p:nvSpPr>
        <p:spPr>
          <a:xfrm>
            <a:off x="981000" y="2400120"/>
            <a:ext cx="2848320" cy="371880"/>
          </a:xfrm>
          <a:custGeom>
            <a:avLst/>
            <a:gdLst/>
            <a:ahLst/>
            <a:cxnLst/>
            <a:rect l="0" t="0" r="r" b="b"/>
            <a:pathLst>
              <a:path w="7912" h="1033">
                <a:moveTo>
                  <a:pt x="0" y="0"/>
                </a:moveTo>
                <a:lnTo>
                  <a:pt x="7912" y="0"/>
                </a:lnTo>
                <a:lnTo>
                  <a:pt x="7912"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24" name="Figura a mano libera: forma 1123"/>
          <p:cNvSpPr/>
          <p:nvPr/>
        </p:nvSpPr>
        <p:spPr>
          <a:xfrm>
            <a:off x="3828960" y="2400120"/>
            <a:ext cx="3791160" cy="371880"/>
          </a:xfrm>
          <a:custGeom>
            <a:avLst/>
            <a:gdLst/>
            <a:ahLst/>
            <a:cxnLst/>
            <a:rect l="0" t="0" r="r" b="b"/>
            <a:pathLst>
              <a:path w="10531" h="1033">
                <a:moveTo>
                  <a:pt x="0" y="0"/>
                </a:moveTo>
                <a:lnTo>
                  <a:pt x="10531" y="0"/>
                </a:lnTo>
                <a:lnTo>
                  <a:pt x="10531"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25" name="Figura a mano libera: forma 1124"/>
          <p:cNvSpPr/>
          <p:nvPr/>
        </p:nvSpPr>
        <p:spPr>
          <a:xfrm>
            <a:off x="7619760" y="2400120"/>
            <a:ext cx="1848240" cy="371880"/>
          </a:xfrm>
          <a:custGeom>
            <a:avLst/>
            <a:gdLst/>
            <a:ahLst/>
            <a:cxnLst/>
            <a:rect l="0" t="0" r="r" b="b"/>
            <a:pathLst>
              <a:path w="5134" h="1033">
                <a:moveTo>
                  <a:pt x="0" y="0"/>
                </a:moveTo>
                <a:lnTo>
                  <a:pt x="5134" y="0"/>
                </a:lnTo>
                <a:lnTo>
                  <a:pt x="5134"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26" name="Figura a mano libera: forma 1125"/>
          <p:cNvSpPr/>
          <p:nvPr/>
        </p:nvSpPr>
        <p:spPr>
          <a:xfrm>
            <a:off x="9467640" y="2400120"/>
            <a:ext cx="1295640" cy="371880"/>
          </a:xfrm>
          <a:custGeom>
            <a:avLst/>
            <a:gdLst/>
            <a:ahLst/>
            <a:cxnLst/>
            <a:rect l="0" t="0" r="r" b="b"/>
            <a:pathLst>
              <a:path w="3599" h="1033">
                <a:moveTo>
                  <a:pt x="0" y="0"/>
                </a:moveTo>
                <a:lnTo>
                  <a:pt x="3599" y="0"/>
                </a:lnTo>
                <a:lnTo>
                  <a:pt x="3599" y="1033"/>
                </a:lnTo>
                <a:lnTo>
                  <a:pt x="0" y="1033"/>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27" name="Figura a mano libera: forma 1126"/>
          <p:cNvSpPr/>
          <p:nvPr/>
        </p:nvSpPr>
        <p:spPr>
          <a:xfrm>
            <a:off x="981000" y="2400120"/>
            <a:ext cx="2848320" cy="371880"/>
          </a:xfrm>
          <a:custGeom>
            <a:avLst/>
            <a:gdLst/>
            <a:ahLst/>
            <a:cxnLst/>
            <a:rect l="0" t="0" r="r" b="b"/>
            <a:pathLst>
              <a:path w="7912" h="1033">
                <a:moveTo>
                  <a:pt x="0" y="0"/>
                </a:moveTo>
                <a:lnTo>
                  <a:pt x="7912" y="0"/>
                </a:lnTo>
                <a:lnTo>
                  <a:pt x="7912"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28" name="Figura a mano libera: forma 1127"/>
          <p:cNvSpPr/>
          <p:nvPr/>
        </p:nvSpPr>
        <p:spPr>
          <a:xfrm>
            <a:off x="3828960" y="2400120"/>
            <a:ext cx="3791160" cy="371880"/>
          </a:xfrm>
          <a:custGeom>
            <a:avLst/>
            <a:gdLst/>
            <a:ahLst/>
            <a:cxnLst/>
            <a:rect l="0" t="0" r="r" b="b"/>
            <a:pathLst>
              <a:path w="10531" h="1033">
                <a:moveTo>
                  <a:pt x="0" y="0"/>
                </a:moveTo>
                <a:lnTo>
                  <a:pt x="10531" y="0"/>
                </a:lnTo>
                <a:lnTo>
                  <a:pt x="10531"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29" name="Figura a mano libera: forma 1128"/>
          <p:cNvSpPr/>
          <p:nvPr/>
        </p:nvSpPr>
        <p:spPr>
          <a:xfrm>
            <a:off x="7619760" y="2400120"/>
            <a:ext cx="1848240" cy="371880"/>
          </a:xfrm>
          <a:custGeom>
            <a:avLst/>
            <a:gdLst/>
            <a:ahLst/>
            <a:cxnLst/>
            <a:rect l="0" t="0" r="r" b="b"/>
            <a:pathLst>
              <a:path w="5134" h="1033">
                <a:moveTo>
                  <a:pt x="0" y="0"/>
                </a:moveTo>
                <a:lnTo>
                  <a:pt x="5134" y="0"/>
                </a:lnTo>
                <a:lnTo>
                  <a:pt x="5134"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30" name="Figura a mano libera: forma 1129"/>
          <p:cNvSpPr/>
          <p:nvPr/>
        </p:nvSpPr>
        <p:spPr>
          <a:xfrm>
            <a:off x="9467640" y="2400120"/>
            <a:ext cx="1295640" cy="371880"/>
          </a:xfrm>
          <a:custGeom>
            <a:avLst/>
            <a:gdLst/>
            <a:ahLst/>
            <a:cxnLst/>
            <a:rect l="0" t="0" r="r" b="b"/>
            <a:pathLst>
              <a:path w="3599" h="1033">
                <a:moveTo>
                  <a:pt x="0" y="0"/>
                </a:moveTo>
                <a:lnTo>
                  <a:pt x="3599" y="0"/>
                </a:lnTo>
                <a:lnTo>
                  <a:pt x="3599" y="1033"/>
                </a:lnTo>
                <a:lnTo>
                  <a:pt x="0" y="1033"/>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131" name="Figura a mano libera: forma 1130"/>
          <p:cNvSpPr/>
          <p:nvPr/>
        </p:nvSpPr>
        <p:spPr>
          <a:xfrm>
            <a:off x="981000" y="2771640"/>
            <a:ext cx="2848320" cy="410040"/>
          </a:xfrm>
          <a:custGeom>
            <a:avLst/>
            <a:gdLst/>
            <a:ahLst/>
            <a:cxnLst/>
            <a:rect l="0" t="0" r="r" b="b"/>
            <a:pathLst>
              <a:path w="7912" h="1139">
                <a:moveTo>
                  <a:pt x="0" y="0"/>
                </a:moveTo>
                <a:lnTo>
                  <a:pt x="7912" y="0"/>
                </a:lnTo>
                <a:lnTo>
                  <a:pt x="7912" y="1139"/>
                </a:lnTo>
                <a:lnTo>
                  <a:pt x="0" y="113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2" name="Figura a mano libera: forma 1131"/>
          <p:cNvSpPr/>
          <p:nvPr/>
        </p:nvSpPr>
        <p:spPr>
          <a:xfrm>
            <a:off x="3828960" y="2771640"/>
            <a:ext cx="3791160" cy="410040"/>
          </a:xfrm>
          <a:custGeom>
            <a:avLst/>
            <a:gdLst/>
            <a:ahLst/>
            <a:cxnLst/>
            <a:rect l="0" t="0" r="r" b="b"/>
            <a:pathLst>
              <a:path w="10531" h="1139">
                <a:moveTo>
                  <a:pt x="0" y="0"/>
                </a:moveTo>
                <a:lnTo>
                  <a:pt x="10531" y="0"/>
                </a:lnTo>
                <a:lnTo>
                  <a:pt x="10531" y="1139"/>
                </a:lnTo>
                <a:lnTo>
                  <a:pt x="0" y="113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3" name="Figura a mano libera: forma 1132"/>
          <p:cNvSpPr/>
          <p:nvPr/>
        </p:nvSpPr>
        <p:spPr>
          <a:xfrm>
            <a:off x="7619760" y="2771640"/>
            <a:ext cx="1848240" cy="410040"/>
          </a:xfrm>
          <a:custGeom>
            <a:avLst/>
            <a:gdLst/>
            <a:ahLst/>
            <a:cxnLst/>
            <a:rect l="0" t="0" r="r" b="b"/>
            <a:pathLst>
              <a:path w="5134" h="1139">
                <a:moveTo>
                  <a:pt x="0" y="0"/>
                </a:moveTo>
                <a:lnTo>
                  <a:pt x="5134" y="0"/>
                </a:lnTo>
                <a:lnTo>
                  <a:pt x="5134" y="1139"/>
                </a:lnTo>
                <a:lnTo>
                  <a:pt x="0" y="113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4" name="Figura a mano libera: forma 1133"/>
          <p:cNvSpPr/>
          <p:nvPr/>
        </p:nvSpPr>
        <p:spPr>
          <a:xfrm>
            <a:off x="9467640" y="2771640"/>
            <a:ext cx="1295640" cy="410040"/>
          </a:xfrm>
          <a:custGeom>
            <a:avLst/>
            <a:gdLst/>
            <a:ahLst/>
            <a:cxnLst/>
            <a:rect l="0" t="0" r="r" b="b"/>
            <a:pathLst>
              <a:path w="3599" h="1139">
                <a:moveTo>
                  <a:pt x="0" y="0"/>
                </a:moveTo>
                <a:lnTo>
                  <a:pt x="3599" y="0"/>
                </a:lnTo>
                <a:lnTo>
                  <a:pt x="3599" y="1139"/>
                </a:lnTo>
                <a:lnTo>
                  <a:pt x="0" y="113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5" name="Figura a mano libera: forma 1134"/>
          <p:cNvSpPr/>
          <p:nvPr/>
        </p:nvSpPr>
        <p:spPr>
          <a:xfrm>
            <a:off x="981000" y="3181320"/>
            <a:ext cx="2848320" cy="400320"/>
          </a:xfrm>
          <a:custGeom>
            <a:avLst/>
            <a:gdLst/>
            <a:ahLst/>
            <a:cxnLst/>
            <a:rect l="0" t="0" r="r" b="b"/>
            <a:pathLst>
              <a:path w="7912" h="1112">
                <a:moveTo>
                  <a:pt x="0" y="0"/>
                </a:moveTo>
                <a:lnTo>
                  <a:pt x="7912" y="0"/>
                </a:lnTo>
                <a:lnTo>
                  <a:pt x="7912" y="1112"/>
                </a:lnTo>
                <a:lnTo>
                  <a:pt x="0" y="1112"/>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6" name="Figura a mano libera: forma 1135"/>
          <p:cNvSpPr/>
          <p:nvPr/>
        </p:nvSpPr>
        <p:spPr>
          <a:xfrm>
            <a:off x="3828960" y="3181320"/>
            <a:ext cx="3791160" cy="400320"/>
          </a:xfrm>
          <a:custGeom>
            <a:avLst/>
            <a:gdLst/>
            <a:ahLst/>
            <a:cxnLst/>
            <a:rect l="0" t="0" r="r" b="b"/>
            <a:pathLst>
              <a:path w="10531" h="1112">
                <a:moveTo>
                  <a:pt x="0" y="0"/>
                </a:moveTo>
                <a:lnTo>
                  <a:pt x="10531" y="0"/>
                </a:lnTo>
                <a:lnTo>
                  <a:pt x="10531" y="1112"/>
                </a:lnTo>
                <a:lnTo>
                  <a:pt x="0" y="1112"/>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7" name="Figura a mano libera: forma 1136"/>
          <p:cNvSpPr/>
          <p:nvPr/>
        </p:nvSpPr>
        <p:spPr>
          <a:xfrm>
            <a:off x="7619760" y="3181320"/>
            <a:ext cx="1848240" cy="400320"/>
          </a:xfrm>
          <a:custGeom>
            <a:avLst/>
            <a:gdLst/>
            <a:ahLst/>
            <a:cxnLst/>
            <a:rect l="0" t="0" r="r" b="b"/>
            <a:pathLst>
              <a:path w="5134" h="1112">
                <a:moveTo>
                  <a:pt x="0" y="0"/>
                </a:moveTo>
                <a:lnTo>
                  <a:pt x="5134" y="0"/>
                </a:lnTo>
                <a:lnTo>
                  <a:pt x="5134" y="1112"/>
                </a:lnTo>
                <a:lnTo>
                  <a:pt x="0" y="1112"/>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8" name="Figura a mano libera: forma 1137"/>
          <p:cNvSpPr/>
          <p:nvPr/>
        </p:nvSpPr>
        <p:spPr>
          <a:xfrm>
            <a:off x="9467640" y="3181320"/>
            <a:ext cx="1295640" cy="400320"/>
          </a:xfrm>
          <a:custGeom>
            <a:avLst/>
            <a:gdLst/>
            <a:ahLst/>
            <a:cxnLst/>
            <a:rect l="0" t="0" r="r" b="b"/>
            <a:pathLst>
              <a:path w="3599" h="1112">
                <a:moveTo>
                  <a:pt x="0" y="0"/>
                </a:moveTo>
                <a:lnTo>
                  <a:pt x="3599" y="0"/>
                </a:lnTo>
                <a:lnTo>
                  <a:pt x="3599" y="1112"/>
                </a:lnTo>
                <a:lnTo>
                  <a:pt x="0" y="1112"/>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39" name="Figura a mano libera: forma 1138"/>
          <p:cNvSpPr/>
          <p:nvPr/>
        </p:nvSpPr>
        <p:spPr>
          <a:xfrm>
            <a:off x="981000" y="3581280"/>
            <a:ext cx="2848320" cy="400320"/>
          </a:xfrm>
          <a:custGeom>
            <a:avLst/>
            <a:gdLst/>
            <a:ahLst/>
            <a:cxnLst/>
            <a:rect l="0" t="0" r="r" b="b"/>
            <a:pathLst>
              <a:path w="7912" h="1112">
                <a:moveTo>
                  <a:pt x="0" y="0"/>
                </a:moveTo>
                <a:lnTo>
                  <a:pt x="7912" y="0"/>
                </a:lnTo>
                <a:lnTo>
                  <a:pt x="7912"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0" name="Figura a mano libera: forma 1139"/>
          <p:cNvSpPr/>
          <p:nvPr/>
        </p:nvSpPr>
        <p:spPr>
          <a:xfrm>
            <a:off x="3828960" y="3581280"/>
            <a:ext cx="3791160" cy="400320"/>
          </a:xfrm>
          <a:custGeom>
            <a:avLst/>
            <a:gdLst/>
            <a:ahLst/>
            <a:cxnLst/>
            <a:rect l="0" t="0" r="r" b="b"/>
            <a:pathLst>
              <a:path w="10531" h="1112">
                <a:moveTo>
                  <a:pt x="0" y="0"/>
                </a:moveTo>
                <a:lnTo>
                  <a:pt x="10531" y="0"/>
                </a:lnTo>
                <a:lnTo>
                  <a:pt x="10531"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1" name="Figura a mano libera: forma 1140"/>
          <p:cNvSpPr/>
          <p:nvPr/>
        </p:nvSpPr>
        <p:spPr>
          <a:xfrm>
            <a:off x="7619760" y="3581280"/>
            <a:ext cx="1848240" cy="400320"/>
          </a:xfrm>
          <a:custGeom>
            <a:avLst/>
            <a:gdLst/>
            <a:ahLst/>
            <a:cxnLst/>
            <a:rect l="0" t="0" r="r" b="b"/>
            <a:pathLst>
              <a:path w="5134" h="1112">
                <a:moveTo>
                  <a:pt x="0" y="0"/>
                </a:moveTo>
                <a:lnTo>
                  <a:pt x="5134" y="0"/>
                </a:lnTo>
                <a:lnTo>
                  <a:pt x="5134"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2" name="Figura a mano libera: forma 1141"/>
          <p:cNvSpPr/>
          <p:nvPr/>
        </p:nvSpPr>
        <p:spPr>
          <a:xfrm>
            <a:off x="9467640" y="3581280"/>
            <a:ext cx="1295640" cy="400320"/>
          </a:xfrm>
          <a:custGeom>
            <a:avLst/>
            <a:gdLst/>
            <a:ahLst/>
            <a:cxnLst/>
            <a:rect l="0" t="0" r="r" b="b"/>
            <a:pathLst>
              <a:path w="3599" h="1112">
                <a:moveTo>
                  <a:pt x="0" y="0"/>
                </a:moveTo>
                <a:lnTo>
                  <a:pt x="3599" y="0"/>
                </a:lnTo>
                <a:lnTo>
                  <a:pt x="3599"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3" name="Figura a mano libera: forma 1142"/>
          <p:cNvSpPr/>
          <p:nvPr/>
        </p:nvSpPr>
        <p:spPr>
          <a:xfrm>
            <a:off x="981000" y="3981240"/>
            <a:ext cx="2848320" cy="400320"/>
          </a:xfrm>
          <a:custGeom>
            <a:avLst/>
            <a:gdLst/>
            <a:ahLst/>
            <a:cxnLst/>
            <a:rect l="0" t="0" r="r" b="b"/>
            <a:pathLst>
              <a:path w="7912" h="1112">
                <a:moveTo>
                  <a:pt x="0" y="1112"/>
                </a:moveTo>
                <a:lnTo>
                  <a:pt x="0" y="0"/>
                </a:lnTo>
                <a:lnTo>
                  <a:pt x="7912" y="0"/>
                </a:lnTo>
                <a:lnTo>
                  <a:pt x="7912" y="1112"/>
                </a:lnTo>
                <a:lnTo>
                  <a:pt x="0" y="1112"/>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4" name="Figura a mano libera: forma 1143"/>
          <p:cNvSpPr/>
          <p:nvPr/>
        </p:nvSpPr>
        <p:spPr>
          <a:xfrm>
            <a:off x="3828960" y="3981240"/>
            <a:ext cx="3791160" cy="400320"/>
          </a:xfrm>
          <a:custGeom>
            <a:avLst/>
            <a:gdLst/>
            <a:ahLst/>
            <a:cxnLst/>
            <a:rect l="0" t="0" r="r" b="b"/>
            <a:pathLst>
              <a:path w="10531" h="1112">
                <a:moveTo>
                  <a:pt x="0" y="1112"/>
                </a:moveTo>
                <a:lnTo>
                  <a:pt x="0" y="0"/>
                </a:lnTo>
                <a:lnTo>
                  <a:pt x="10531" y="0"/>
                </a:lnTo>
                <a:lnTo>
                  <a:pt x="10531" y="1112"/>
                </a:lnTo>
                <a:lnTo>
                  <a:pt x="0" y="1112"/>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5" name="Figura a mano libera: forma 1144"/>
          <p:cNvSpPr/>
          <p:nvPr/>
        </p:nvSpPr>
        <p:spPr>
          <a:xfrm>
            <a:off x="7619760" y="3981240"/>
            <a:ext cx="1848240" cy="400320"/>
          </a:xfrm>
          <a:custGeom>
            <a:avLst/>
            <a:gdLst/>
            <a:ahLst/>
            <a:cxnLst/>
            <a:rect l="0" t="0" r="r" b="b"/>
            <a:pathLst>
              <a:path w="5134" h="1112">
                <a:moveTo>
                  <a:pt x="0" y="1112"/>
                </a:moveTo>
                <a:lnTo>
                  <a:pt x="0" y="0"/>
                </a:lnTo>
                <a:lnTo>
                  <a:pt x="5134" y="0"/>
                </a:lnTo>
                <a:lnTo>
                  <a:pt x="5134" y="1112"/>
                </a:lnTo>
                <a:lnTo>
                  <a:pt x="0" y="1112"/>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6" name="Figura a mano libera: forma 1145"/>
          <p:cNvSpPr/>
          <p:nvPr/>
        </p:nvSpPr>
        <p:spPr>
          <a:xfrm>
            <a:off x="9467640" y="3981240"/>
            <a:ext cx="1295640" cy="400320"/>
          </a:xfrm>
          <a:custGeom>
            <a:avLst/>
            <a:gdLst/>
            <a:ahLst/>
            <a:cxnLst/>
            <a:rect l="0" t="0" r="r" b="b"/>
            <a:pathLst>
              <a:path w="3599" h="1112">
                <a:moveTo>
                  <a:pt x="0" y="1112"/>
                </a:moveTo>
                <a:lnTo>
                  <a:pt x="0" y="0"/>
                </a:lnTo>
                <a:lnTo>
                  <a:pt x="3599" y="0"/>
                </a:lnTo>
                <a:lnTo>
                  <a:pt x="3599" y="1112"/>
                </a:lnTo>
                <a:lnTo>
                  <a:pt x="0" y="1112"/>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7" name="Figura a mano libera: forma 1146"/>
          <p:cNvSpPr/>
          <p:nvPr/>
        </p:nvSpPr>
        <p:spPr>
          <a:xfrm>
            <a:off x="971280" y="2390760"/>
            <a:ext cx="10080" cy="390600"/>
          </a:xfrm>
          <a:custGeom>
            <a:avLst/>
            <a:gdLst/>
            <a:ahLst/>
            <a:cxn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8" name="Figura a mano libera: forma 1147"/>
          <p:cNvSpPr/>
          <p:nvPr/>
        </p:nvSpPr>
        <p:spPr>
          <a:xfrm>
            <a:off x="971280" y="2390760"/>
            <a:ext cx="2858040" cy="9720"/>
          </a:xfrm>
          <a:custGeom>
            <a:avLst/>
            <a:gdLst/>
            <a:ahLst/>
            <a:cxnLst/>
            <a:rect l="0" t="0" r="r" b="b"/>
            <a:pathLst>
              <a:path w="7939" h="27">
                <a:moveTo>
                  <a:pt x="0" y="0"/>
                </a:moveTo>
                <a:lnTo>
                  <a:pt x="7939" y="0"/>
                </a:lnTo>
                <a:lnTo>
                  <a:pt x="793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49" name="Figura a mano libera: forma 1148"/>
          <p:cNvSpPr/>
          <p:nvPr/>
        </p:nvSpPr>
        <p:spPr>
          <a:xfrm>
            <a:off x="3819240" y="2390760"/>
            <a:ext cx="10080" cy="390600"/>
          </a:xfrm>
          <a:custGeom>
            <a:avLst/>
            <a:gdLst/>
            <a:ahLst/>
            <a:cxn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0" name="Figura a mano libera: forma 1149"/>
          <p:cNvSpPr/>
          <p:nvPr/>
        </p:nvSpPr>
        <p:spPr>
          <a:xfrm>
            <a:off x="3828960" y="2390760"/>
            <a:ext cx="3791160" cy="9720"/>
          </a:xfrm>
          <a:custGeom>
            <a:avLst/>
            <a:gdLst/>
            <a:ahLst/>
            <a:cxnLst/>
            <a:rect l="0" t="0" r="r" b="b"/>
            <a:pathLst>
              <a:path w="10531" h="27">
                <a:moveTo>
                  <a:pt x="0" y="0"/>
                </a:moveTo>
                <a:lnTo>
                  <a:pt x="10531" y="0"/>
                </a:lnTo>
                <a:lnTo>
                  <a:pt x="1053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1" name="Figura a mano libera: forma 1150"/>
          <p:cNvSpPr/>
          <p:nvPr/>
        </p:nvSpPr>
        <p:spPr>
          <a:xfrm>
            <a:off x="7610400" y="2390760"/>
            <a:ext cx="9720" cy="390600"/>
          </a:xfrm>
          <a:custGeom>
            <a:avLst/>
            <a:gdLst/>
            <a:ahLst/>
            <a:cxnLst/>
            <a:rect l="0" t="0" r="r" b="b"/>
            <a:pathLst>
              <a:path w="27" h="1085">
                <a:moveTo>
                  <a:pt x="0" y="0"/>
                </a:moveTo>
                <a:lnTo>
                  <a:pt x="27" y="0"/>
                </a:lnTo>
                <a:lnTo>
                  <a:pt x="27" y="1085"/>
                </a:lnTo>
                <a:lnTo>
                  <a:pt x="0" y="1085"/>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2" name="Figura a mano libera: forma 1151"/>
          <p:cNvSpPr/>
          <p:nvPr/>
        </p:nvSpPr>
        <p:spPr>
          <a:xfrm>
            <a:off x="7619760" y="239076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3" name="Figura a mano libera: forma 1152"/>
          <p:cNvSpPr/>
          <p:nvPr/>
        </p:nvSpPr>
        <p:spPr>
          <a:xfrm>
            <a:off x="9458280" y="2390760"/>
            <a:ext cx="9720" cy="390600"/>
          </a:xfrm>
          <a:custGeom>
            <a:avLst/>
            <a:gdLst/>
            <a:ahLst/>
            <a:cxnLst/>
            <a:rect l="0" t="0" r="r" b="b"/>
            <a:pathLst>
              <a:path w="27" h="1085">
                <a:moveTo>
                  <a:pt x="0" y="0"/>
                </a:moveTo>
                <a:lnTo>
                  <a:pt x="27" y="0"/>
                </a:lnTo>
                <a:lnTo>
                  <a:pt x="27" y="1085"/>
                </a:lnTo>
                <a:lnTo>
                  <a:pt x="0" y="1085"/>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4" name="Figura a mano libera: forma 1153"/>
          <p:cNvSpPr/>
          <p:nvPr/>
        </p:nvSpPr>
        <p:spPr>
          <a:xfrm>
            <a:off x="9467640" y="2390760"/>
            <a:ext cx="1295640" cy="9720"/>
          </a:xfrm>
          <a:custGeom>
            <a:avLst/>
            <a:gdLst/>
            <a:ahLst/>
            <a:cxnLst/>
            <a:rect l="0" t="0" r="r" b="b"/>
            <a:pathLst>
              <a:path w="3599" h="27">
                <a:moveTo>
                  <a:pt x="0" y="0"/>
                </a:moveTo>
                <a:lnTo>
                  <a:pt x="3599" y="0"/>
                </a:lnTo>
                <a:lnTo>
                  <a:pt x="359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5" name="Figura a mano libera: forma 1154"/>
          <p:cNvSpPr/>
          <p:nvPr/>
        </p:nvSpPr>
        <p:spPr>
          <a:xfrm>
            <a:off x="10753560" y="2390760"/>
            <a:ext cx="9720" cy="390600"/>
          </a:xfrm>
          <a:custGeom>
            <a:avLst/>
            <a:gdLst/>
            <a:ahLst/>
            <a:cxnLst/>
            <a:rect l="0" t="0" r="r" b="b"/>
            <a:pathLst>
              <a:path w="27" h="1085">
                <a:moveTo>
                  <a:pt x="0" y="0"/>
                </a:moveTo>
                <a:lnTo>
                  <a:pt x="27" y="0"/>
                </a:lnTo>
                <a:lnTo>
                  <a:pt x="27" y="1085"/>
                </a:lnTo>
                <a:lnTo>
                  <a:pt x="0" y="1085"/>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6" name="Figura a mano libera: forma 1155"/>
          <p:cNvSpPr/>
          <p:nvPr/>
        </p:nvSpPr>
        <p:spPr>
          <a:xfrm>
            <a:off x="971280" y="2771640"/>
            <a:ext cx="2858040" cy="9720"/>
          </a:xfrm>
          <a:custGeom>
            <a:avLst/>
            <a:gdLst/>
            <a:ahLst/>
            <a:cxnLst/>
            <a:rect l="0" t="0" r="r" b="b"/>
            <a:pathLst>
              <a:path w="7939" h="27">
                <a:moveTo>
                  <a:pt x="0" y="0"/>
                </a:moveTo>
                <a:lnTo>
                  <a:pt x="7939" y="0"/>
                </a:lnTo>
                <a:lnTo>
                  <a:pt x="793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7" name="Figura a mano libera: forma 1156"/>
          <p:cNvSpPr/>
          <p:nvPr/>
        </p:nvSpPr>
        <p:spPr>
          <a:xfrm>
            <a:off x="3828960" y="2771640"/>
            <a:ext cx="3791160" cy="9720"/>
          </a:xfrm>
          <a:custGeom>
            <a:avLst/>
            <a:gdLst/>
            <a:ahLst/>
            <a:cxnLst/>
            <a:rect l="0" t="0" r="r" b="b"/>
            <a:pathLst>
              <a:path w="10531" h="27">
                <a:moveTo>
                  <a:pt x="0" y="0"/>
                </a:moveTo>
                <a:lnTo>
                  <a:pt x="10531" y="0"/>
                </a:lnTo>
                <a:lnTo>
                  <a:pt x="1053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8" name="Figura a mano libera: forma 1157"/>
          <p:cNvSpPr/>
          <p:nvPr/>
        </p:nvSpPr>
        <p:spPr>
          <a:xfrm>
            <a:off x="7619760" y="277164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59" name="Figura a mano libera: forma 1158"/>
          <p:cNvSpPr/>
          <p:nvPr/>
        </p:nvSpPr>
        <p:spPr>
          <a:xfrm>
            <a:off x="9467640" y="2771640"/>
            <a:ext cx="1295640" cy="9720"/>
          </a:xfrm>
          <a:custGeom>
            <a:avLst/>
            <a:gdLst/>
            <a:ahLst/>
            <a:cxnLst/>
            <a:rect l="0" t="0" r="r" b="b"/>
            <a:pathLst>
              <a:path w="3599" h="27">
                <a:moveTo>
                  <a:pt x="0" y="0"/>
                </a:moveTo>
                <a:lnTo>
                  <a:pt x="3599" y="0"/>
                </a:lnTo>
                <a:lnTo>
                  <a:pt x="359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0" name="Figura a mano libera: forma 1159"/>
          <p:cNvSpPr/>
          <p:nvPr/>
        </p:nvSpPr>
        <p:spPr>
          <a:xfrm>
            <a:off x="971280" y="278100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1" name="Figura a mano libera: forma 1160"/>
          <p:cNvSpPr/>
          <p:nvPr/>
        </p:nvSpPr>
        <p:spPr>
          <a:xfrm>
            <a:off x="3819240" y="278100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2" name="Figura a mano libera: forma 1161"/>
          <p:cNvSpPr/>
          <p:nvPr/>
        </p:nvSpPr>
        <p:spPr>
          <a:xfrm>
            <a:off x="7610400" y="2781000"/>
            <a:ext cx="9720" cy="400680"/>
          </a:xfrm>
          <a:custGeom>
            <a:avLst/>
            <a:gdLst/>
            <a:ahLst/>
            <a:cxnLst/>
            <a:rect l="0" t="0" r="r" b="b"/>
            <a:pathLst>
              <a:path w="27" h="1113">
                <a:moveTo>
                  <a:pt x="0" y="0"/>
                </a:moveTo>
                <a:lnTo>
                  <a:pt x="27" y="0"/>
                </a:lnTo>
                <a:lnTo>
                  <a:pt x="27"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3" name="Figura a mano libera: forma 1162"/>
          <p:cNvSpPr/>
          <p:nvPr/>
        </p:nvSpPr>
        <p:spPr>
          <a:xfrm>
            <a:off x="9458280" y="2781000"/>
            <a:ext cx="9720" cy="400680"/>
          </a:xfrm>
          <a:custGeom>
            <a:avLst/>
            <a:gdLst/>
            <a:ahLst/>
            <a:cxnLst/>
            <a:rect l="0" t="0" r="r" b="b"/>
            <a:pathLst>
              <a:path w="27" h="1113">
                <a:moveTo>
                  <a:pt x="0" y="0"/>
                </a:moveTo>
                <a:lnTo>
                  <a:pt x="27" y="0"/>
                </a:lnTo>
                <a:lnTo>
                  <a:pt x="27"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4" name="Figura a mano libera: forma 1163"/>
          <p:cNvSpPr/>
          <p:nvPr/>
        </p:nvSpPr>
        <p:spPr>
          <a:xfrm>
            <a:off x="10753560" y="2781000"/>
            <a:ext cx="9720" cy="400680"/>
          </a:xfrm>
          <a:custGeom>
            <a:avLst/>
            <a:gdLst/>
            <a:ahLst/>
            <a:cxnLst/>
            <a:rect l="0" t="0" r="r" b="b"/>
            <a:pathLst>
              <a:path w="27" h="1113">
                <a:moveTo>
                  <a:pt x="0" y="0"/>
                </a:moveTo>
                <a:lnTo>
                  <a:pt x="27" y="0"/>
                </a:lnTo>
                <a:lnTo>
                  <a:pt x="27"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5" name="Figura a mano libera: forma 1164"/>
          <p:cNvSpPr/>
          <p:nvPr/>
        </p:nvSpPr>
        <p:spPr>
          <a:xfrm>
            <a:off x="971280" y="3181320"/>
            <a:ext cx="10080" cy="409680"/>
          </a:xfrm>
          <a:custGeom>
            <a:avLst/>
            <a:gdLst/>
            <a:ahLst/>
            <a:cxnLst/>
            <a:rect l="0" t="0" r="r" b="b"/>
            <a:pathLst>
              <a:path w="28" h="1138">
                <a:moveTo>
                  <a:pt x="0" y="0"/>
                </a:moveTo>
                <a:lnTo>
                  <a:pt x="28" y="0"/>
                </a:lnTo>
                <a:lnTo>
                  <a:pt x="28"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6" name="Figura a mano libera: forma 1165"/>
          <p:cNvSpPr/>
          <p:nvPr/>
        </p:nvSpPr>
        <p:spPr>
          <a:xfrm>
            <a:off x="971280" y="3171600"/>
            <a:ext cx="2858040" cy="10080"/>
          </a:xfrm>
          <a:custGeom>
            <a:avLst/>
            <a:gdLst/>
            <a:ahLst/>
            <a:cxnLst/>
            <a:rect l="0" t="0" r="r" b="b"/>
            <a:pathLst>
              <a:path w="7939" h="28">
                <a:moveTo>
                  <a:pt x="0" y="0"/>
                </a:moveTo>
                <a:lnTo>
                  <a:pt x="7939" y="0"/>
                </a:lnTo>
                <a:lnTo>
                  <a:pt x="793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7" name="Figura a mano libera: forma 1166"/>
          <p:cNvSpPr/>
          <p:nvPr/>
        </p:nvSpPr>
        <p:spPr>
          <a:xfrm>
            <a:off x="3819240" y="3181320"/>
            <a:ext cx="10080" cy="409680"/>
          </a:xfrm>
          <a:custGeom>
            <a:avLst/>
            <a:gdLst/>
            <a:ahLst/>
            <a:cxnLst/>
            <a:rect l="0" t="0" r="r" b="b"/>
            <a:pathLst>
              <a:path w="28" h="1138">
                <a:moveTo>
                  <a:pt x="0" y="0"/>
                </a:moveTo>
                <a:lnTo>
                  <a:pt x="28" y="0"/>
                </a:lnTo>
                <a:lnTo>
                  <a:pt x="28"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8" name="Figura a mano libera: forma 1167"/>
          <p:cNvSpPr/>
          <p:nvPr/>
        </p:nvSpPr>
        <p:spPr>
          <a:xfrm>
            <a:off x="3828960" y="3171600"/>
            <a:ext cx="3791160" cy="10080"/>
          </a:xfrm>
          <a:custGeom>
            <a:avLst/>
            <a:gdLst/>
            <a:ahLst/>
            <a:cxnLst/>
            <a:rect l="0" t="0" r="r" b="b"/>
            <a:pathLst>
              <a:path w="10531" h="28">
                <a:moveTo>
                  <a:pt x="0" y="0"/>
                </a:moveTo>
                <a:lnTo>
                  <a:pt x="10531" y="0"/>
                </a:lnTo>
                <a:lnTo>
                  <a:pt x="1053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69" name="Figura a mano libera: forma 1168"/>
          <p:cNvSpPr/>
          <p:nvPr/>
        </p:nvSpPr>
        <p:spPr>
          <a:xfrm>
            <a:off x="7610400" y="3181320"/>
            <a:ext cx="9720" cy="409680"/>
          </a:xfrm>
          <a:custGeom>
            <a:avLst/>
            <a:gdLst/>
            <a:ahLst/>
            <a:cxnLst/>
            <a:rect l="0" t="0" r="r" b="b"/>
            <a:pathLst>
              <a:path w="27" h="1138">
                <a:moveTo>
                  <a:pt x="0" y="0"/>
                </a:moveTo>
                <a:lnTo>
                  <a:pt x="27" y="0"/>
                </a:lnTo>
                <a:lnTo>
                  <a:pt x="27"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0" name="Figura a mano libera: forma 1169"/>
          <p:cNvSpPr/>
          <p:nvPr/>
        </p:nvSpPr>
        <p:spPr>
          <a:xfrm>
            <a:off x="7619760" y="3171600"/>
            <a:ext cx="1848240" cy="10080"/>
          </a:xfrm>
          <a:custGeom>
            <a:avLst/>
            <a:gdLst/>
            <a:ahLst/>
            <a:cxnLst/>
            <a:rect l="0" t="0" r="r" b="b"/>
            <a:pathLst>
              <a:path w="5134" h="28">
                <a:moveTo>
                  <a:pt x="0" y="0"/>
                </a:moveTo>
                <a:lnTo>
                  <a:pt x="5134" y="0"/>
                </a:lnTo>
                <a:lnTo>
                  <a:pt x="5134"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1" name="Figura a mano libera: forma 1170"/>
          <p:cNvSpPr/>
          <p:nvPr/>
        </p:nvSpPr>
        <p:spPr>
          <a:xfrm>
            <a:off x="9458280" y="3181320"/>
            <a:ext cx="9720" cy="409680"/>
          </a:xfrm>
          <a:custGeom>
            <a:avLst/>
            <a:gdLst/>
            <a:ahLst/>
            <a:cxnLst/>
            <a:rect l="0" t="0" r="r" b="b"/>
            <a:pathLst>
              <a:path w="27" h="1138">
                <a:moveTo>
                  <a:pt x="0" y="0"/>
                </a:moveTo>
                <a:lnTo>
                  <a:pt x="27" y="0"/>
                </a:lnTo>
                <a:lnTo>
                  <a:pt x="27"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2" name="Figura a mano libera: forma 1171"/>
          <p:cNvSpPr/>
          <p:nvPr/>
        </p:nvSpPr>
        <p:spPr>
          <a:xfrm>
            <a:off x="9467640" y="3171600"/>
            <a:ext cx="1295640" cy="10080"/>
          </a:xfrm>
          <a:custGeom>
            <a:avLst/>
            <a:gdLst/>
            <a:ahLst/>
            <a:cxnLst/>
            <a:rect l="0" t="0" r="r" b="b"/>
            <a:pathLst>
              <a:path w="3599" h="28">
                <a:moveTo>
                  <a:pt x="0" y="0"/>
                </a:moveTo>
                <a:lnTo>
                  <a:pt x="3599" y="0"/>
                </a:lnTo>
                <a:lnTo>
                  <a:pt x="359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3" name="Figura a mano libera: forma 1172"/>
          <p:cNvSpPr/>
          <p:nvPr/>
        </p:nvSpPr>
        <p:spPr>
          <a:xfrm>
            <a:off x="10753560" y="3181320"/>
            <a:ext cx="9720" cy="409680"/>
          </a:xfrm>
          <a:custGeom>
            <a:avLst/>
            <a:gdLst/>
            <a:ahLst/>
            <a:cxnLst/>
            <a:rect l="0" t="0" r="r" b="b"/>
            <a:pathLst>
              <a:path w="27" h="1138">
                <a:moveTo>
                  <a:pt x="0" y="0"/>
                </a:moveTo>
                <a:lnTo>
                  <a:pt x="27" y="0"/>
                </a:lnTo>
                <a:lnTo>
                  <a:pt x="27" y="1138"/>
                </a:lnTo>
                <a:lnTo>
                  <a:pt x="0" y="113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4" name="Figura a mano libera: forma 1173"/>
          <p:cNvSpPr/>
          <p:nvPr/>
        </p:nvSpPr>
        <p:spPr>
          <a:xfrm>
            <a:off x="971280" y="359064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5" name="Figura a mano libera: forma 1174"/>
          <p:cNvSpPr/>
          <p:nvPr/>
        </p:nvSpPr>
        <p:spPr>
          <a:xfrm>
            <a:off x="971280" y="3581280"/>
            <a:ext cx="2858040" cy="9720"/>
          </a:xfrm>
          <a:custGeom>
            <a:avLst/>
            <a:gdLst/>
            <a:ahLst/>
            <a:cxnLst/>
            <a:rect l="0" t="0" r="r" b="b"/>
            <a:pathLst>
              <a:path w="7939" h="27">
                <a:moveTo>
                  <a:pt x="0" y="0"/>
                </a:moveTo>
                <a:lnTo>
                  <a:pt x="7939" y="0"/>
                </a:lnTo>
                <a:lnTo>
                  <a:pt x="793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6" name="Figura a mano libera: forma 1175"/>
          <p:cNvSpPr/>
          <p:nvPr/>
        </p:nvSpPr>
        <p:spPr>
          <a:xfrm>
            <a:off x="3819240" y="3590640"/>
            <a:ext cx="10080" cy="400680"/>
          </a:xfrm>
          <a:custGeom>
            <a:avLst/>
            <a:gdLst/>
            <a:ahLst/>
            <a:cxnLst/>
            <a:rect l="0" t="0" r="r" b="b"/>
            <a:pathLst>
              <a:path w="28" h="1113">
                <a:moveTo>
                  <a:pt x="0" y="0"/>
                </a:moveTo>
                <a:lnTo>
                  <a:pt x="28" y="0"/>
                </a:lnTo>
                <a:lnTo>
                  <a:pt x="28"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7" name="Figura a mano libera: forma 1176"/>
          <p:cNvSpPr/>
          <p:nvPr/>
        </p:nvSpPr>
        <p:spPr>
          <a:xfrm>
            <a:off x="3828960" y="3581280"/>
            <a:ext cx="3791160" cy="9720"/>
          </a:xfrm>
          <a:custGeom>
            <a:avLst/>
            <a:gdLst/>
            <a:ahLst/>
            <a:cxnLst/>
            <a:rect l="0" t="0" r="r" b="b"/>
            <a:pathLst>
              <a:path w="10531" h="27">
                <a:moveTo>
                  <a:pt x="0" y="0"/>
                </a:moveTo>
                <a:lnTo>
                  <a:pt x="10531" y="0"/>
                </a:lnTo>
                <a:lnTo>
                  <a:pt x="1053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8" name="Figura a mano libera: forma 1177"/>
          <p:cNvSpPr/>
          <p:nvPr/>
        </p:nvSpPr>
        <p:spPr>
          <a:xfrm>
            <a:off x="7610400" y="3590640"/>
            <a:ext cx="9720" cy="400680"/>
          </a:xfrm>
          <a:custGeom>
            <a:avLst/>
            <a:gdLst/>
            <a:ahLst/>
            <a:cxnLst/>
            <a:rect l="0" t="0" r="r" b="b"/>
            <a:pathLst>
              <a:path w="27" h="1113">
                <a:moveTo>
                  <a:pt x="0" y="0"/>
                </a:moveTo>
                <a:lnTo>
                  <a:pt x="27" y="0"/>
                </a:lnTo>
                <a:lnTo>
                  <a:pt x="27"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79" name="Figura a mano libera: forma 1178"/>
          <p:cNvSpPr/>
          <p:nvPr/>
        </p:nvSpPr>
        <p:spPr>
          <a:xfrm>
            <a:off x="7619760" y="3581280"/>
            <a:ext cx="1848240" cy="9720"/>
          </a:xfrm>
          <a:custGeom>
            <a:avLst/>
            <a:gdLst/>
            <a:ahLst/>
            <a:cxnLst/>
            <a:rect l="0" t="0" r="r" b="b"/>
            <a:pathLst>
              <a:path w="5134" h="27">
                <a:moveTo>
                  <a:pt x="0" y="0"/>
                </a:moveTo>
                <a:lnTo>
                  <a:pt x="5134" y="0"/>
                </a:lnTo>
                <a:lnTo>
                  <a:pt x="5134"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0" name="Figura a mano libera: forma 1179"/>
          <p:cNvSpPr/>
          <p:nvPr/>
        </p:nvSpPr>
        <p:spPr>
          <a:xfrm>
            <a:off x="9458280" y="3590640"/>
            <a:ext cx="9720" cy="400680"/>
          </a:xfrm>
          <a:custGeom>
            <a:avLst/>
            <a:gdLst/>
            <a:ahLst/>
            <a:cxnLst/>
            <a:rect l="0" t="0" r="r" b="b"/>
            <a:pathLst>
              <a:path w="27" h="1113">
                <a:moveTo>
                  <a:pt x="0" y="0"/>
                </a:moveTo>
                <a:lnTo>
                  <a:pt x="27" y="0"/>
                </a:lnTo>
                <a:lnTo>
                  <a:pt x="27"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1" name="Figura a mano libera: forma 1180"/>
          <p:cNvSpPr/>
          <p:nvPr/>
        </p:nvSpPr>
        <p:spPr>
          <a:xfrm>
            <a:off x="9467640" y="3581280"/>
            <a:ext cx="1295640" cy="9720"/>
          </a:xfrm>
          <a:custGeom>
            <a:avLst/>
            <a:gdLst/>
            <a:ahLst/>
            <a:cxnLst/>
            <a:rect l="0" t="0" r="r" b="b"/>
            <a:pathLst>
              <a:path w="3599" h="27">
                <a:moveTo>
                  <a:pt x="0" y="0"/>
                </a:moveTo>
                <a:lnTo>
                  <a:pt x="3599" y="0"/>
                </a:lnTo>
                <a:lnTo>
                  <a:pt x="3599"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2" name="Figura a mano libera: forma 1181"/>
          <p:cNvSpPr/>
          <p:nvPr/>
        </p:nvSpPr>
        <p:spPr>
          <a:xfrm>
            <a:off x="10753560" y="3590640"/>
            <a:ext cx="9720" cy="400680"/>
          </a:xfrm>
          <a:custGeom>
            <a:avLst/>
            <a:gdLst/>
            <a:ahLst/>
            <a:cxnLst/>
            <a:rect l="0" t="0" r="r" b="b"/>
            <a:pathLst>
              <a:path w="27" h="1113">
                <a:moveTo>
                  <a:pt x="0" y="0"/>
                </a:moveTo>
                <a:lnTo>
                  <a:pt x="27" y="0"/>
                </a:lnTo>
                <a:lnTo>
                  <a:pt x="27" y="1113"/>
                </a:lnTo>
                <a:lnTo>
                  <a:pt x="0" y="1113"/>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3" name="Figura a mano libera: forma 1182"/>
          <p:cNvSpPr/>
          <p:nvPr/>
        </p:nvSpPr>
        <p:spPr>
          <a:xfrm>
            <a:off x="971280" y="3990960"/>
            <a:ext cx="10080" cy="390600"/>
          </a:xfrm>
          <a:custGeom>
            <a:avLst/>
            <a:gdLst/>
            <a:ahLst/>
            <a:cxnLst/>
            <a:rect l="0" t="0" r="r" b="b"/>
            <a:pathLst>
              <a:path w="28" h="1085">
                <a:moveTo>
                  <a:pt x="0" y="1085"/>
                </a:moveTo>
                <a:lnTo>
                  <a:pt x="0" y="0"/>
                </a:lnTo>
                <a:lnTo>
                  <a:pt x="28" y="0"/>
                </a:lnTo>
                <a:lnTo>
                  <a:pt x="28"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4" name="Figura a mano libera: forma 1183"/>
          <p:cNvSpPr/>
          <p:nvPr/>
        </p:nvSpPr>
        <p:spPr>
          <a:xfrm>
            <a:off x="971280" y="3981240"/>
            <a:ext cx="2858040" cy="10080"/>
          </a:xfrm>
          <a:custGeom>
            <a:avLst/>
            <a:gdLst/>
            <a:ahLst/>
            <a:cxnLst/>
            <a:rect l="0" t="0" r="r" b="b"/>
            <a:pathLst>
              <a:path w="7939" h="28">
                <a:moveTo>
                  <a:pt x="0" y="0"/>
                </a:moveTo>
                <a:lnTo>
                  <a:pt x="7939" y="0"/>
                </a:lnTo>
                <a:lnTo>
                  <a:pt x="793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5" name="Figura a mano libera: forma 1184"/>
          <p:cNvSpPr/>
          <p:nvPr/>
        </p:nvSpPr>
        <p:spPr>
          <a:xfrm>
            <a:off x="3819240" y="3990960"/>
            <a:ext cx="10080" cy="390600"/>
          </a:xfrm>
          <a:custGeom>
            <a:avLst/>
            <a:gdLst/>
            <a:ahLst/>
            <a:cxnLst/>
            <a:rect l="0" t="0" r="r" b="b"/>
            <a:pathLst>
              <a:path w="28" h="1085">
                <a:moveTo>
                  <a:pt x="0" y="1085"/>
                </a:moveTo>
                <a:lnTo>
                  <a:pt x="0" y="0"/>
                </a:lnTo>
                <a:lnTo>
                  <a:pt x="28" y="0"/>
                </a:lnTo>
                <a:lnTo>
                  <a:pt x="28"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6" name="Figura a mano libera: forma 1185"/>
          <p:cNvSpPr/>
          <p:nvPr/>
        </p:nvSpPr>
        <p:spPr>
          <a:xfrm>
            <a:off x="3828960" y="3981240"/>
            <a:ext cx="3791160" cy="10080"/>
          </a:xfrm>
          <a:custGeom>
            <a:avLst/>
            <a:gdLst/>
            <a:ahLst/>
            <a:cxnLst/>
            <a:rect l="0" t="0" r="r" b="b"/>
            <a:pathLst>
              <a:path w="10531" h="28">
                <a:moveTo>
                  <a:pt x="0" y="0"/>
                </a:moveTo>
                <a:lnTo>
                  <a:pt x="10531" y="0"/>
                </a:lnTo>
                <a:lnTo>
                  <a:pt x="1053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7" name="Figura a mano libera: forma 1186"/>
          <p:cNvSpPr/>
          <p:nvPr/>
        </p:nvSpPr>
        <p:spPr>
          <a:xfrm>
            <a:off x="7610400" y="3990960"/>
            <a:ext cx="9720" cy="390600"/>
          </a:xfrm>
          <a:custGeom>
            <a:avLst/>
            <a:gdLst/>
            <a:ahLst/>
            <a:cxnLst/>
            <a:rect l="0" t="0" r="r" b="b"/>
            <a:pathLst>
              <a:path w="27" h="1085">
                <a:moveTo>
                  <a:pt x="0" y="1085"/>
                </a:moveTo>
                <a:lnTo>
                  <a:pt x="0" y="0"/>
                </a:lnTo>
                <a:lnTo>
                  <a:pt x="27" y="0"/>
                </a:lnTo>
                <a:lnTo>
                  <a:pt x="27"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8" name="Figura a mano libera: forma 1187"/>
          <p:cNvSpPr/>
          <p:nvPr/>
        </p:nvSpPr>
        <p:spPr>
          <a:xfrm>
            <a:off x="7619760" y="3981240"/>
            <a:ext cx="1848240" cy="10080"/>
          </a:xfrm>
          <a:custGeom>
            <a:avLst/>
            <a:gdLst/>
            <a:ahLst/>
            <a:cxnLst/>
            <a:rect l="0" t="0" r="r" b="b"/>
            <a:pathLst>
              <a:path w="5134" h="28">
                <a:moveTo>
                  <a:pt x="0" y="0"/>
                </a:moveTo>
                <a:lnTo>
                  <a:pt x="5134" y="0"/>
                </a:lnTo>
                <a:lnTo>
                  <a:pt x="5134"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89" name="Figura a mano libera: forma 1188"/>
          <p:cNvSpPr/>
          <p:nvPr/>
        </p:nvSpPr>
        <p:spPr>
          <a:xfrm>
            <a:off x="9458280" y="3990960"/>
            <a:ext cx="9720" cy="390600"/>
          </a:xfrm>
          <a:custGeom>
            <a:avLst/>
            <a:gdLst/>
            <a:ahLst/>
            <a:cxnLst/>
            <a:rect l="0" t="0" r="r" b="b"/>
            <a:pathLst>
              <a:path w="27" h="1085">
                <a:moveTo>
                  <a:pt x="0" y="1085"/>
                </a:moveTo>
                <a:lnTo>
                  <a:pt x="0" y="0"/>
                </a:lnTo>
                <a:lnTo>
                  <a:pt x="27" y="0"/>
                </a:lnTo>
                <a:lnTo>
                  <a:pt x="27"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90" name="Figura a mano libera: forma 1189"/>
          <p:cNvSpPr/>
          <p:nvPr/>
        </p:nvSpPr>
        <p:spPr>
          <a:xfrm>
            <a:off x="9467640" y="3981240"/>
            <a:ext cx="1295640" cy="10080"/>
          </a:xfrm>
          <a:custGeom>
            <a:avLst/>
            <a:gdLst/>
            <a:ahLst/>
            <a:cxnLst/>
            <a:rect l="0" t="0" r="r" b="b"/>
            <a:pathLst>
              <a:path w="3599" h="28">
                <a:moveTo>
                  <a:pt x="0" y="0"/>
                </a:moveTo>
                <a:lnTo>
                  <a:pt x="3599" y="0"/>
                </a:lnTo>
                <a:lnTo>
                  <a:pt x="3599"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91" name="Figura a mano libera: forma 1190"/>
          <p:cNvSpPr/>
          <p:nvPr/>
        </p:nvSpPr>
        <p:spPr>
          <a:xfrm>
            <a:off x="10753560" y="3990960"/>
            <a:ext cx="9720" cy="390600"/>
          </a:xfrm>
          <a:custGeom>
            <a:avLst/>
            <a:gdLst/>
            <a:ahLst/>
            <a:cxnLst/>
            <a:rect l="0" t="0" r="r" b="b"/>
            <a:pathLst>
              <a:path w="27" h="1085">
                <a:moveTo>
                  <a:pt x="0" y="1085"/>
                </a:moveTo>
                <a:lnTo>
                  <a:pt x="0" y="0"/>
                </a:lnTo>
                <a:lnTo>
                  <a:pt x="27" y="0"/>
                </a:lnTo>
                <a:lnTo>
                  <a:pt x="27"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92" name="Figura a mano libera: forma 1191"/>
          <p:cNvSpPr/>
          <p:nvPr/>
        </p:nvSpPr>
        <p:spPr>
          <a:xfrm>
            <a:off x="975960" y="4576680"/>
            <a:ext cx="10544760" cy="1238400"/>
          </a:xfrm>
          <a:custGeom>
            <a:avLst/>
            <a:gdLst/>
            <a:ahLst/>
            <a:cxnLst/>
            <a:rect l="0" t="0" r="r" b="b"/>
            <a:pathLst>
              <a:path w="29291" h="3440">
                <a:moveTo>
                  <a:pt x="0" y="3348"/>
                </a:moveTo>
                <a:lnTo>
                  <a:pt x="0" y="92"/>
                </a:lnTo>
                <a:cubicBezTo>
                  <a:pt x="0" y="80"/>
                  <a:pt x="3" y="68"/>
                  <a:pt x="8" y="57"/>
                </a:cubicBezTo>
                <a:cubicBezTo>
                  <a:pt x="12" y="46"/>
                  <a:pt x="19" y="36"/>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6"/>
                  <a:pt x="29279" y="46"/>
                  <a:pt x="29284" y="57"/>
                </a:cubicBezTo>
                <a:cubicBezTo>
                  <a:pt x="29288" y="68"/>
                  <a:pt x="29291" y="80"/>
                  <a:pt x="29291" y="92"/>
                </a:cubicBezTo>
                <a:lnTo>
                  <a:pt x="29291" y="3348"/>
                </a:lnTo>
                <a:cubicBezTo>
                  <a:pt x="29291" y="3360"/>
                  <a:pt x="29288" y="3372"/>
                  <a:pt x="29284" y="3383"/>
                </a:cubicBezTo>
                <a:cubicBezTo>
                  <a:pt x="29279" y="3394"/>
                  <a:pt x="29272" y="3405"/>
                  <a:pt x="29264" y="3413"/>
                </a:cubicBezTo>
                <a:cubicBezTo>
                  <a:pt x="29255" y="3422"/>
                  <a:pt x="29245" y="3429"/>
                  <a:pt x="29234" y="3433"/>
                </a:cubicBezTo>
                <a:cubicBezTo>
                  <a:pt x="29222" y="3438"/>
                  <a:pt x="29211" y="3440"/>
                  <a:pt x="29198" y="3440"/>
                </a:cubicBezTo>
                <a:lnTo>
                  <a:pt x="93" y="3440"/>
                </a:lnTo>
                <a:cubicBezTo>
                  <a:pt x="81" y="3440"/>
                  <a:pt x="69" y="3438"/>
                  <a:pt x="58" y="3433"/>
                </a:cubicBezTo>
                <a:cubicBezTo>
                  <a:pt x="46" y="3429"/>
                  <a:pt x="36" y="3422"/>
                  <a:pt x="28" y="3413"/>
                </a:cubicBezTo>
                <a:cubicBezTo>
                  <a:pt x="19" y="3405"/>
                  <a:pt x="12" y="3394"/>
                  <a:pt x="8" y="3383"/>
                </a:cubicBezTo>
                <a:cubicBezTo>
                  <a:pt x="3" y="3372"/>
                  <a:pt x="0" y="3360"/>
                  <a:pt x="0" y="334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193" name="Figura a mano libera: forma 1192"/>
          <p:cNvSpPr/>
          <p:nvPr/>
        </p:nvSpPr>
        <p:spPr>
          <a:xfrm>
            <a:off x="975960" y="4576680"/>
            <a:ext cx="10544760" cy="1238400"/>
          </a:xfrm>
          <a:custGeom>
            <a:avLst/>
            <a:gdLst/>
            <a:ahLst/>
            <a:cxnLst/>
            <a:rect l="0" t="0" r="r" b="b"/>
            <a:pathLst>
              <a:path w="29291" h="3440">
                <a:moveTo>
                  <a:pt x="0" y="3348"/>
                </a:moveTo>
                <a:lnTo>
                  <a:pt x="0" y="92"/>
                </a:lnTo>
                <a:cubicBezTo>
                  <a:pt x="0" y="80"/>
                  <a:pt x="3" y="68"/>
                  <a:pt x="8" y="57"/>
                </a:cubicBezTo>
                <a:cubicBezTo>
                  <a:pt x="12" y="46"/>
                  <a:pt x="19" y="36"/>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6"/>
                  <a:pt x="29279" y="46"/>
                  <a:pt x="29284" y="57"/>
                </a:cubicBezTo>
                <a:cubicBezTo>
                  <a:pt x="29288" y="68"/>
                  <a:pt x="29291" y="80"/>
                  <a:pt x="29291" y="92"/>
                </a:cubicBezTo>
                <a:lnTo>
                  <a:pt x="29291" y="3348"/>
                </a:lnTo>
                <a:cubicBezTo>
                  <a:pt x="29291" y="3360"/>
                  <a:pt x="29288" y="3372"/>
                  <a:pt x="29284" y="3383"/>
                </a:cubicBezTo>
                <a:cubicBezTo>
                  <a:pt x="29279" y="3394"/>
                  <a:pt x="29272" y="3405"/>
                  <a:pt x="29264" y="3413"/>
                </a:cubicBezTo>
                <a:cubicBezTo>
                  <a:pt x="29255" y="3422"/>
                  <a:pt x="29245" y="3429"/>
                  <a:pt x="29234" y="3433"/>
                </a:cubicBezTo>
                <a:cubicBezTo>
                  <a:pt x="29222" y="3438"/>
                  <a:pt x="29211" y="3440"/>
                  <a:pt x="29198" y="3440"/>
                </a:cubicBezTo>
                <a:lnTo>
                  <a:pt x="93" y="3440"/>
                </a:lnTo>
                <a:cubicBezTo>
                  <a:pt x="81" y="3440"/>
                  <a:pt x="69" y="3438"/>
                  <a:pt x="58" y="3433"/>
                </a:cubicBezTo>
                <a:cubicBezTo>
                  <a:pt x="46" y="3429"/>
                  <a:pt x="36" y="3422"/>
                  <a:pt x="28" y="3413"/>
                </a:cubicBezTo>
                <a:cubicBezTo>
                  <a:pt x="19" y="3405"/>
                  <a:pt x="12" y="3394"/>
                  <a:pt x="8" y="3383"/>
                </a:cubicBezTo>
                <a:cubicBezTo>
                  <a:pt x="3" y="3372"/>
                  <a:pt x="0" y="3360"/>
                  <a:pt x="0" y="334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194" name="CasellaDiTesto 1193"/>
          <p:cNvSpPr txBox="1"/>
          <p:nvPr/>
        </p:nvSpPr>
        <p:spPr>
          <a:xfrm>
            <a:off x="971640" y="828720"/>
            <a:ext cx="96498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LE COMPENSAZIONI NEL CONSOLIDATO NAZIONALE (1)</a:t>
            </a:r>
            <a:endParaRPr lang="it-IT" sz="2850" b="0" u="none" strike="noStrike">
              <a:solidFill>
                <a:srgbClr val="000000"/>
              </a:solidFill>
              <a:effectLst/>
              <a:uFillTx/>
              <a:latin typeface="Times New Roman"/>
            </a:endParaRPr>
          </a:p>
        </p:txBody>
      </p:sp>
      <p:sp>
        <p:nvSpPr>
          <p:cNvPr id="1195" name="CasellaDiTesto 1194"/>
          <p:cNvSpPr txBox="1"/>
          <p:nvPr/>
        </p:nvSpPr>
        <p:spPr>
          <a:xfrm>
            <a:off x="971640" y="1574280"/>
            <a:ext cx="104425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Quadro normativo</a:t>
            </a:r>
            <a:r>
              <a:rPr lang="it-IT" sz="1650" b="0" u="none" strike="noStrike">
                <a:solidFill>
                  <a:srgbClr val="212529"/>
                </a:solidFill>
                <a:effectLst/>
                <a:uFillTx/>
                <a:latin typeface="SegoeUI"/>
                <a:ea typeface="SegoeUI"/>
              </a:rPr>
              <a:t> — artt. 117 ss. TUIR; </a:t>
            </a:r>
            <a:r>
              <a:rPr lang="it-IT" sz="1650" b="1" u="none" strike="noStrike">
                <a:solidFill>
                  <a:srgbClr val="00509E"/>
                </a:solidFill>
                <a:effectLst/>
                <a:uFillTx/>
                <a:latin typeface="SegoeUI"/>
                <a:ea typeface="SegoeUI"/>
              </a:rPr>
              <a:t>D.M. 1° marzo 2018</a:t>
            </a:r>
            <a:r>
              <a:rPr lang="it-IT" sz="1650" b="0" u="none" strike="noStrike">
                <a:solidFill>
                  <a:srgbClr val="212529"/>
                </a:solidFill>
                <a:effectLst/>
                <a:uFillTx/>
                <a:latin typeface="SegoeUI"/>
                <a:ea typeface="SegoeUI"/>
              </a:rPr>
              <a:t>, art. 7 (sostitutivo del D.M. 9 giugno 2004). La </a:t>
            </a:r>
            <a:r>
              <a:rPr lang="it-IT" sz="1650" b="0" i="1" u="none" strike="noStrike">
                <a:solidFill>
                  <a:srgbClr val="495057"/>
                </a:solidFill>
                <a:effectLst/>
                <a:uFillTx/>
                <a:latin typeface="SegoeUI"/>
                <a:ea typeface="SegoeUI"/>
              </a:rPr>
              <a:t>fiscal</a:t>
            </a:r>
            <a:endParaRPr lang="it-IT" sz="1650" b="0" u="none" strike="noStrike">
              <a:solidFill>
                <a:srgbClr val="000000"/>
              </a:solidFill>
              <a:effectLst/>
              <a:uFillTx/>
              <a:latin typeface="Times New Roman"/>
            </a:endParaRPr>
          </a:p>
        </p:txBody>
      </p:sp>
      <p:sp>
        <p:nvSpPr>
          <p:cNvPr id="1196" name="CasellaDiTesto 1195"/>
          <p:cNvSpPr txBox="1"/>
          <p:nvPr/>
        </p:nvSpPr>
        <p:spPr>
          <a:xfrm>
            <a:off x="971640" y="1897920"/>
            <a:ext cx="1023372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unit</a:t>
            </a:r>
            <a:r>
              <a:rPr lang="it-IT" sz="1650" b="0" u="none" strike="noStrike">
                <a:solidFill>
                  <a:srgbClr val="212529"/>
                </a:solidFill>
                <a:effectLst/>
                <a:uFillTx/>
                <a:latin typeface="SegoeUI"/>
                <a:ea typeface="SegoeUI"/>
              </a:rPr>
              <a:t> determina, in capo alla controllante, un'unica base imponibile e liquida l'IRES di gruppo nel </a:t>
            </a:r>
            <a:r>
              <a:rPr lang="it-IT" sz="1650" b="1" u="none" strike="noStrike">
                <a:solidFill>
                  <a:srgbClr val="00509E"/>
                </a:solidFill>
                <a:effectLst/>
                <a:uFillTx/>
                <a:latin typeface="SegoeUI"/>
                <a:ea typeface="SegoeUI"/>
              </a:rPr>
              <a:t>Modello CNM</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197" name="CasellaDiTesto 1196"/>
          <p:cNvSpPr txBox="1"/>
          <p:nvPr/>
        </p:nvSpPr>
        <p:spPr>
          <a:xfrm>
            <a:off x="1104840" y="2473200"/>
            <a:ext cx="819070" cy="196977"/>
          </a:xfrm>
          <a:prstGeom prst="rect">
            <a:avLst/>
          </a:prstGeom>
          <a:noFill/>
          <a:ln w="0">
            <a:noFill/>
          </a:ln>
        </p:spPr>
        <p:txBody>
          <a:bodyPr wrap="none" lIns="0" tIns="0" rIns="0" bIns="0" anchor="t">
            <a:spAutoFit/>
          </a:bodyPr>
          <a:lstStyle/>
          <a:p>
            <a:r>
              <a:rPr lang="it-IT" sz="1280" b="1" u="none" strike="noStrike" dirty="0">
                <a:solidFill>
                  <a:schemeClr val="bg1"/>
                </a:solidFill>
                <a:effectLst/>
                <a:uFillTx/>
                <a:latin typeface="SegoeUI"/>
                <a:ea typeface="SegoeUI"/>
              </a:rPr>
              <a:t>Fattispecie</a:t>
            </a:r>
            <a:endParaRPr lang="it-IT" sz="1280" b="0" u="none" strike="noStrike" dirty="0">
              <a:solidFill>
                <a:schemeClr val="bg1"/>
              </a:solidFill>
              <a:effectLst/>
              <a:uFillTx/>
              <a:latin typeface="Times New Roman"/>
            </a:endParaRPr>
          </a:p>
        </p:txBody>
      </p:sp>
      <p:sp>
        <p:nvSpPr>
          <p:cNvPr id="1198" name="CasellaDiTesto 1197"/>
          <p:cNvSpPr txBox="1"/>
          <p:nvPr/>
        </p:nvSpPr>
        <p:spPr>
          <a:xfrm>
            <a:off x="3954600" y="2473200"/>
            <a:ext cx="1652247" cy="196977"/>
          </a:xfrm>
          <a:prstGeom prst="rect">
            <a:avLst/>
          </a:prstGeom>
          <a:noFill/>
          <a:ln w="0">
            <a:noFill/>
          </a:ln>
        </p:spPr>
        <p:txBody>
          <a:bodyPr wrap="none" lIns="0" tIns="0" rIns="0" bIns="0" anchor="t">
            <a:spAutoFit/>
          </a:bodyPr>
          <a:lstStyle/>
          <a:p>
            <a:r>
              <a:rPr lang="it-IT" sz="1280" b="1" u="none" strike="noStrike" dirty="0">
                <a:solidFill>
                  <a:schemeClr val="bg1"/>
                </a:solidFill>
                <a:effectLst/>
                <a:uFillTx/>
                <a:latin typeface="SegoeUI"/>
                <a:ea typeface="SegoeUI"/>
              </a:rPr>
              <a:t>Norma di riferimento</a:t>
            </a:r>
            <a:endParaRPr lang="it-IT" sz="1280" b="0" u="none" strike="noStrike" dirty="0">
              <a:solidFill>
                <a:schemeClr val="bg1"/>
              </a:solidFill>
              <a:effectLst/>
              <a:uFillTx/>
              <a:latin typeface="Times New Roman"/>
            </a:endParaRPr>
          </a:p>
        </p:txBody>
      </p:sp>
      <p:sp>
        <p:nvSpPr>
          <p:cNvPr id="1199" name="CasellaDiTesto 1198"/>
          <p:cNvSpPr txBox="1"/>
          <p:nvPr/>
        </p:nvSpPr>
        <p:spPr>
          <a:xfrm>
            <a:off x="8316000" y="2473200"/>
            <a:ext cx="478657" cy="196977"/>
          </a:xfrm>
          <a:prstGeom prst="rect">
            <a:avLst/>
          </a:prstGeom>
          <a:noFill/>
          <a:ln w="0">
            <a:noFill/>
          </a:ln>
        </p:spPr>
        <p:txBody>
          <a:bodyPr wrap="none" lIns="0" tIns="0" rIns="0" bIns="0" anchor="t">
            <a:spAutoFit/>
          </a:bodyPr>
          <a:lstStyle/>
          <a:p>
            <a:r>
              <a:rPr lang="it-IT" sz="1280" b="1" u="none" strike="noStrike" dirty="0">
                <a:solidFill>
                  <a:schemeClr val="bg1"/>
                </a:solidFill>
                <a:effectLst/>
                <a:uFillTx/>
                <a:latin typeface="SegoeUI"/>
                <a:ea typeface="SegoeUI"/>
              </a:rPr>
              <a:t>Limite</a:t>
            </a:r>
            <a:endParaRPr lang="it-IT" sz="1280" b="0" u="none" strike="noStrike" dirty="0">
              <a:solidFill>
                <a:schemeClr val="bg1"/>
              </a:solidFill>
              <a:effectLst/>
              <a:uFillTx/>
              <a:latin typeface="Times New Roman"/>
            </a:endParaRPr>
          </a:p>
        </p:txBody>
      </p:sp>
      <p:sp>
        <p:nvSpPr>
          <p:cNvPr id="1200" name="CasellaDiTesto 1199"/>
          <p:cNvSpPr txBox="1"/>
          <p:nvPr/>
        </p:nvSpPr>
        <p:spPr>
          <a:xfrm>
            <a:off x="9927360" y="2473200"/>
            <a:ext cx="392095" cy="196977"/>
          </a:xfrm>
          <a:prstGeom prst="rect">
            <a:avLst/>
          </a:prstGeom>
          <a:noFill/>
          <a:ln w="0">
            <a:noFill/>
          </a:ln>
        </p:spPr>
        <p:txBody>
          <a:bodyPr wrap="none" lIns="0" tIns="0" rIns="0" bIns="0" anchor="t">
            <a:spAutoFit/>
          </a:bodyPr>
          <a:lstStyle/>
          <a:p>
            <a:r>
              <a:rPr lang="it-IT" sz="1280" b="1" u="none" strike="noStrike" dirty="0">
                <a:solidFill>
                  <a:schemeClr val="bg1"/>
                </a:solidFill>
                <a:effectLst/>
                <a:uFillTx/>
                <a:latin typeface="SegoeUI"/>
                <a:ea typeface="SegoeUI"/>
              </a:rPr>
              <a:t>Visto</a:t>
            </a:r>
            <a:endParaRPr lang="it-IT" sz="1280" b="0" u="none" strike="noStrike" dirty="0">
              <a:solidFill>
                <a:schemeClr val="bg1"/>
              </a:solidFill>
              <a:effectLst/>
              <a:uFillTx/>
              <a:latin typeface="Times New Roman"/>
            </a:endParaRPr>
          </a:p>
        </p:txBody>
      </p:sp>
      <p:sp>
        <p:nvSpPr>
          <p:cNvPr id="1201" name="CasellaDiTesto 1200"/>
          <p:cNvSpPr txBox="1"/>
          <p:nvPr/>
        </p:nvSpPr>
        <p:spPr>
          <a:xfrm>
            <a:off x="1104840" y="2852640"/>
            <a:ext cx="25948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Compensazione </a:t>
            </a:r>
            <a:r>
              <a:rPr lang="it-IT" sz="1430" b="0" i="1" u="none" strike="noStrike">
                <a:solidFill>
                  <a:srgbClr val="495057"/>
                </a:solidFill>
                <a:effectLst/>
                <a:uFillTx/>
                <a:latin typeface="SegoeUI"/>
                <a:ea typeface="SegoeUI"/>
              </a:rPr>
              <a:t>verticale interna</a:t>
            </a:r>
            <a:endParaRPr lang="it-IT" sz="1430" b="0" u="none" strike="noStrike">
              <a:solidFill>
                <a:srgbClr val="000000"/>
              </a:solidFill>
              <a:effectLst/>
              <a:uFillTx/>
              <a:latin typeface="Times New Roman"/>
            </a:endParaRPr>
          </a:p>
        </p:txBody>
      </p:sp>
      <p:sp>
        <p:nvSpPr>
          <p:cNvPr id="1202" name="CasellaDiTesto 1201"/>
          <p:cNvSpPr txBox="1"/>
          <p:nvPr/>
        </p:nvSpPr>
        <p:spPr>
          <a:xfrm>
            <a:off x="3954600" y="2852640"/>
            <a:ext cx="23925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art. 121 TUIR — </a:t>
            </a:r>
            <a:r>
              <a:rPr lang="it-IT" sz="1430" b="0" i="1" u="none" strike="noStrike">
                <a:solidFill>
                  <a:srgbClr val="495057"/>
                </a:solidFill>
                <a:effectLst/>
                <a:uFillTx/>
                <a:latin typeface="SegoeUI"/>
                <a:ea typeface="SegoeUI"/>
              </a:rPr>
              <a:t>idem debitum</a:t>
            </a:r>
            <a:endParaRPr lang="it-IT" sz="1430" b="0" u="none" strike="noStrike">
              <a:solidFill>
                <a:srgbClr val="000000"/>
              </a:solidFill>
              <a:effectLst/>
              <a:uFillTx/>
              <a:latin typeface="Times New Roman"/>
            </a:endParaRPr>
          </a:p>
        </p:txBody>
      </p:sp>
      <p:sp>
        <p:nvSpPr>
          <p:cNvPr id="1203" name="CasellaDiTesto 1202"/>
          <p:cNvSpPr txBox="1"/>
          <p:nvPr/>
        </p:nvSpPr>
        <p:spPr>
          <a:xfrm>
            <a:off x="8451000" y="2852640"/>
            <a:ext cx="1821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t>
            </a:r>
            <a:endParaRPr lang="it-IT" sz="1430" b="0" u="none" strike="noStrike">
              <a:solidFill>
                <a:srgbClr val="000000"/>
              </a:solidFill>
              <a:effectLst/>
              <a:uFillTx/>
              <a:latin typeface="Times New Roman"/>
            </a:endParaRPr>
          </a:p>
        </p:txBody>
      </p:sp>
      <p:sp>
        <p:nvSpPr>
          <p:cNvPr id="1204" name="CasellaDiTesto 1203"/>
          <p:cNvSpPr txBox="1"/>
          <p:nvPr/>
        </p:nvSpPr>
        <p:spPr>
          <a:xfrm>
            <a:off x="9594360" y="2852640"/>
            <a:ext cx="10386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non richiesto</a:t>
            </a:r>
            <a:endParaRPr lang="it-IT" sz="1430" b="0" u="none" strike="noStrike">
              <a:solidFill>
                <a:srgbClr val="000000"/>
              </a:solidFill>
              <a:effectLst/>
              <a:uFillTx/>
              <a:latin typeface="Times New Roman"/>
            </a:endParaRPr>
          </a:p>
        </p:txBody>
      </p:sp>
      <p:sp>
        <p:nvSpPr>
          <p:cNvPr id="1205" name="CasellaDiTesto 1204"/>
          <p:cNvSpPr txBox="1"/>
          <p:nvPr/>
        </p:nvSpPr>
        <p:spPr>
          <a:xfrm>
            <a:off x="1104840" y="3252600"/>
            <a:ext cx="25650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Cessione di crediti compensabili</a:t>
            </a:r>
            <a:endParaRPr lang="it-IT" sz="1430" b="0" u="none" strike="noStrike">
              <a:solidFill>
                <a:srgbClr val="000000"/>
              </a:solidFill>
              <a:effectLst/>
              <a:uFillTx/>
              <a:latin typeface="Times New Roman"/>
            </a:endParaRPr>
          </a:p>
        </p:txBody>
      </p:sp>
      <p:sp>
        <p:nvSpPr>
          <p:cNvPr id="1206" name="CasellaDiTesto 1205"/>
          <p:cNvSpPr txBox="1"/>
          <p:nvPr/>
        </p:nvSpPr>
        <p:spPr>
          <a:xfrm>
            <a:off x="3954600" y="3252600"/>
            <a:ext cx="35416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art. 7 lett. </a:t>
            </a:r>
            <a:r>
              <a:rPr lang="it-IT" sz="1430" b="0" i="1" u="none" strike="noStrike">
                <a:solidFill>
                  <a:srgbClr val="495057"/>
                </a:solidFill>
                <a:effectLst/>
                <a:uFillTx/>
                <a:latin typeface="SegoeUI"/>
                <a:ea typeface="SegoeUI"/>
              </a:rPr>
              <a:t>b</a:t>
            </a:r>
            <a:r>
              <a:rPr lang="it-IT" sz="1430" b="0" u="none" strike="noStrike">
                <a:solidFill>
                  <a:srgbClr val="212529"/>
                </a:solidFill>
                <a:effectLst/>
                <a:uFillTx/>
                <a:latin typeface="SegoeUI"/>
                <a:ea typeface="SegoeUI"/>
              </a:rPr>
              <a:t> DM 2018 + art. 17 D.Lgs. 241/97</a:t>
            </a:r>
            <a:endParaRPr lang="it-IT" sz="1430" b="0" u="none" strike="noStrike">
              <a:solidFill>
                <a:srgbClr val="000000"/>
              </a:solidFill>
              <a:effectLst/>
              <a:uFillTx/>
              <a:latin typeface="Times New Roman"/>
            </a:endParaRPr>
          </a:p>
        </p:txBody>
      </p:sp>
      <p:sp>
        <p:nvSpPr>
          <p:cNvPr id="1207" name="CasellaDiTesto 1206"/>
          <p:cNvSpPr txBox="1"/>
          <p:nvPr/>
        </p:nvSpPr>
        <p:spPr>
          <a:xfrm>
            <a:off x="7924680" y="3252600"/>
            <a:ext cx="12362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€ 2.000.000 </a:t>
            </a:r>
            <a:r>
              <a:rPr lang="it-IT" sz="1430" b="0" i="1" u="none" strike="noStrike">
                <a:solidFill>
                  <a:srgbClr val="495057"/>
                </a:solidFill>
                <a:effectLst/>
                <a:uFillTx/>
                <a:latin typeface="SegoeUI"/>
                <a:ea typeface="SegoeUI"/>
              </a:rPr>
              <a:t>p.a.</a:t>
            </a:r>
            <a:endParaRPr lang="it-IT" sz="1430" b="0" u="none" strike="noStrike">
              <a:solidFill>
                <a:srgbClr val="000000"/>
              </a:solidFill>
              <a:effectLst/>
              <a:uFillTx/>
              <a:latin typeface="Times New Roman"/>
            </a:endParaRPr>
          </a:p>
        </p:txBody>
      </p:sp>
      <p:sp>
        <p:nvSpPr>
          <p:cNvPr id="1208" name="CasellaDiTesto 1207"/>
          <p:cNvSpPr txBox="1"/>
          <p:nvPr/>
        </p:nvSpPr>
        <p:spPr>
          <a:xfrm>
            <a:off x="9774720" y="3252600"/>
            <a:ext cx="6775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richiesto</a:t>
            </a:r>
            <a:endParaRPr lang="it-IT" sz="1430" b="0" u="none" strike="noStrike">
              <a:solidFill>
                <a:srgbClr val="000000"/>
              </a:solidFill>
              <a:effectLst/>
              <a:uFillTx/>
              <a:latin typeface="Times New Roman"/>
            </a:endParaRPr>
          </a:p>
        </p:txBody>
      </p:sp>
      <p:sp>
        <p:nvSpPr>
          <p:cNvPr id="1209" name="CasellaDiTesto 1208"/>
          <p:cNvSpPr txBox="1"/>
          <p:nvPr/>
        </p:nvSpPr>
        <p:spPr>
          <a:xfrm>
            <a:off x="1104840" y="3662280"/>
            <a:ext cx="19918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Cessione eccedenze IRES</a:t>
            </a:r>
            <a:endParaRPr lang="it-IT" sz="1430" b="0" u="none" strike="noStrike">
              <a:solidFill>
                <a:srgbClr val="000000"/>
              </a:solidFill>
              <a:effectLst/>
              <a:uFillTx/>
              <a:latin typeface="Times New Roman"/>
            </a:endParaRPr>
          </a:p>
        </p:txBody>
      </p:sp>
      <p:sp>
        <p:nvSpPr>
          <p:cNvPr id="1210" name="CasellaDiTesto 1209"/>
          <p:cNvSpPr txBox="1"/>
          <p:nvPr/>
        </p:nvSpPr>
        <p:spPr>
          <a:xfrm>
            <a:off x="3954600" y="3662280"/>
            <a:ext cx="20955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art. 43-</a:t>
            </a:r>
            <a:r>
              <a:rPr lang="it-IT" sz="1430" b="0" i="1" u="none" strike="noStrike">
                <a:solidFill>
                  <a:srgbClr val="495057"/>
                </a:solidFill>
                <a:effectLst/>
                <a:uFillTx/>
                <a:latin typeface="SegoeUI"/>
                <a:ea typeface="SegoeUI"/>
              </a:rPr>
              <a:t>ter</a:t>
            </a:r>
            <a:r>
              <a:rPr lang="it-IT" sz="1430" b="0" u="none" strike="noStrike">
                <a:solidFill>
                  <a:srgbClr val="212529"/>
                </a:solidFill>
                <a:effectLst/>
                <a:uFillTx/>
                <a:latin typeface="SegoeUI"/>
                <a:ea typeface="SegoeUI"/>
              </a:rPr>
              <a:t> D.P.R. 602/1973</a:t>
            </a:r>
            <a:endParaRPr lang="it-IT" sz="1430" b="0" u="none" strike="noStrike">
              <a:solidFill>
                <a:srgbClr val="000000"/>
              </a:solidFill>
              <a:effectLst/>
              <a:uFillTx/>
              <a:latin typeface="Times New Roman"/>
            </a:endParaRPr>
          </a:p>
        </p:txBody>
      </p:sp>
      <p:sp>
        <p:nvSpPr>
          <p:cNvPr id="1211" name="CasellaDiTesto 1210"/>
          <p:cNvSpPr txBox="1"/>
          <p:nvPr/>
        </p:nvSpPr>
        <p:spPr>
          <a:xfrm>
            <a:off x="7838280" y="3662280"/>
            <a:ext cx="14101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nessuno specifico</a:t>
            </a:r>
            <a:endParaRPr lang="it-IT" sz="1430" b="0" u="none" strike="noStrike">
              <a:solidFill>
                <a:srgbClr val="000000"/>
              </a:solidFill>
              <a:effectLst/>
              <a:uFillTx/>
              <a:latin typeface="Times New Roman"/>
            </a:endParaRPr>
          </a:p>
        </p:txBody>
      </p:sp>
      <p:sp>
        <p:nvSpPr>
          <p:cNvPr id="1212" name="CasellaDiTesto 1211"/>
          <p:cNvSpPr txBox="1"/>
          <p:nvPr/>
        </p:nvSpPr>
        <p:spPr>
          <a:xfrm>
            <a:off x="9774720" y="3662280"/>
            <a:ext cx="6775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richiesto</a:t>
            </a:r>
            <a:endParaRPr lang="it-IT" sz="1430" b="0" u="none" strike="noStrike">
              <a:solidFill>
                <a:srgbClr val="000000"/>
              </a:solidFill>
              <a:effectLst/>
              <a:uFillTx/>
              <a:latin typeface="Times New Roman"/>
            </a:endParaRPr>
          </a:p>
        </p:txBody>
      </p:sp>
      <p:sp>
        <p:nvSpPr>
          <p:cNvPr id="1213" name="CasellaDiTesto 1212"/>
          <p:cNvSpPr txBox="1"/>
          <p:nvPr/>
        </p:nvSpPr>
        <p:spPr>
          <a:xfrm>
            <a:off x="1104840" y="4062240"/>
            <a:ext cx="25646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Trasferimento crediti agevolativi</a:t>
            </a:r>
            <a:endParaRPr lang="it-IT" sz="1430" b="0" u="none" strike="noStrike">
              <a:solidFill>
                <a:srgbClr val="000000"/>
              </a:solidFill>
              <a:effectLst/>
              <a:uFillTx/>
              <a:latin typeface="Times New Roman"/>
            </a:endParaRPr>
          </a:p>
        </p:txBody>
      </p:sp>
      <p:sp>
        <p:nvSpPr>
          <p:cNvPr id="1214" name="CasellaDiTesto 1213"/>
          <p:cNvSpPr txBox="1"/>
          <p:nvPr/>
        </p:nvSpPr>
        <p:spPr>
          <a:xfrm>
            <a:off x="3954600" y="4062240"/>
            <a:ext cx="27856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art. 121 D.L. 34/2020 (</a:t>
            </a:r>
            <a:r>
              <a:rPr lang="it-IT" sz="1430" b="0" i="1" u="none" strike="noStrike">
                <a:solidFill>
                  <a:srgbClr val="495057"/>
                </a:solidFill>
                <a:effectLst/>
                <a:uFillTx/>
                <a:latin typeface="SegoeUI"/>
                <a:ea typeface="SegoeUI"/>
              </a:rPr>
              <a:t>bonus</a:t>
            </a:r>
            <a:r>
              <a:rPr lang="it-IT" sz="1430" b="0" u="none" strike="noStrike">
                <a:solidFill>
                  <a:srgbClr val="212529"/>
                </a:solidFill>
                <a:effectLst/>
                <a:uFillTx/>
                <a:latin typeface="SegoeUI"/>
                <a:ea typeface="SegoeUI"/>
              </a:rPr>
              <a:t> edilizi)</a:t>
            </a:r>
            <a:endParaRPr lang="it-IT" sz="1430" b="0" u="none" strike="noStrike">
              <a:solidFill>
                <a:srgbClr val="000000"/>
              </a:solidFill>
              <a:effectLst/>
              <a:uFillTx/>
              <a:latin typeface="Times New Roman"/>
            </a:endParaRPr>
          </a:p>
        </p:txBody>
      </p:sp>
      <p:sp>
        <p:nvSpPr>
          <p:cNvPr id="1215" name="CasellaDiTesto 1214"/>
          <p:cNvSpPr txBox="1"/>
          <p:nvPr/>
        </p:nvSpPr>
        <p:spPr>
          <a:xfrm>
            <a:off x="7745760" y="4062240"/>
            <a:ext cx="15958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esente dai limiti F24</a:t>
            </a:r>
            <a:endParaRPr lang="it-IT" sz="1430" b="0" u="none" strike="noStrike">
              <a:solidFill>
                <a:srgbClr val="000000"/>
              </a:solidFill>
              <a:effectLst/>
              <a:uFillTx/>
              <a:latin typeface="Times New Roman"/>
            </a:endParaRPr>
          </a:p>
        </p:txBody>
      </p:sp>
      <p:sp>
        <p:nvSpPr>
          <p:cNvPr id="1216" name="CasellaDiTesto 1215"/>
          <p:cNvSpPr txBox="1"/>
          <p:nvPr/>
        </p:nvSpPr>
        <p:spPr>
          <a:xfrm>
            <a:off x="9594360" y="4062240"/>
            <a:ext cx="10386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non richiesto</a:t>
            </a:r>
            <a:endParaRPr lang="it-IT" sz="1430" b="0" u="none" strike="noStrike">
              <a:solidFill>
                <a:srgbClr val="000000"/>
              </a:solidFill>
              <a:effectLst/>
              <a:uFillTx/>
              <a:latin typeface="Times New Roman"/>
            </a:endParaRPr>
          </a:p>
        </p:txBody>
      </p:sp>
      <p:sp>
        <p:nvSpPr>
          <p:cNvPr id="1217" name="CasellaDiTesto 1216"/>
          <p:cNvSpPr txBox="1"/>
          <p:nvPr/>
        </p:nvSpPr>
        <p:spPr>
          <a:xfrm>
            <a:off x="1209600" y="4776120"/>
            <a:ext cx="9700560" cy="253440"/>
          </a:xfrm>
          <a:prstGeom prst="rect">
            <a:avLst/>
          </a:prstGeom>
          <a:noFill/>
          <a:ln w="0">
            <a:noFill/>
          </a:ln>
        </p:spPr>
        <p:txBody>
          <a:bodyPr wrap="none" lIns="0" tIns="0" rIns="0" bIns="0" anchor="t">
            <a:spAutoFit/>
          </a:bodyPr>
          <a:lstStyle/>
          <a:p>
            <a:r>
              <a:rPr lang="it-IT" sz="1500" b="0" i="1" u="none" strike="noStrike">
                <a:solidFill>
                  <a:srgbClr val="495057"/>
                </a:solidFill>
                <a:effectLst/>
                <a:uFillTx/>
                <a:latin typeface="SegoeUI"/>
                <a:ea typeface="SegoeUI"/>
              </a:rPr>
              <a:t>Norma cardine</a:t>
            </a:r>
            <a:r>
              <a:rPr lang="it-IT" sz="1500" b="0" u="none" strike="noStrike">
                <a:solidFill>
                  <a:srgbClr val="343A40"/>
                </a:solidFill>
                <a:effectLst/>
                <a:uFillTx/>
                <a:latin typeface="SegoeUI"/>
                <a:ea typeface="SegoeUI"/>
              </a:rPr>
              <a:t> — Art. 7, lett. </a:t>
            </a:r>
            <a:r>
              <a:rPr lang="it-IT" sz="1500" b="0" i="1" u="none" strike="noStrike">
                <a:solidFill>
                  <a:srgbClr val="495057"/>
                </a:solidFill>
                <a:effectLst/>
                <a:uFillTx/>
                <a:latin typeface="SegoeUI"/>
                <a:ea typeface="SegoeUI"/>
              </a:rPr>
              <a:t>b</a:t>
            </a:r>
            <a:r>
              <a:rPr lang="it-IT" sz="1500" b="0" u="none" strike="noStrike">
                <a:solidFill>
                  <a:srgbClr val="343A40"/>
                </a:solidFill>
                <a:effectLst/>
                <a:uFillTx/>
                <a:latin typeface="SegoeUI"/>
                <a:ea typeface="SegoeUI"/>
              </a:rPr>
              <a:t>, DM 2018: </a:t>
            </a:r>
            <a:r>
              <a:rPr lang="it-IT" sz="1500" b="0" i="1" u="none" strike="noStrike">
                <a:solidFill>
                  <a:srgbClr val="495057"/>
                </a:solidFill>
                <a:effectLst/>
                <a:uFillTx/>
                <a:latin typeface="SegoeUI"/>
                <a:ea typeface="SegoeUI"/>
              </a:rPr>
              <a:t>«ciascun soggetto può cedere, ai fini della compensazione con l'IRES dovuta</a:t>
            </a:r>
            <a:endParaRPr lang="it-IT" sz="1500" b="0" u="none" strike="noStrike">
              <a:solidFill>
                <a:srgbClr val="000000"/>
              </a:solidFill>
              <a:effectLst/>
              <a:uFillTx/>
              <a:latin typeface="Times New Roman"/>
            </a:endParaRPr>
          </a:p>
        </p:txBody>
      </p:sp>
      <p:sp>
        <p:nvSpPr>
          <p:cNvPr id="1218" name="CasellaDiTesto 1217"/>
          <p:cNvSpPr txBox="1"/>
          <p:nvPr/>
        </p:nvSpPr>
        <p:spPr>
          <a:xfrm>
            <a:off x="1209600" y="5071320"/>
            <a:ext cx="10040760" cy="253440"/>
          </a:xfrm>
          <a:prstGeom prst="rect">
            <a:avLst/>
          </a:prstGeom>
          <a:noFill/>
          <a:ln w="0">
            <a:noFill/>
          </a:ln>
        </p:spPr>
        <p:txBody>
          <a:bodyPr wrap="none" lIns="0" tIns="0" rIns="0" bIns="0" anchor="t">
            <a:spAutoFit/>
          </a:bodyPr>
          <a:lstStyle/>
          <a:p>
            <a:r>
              <a:rPr lang="it-IT" sz="1500" b="0" i="1" u="none" strike="noStrike">
                <a:solidFill>
                  <a:srgbClr val="495057"/>
                </a:solidFill>
                <a:effectLst/>
                <a:uFillTx/>
                <a:latin typeface="SegoeUI"/>
                <a:ea typeface="SegoeUI"/>
              </a:rPr>
              <a:t>dalla consolidante, i crediti utilizzabili in compensazione ai sensi dell'art. 17 [...] nonché le eccedenze di imposta ricevute ai</a:t>
            </a:r>
            <a:endParaRPr lang="it-IT" sz="1500" b="0" u="none" strike="noStrike">
              <a:solidFill>
                <a:srgbClr val="000000"/>
              </a:solidFill>
              <a:effectLst/>
              <a:uFillTx/>
              <a:latin typeface="Times New Roman"/>
            </a:endParaRPr>
          </a:p>
        </p:txBody>
      </p:sp>
      <p:sp>
        <p:nvSpPr>
          <p:cNvPr id="1219" name="Figura a mano libera: forma 1218"/>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20" name="CasellaDiTesto 1219"/>
          <p:cNvSpPr txBox="1"/>
          <p:nvPr/>
        </p:nvSpPr>
        <p:spPr>
          <a:xfrm>
            <a:off x="1209600" y="5366520"/>
            <a:ext cx="1759680" cy="253440"/>
          </a:xfrm>
          <a:prstGeom prst="rect">
            <a:avLst/>
          </a:prstGeom>
          <a:noFill/>
          <a:ln w="0">
            <a:noFill/>
          </a:ln>
        </p:spPr>
        <p:txBody>
          <a:bodyPr wrap="none" lIns="0" tIns="0" rIns="0" bIns="0" anchor="t">
            <a:spAutoFit/>
          </a:bodyPr>
          <a:lstStyle/>
          <a:p>
            <a:r>
              <a:rPr lang="it-IT" sz="1500" b="0" i="1" u="none" strike="noStrike">
                <a:solidFill>
                  <a:srgbClr val="495057"/>
                </a:solidFill>
                <a:effectLst/>
                <a:uFillTx/>
                <a:latin typeface="SegoeUI"/>
                <a:ea typeface="SegoeUI"/>
              </a:rPr>
              <a:t>sensi dell'art. 43-ter»</a:t>
            </a:r>
            <a:r>
              <a:rPr lang="it-IT" sz="1500" b="0" u="none" strike="noStrike">
                <a:solidFill>
                  <a:srgbClr val="343A40"/>
                </a:solidFill>
                <a:effectLst/>
                <a:uFillTx/>
                <a:latin typeface="SegoeUI"/>
                <a:ea typeface="SegoeUI"/>
              </a:rPr>
              <a:t>.</a:t>
            </a:r>
            <a:endParaRPr lang="it-IT" sz="1500" b="0" u="none" strike="noStrike">
              <a:solidFill>
                <a:srgbClr val="000000"/>
              </a:solidFill>
              <a:effectLst/>
              <a:uFillTx/>
              <a:latin typeface="Times New Roman"/>
            </a:endParaRPr>
          </a:p>
        </p:txBody>
      </p:sp>
      <p:sp>
        <p:nvSpPr>
          <p:cNvPr id="1221" name="Figura a mano libera: forma 1220"/>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22" name="CasellaDiTesto 1221"/>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223" name="CasellaDiTesto 1222"/>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41 / 73</a:t>
            </a:r>
            <a:endParaRPr lang="it-IT" sz="980" b="0" u="none" strike="noStrike">
              <a:solidFill>
                <a:srgbClr val="000000"/>
              </a:solidFill>
              <a:effectLst/>
              <a:uFillTx/>
              <a:latin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4" name="Figura a mano libera: forma 122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25" name="Figura a mano libera: forma 122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26" name="Figura a mano libera: forma 1225"/>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27" name="Figura a mano libera: forma 1226"/>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28" name="Figura a mano libera: forma 1227"/>
          <p:cNvSpPr/>
          <p:nvPr/>
        </p:nvSpPr>
        <p:spPr>
          <a:xfrm>
            <a:off x="971280" y="1990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29" name="Figura a mano libera: forma 1228"/>
          <p:cNvSpPr/>
          <p:nvPr/>
        </p:nvSpPr>
        <p:spPr>
          <a:xfrm>
            <a:off x="1028520" y="223812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5"/>
                  <a:pt x="65" y="9"/>
                </a:cubicBezTo>
                <a:cubicBezTo>
                  <a:pt x="78" y="3"/>
                  <a:pt x="92" y="0"/>
                  <a:pt x="106" y="0"/>
                </a:cubicBezTo>
                <a:cubicBezTo>
                  <a:pt x="120" y="0"/>
                  <a:pt x="133" y="3"/>
                  <a:pt x="146" y="9"/>
                </a:cubicBezTo>
                <a:cubicBezTo>
                  <a:pt x="159" y="15"/>
                  <a:pt x="171" y="22"/>
                  <a:pt x="181" y="32"/>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30" name="CasellaDiTesto 1229"/>
          <p:cNvSpPr txBox="1"/>
          <p:nvPr/>
        </p:nvSpPr>
        <p:spPr>
          <a:xfrm>
            <a:off x="971640" y="1380960"/>
            <a:ext cx="96498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LE COMPENSAZIONI NEL CONSOLIDATO NAZIONALE (2)</a:t>
            </a:r>
            <a:endParaRPr lang="it-IT" sz="2850" b="0" u="none" strike="noStrike">
              <a:solidFill>
                <a:srgbClr val="000000"/>
              </a:solidFill>
              <a:effectLst/>
              <a:uFillTx/>
              <a:latin typeface="Times New Roman"/>
            </a:endParaRPr>
          </a:p>
        </p:txBody>
      </p:sp>
      <p:sp>
        <p:nvSpPr>
          <p:cNvPr id="1231" name="CasellaDiTesto 1230"/>
          <p:cNvSpPr txBox="1"/>
          <p:nvPr/>
        </p:nvSpPr>
        <p:spPr>
          <a:xfrm>
            <a:off x="1238400" y="2127240"/>
            <a:ext cx="101610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Compensazione interna</a:t>
            </a:r>
            <a:r>
              <a:rPr lang="it-IT" sz="1580" b="0" u="none" strike="noStrike">
                <a:solidFill>
                  <a:srgbClr val="343A40"/>
                </a:solidFill>
                <a:effectLst/>
                <a:uFillTx/>
                <a:latin typeface="SegoeUI"/>
                <a:ea typeface="SegoeUI"/>
              </a:rPr>
              <a:t> (Circ. AdE n. 29/E/2010; Ris. n. 218/E/2003): non rientra nell'art. 17 D.Lgs. 241/97, </a:t>
            </a:r>
            <a:r>
              <a:rPr lang="it-IT" sz="1580" b="0" i="1" u="none" strike="noStrike">
                <a:solidFill>
                  <a:srgbClr val="495057"/>
                </a:solidFill>
                <a:effectLst/>
                <a:uFillTx/>
                <a:latin typeface="SegoeUI"/>
                <a:ea typeface="SegoeUI"/>
              </a:rPr>
              <a:t>ancorché</a:t>
            </a:r>
            <a:endParaRPr lang="it-IT" sz="1580" b="0" u="none" strike="noStrike">
              <a:solidFill>
                <a:srgbClr val="000000"/>
              </a:solidFill>
              <a:effectLst/>
              <a:uFillTx/>
              <a:latin typeface="Times New Roman"/>
            </a:endParaRPr>
          </a:p>
        </p:txBody>
      </p:sp>
      <p:sp>
        <p:nvSpPr>
          <p:cNvPr id="1232" name="Figura a mano libera: forma 1231"/>
          <p:cNvSpPr/>
          <p:nvPr/>
        </p:nvSpPr>
        <p:spPr>
          <a:xfrm>
            <a:off x="1028520" y="3028680"/>
            <a:ext cx="76680" cy="76680"/>
          </a:xfrm>
          <a:custGeom>
            <a:avLst/>
            <a:gdLst/>
            <a:ahLst/>
            <a:cxnLst/>
            <a:rect l="0" t="0" r="r" b="b"/>
            <a:pathLst>
              <a:path w="213" h="213">
                <a:moveTo>
                  <a:pt x="213" y="106"/>
                </a:moveTo>
                <a:cubicBezTo>
                  <a:pt x="213" y="120"/>
                  <a:pt x="210" y="135"/>
                  <a:pt x="205" y="148"/>
                </a:cubicBezTo>
                <a:cubicBezTo>
                  <a:pt x="198" y="161"/>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1"/>
                  <a:pt x="8" y="148"/>
                </a:cubicBezTo>
                <a:cubicBezTo>
                  <a:pt x="3" y="135"/>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33" name="CasellaDiTesto 1232"/>
          <p:cNvSpPr txBox="1"/>
          <p:nvPr/>
        </p:nvSpPr>
        <p:spPr>
          <a:xfrm>
            <a:off x="1238400" y="2441520"/>
            <a:ext cx="38077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esposta in F24 → inapplicabili limite e visto.</a:t>
            </a:r>
            <a:endParaRPr lang="it-IT" sz="1580" b="0" u="none" strike="noStrike">
              <a:solidFill>
                <a:srgbClr val="000000"/>
              </a:solidFill>
              <a:effectLst/>
              <a:uFillTx/>
              <a:latin typeface="Times New Roman"/>
            </a:endParaRPr>
          </a:p>
        </p:txBody>
      </p:sp>
      <p:sp>
        <p:nvSpPr>
          <p:cNvPr id="1234" name="CasellaDiTesto 1233"/>
          <p:cNvSpPr txBox="1"/>
          <p:nvPr/>
        </p:nvSpPr>
        <p:spPr>
          <a:xfrm>
            <a:off x="1238400" y="2917800"/>
            <a:ext cx="102474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Cessione di crediti</a:t>
            </a:r>
            <a:r>
              <a:rPr lang="it-IT" sz="1580" b="0" u="none" strike="noStrike">
                <a:solidFill>
                  <a:srgbClr val="343A40"/>
                </a:solidFill>
                <a:effectLst/>
                <a:uFillTx/>
                <a:latin typeface="SegoeUI"/>
                <a:ea typeface="SegoeUI"/>
              </a:rPr>
              <a:t> (Risp. AdE n. 220/2023): impiego </a:t>
            </a:r>
            <a:r>
              <a:rPr lang="it-IT" sz="1580" b="0" i="1" u="none" strike="noStrike">
                <a:solidFill>
                  <a:srgbClr val="495057"/>
                </a:solidFill>
                <a:effectLst/>
                <a:uFillTx/>
                <a:latin typeface="SegoeUI"/>
                <a:ea typeface="SegoeUI"/>
              </a:rPr>
              <a:t>exclusively</a:t>
            </a:r>
            <a:r>
              <a:rPr lang="it-IT" sz="1580" b="0" u="none" strike="noStrike">
                <a:solidFill>
                  <a:srgbClr val="343A40"/>
                </a:solidFill>
                <a:effectLst/>
                <a:uFillTx/>
                <a:latin typeface="SegoeUI"/>
                <a:ea typeface="SegoeUI"/>
              </a:rPr>
              <a:t> per IRES di gruppo (saldo + acconto), </a:t>
            </a:r>
            <a:r>
              <a:rPr lang="it-IT" sz="1580" b="1" u="none" strike="noStrike">
                <a:solidFill>
                  <a:srgbClr val="00509E"/>
                </a:solidFill>
                <a:effectLst/>
                <a:uFillTx/>
                <a:latin typeface="SegoeUI"/>
                <a:ea typeface="SegoeUI"/>
              </a:rPr>
              <a:t>senza residuo</a:t>
            </a:r>
            <a:endParaRPr lang="it-IT" sz="1580" b="0" u="none" strike="noStrike">
              <a:solidFill>
                <a:srgbClr val="000000"/>
              </a:solidFill>
              <a:effectLst/>
              <a:uFillTx/>
              <a:latin typeface="Times New Roman"/>
            </a:endParaRPr>
          </a:p>
        </p:txBody>
      </p:sp>
      <p:sp>
        <p:nvSpPr>
          <p:cNvPr id="1235" name="Figura a mano libera: forma 1234"/>
          <p:cNvSpPr/>
          <p:nvPr/>
        </p:nvSpPr>
        <p:spPr>
          <a:xfrm>
            <a:off x="1028520" y="38192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36" name="CasellaDiTesto 1235"/>
          <p:cNvSpPr txBox="1"/>
          <p:nvPr/>
        </p:nvSpPr>
        <p:spPr>
          <a:xfrm>
            <a:off x="1238400" y="3232080"/>
            <a:ext cx="59558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in capo alla consolidante. Soglia elevata a € 2 mln dalla L. 234/2021.</a:t>
            </a:r>
            <a:endParaRPr lang="it-IT" sz="1580" b="0" u="none" strike="noStrike">
              <a:solidFill>
                <a:srgbClr val="000000"/>
              </a:solidFill>
              <a:effectLst/>
              <a:uFillTx/>
              <a:latin typeface="Times New Roman"/>
            </a:endParaRPr>
          </a:p>
        </p:txBody>
      </p:sp>
      <p:sp>
        <p:nvSpPr>
          <p:cNvPr id="1237" name="CasellaDiTesto 1236"/>
          <p:cNvSpPr txBox="1"/>
          <p:nvPr/>
        </p:nvSpPr>
        <p:spPr>
          <a:xfrm>
            <a:off x="1238400" y="3708360"/>
            <a:ext cx="99730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Visto di conformità</a:t>
            </a:r>
            <a:r>
              <a:rPr lang="it-IT" sz="1580" b="0" u="none" strike="noStrike">
                <a:solidFill>
                  <a:srgbClr val="343A40"/>
                </a:solidFill>
                <a:effectLst/>
                <a:uFillTx/>
                <a:latin typeface="SegoeUI"/>
                <a:ea typeface="SegoeUI"/>
              </a:rPr>
              <a:t> (Risp. n. 190/2024): dovuto sulla dichiarazione IVA della consolidata e sul Modello CNM; </a:t>
            </a:r>
            <a:r>
              <a:rPr lang="it-IT" sz="1580" b="0" i="1" u="none" strike="noStrike">
                <a:solidFill>
                  <a:srgbClr val="495057"/>
                </a:solidFill>
                <a:effectLst/>
                <a:uFillTx/>
                <a:latin typeface="SegoeUI"/>
                <a:ea typeface="SegoeUI"/>
              </a:rPr>
              <a:t>non</a:t>
            </a:r>
            <a:endParaRPr lang="it-IT" sz="1580" b="0" u="none" strike="noStrike">
              <a:solidFill>
                <a:srgbClr val="000000"/>
              </a:solidFill>
              <a:effectLst/>
              <a:uFillTx/>
              <a:latin typeface="Times New Roman"/>
            </a:endParaRPr>
          </a:p>
        </p:txBody>
      </p:sp>
      <p:sp>
        <p:nvSpPr>
          <p:cNvPr id="1238" name="Figura a mano libera: forma 1237"/>
          <p:cNvSpPr/>
          <p:nvPr/>
        </p:nvSpPr>
        <p:spPr>
          <a:xfrm>
            <a:off x="1028520" y="4609800"/>
            <a:ext cx="76680" cy="76680"/>
          </a:xfrm>
          <a:custGeom>
            <a:avLst/>
            <a:gdLst/>
            <a:ahLst/>
            <a:cxnLst/>
            <a:rect l="0" t="0" r="r" b="b"/>
            <a:pathLst>
              <a:path w="213" h="213">
                <a:moveTo>
                  <a:pt x="213" y="106"/>
                </a:moveTo>
                <a:cubicBezTo>
                  <a:pt x="213" y="120"/>
                  <a:pt x="210" y="134"/>
                  <a:pt x="205" y="147"/>
                </a:cubicBezTo>
                <a:cubicBezTo>
                  <a:pt x="198" y="160"/>
                  <a:pt x="191" y="171"/>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39" name="CasellaDiTesto 1238"/>
          <p:cNvSpPr txBox="1"/>
          <p:nvPr/>
        </p:nvSpPr>
        <p:spPr>
          <a:xfrm>
            <a:off x="1238400" y="4022640"/>
            <a:ext cx="8078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sulla dichiarazione redditi della consolidata (funzione meramente </a:t>
            </a:r>
            <a:r>
              <a:rPr lang="it-IT" sz="1580" b="0" i="1" u="none" strike="noStrike">
                <a:solidFill>
                  <a:srgbClr val="495057"/>
                </a:solidFill>
                <a:effectLst/>
                <a:uFillTx/>
                <a:latin typeface="SegoeUI"/>
                <a:ea typeface="SegoeUI"/>
              </a:rPr>
              <a:t>espositiva</a:t>
            </a:r>
            <a:r>
              <a:rPr lang="it-IT" sz="1580" b="0" u="none" strike="noStrike">
                <a:solidFill>
                  <a:srgbClr val="343A40"/>
                </a:solidFill>
                <a:effectLst/>
                <a:uFillTx/>
                <a:latin typeface="SegoeUI"/>
                <a:ea typeface="SegoeUI"/>
              </a:rPr>
              <a:t> del quadro GN).</a:t>
            </a:r>
            <a:endParaRPr lang="it-IT" sz="1580" b="0" u="none" strike="noStrike">
              <a:solidFill>
                <a:srgbClr val="000000"/>
              </a:solidFill>
              <a:effectLst/>
              <a:uFillTx/>
              <a:latin typeface="Times New Roman"/>
            </a:endParaRPr>
          </a:p>
        </p:txBody>
      </p:sp>
      <p:sp>
        <p:nvSpPr>
          <p:cNvPr id="1240" name="CasellaDiTesto 1239"/>
          <p:cNvSpPr txBox="1"/>
          <p:nvPr/>
        </p:nvSpPr>
        <p:spPr>
          <a:xfrm>
            <a:off x="1238400" y="4498920"/>
            <a:ext cx="97484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Crediti agevolativi</a:t>
            </a:r>
            <a:r>
              <a:rPr lang="it-IT" sz="1580" b="0" u="none" strike="noStrike">
                <a:solidFill>
                  <a:srgbClr val="343A40"/>
                </a:solidFill>
                <a:effectLst/>
                <a:uFillTx/>
                <a:latin typeface="SegoeUI"/>
                <a:ea typeface="SegoeUI"/>
              </a:rPr>
              <a:t> (Ris. n. 45/E/2022): il trasferimento al CNM </a:t>
            </a:r>
            <a:r>
              <a:rPr lang="it-IT" sz="1580" b="0" i="1" u="none" strike="noStrike">
                <a:solidFill>
                  <a:srgbClr val="495057"/>
                </a:solidFill>
                <a:effectLst/>
                <a:uFillTx/>
                <a:latin typeface="SegoeUI"/>
                <a:ea typeface="SegoeUI"/>
              </a:rPr>
              <a:t>non</a:t>
            </a:r>
            <a:r>
              <a:rPr lang="it-IT" sz="1580" b="0" u="none" strike="noStrike">
                <a:solidFill>
                  <a:srgbClr val="343A40"/>
                </a:solidFill>
                <a:effectLst/>
                <a:uFillTx/>
                <a:latin typeface="SegoeUI"/>
                <a:ea typeface="SegoeUI"/>
              </a:rPr>
              <a:t> configura cessione a terzi, ma </a:t>
            </a:r>
            <a:r>
              <a:rPr lang="it-IT" sz="1580" b="0" i="1" u="none" strike="noStrike">
                <a:solidFill>
                  <a:srgbClr val="495057"/>
                </a:solidFill>
                <a:effectLst/>
                <a:uFillTx/>
                <a:latin typeface="SegoeUI"/>
                <a:ea typeface="SegoeUI"/>
              </a:rPr>
              <a:t>traslazione di</a:t>
            </a:r>
            <a:endParaRPr lang="it-IT" sz="1580" b="0" u="none" strike="noStrike">
              <a:solidFill>
                <a:srgbClr val="000000"/>
              </a:solidFill>
              <a:effectLst/>
              <a:uFillTx/>
              <a:latin typeface="Times New Roman"/>
            </a:endParaRPr>
          </a:p>
        </p:txBody>
      </p:sp>
      <p:sp>
        <p:nvSpPr>
          <p:cNvPr id="1241" name="Figura a mano libera: forma 124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42" name="CasellaDiTesto 1241"/>
          <p:cNvSpPr txBox="1"/>
          <p:nvPr/>
        </p:nvSpPr>
        <p:spPr>
          <a:xfrm>
            <a:off x="1238400" y="4813200"/>
            <a:ext cx="655020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posizione soggettiva</a:t>
            </a:r>
            <a:r>
              <a:rPr lang="it-IT" sz="1580" b="0" u="none" strike="noStrike">
                <a:solidFill>
                  <a:srgbClr val="343A40"/>
                </a:solidFill>
                <a:effectLst/>
                <a:uFillTx/>
                <a:latin typeface="SegoeUI"/>
                <a:ea typeface="SegoeUI"/>
              </a:rPr>
              <a:t> — esente da art. 31 D.L. 78/2010 e art. 34 L. 388/2000.</a:t>
            </a:r>
            <a:endParaRPr lang="it-IT" sz="1580" b="0" u="none" strike="noStrike">
              <a:solidFill>
                <a:srgbClr val="000000"/>
              </a:solidFill>
              <a:effectLst/>
              <a:uFillTx/>
              <a:latin typeface="Times New Roman"/>
            </a:endParaRPr>
          </a:p>
        </p:txBody>
      </p:sp>
      <p:sp>
        <p:nvSpPr>
          <p:cNvPr id="1243" name="Figura a mano libera: forma 124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44" name="CasellaDiTesto 124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245" name="CasellaDiTesto 124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42 / 73</a:t>
            </a:r>
            <a:endParaRPr lang="it-IT" sz="980" b="0" u="none" strike="noStrike">
              <a:solidFill>
                <a:srgbClr val="000000"/>
              </a:solidFill>
              <a:effectLst/>
              <a:uFillTx/>
              <a:latin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6" name="Figura a mano libera: forma 124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47" name="Figura a mano libera: forma 124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48" name="Figura a mano libera: forma 124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49" name="Figura a mano libera: forma 124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50" name="Figura a mano libera: forma 1249"/>
          <p:cNvSpPr/>
          <p:nvPr/>
        </p:nvSpPr>
        <p:spPr>
          <a:xfrm>
            <a:off x="971280" y="26096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51" name="CasellaDiTesto 1250"/>
          <p:cNvSpPr txBox="1"/>
          <p:nvPr/>
        </p:nvSpPr>
        <p:spPr>
          <a:xfrm>
            <a:off x="971640" y="2000160"/>
            <a:ext cx="52866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COMPENSAZIONE NELL'IVA</a:t>
            </a:r>
            <a:endParaRPr lang="it-IT" sz="2850" b="0" u="none" strike="noStrike">
              <a:solidFill>
                <a:srgbClr val="000000"/>
              </a:solidFill>
              <a:effectLst/>
              <a:uFillTx/>
              <a:latin typeface="Times New Roman"/>
            </a:endParaRPr>
          </a:p>
        </p:txBody>
      </p:sp>
      <p:sp>
        <p:nvSpPr>
          <p:cNvPr id="1252" name="CasellaDiTesto 1251"/>
          <p:cNvSpPr txBox="1"/>
          <p:nvPr/>
        </p:nvSpPr>
        <p:spPr>
          <a:xfrm>
            <a:off x="971640" y="2745720"/>
            <a:ext cx="80535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Tre fenomeni comunemente etichettati come "compensazione" ma dalla diversa natura:</a:t>
            </a:r>
            <a:endParaRPr lang="it-IT" sz="1650" b="0" u="none" strike="noStrike">
              <a:solidFill>
                <a:srgbClr val="000000"/>
              </a:solidFill>
              <a:effectLst/>
              <a:uFillTx/>
              <a:latin typeface="Times New Roman"/>
            </a:endParaRPr>
          </a:p>
        </p:txBody>
      </p:sp>
      <p:sp>
        <p:nvSpPr>
          <p:cNvPr id="1253" name="CasellaDiTesto 1252"/>
          <p:cNvSpPr txBox="1"/>
          <p:nvPr/>
        </p:nvSpPr>
        <p:spPr>
          <a:xfrm>
            <a:off x="1184400" y="3222720"/>
            <a:ext cx="84931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a:t>
            </a:r>
            <a:r>
              <a:rPr lang="it-IT" sz="1580" b="1" u="none" strike="noStrike">
                <a:solidFill>
                  <a:srgbClr val="00509E"/>
                </a:solidFill>
                <a:effectLst/>
                <a:uFillTx/>
                <a:latin typeface="SegoeUI"/>
                <a:ea typeface="SegoeUI"/>
              </a:rPr>
              <a:t>Detrazione imposta da imposta</a:t>
            </a:r>
            <a:r>
              <a:rPr lang="it-IT" sz="1580" b="0" u="none" strike="noStrike">
                <a:solidFill>
                  <a:srgbClr val="343A40"/>
                </a:solidFill>
                <a:effectLst/>
                <a:uFillTx/>
                <a:latin typeface="SegoeUI"/>
                <a:ea typeface="SegoeUI"/>
              </a:rPr>
              <a:t> (art. 19): mera tecnica di liquidazione; </a:t>
            </a:r>
            <a:r>
              <a:rPr lang="it-IT" sz="1580" b="0" i="1" u="none" strike="noStrike">
                <a:solidFill>
                  <a:srgbClr val="495057"/>
                </a:solidFill>
                <a:effectLst/>
                <a:uFillTx/>
                <a:latin typeface="SegoeUI"/>
                <a:ea typeface="SegoeUI"/>
              </a:rPr>
              <a:t>non</a:t>
            </a:r>
            <a:r>
              <a:rPr lang="it-IT" sz="1580" b="0" u="none" strike="noStrike">
                <a:solidFill>
                  <a:srgbClr val="343A40"/>
                </a:solidFill>
                <a:effectLst/>
                <a:uFillTx/>
                <a:latin typeface="SegoeUI"/>
                <a:ea typeface="SegoeUI"/>
              </a:rPr>
              <a:t> è compensazione.</a:t>
            </a:r>
            <a:endParaRPr lang="it-IT" sz="1580" b="0" u="none" strike="noStrike">
              <a:solidFill>
                <a:srgbClr val="000000"/>
              </a:solidFill>
              <a:effectLst/>
              <a:uFillTx/>
              <a:latin typeface="Times New Roman"/>
            </a:endParaRPr>
          </a:p>
        </p:txBody>
      </p:sp>
      <p:sp>
        <p:nvSpPr>
          <p:cNvPr id="1254" name="CasellaDiTesto 1253"/>
          <p:cNvSpPr txBox="1"/>
          <p:nvPr/>
        </p:nvSpPr>
        <p:spPr>
          <a:xfrm>
            <a:off x="1184400" y="3708360"/>
            <a:ext cx="74948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a:t>
            </a:r>
            <a:r>
              <a:rPr lang="it-IT" sz="1580" b="1" u="none" strike="noStrike">
                <a:solidFill>
                  <a:srgbClr val="00509E"/>
                </a:solidFill>
                <a:effectLst/>
                <a:uFillTx/>
                <a:latin typeface="SegoeUI"/>
                <a:ea typeface="SegoeUI"/>
              </a:rPr>
              <a:t>Eccedenza riportata all'anno successivo</a:t>
            </a:r>
            <a:r>
              <a:rPr lang="it-IT" sz="1580" b="0" u="none" strike="noStrike">
                <a:solidFill>
                  <a:srgbClr val="343A40"/>
                </a:solidFill>
                <a:effectLst/>
                <a:uFillTx/>
                <a:latin typeface="SegoeUI"/>
                <a:ea typeface="SegoeUI"/>
              </a:rPr>
              <a:t> (art. 30, co. 2): compensazione </a:t>
            </a:r>
            <a:r>
              <a:rPr lang="it-IT" sz="1580" b="1" u="none" strike="noStrike">
                <a:solidFill>
                  <a:srgbClr val="00509E"/>
                </a:solidFill>
                <a:effectLst/>
                <a:uFillTx/>
                <a:latin typeface="SegoeUI"/>
                <a:ea typeface="SegoeUI"/>
              </a:rPr>
              <a:t>verticale</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1255" name="Figura a mano libera: forma 125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56" name="CasellaDiTesto 1255"/>
          <p:cNvSpPr txBox="1"/>
          <p:nvPr/>
        </p:nvSpPr>
        <p:spPr>
          <a:xfrm>
            <a:off x="1184400" y="4194360"/>
            <a:ext cx="82796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3. </a:t>
            </a:r>
            <a:r>
              <a:rPr lang="it-IT" sz="1580" b="1" u="none" strike="noStrike">
                <a:solidFill>
                  <a:srgbClr val="00509E"/>
                </a:solidFill>
                <a:effectLst/>
                <a:uFillTx/>
                <a:latin typeface="SegoeUI"/>
                <a:ea typeface="SegoeUI"/>
              </a:rPr>
              <a:t>IVA di gruppo</a:t>
            </a:r>
            <a:r>
              <a:rPr lang="it-IT" sz="1580" b="0" u="none" strike="noStrike">
                <a:solidFill>
                  <a:srgbClr val="343A40"/>
                </a:solidFill>
                <a:effectLst/>
                <a:uFillTx/>
                <a:latin typeface="SegoeUI"/>
                <a:ea typeface="SegoeUI"/>
              </a:rPr>
              <a:t> (art. 73) e </a:t>
            </a:r>
            <a:r>
              <a:rPr lang="it-IT" sz="1580" b="1" u="none" strike="noStrike">
                <a:solidFill>
                  <a:srgbClr val="00509E"/>
                </a:solidFill>
                <a:effectLst/>
                <a:uFillTx/>
                <a:latin typeface="SegoeUI"/>
                <a:ea typeface="SegoeUI"/>
              </a:rPr>
              <a:t>Gruppo IVA</a:t>
            </a:r>
            <a:r>
              <a:rPr lang="it-IT" sz="1580" b="0" u="none" strike="noStrike">
                <a:solidFill>
                  <a:srgbClr val="343A40"/>
                </a:solidFill>
                <a:effectLst/>
                <a:uFillTx/>
                <a:latin typeface="SegoeUI"/>
                <a:ea typeface="SegoeUI"/>
              </a:rPr>
              <a:t> (artt. 70-bis ss.): elisione infragruppo di crediti/debiti.</a:t>
            </a:r>
            <a:endParaRPr lang="it-IT" sz="1580" b="0" u="none" strike="noStrike">
              <a:solidFill>
                <a:srgbClr val="000000"/>
              </a:solidFill>
              <a:effectLst/>
              <a:uFillTx/>
              <a:latin typeface="Times New Roman"/>
            </a:endParaRPr>
          </a:p>
        </p:txBody>
      </p:sp>
      <p:sp>
        <p:nvSpPr>
          <p:cNvPr id="1257" name="Figura a mano libera: forma 1256"/>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58" name="CasellaDiTesto 1257"/>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259" name="CasellaDiTesto 1258"/>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43 / 73</a:t>
            </a:r>
            <a:endParaRPr lang="it-IT" sz="980" b="0" u="none" strike="noStrike">
              <a:solidFill>
                <a:srgbClr val="000000"/>
              </a:solidFill>
              <a:effectLst/>
              <a:uFillTx/>
              <a:latin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 name="Figura a mano libera: forma 125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61" name="Figura a mano libera: forma 126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62" name="Figura a mano libera: forma 126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63" name="Figura a mano libera: forma 126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64" name="Figura a mano libera: forma 1263"/>
          <p:cNvSpPr/>
          <p:nvPr/>
        </p:nvSpPr>
        <p:spPr>
          <a:xfrm>
            <a:off x="971280" y="16570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65" name="CasellaDiTesto 1264"/>
          <p:cNvSpPr txBox="1"/>
          <p:nvPr/>
        </p:nvSpPr>
        <p:spPr>
          <a:xfrm>
            <a:off x="971640" y="1038240"/>
            <a:ext cx="52333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IVA DI GRUPPO E GRUPPO IVA</a:t>
            </a:r>
            <a:endParaRPr lang="it-IT" sz="2850" b="0" u="none" strike="noStrike">
              <a:solidFill>
                <a:srgbClr val="000000"/>
              </a:solidFill>
              <a:effectLst/>
              <a:uFillTx/>
              <a:latin typeface="Times New Roman"/>
            </a:endParaRPr>
          </a:p>
        </p:txBody>
      </p:sp>
      <p:sp>
        <p:nvSpPr>
          <p:cNvPr id="1266" name="Figura a mano libera: forma 1265"/>
          <p:cNvSpPr/>
          <p:nvPr/>
        </p:nvSpPr>
        <p:spPr>
          <a:xfrm>
            <a:off x="1028520" y="238104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2"/>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67" name="CasellaDiTesto 1266"/>
          <p:cNvSpPr txBox="1"/>
          <p:nvPr/>
        </p:nvSpPr>
        <p:spPr>
          <a:xfrm>
            <a:off x="971640" y="1793160"/>
            <a:ext cx="65131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Liquidazione IVA di gruppo</a:t>
            </a:r>
            <a:r>
              <a:rPr lang="it-IT" sz="1650" b="0" u="none" strike="noStrike">
                <a:solidFill>
                  <a:srgbClr val="212529"/>
                </a:solidFill>
                <a:effectLst/>
                <a:uFillTx/>
                <a:latin typeface="SegoeUI"/>
                <a:ea typeface="SegoeUI"/>
              </a:rPr>
              <a:t> (art. 73 DPR 633/1972; D.M. 13/12/1979):</a:t>
            </a:r>
            <a:endParaRPr lang="it-IT" sz="1650" b="0" u="none" strike="noStrike">
              <a:solidFill>
                <a:srgbClr val="000000"/>
              </a:solidFill>
              <a:effectLst/>
              <a:uFillTx/>
              <a:latin typeface="Times New Roman"/>
            </a:endParaRPr>
          </a:p>
        </p:txBody>
      </p:sp>
      <p:sp>
        <p:nvSpPr>
          <p:cNvPr id="1268" name="Figura a mano libera: forma 1267"/>
          <p:cNvSpPr/>
          <p:nvPr/>
        </p:nvSpPr>
        <p:spPr>
          <a:xfrm>
            <a:off x="1028520" y="285732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2"/>
                  <a:pt x="159" y="199"/>
                  <a:pt x="146" y="205"/>
                </a:cubicBezTo>
                <a:cubicBezTo>
                  <a:pt x="133" y="210"/>
                  <a:pt x="120" y="213"/>
                  <a:pt x="106" y="213"/>
                </a:cubicBezTo>
                <a:cubicBezTo>
                  <a:pt x="92" y="213"/>
                  <a:pt x="78" y="210"/>
                  <a:pt x="65" y="205"/>
                </a:cubicBezTo>
                <a:cubicBezTo>
                  <a:pt x="52" y="199"/>
                  <a:pt x="41" y="192"/>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69" name="CasellaDiTesto 1268"/>
          <p:cNvSpPr txBox="1"/>
          <p:nvPr/>
        </p:nvSpPr>
        <p:spPr>
          <a:xfrm>
            <a:off x="1238400" y="2270160"/>
            <a:ext cx="5005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le controllate trasferiscono i propri saldi alla controllante;</a:t>
            </a:r>
            <a:endParaRPr lang="it-IT" sz="1580" b="0" u="none" strike="noStrike">
              <a:solidFill>
                <a:srgbClr val="000000"/>
              </a:solidFill>
              <a:effectLst/>
              <a:uFillTx/>
              <a:latin typeface="Times New Roman"/>
            </a:endParaRPr>
          </a:p>
        </p:txBody>
      </p:sp>
      <p:sp>
        <p:nvSpPr>
          <p:cNvPr id="1270" name="Figura a mano libera: forma 1269"/>
          <p:cNvSpPr/>
          <p:nvPr/>
        </p:nvSpPr>
        <p:spPr>
          <a:xfrm>
            <a:off x="1028520" y="334296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71" name="CasellaDiTesto 1270"/>
          <p:cNvSpPr txBox="1"/>
          <p:nvPr/>
        </p:nvSpPr>
        <p:spPr>
          <a:xfrm>
            <a:off x="1238400" y="2746440"/>
            <a:ext cx="79657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 controllante è l'</a:t>
            </a:r>
            <a:r>
              <a:rPr lang="it-IT" sz="1580" b="1" u="none" strike="noStrike">
                <a:solidFill>
                  <a:srgbClr val="00509E"/>
                </a:solidFill>
                <a:effectLst/>
                <a:uFillTx/>
                <a:latin typeface="SegoeUI"/>
                <a:ea typeface="SegoeUI"/>
              </a:rPr>
              <a:t>unico soggetto legittimato</a:t>
            </a:r>
            <a:r>
              <a:rPr lang="it-IT" sz="1580" b="0" u="none" strike="noStrike">
                <a:solidFill>
                  <a:srgbClr val="343A40"/>
                </a:solidFill>
                <a:effectLst/>
                <a:uFillTx/>
                <a:latin typeface="SegoeUI"/>
                <a:ea typeface="SegoeUI"/>
              </a:rPr>
              <a:t> al versamento / rimborso / compensazione.</a:t>
            </a:r>
            <a:endParaRPr lang="it-IT" sz="1580" b="0" u="none" strike="noStrike">
              <a:solidFill>
                <a:srgbClr val="000000"/>
              </a:solidFill>
              <a:effectLst/>
              <a:uFillTx/>
              <a:latin typeface="Times New Roman"/>
            </a:endParaRPr>
          </a:p>
        </p:txBody>
      </p:sp>
      <p:sp>
        <p:nvSpPr>
          <p:cNvPr id="1272" name="CasellaDiTesto 1271"/>
          <p:cNvSpPr txBox="1"/>
          <p:nvPr/>
        </p:nvSpPr>
        <p:spPr>
          <a:xfrm>
            <a:off x="1238400" y="3232080"/>
            <a:ext cx="9318128" cy="243143"/>
          </a:xfrm>
          <a:prstGeom prst="rect">
            <a:avLst/>
          </a:prstGeom>
          <a:noFill/>
          <a:ln w="0">
            <a:noFill/>
          </a:ln>
        </p:spPr>
        <p:txBody>
          <a:bodyPr wrap="none" lIns="0" tIns="0" rIns="0" bIns="0" anchor="t">
            <a:spAutoFit/>
          </a:bodyPr>
          <a:lstStyle/>
          <a:p>
            <a:r>
              <a:rPr lang="it-IT" sz="1580" b="0" u="none" strike="noStrike" dirty="0">
                <a:solidFill>
                  <a:srgbClr val="0969DA"/>
                </a:solidFill>
                <a:effectLst/>
                <a:uFillTx/>
                <a:latin typeface="SegoeUI"/>
                <a:ea typeface="SegoeUI"/>
                <a:hlinkClick r:id="rId2"/>
              </a:rPr>
              <a:t>Cass. 39667/2021</a:t>
            </a:r>
            <a:r>
              <a:rPr lang="it-IT" sz="1580" b="0" u="none" strike="noStrike" dirty="0">
                <a:solidFill>
                  <a:srgbClr val="343A40"/>
                </a:solidFill>
                <a:effectLst/>
                <a:uFillTx/>
                <a:latin typeface="SegoeUI"/>
                <a:ea typeface="SegoeUI"/>
              </a:rPr>
              <a:t> e </a:t>
            </a:r>
            <a:r>
              <a:rPr lang="it-IT" sz="1580" b="0" u="none" strike="noStrike" dirty="0">
                <a:solidFill>
                  <a:srgbClr val="0969DA"/>
                </a:solidFill>
                <a:effectLst/>
                <a:uFillTx/>
                <a:latin typeface="SegoeUI"/>
                <a:ea typeface="SegoeUI"/>
                <a:hlinkClick r:id="rId3"/>
              </a:rPr>
              <a:t>Cass. 23424/2020</a:t>
            </a:r>
            <a:r>
              <a:rPr lang="it-IT" sz="1580" b="0" u="none" strike="noStrike" dirty="0">
                <a:solidFill>
                  <a:srgbClr val="343A40"/>
                </a:solidFill>
                <a:effectLst/>
                <a:uFillTx/>
                <a:latin typeface="SegoeUI"/>
                <a:ea typeface="SegoeUI"/>
              </a:rPr>
              <a:t>: compensabili solo i crediti </a:t>
            </a:r>
            <a:r>
              <a:rPr lang="it-IT" sz="1580" b="1" u="none" strike="noStrike" dirty="0">
                <a:solidFill>
                  <a:srgbClr val="00509E"/>
                </a:solidFill>
                <a:effectLst/>
                <a:uFillTx/>
                <a:latin typeface="SegoeUI"/>
                <a:ea typeface="SegoeUI"/>
              </a:rPr>
              <a:t>confluiti</a:t>
            </a:r>
            <a:r>
              <a:rPr lang="it-IT" sz="1580" b="0" u="none" strike="noStrike" dirty="0">
                <a:solidFill>
                  <a:srgbClr val="343A40"/>
                </a:solidFill>
                <a:effectLst/>
                <a:uFillTx/>
                <a:latin typeface="SegoeUI"/>
                <a:ea typeface="SegoeUI"/>
              </a:rPr>
              <a:t> nella dichiarazione di gruppo.</a:t>
            </a:r>
            <a:endParaRPr lang="it-IT" sz="1580" b="0" u="none" strike="noStrike" dirty="0">
              <a:solidFill>
                <a:srgbClr val="000000"/>
              </a:solidFill>
              <a:effectLst/>
              <a:uFillTx/>
              <a:latin typeface="Times New Roman"/>
            </a:endParaRPr>
          </a:p>
        </p:txBody>
      </p:sp>
      <p:sp>
        <p:nvSpPr>
          <p:cNvPr id="1273" name="Figura a mano libera: forma 1272"/>
          <p:cNvSpPr/>
          <p:nvPr/>
        </p:nvSpPr>
        <p:spPr>
          <a:xfrm>
            <a:off x="1028520" y="4295520"/>
            <a:ext cx="76680" cy="76680"/>
          </a:xfrm>
          <a:custGeom>
            <a:avLst/>
            <a:gdLst/>
            <a:ahLst/>
            <a:cxnLst/>
            <a:rect l="0" t="0" r="r" b="b"/>
            <a:pathLst>
              <a:path w="213" h="213">
                <a:moveTo>
                  <a:pt x="213" y="106"/>
                </a:moveTo>
                <a:cubicBezTo>
                  <a:pt x="213" y="120"/>
                  <a:pt x="210" y="134"/>
                  <a:pt x="205" y="147"/>
                </a:cubicBezTo>
                <a:cubicBezTo>
                  <a:pt x="198" y="160"/>
                  <a:pt x="191" y="171"/>
                  <a:pt x="181" y="181"/>
                </a:cubicBezTo>
                <a:cubicBezTo>
                  <a:pt x="171" y="191"/>
                  <a:pt x="159" y="198"/>
                  <a:pt x="146" y="205"/>
                </a:cubicBezTo>
                <a:cubicBezTo>
                  <a:pt x="133" y="210"/>
                  <a:pt x="120" y="213"/>
                  <a:pt x="106" y="213"/>
                </a:cubicBezTo>
                <a:cubicBezTo>
                  <a:pt x="92" y="213"/>
                  <a:pt x="78" y="210"/>
                  <a:pt x="65" y="205"/>
                </a:cubicBezTo>
                <a:cubicBezTo>
                  <a:pt x="52" y="198"/>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74" name="CasellaDiTesto 1273"/>
          <p:cNvSpPr txBox="1"/>
          <p:nvPr/>
        </p:nvSpPr>
        <p:spPr>
          <a:xfrm>
            <a:off x="971640" y="3707640"/>
            <a:ext cx="563724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Gruppo IVA</a:t>
            </a:r>
            <a:r>
              <a:rPr lang="it-IT" sz="1650" b="0" u="none" strike="noStrike">
                <a:solidFill>
                  <a:srgbClr val="212529"/>
                </a:solidFill>
                <a:effectLst/>
                <a:uFillTx/>
                <a:latin typeface="SegoeUI"/>
                <a:ea typeface="SegoeUI"/>
              </a:rPr>
              <a:t> (dal 2018, art. 11 Dir. 2006/112/CE, L. 232/2016):</a:t>
            </a:r>
            <a:endParaRPr lang="it-IT" sz="1650" b="0" u="none" strike="noStrike">
              <a:solidFill>
                <a:srgbClr val="000000"/>
              </a:solidFill>
              <a:effectLst/>
              <a:uFillTx/>
              <a:latin typeface="Times New Roman"/>
            </a:endParaRPr>
          </a:p>
        </p:txBody>
      </p:sp>
      <p:sp>
        <p:nvSpPr>
          <p:cNvPr id="1275" name="Figura a mano libera: forma 1274"/>
          <p:cNvSpPr/>
          <p:nvPr/>
        </p:nvSpPr>
        <p:spPr>
          <a:xfrm>
            <a:off x="1028520" y="4781520"/>
            <a:ext cx="76680" cy="76320"/>
          </a:xfrm>
          <a:custGeom>
            <a:avLst/>
            <a:gdLst/>
            <a:ahLst/>
            <a:cxnLst/>
            <a:rect l="0" t="0" r="r" b="b"/>
            <a:pathLst>
              <a:path w="213" h="212">
                <a:moveTo>
                  <a:pt x="213" y="105"/>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76" name="CasellaDiTesto 1275"/>
          <p:cNvSpPr txBox="1"/>
          <p:nvPr/>
        </p:nvSpPr>
        <p:spPr>
          <a:xfrm>
            <a:off x="1238400" y="4184640"/>
            <a:ext cx="206532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unico</a:t>
            </a:r>
            <a:r>
              <a:rPr lang="it-IT" sz="1580" b="0" u="none" strike="noStrike">
                <a:solidFill>
                  <a:srgbClr val="343A40"/>
                </a:solidFill>
                <a:effectLst/>
                <a:uFillTx/>
                <a:latin typeface="SegoeUI"/>
                <a:ea typeface="SegoeUI"/>
              </a:rPr>
              <a:t> soggetto passivo;</a:t>
            </a:r>
            <a:endParaRPr lang="it-IT" sz="1580" b="0" u="none" strike="noStrike">
              <a:solidFill>
                <a:srgbClr val="000000"/>
              </a:solidFill>
              <a:effectLst/>
              <a:uFillTx/>
              <a:latin typeface="Times New Roman"/>
            </a:endParaRPr>
          </a:p>
        </p:txBody>
      </p:sp>
      <p:sp>
        <p:nvSpPr>
          <p:cNvPr id="1277" name="Figura a mano libera: forma 1276"/>
          <p:cNvSpPr/>
          <p:nvPr/>
        </p:nvSpPr>
        <p:spPr>
          <a:xfrm>
            <a:off x="1028520" y="52574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78" name="CasellaDiTesto 1277"/>
          <p:cNvSpPr txBox="1"/>
          <p:nvPr/>
        </p:nvSpPr>
        <p:spPr>
          <a:xfrm>
            <a:off x="1238400" y="4670640"/>
            <a:ext cx="37378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soggettività delle partecipanti "congelata";</a:t>
            </a:r>
            <a:endParaRPr lang="it-IT" sz="1580" b="0" u="none" strike="noStrike">
              <a:solidFill>
                <a:srgbClr val="000000"/>
              </a:solidFill>
              <a:effectLst/>
              <a:uFillTx/>
              <a:latin typeface="Times New Roman"/>
            </a:endParaRPr>
          </a:p>
        </p:txBody>
      </p:sp>
      <p:sp>
        <p:nvSpPr>
          <p:cNvPr id="1279" name="Figura a mano libera: forma 1278"/>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80" name="CasellaDiTesto 1279"/>
          <p:cNvSpPr txBox="1"/>
          <p:nvPr/>
        </p:nvSpPr>
        <p:spPr>
          <a:xfrm>
            <a:off x="1238400" y="5146920"/>
            <a:ext cx="65671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direttamente il Gruppo calcola l'IVA e accede alla compensazione verticale.</a:t>
            </a:r>
            <a:endParaRPr lang="it-IT" sz="1580" b="0" u="none" strike="noStrike">
              <a:solidFill>
                <a:srgbClr val="000000"/>
              </a:solidFill>
              <a:effectLst/>
              <a:uFillTx/>
              <a:latin typeface="Times New Roman"/>
            </a:endParaRPr>
          </a:p>
        </p:txBody>
      </p:sp>
      <p:sp>
        <p:nvSpPr>
          <p:cNvPr id="1281" name="Figura a mano libera: forma 1280"/>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82" name="CasellaDiTesto 1281"/>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283" name="CasellaDiTesto 1282"/>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44 / 73</a:t>
            </a:r>
            <a:endParaRPr lang="it-IT" sz="980" b="0" u="none" strike="noStrike">
              <a:solidFill>
                <a:srgbClr val="000000"/>
              </a:solidFill>
              <a:effectLst/>
              <a:uFillTx/>
              <a:latin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4" name="Figura a mano libera: forma 128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85" name="Figura a mano libera: forma 128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86" name="Figura a mano libera: forma 1285"/>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87" name="Figura a mano libera: forma 1286"/>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88" name="Figura a mano libera: forma 1287"/>
          <p:cNvSpPr/>
          <p:nvPr/>
        </p:nvSpPr>
        <p:spPr>
          <a:xfrm>
            <a:off x="971280" y="213336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289" name="CasellaDiTesto 1288"/>
          <p:cNvSpPr txBox="1"/>
          <p:nvPr/>
        </p:nvSpPr>
        <p:spPr>
          <a:xfrm>
            <a:off x="971640" y="1523880"/>
            <a:ext cx="43236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ACCISE E TRIBUTI LOCALI</a:t>
            </a:r>
            <a:endParaRPr lang="it-IT" sz="2850" b="0" u="none" strike="noStrike">
              <a:solidFill>
                <a:srgbClr val="000000"/>
              </a:solidFill>
              <a:effectLst/>
              <a:uFillTx/>
              <a:latin typeface="Times New Roman"/>
            </a:endParaRPr>
          </a:p>
        </p:txBody>
      </p:sp>
      <p:sp>
        <p:nvSpPr>
          <p:cNvPr id="1290" name="Figura a mano libera: forma 1289"/>
          <p:cNvSpPr/>
          <p:nvPr/>
        </p:nvSpPr>
        <p:spPr>
          <a:xfrm>
            <a:off x="1028520" y="285732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2"/>
                  <a:pt x="159" y="199"/>
                  <a:pt x="146" y="205"/>
                </a:cubicBezTo>
                <a:cubicBezTo>
                  <a:pt x="133" y="210"/>
                  <a:pt x="120" y="213"/>
                  <a:pt x="106" y="213"/>
                </a:cubicBezTo>
                <a:cubicBezTo>
                  <a:pt x="92" y="213"/>
                  <a:pt x="78" y="210"/>
                  <a:pt x="65" y="205"/>
                </a:cubicBezTo>
                <a:cubicBezTo>
                  <a:pt x="52" y="199"/>
                  <a:pt x="41" y="192"/>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91" name="CasellaDiTesto 1290"/>
          <p:cNvSpPr txBox="1"/>
          <p:nvPr/>
        </p:nvSpPr>
        <p:spPr>
          <a:xfrm>
            <a:off x="971640" y="2269440"/>
            <a:ext cx="50745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Accise</a:t>
            </a:r>
            <a:r>
              <a:rPr lang="it-IT" sz="1650" b="0" u="none" strike="noStrike">
                <a:solidFill>
                  <a:srgbClr val="212529"/>
                </a:solidFill>
                <a:effectLst/>
                <a:uFillTx/>
                <a:latin typeface="SegoeUI"/>
                <a:ea typeface="SegoeUI"/>
              </a:rPr>
              <a:t> (art. 14 D.Lgs. 504/1995): disciplina </a:t>
            </a:r>
            <a:r>
              <a:rPr lang="it-IT" sz="1650" b="0" i="1" u="none" strike="noStrike">
                <a:solidFill>
                  <a:srgbClr val="495057"/>
                </a:solidFill>
                <a:effectLst/>
                <a:uFillTx/>
                <a:latin typeface="SegoeUI"/>
                <a:ea typeface="SegoeUI"/>
              </a:rPr>
              <a:t>asimmetrica</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292" name="Figura a mano libera: forma 1291"/>
          <p:cNvSpPr/>
          <p:nvPr/>
        </p:nvSpPr>
        <p:spPr>
          <a:xfrm>
            <a:off x="1028520" y="334296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93" name="CasellaDiTesto 1292"/>
          <p:cNvSpPr txBox="1"/>
          <p:nvPr/>
        </p:nvSpPr>
        <p:spPr>
          <a:xfrm>
            <a:off x="1238400" y="2746440"/>
            <a:ext cx="6774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Il credito d'accisa si "rimborsa" </a:t>
            </a:r>
            <a:r>
              <a:rPr lang="it-IT" sz="1580" b="1" u="none" strike="noStrike">
                <a:solidFill>
                  <a:srgbClr val="00509E"/>
                </a:solidFill>
                <a:effectLst/>
                <a:uFillTx/>
                <a:latin typeface="SegoeUI"/>
                <a:ea typeface="SegoeUI"/>
              </a:rPr>
              <a:t>tramite accredito</a:t>
            </a:r>
            <a:r>
              <a:rPr lang="it-IT" sz="1580" b="0" u="none" strike="noStrike">
                <a:solidFill>
                  <a:srgbClr val="343A40"/>
                </a:solidFill>
                <a:effectLst/>
                <a:uFillTx/>
                <a:latin typeface="SegoeUI"/>
                <a:ea typeface="SegoeUI"/>
              </a:rPr>
              <a:t> (non vera compensazione);</a:t>
            </a:r>
            <a:endParaRPr lang="it-IT" sz="1580" b="0" u="none" strike="noStrike">
              <a:solidFill>
                <a:srgbClr val="000000"/>
              </a:solidFill>
              <a:effectLst/>
              <a:uFillTx/>
              <a:latin typeface="Times New Roman"/>
            </a:endParaRPr>
          </a:p>
        </p:txBody>
      </p:sp>
      <p:sp>
        <p:nvSpPr>
          <p:cNvPr id="1294" name="CasellaDiTesto 1293"/>
          <p:cNvSpPr txBox="1"/>
          <p:nvPr/>
        </p:nvSpPr>
        <p:spPr>
          <a:xfrm>
            <a:off x="1238400" y="3232080"/>
            <a:ext cx="1015020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non</a:t>
            </a:r>
            <a:r>
              <a:rPr lang="it-IT" sz="1580" b="0" u="none" strike="noStrike">
                <a:solidFill>
                  <a:srgbClr val="343A40"/>
                </a:solidFill>
                <a:effectLst/>
                <a:uFillTx/>
                <a:latin typeface="SegoeUI"/>
                <a:ea typeface="SegoeUI"/>
              </a:rPr>
              <a:t> è utilizzabile per scomputare debiti di altra natura (</a:t>
            </a:r>
            <a:r>
              <a:rPr lang="it-IT" sz="1580" b="0" i="1" u="none" strike="noStrike">
                <a:solidFill>
                  <a:srgbClr val="495057"/>
                </a:solidFill>
                <a:effectLst/>
                <a:uFillTx/>
                <a:latin typeface="SegoeUI"/>
                <a:ea typeface="SegoeUI"/>
              </a:rPr>
              <a:t>interpretazione costante</a:t>
            </a:r>
            <a:r>
              <a:rPr lang="it-IT" sz="1580" b="0" u="none" strike="noStrike">
                <a:solidFill>
                  <a:srgbClr val="343A40"/>
                </a:solidFill>
                <a:effectLst/>
                <a:uFillTx/>
                <a:latin typeface="SegoeUI"/>
                <a:ea typeface="SegoeUI"/>
              </a:rPr>
              <a:t>: Circ. 39/D/2003; Risposta interpello</a:t>
            </a:r>
            <a:endParaRPr lang="it-IT" sz="1580" b="0" u="none" strike="noStrike">
              <a:solidFill>
                <a:srgbClr val="000000"/>
              </a:solidFill>
              <a:effectLst/>
              <a:uFillTx/>
              <a:latin typeface="Times New Roman"/>
            </a:endParaRPr>
          </a:p>
        </p:txBody>
      </p:sp>
      <p:sp>
        <p:nvSpPr>
          <p:cNvPr id="1295" name="Figura a mano libera: forma 1294"/>
          <p:cNvSpPr/>
          <p:nvPr/>
        </p:nvSpPr>
        <p:spPr>
          <a:xfrm>
            <a:off x="1028520" y="413352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4"/>
                  <a:pt x="65" y="8"/>
                </a:cubicBezTo>
                <a:cubicBezTo>
                  <a:pt x="78" y="3"/>
                  <a:pt x="92" y="0"/>
                  <a:pt x="106" y="0"/>
                </a:cubicBezTo>
                <a:cubicBezTo>
                  <a:pt x="120" y="0"/>
                  <a:pt x="133" y="3"/>
                  <a:pt x="146" y="8"/>
                </a:cubicBezTo>
                <a:cubicBezTo>
                  <a:pt x="159" y="14"/>
                  <a:pt x="171" y="22"/>
                  <a:pt x="181" y="32"/>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296" name="CasellaDiTesto 1295"/>
          <p:cNvSpPr txBox="1"/>
          <p:nvPr/>
        </p:nvSpPr>
        <p:spPr>
          <a:xfrm>
            <a:off x="1238400" y="3537000"/>
            <a:ext cx="9352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435/2022);</a:t>
            </a:r>
            <a:endParaRPr lang="it-IT" sz="1580" b="0" u="none" strike="noStrike">
              <a:solidFill>
                <a:srgbClr val="000000"/>
              </a:solidFill>
              <a:effectLst/>
              <a:uFillTx/>
              <a:latin typeface="Times New Roman"/>
            </a:endParaRPr>
          </a:p>
        </p:txBody>
      </p:sp>
      <p:sp>
        <p:nvSpPr>
          <p:cNvPr id="1297" name="CasellaDiTesto 1296"/>
          <p:cNvSpPr txBox="1"/>
          <p:nvPr/>
        </p:nvSpPr>
        <p:spPr>
          <a:xfrm>
            <a:off x="1238400" y="4022640"/>
            <a:ext cx="67809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 debiti d'accisa, invece, possono essere compensati con crediti d'altra natura.</a:t>
            </a:r>
            <a:endParaRPr lang="it-IT" sz="1580" b="0" u="none" strike="noStrike">
              <a:solidFill>
                <a:srgbClr val="000000"/>
              </a:solidFill>
              <a:effectLst/>
              <a:uFillTx/>
              <a:latin typeface="Times New Roman"/>
            </a:endParaRPr>
          </a:p>
        </p:txBody>
      </p:sp>
      <p:sp>
        <p:nvSpPr>
          <p:cNvPr id="1298" name="CasellaDiTesto 1297"/>
          <p:cNvSpPr txBox="1"/>
          <p:nvPr/>
        </p:nvSpPr>
        <p:spPr>
          <a:xfrm>
            <a:off x="971640" y="4498200"/>
            <a:ext cx="1043964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Tributi locali</a:t>
            </a:r>
            <a:r>
              <a:rPr lang="it-IT" sz="1650" b="0" u="none" strike="noStrike">
                <a:solidFill>
                  <a:srgbClr val="212529"/>
                </a:solidFill>
                <a:effectLst/>
                <a:uFillTx/>
                <a:latin typeface="SegoeUI"/>
                <a:ea typeface="SegoeUI"/>
              </a:rPr>
              <a:t>: rimessa alla </a:t>
            </a:r>
            <a:r>
              <a:rPr lang="it-IT" sz="1650" b="0" i="1" u="none" strike="noStrike">
                <a:solidFill>
                  <a:srgbClr val="495057"/>
                </a:solidFill>
                <a:effectLst/>
                <a:uFillTx/>
                <a:latin typeface="SegoeUI"/>
                <a:ea typeface="SegoeUI"/>
              </a:rPr>
              <a:t>potestà regolamentare</a:t>
            </a:r>
            <a:r>
              <a:rPr lang="it-IT" sz="1650" b="0" u="none" strike="noStrike">
                <a:solidFill>
                  <a:srgbClr val="212529"/>
                </a:solidFill>
                <a:effectLst/>
                <a:uFillTx/>
                <a:latin typeface="SegoeUI"/>
                <a:ea typeface="SegoeUI"/>
              </a:rPr>
              <a:t> dell'ente (art. 1, co. 167, L. 296/2006). Generalmente prevista nei</a:t>
            </a:r>
            <a:endParaRPr lang="it-IT" sz="1650" b="0" u="none" strike="noStrike">
              <a:solidFill>
                <a:srgbClr val="000000"/>
              </a:solidFill>
              <a:effectLst/>
              <a:uFillTx/>
              <a:latin typeface="Times New Roman"/>
            </a:endParaRPr>
          </a:p>
        </p:txBody>
      </p:sp>
      <p:sp>
        <p:nvSpPr>
          <p:cNvPr id="1299" name="Figura a mano libera: forma 1298"/>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00" name="CasellaDiTesto 1299"/>
          <p:cNvSpPr txBox="1"/>
          <p:nvPr/>
        </p:nvSpPr>
        <p:spPr>
          <a:xfrm>
            <a:off x="971640" y="4822200"/>
            <a:ext cx="20577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regolamenti comunali.</a:t>
            </a:r>
            <a:endParaRPr lang="it-IT" sz="1650" b="0" u="none" strike="noStrike">
              <a:solidFill>
                <a:srgbClr val="000000"/>
              </a:solidFill>
              <a:effectLst/>
              <a:uFillTx/>
              <a:latin typeface="Times New Roman"/>
            </a:endParaRPr>
          </a:p>
        </p:txBody>
      </p:sp>
      <p:sp>
        <p:nvSpPr>
          <p:cNvPr id="1301" name="Figura a mano libera: forma 1300"/>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02" name="CasellaDiTesto 1301"/>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303" name="CasellaDiTesto 1302"/>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45 / 73</a:t>
            </a:r>
            <a:endParaRPr lang="it-IT" sz="980" b="0" u="none" strike="noStrike">
              <a:solidFill>
                <a:srgbClr val="000000"/>
              </a:solidFill>
              <a:effectLst/>
              <a:uFillTx/>
              <a:latin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4" name="Figura a mano libera: forma 130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05" name="Figura a mano libera: forma 130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06" name="Figura a mano libera: forma 1305"/>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07" name="Figura a mano libera: forma 1306"/>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308" name="CasellaDiTesto 1307"/>
          <p:cNvSpPr txBox="1"/>
          <p:nvPr/>
        </p:nvSpPr>
        <p:spPr>
          <a:xfrm>
            <a:off x="1697040" y="2126160"/>
            <a:ext cx="878616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LA COMPENSAZIONE DI CREDITI EXTRA-</a:t>
            </a:r>
            <a:endParaRPr lang="it-IT" sz="3600" b="0" u="none" strike="noStrike">
              <a:solidFill>
                <a:srgbClr val="000000"/>
              </a:solidFill>
              <a:effectLst/>
              <a:uFillTx/>
              <a:latin typeface="Times New Roman"/>
            </a:endParaRPr>
          </a:p>
        </p:txBody>
      </p:sp>
      <p:sp>
        <p:nvSpPr>
          <p:cNvPr id="1309" name="CasellaDiTesto 1308"/>
          <p:cNvSpPr txBox="1"/>
          <p:nvPr/>
        </p:nvSpPr>
        <p:spPr>
          <a:xfrm>
            <a:off x="1523880" y="2697480"/>
            <a:ext cx="916668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FISCALI E QUELLA PER IL PAGAMENTO DEI</a:t>
            </a:r>
            <a:endParaRPr lang="it-IT" sz="3600" b="0" u="none" strike="noStrike">
              <a:solidFill>
                <a:srgbClr val="000000"/>
              </a:solidFill>
              <a:effectLst/>
              <a:uFillTx/>
              <a:latin typeface="Times New Roman"/>
            </a:endParaRPr>
          </a:p>
        </p:txBody>
      </p:sp>
      <p:sp>
        <p:nvSpPr>
          <p:cNvPr id="1310" name="CasellaDiTesto 1309"/>
          <p:cNvSpPr txBox="1"/>
          <p:nvPr/>
        </p:nvSpPr>
        <p:spPr>
          <a:xfrm>
            <a:off x="5551200" y="3269160"/>
            <a:ext cx="135504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RUOLI</a:t>
            </a:r>
            <a:endParaRPr lang="it-IT" sz="3600" b="0" u="none" strike="noStrike">
              <a:solidFill>
                <a:srgbClr val="000000"/>
              </a:solidFill>
              <a:effectLst/>
              <a:uFillTx/>
              <a:latin typeface="Times New Roman"/>
            </a:endParaRPr>
          </a:p>
        </p:txBody>
      </p:sp>
      <p:sp>
        <p:nvSpPr>
          <p:cNvPr id="1311" name="Figura a mano libera: forma 131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12" name="CasellaDiTesto 1311"/>
          <p:cNvSpPr txBox="1"/>
          <p:nvPr/>
        </p:nvSpPr>
        <p:spPr>
          <a:xfrm>
            <a:off x="4254120" y="4218480"/>
            <a:ext cx="4419000" cy="306720"/>
          </a:xfrm>
          <a:prstGeom prst="rect">
            <a:avLst/>
          </a:prstGeom>
          <a:noFill/>
          <a:ln w="0">
            <a:noFill/>
          </a:ln>
        </p:spPr>
        <p:txBody>
          <a:bodyPr wrap="none" lIns="0" tIns="0" rIns="0" bIns="0" anchor="t">
            <a:spAutoFit/>
          </a:bodyPr>
          <a:lstStyle/>
          <a:p>
            <a:r>
              <a:rPr lang="it-IT" sz="1810" b="1" i="1" u="none" strike="noStrike" dirty="0">
                <a:solidFill>
                  <a:srgbClr val="495057"/>
                </a:solidFill>
                <a:effectLst/>
                <a:uFillTx/>
                <a:latin typeface="SegoeUI"/>
                <a:ea typeface="SegoeUI"/>
              </a:rPr>
              <a:t>artt. </a:t>
            </a:r>
            <a:r>
              <a:rPr lang="it-IT" sz="1810" b="1" i="1" u="none" strike="noStrike" dirty="0">
                <a:solidFill>
                  <a:srgbClr val="4488CC"/>
                </a:solidFill>
                <a:effectLst/>
                <a:uFillTx/>
                <a:latin typeface="SegoeUI"/>
                <a:ea typeface="SegoeUI"/>
              </a:rPr>
              <a:t>15, 16, 17, 108 e 109</a:t>
            </a:r>
            <a:r>
              <a:rPr lang="it-IT" sz="1810" b="1" i="1" u="none" strike="noStrike" dirty="0">
                <a:solidFill>
                  <a:srgbClr val="495057"/>
                </a:solidFill>
                <a:effectLst/>
                <a:uFillTx/>
                <a:latin typeface="SegoeUI"/>
                <a:ea typeface="SegoeUI"/>
              </a:rPr>
              <a:t> </a:t>
            </a:r>
            <a:r>
              <a:rPr lang="it-IT" sz="1810" b="1" i="1" u="none" strike="noStrike" dirty="0" err="1">
                <a:solidFill>
                  <a:srgbClr val="495057"/>
                </a:solidFill>
                <a:effectLst/>
                <a:uFillTx/>
                <a:latin typeface="SegoeUI"/>
                <a:ea typeface="SegoeUI"/>
              </a:rPr>
              <a:t>D.Lgs.</a:t>
            </a:r>
            <a:r>
              <a:rPr lang="it-IT" sz="1810" b="1" i="1" u="none" strike="noStrike" dirty="0">
                <a:solidFill>
                  <a:srgbClr val="495057"/>
                </a:solidFill>
                <a:effectLst/>
                <a:uFillTx/>
                <a:latin typeface="SegoeUI"/>
                <a:ea typeface="SegoeUI"/>
              </a:rPr>
              <a:t> 33/2025</a:t>
            </a:r>
            <a:endParaRPr lang="it-IT" sz="1810" b="0" u="none" strike="noStrike" dirty="0">
              <a:solidFill>
                <a:srgbClr val="000000"/>
              </a:solidFill>
              <a:effectLst/>
              <a:uFillTx/>
              <a:latin typeface="Times New Roman"/>
            </a:endParaRPr>
          </a:p>
        </p:txBody>
      </p:sp>
      <p:sp>
        <p:nvSpPr>
          <p:cNvPr id="1313" name="Figura a mano libera: forma 131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14" name="CasellaDiTesto 131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315" name="CasellaDiTesto 131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46 / 73</a:t>
            </a:r>
            <a:endParaRPr lang="it-IT" sz="980" b="0" u="none" strike="noStrike">
              <a:solidFill>
                <a:srgbClr val="000000"/>
              </a:solidFill>
              <a:effectLst/>
              <a:uFillTx/>
              <a:latin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6" name="Figura a mano libera: forma 131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17" name="Figura a mano libera: forma 131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18" name="Figura a mano libera: forma 131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19" name="Figura a mano libera: forma 131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320" name="Figura a mano libera: forma 1319"/>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21" name="Figura a mano libera: forma 1320"/>
          <p:cNvSpPr/>
          <p:nvPr/>
        </p:nvSpPr>
        <p:spPr>
          <a:xfrm>
            <a:off x="981000" y="2124000"/>
            <a:ext cx="1819440" cy="381240"/>
          </a:xfrm>
          <a:custGeom>
            <a:avLst/>
            <a:gdLst/>
            <a:ahLst/>
            <a:cxnLst/>
            <a:rect l="0" t="0" r="r" b="b"/>
            <a:pathLst>
              <a:path w="5054" h="1059">
                <a:moveTo>
                  <a:pt x="0" y="0"/>
                </a:moveTo>
                <a:lnTo>
                  <a:pt x="5054" y="0"/>
                </a:lnTo>
                <a:lnTo>
                  <a:pt x="5054" y="1059"/>
                </a:lnTo>
                <a:lnTo>
                  <a:pt x="0" y="105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22" name="Figura a mano libera: forma 1321"/>
          <p:cNvSpPr/>
          <p:nvPr/>
        </p:nvSpPr>
        <p:spPr>
          <a:xfrm>
            <a:off x="2800080" y="2124000"/>
            <a:ext cx="3686760" cy="381240"/>
          </a:xfrm>
          <a:custGeom>
            <a:avLst/>
            <a:gdLst/>
            <a:ahLst/>
            <a:cxnLst/>
            <a:rect l="0" t="0" r="r" b="b"/>
            <a:pathLst>
              <a:path w="10241" h="1059">
                <a:moveTo>
                  <a:pt x="0" y="0"/>
                </a:moveTo>
                <a:lnTo>
                  <a:pt x="10241" y="0"/>
                </a:lnTo>
                <a:lnTo>
                  <a:pt x="10241" y="1059"/>
                </a:lnTo>
                <a:lnTo>
                  <a:pt x="0" y="1059"/>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23" name="Figura a mano libera: forma 1322"/>
          <p:cNvSpPr/>
          <p:nvPr/>
        </p:nvSpPr>
        <p:spPr>
          <a:xfrm>
            <a:off x="6486480" y="2124000"/>
            <a:ext cx="5038920" cy="381240"/>
          </a:xfrm>
          <a:custGeom>
            <a:avLst/>
            <a:gdLst/>
            <a:ahLst/>
            <a:cxnLst/>
            <a:rect l="0" t="0" r="r" b="b"/>
            <a:pathLst>
              <a:path w="13997" h="1059">
                <a:moveTo>
                  <a:pt x="13997" y="1059"/>
                </a:moveTo>
                <a:lnTo>
                  <a:pt x="0" y="1059"/>
                </a:lnTo>
                <a:lnTo>
                  <a:pt x="0" y="0"/>
                </a:lnTo>
                <a:lnTo>
                  <a:pt x="13997" y="0"/>
                </a:lnTo>
                <a:lnTo>
                  <a:pt x="13997" y="1059"/>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24" name="Figura a mano libera: forma 1323"/>
          <p:cNvSpPr/>
          <p:nvPr/>
        </p:nvSpPr>
        <p:spPr>
          <a:xfrm>
            <a:off x="981000" y="2124000"/>
            <a:ext cx="1819440" cy="381240"/>
          </a:xfrm>
          <a:custGeom>
            <a:avLst/>
            <a:gdLst/>
            <a:ahLst/>
            <a:cxnLst/>
            <a:rect l="0" t="0" r="r" b="b"/>
            <a:pathLst>
              <a:path w="5054" h="1059">
                <a:moveTo>
                  <a:pt x="0" y="0"/>
                </a:moveTo>
                <a:lnTo>
                  <a:pt x="5054" y="0"/>
                </a:lnTo>
                <a:lnTo>
                  <a:pt x="5054" y="1059"/>
                </a:lnTo>
                <a:lnTo>
                  <a:pt x="0" y="1059"/>
                </a:lnTo>
                <a:lnTo>
                  <a:pt x="0" y="0"/>
                </a:lnTo>
                <a:close/>
              </a:path>
            </a:pathLst>
          </a:custGeom>
          <a:solidFill>
            <a:srgbClr val="003366"/>
          </a:solidFill>
          <a:ln w="0">
            <a:noFill/>
          </a:ln>
        </p:spPr>
        <p:txBody>
          <a:bodyPr lIns="0" tIns="0" rIns="0" bIns="0" anchor="t">
            <a:noAutofit/>
          </a:bodyPr>
          <a:lstStyle/>
          <a:p>
            <a:endParaRPr lang="it-IT" sz="2400" b="0" u="none" strike="noStrike">
              <a:solidFill>
                <a:schemeClr val="bg1"/>
              </a:solidFill>
              <a:effectLst/>
              <a:uFillTx/>
              <a:latin typeface="Times New Roman"/>
            </a:endParaRPr>
          </a:p>
        </p:txBody>
      </p:sp>
      <p:sp>
        <p:nvSpPr>
          <p:cNvPr id="1325" name="Figura a mano libera: forma 1324"/>
          <p:cNvSpPr/>
          <p:nvPr/>
        </p:nvSpPr>
        <p:spPr>
          <a:xfrm>
            <a:off x="2800080" y="2124000"/>
            <a:ext cx="3686760" cy="381240"/>
          </a:xfrm>
          <a:custGeom>
            <a:avLst/>
            <a:gdLst/>
            <a:ahLst/>
            <a:cxnLst/>
            <a:rect l="0" t="0" r="r" b="b"/>
            <a:pathLst>
              <a:path w="10241" h="1059">
                <a:moveTo>
                  <a:pt x="0" y="0"/>
                </a:moveTo>
                <a:lnTo>
                  <a:pt x="10241" y="0"/>
                </a:lnTo>
                <a:lnTo>
                  <a:pt x="10241" y="1059"/>
                </a:lnTo>
                <a:lnTo>
                  <a:pt x="0" y="1059"/>
                </a:lnTo>
                <a:lnTo>
                  <a:pt x="0" y="0"/>
                </a:lnTo>
                <a:close/>
              </a:path>
            </a:pathLst>
          </a:custGeom>
          <a:solidFill>
            <a:srgbClr val="003366"/>
          </a:solidFill>
          <a:ln w="0">
            <a:noFill/>
          </a:ln>
        </p:spPr>
        <p:txBody>
          <a:bodyPr lIns="0" tIns="0" rIns="0" bIns="0" anchor="t">
            <a:noAutofit/>
          </a:bodyPr>
          <a:lstStyle/>
          <a:p>
            <a:endParaRPr lang="it-IT" sz="2400" b="0" u="none" strike="noStrike">
              <a:solidFill>
                <a:schemeClr val="bg1"/>
              </a:solidFill>
              <a:effectLst/>
              <a:uFillTx/>
              <a:latin typeface="Times New Roman"/>
            </a:endParaRPr>
          </a:p>
        </p:txBody>
      </p:sp>
      <p:sp>
        <p:nvSpPr>
          <p:cNvPr id="1326" name="Figura a mano libera: forma 1325"/>
          <p:cNvSpPr/>
          <p:nvPr/>
        </p:nvSpPr>
        <p:spPr>
          <a:xfrm>
            <a:off x="6486480" y="2124000"/>
            <a:ext cx="5038920" cy="381240"/>
          </a:xfrm>
          <a:custGeom>
            <a:avLst/>
            <a:gdLst/>
            <a:ahLst/>
            <a:cxnLst/>
            <a:rect l="0" t="0" r="r" b="b"/>
            <a:pathLst>
              <a:path w="13997" h="1059">
                <a:moveTo>
                  <a:pt x="13997" y="1059"/>
                </a:moveTo>
                <a:lnTo>
                  <a:pt x="0" y="1059"/>
                </a:lnTo>
                <a:lnTo>
                  <a:pt x="0" y="0"/>
                </a:lnTo>
                <a:lnTo>
                  <a:pt x="13997" y="0"/>
                </a:lnTo>
                <a:lnTo>
                  <a:pt x="13997" y="1059"/>
                </a:lnTo>
                <a:close/>
              </a:path>
            </a:pathLst>
          </a:custGeom>
          <a:solidFill>
            <a:srgbClr val="003366"/>
          </a:solidFill>
          <a:ln w="0">
            <a:noFill/>
          </a:ln>
        </p:spPr>
        <p:txBody>
          <a:bodyPr lIns="0" tIns="0" rIns="0" bIns="0" anchor="t">
            <a:noAutofit/>
          </a:bodyPr>
          <a:lstStyle/>
          <a:p>
            <a:endParaRPr lang="it-IT" sz="2400" b="0" u="none" strike="noStrike">
              <a:solidFill>
                <a:schemeClr val="bg1"/>
              </a:solidFill>
              <a:effectLst/>
              <a:uFillTx/>
              <a:latin typeface="Times New Roman"/>
            </a:endParaRPr>
          </a:p>
        </p:txBody>
      </p:sp>
      <p:sp>
        <p:nvSpPr>
          <p:cNvPr id="1327" name="Figura a mano libera: forma 1326"/>
          <p:cNvSpPr/>
          <p:nvPr/>
        </p:nvSpPr>
        <p:spPr>
          <a:xfrm>
            <a:off x="981000" y="2504880"/>
            <a:ext cx="1819440" cy="676800"/>
          </a:xfrm>
          <a:custGeom>
            <a:avLst/>
            <a:gdLst/>
            <a:ahLst/>
            <a:cxnLst/>
            <a:rect l="0" t="0" r="r" b="b"/>
            <a:pathLst>
              <a:path w="5054" h="1880">
                <a:moveTo>
                  <a:pt x="0" y="0"/>
                </a:moveTo>
                <a:lnTo>
                  <a:pt x="5054" y="0"/>
                </a:lnTo>
                <a:lnTo>
                  <a:pt x="5054" y="1880"/>
                </a:lnTo>
                <a:lnTo>
                  <a:pt x="0" y="188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28" name="Figura a mano libera: forma 1327"/>
          <p:cNvSpPr/>
          <p:nvPr/>
        </p:nvSpPr>
        <p:spPr>
          <a:xfrm>
            <a:off x="2800080" y="2504880"/>
            <a:ext cx="3686760" cy="676800"/>
          </a:xfrm>
          <a:custGeom>
            <a:avLst/>
            <a:gdLst/>
            <a:ahLst/>
            <a:cxnLst/>
            <a:rect l="0" t="0" r="r" b="b"/>
            <a:pathLst>
              <a:path w="10241" h="1880">
                <a:moveTo>
                  <a:pt x="0" y="0"/>
                </a:moveTo>
                <a:lnTo>
                  <a:pt x="10241" y="0"/>
                </a:lnTo>
                <a:lnTo>
                  <a:pt x="10241" y="1880"/>
                </a:lnTo>
                <a:lnTo>
                  <a:pt x="0" y="188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29" name="Figura a mano libera: forma 1328"/>
          <p:cNvSpPr/>
          <p:nvPr/>
        </p:nvSpPr>
        <p:spPr>
          <a:xfrm>
            <a:off x="6486480" y="2504880"/>
            <a:ext cx="5038920" cy="676800"/>
          </a:xfrm>
          <a:custGeom>
            <a:avLst/>
            <a:gdLst/>
            <a:ahLst/>
            <a:cxnLst/>
            <a:rect l="0" t="0" r="r" b="b"/>
            <a:pathLst>
              <a:path w="13997" h="1880">
                <a:moveTo>
                  <a:pt x="13997" y="1880"/>
                </a:moveTo>
                <a:lnTo>
                  <a:pt x="0" y="1880"/>
                </a:lnTo>
                <a:lnTo>
                  <a:pt x="0" y="0"/>
                </a:lnTo>
                <a:lnTo>
                  <a:pt x="13997" y="0"/>
                </a:lnTo>
                <a:lnTo>
                  <a:pt x="13997" y="188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0" name="Figura a mano libera: forma 1329"/>
          <p:cNvSpPr/>
          <p:nvPr/>
        </p:nvSpPr>
        <p:spPr>
          <a:xfrm>
            <a:off x="981000" y="3181320"/>
            <a:ext cx="1819440" cy="686160"/>
          </a:xfrm>
          <a:custGeom>
            <a:avLst/>
            <a:gdLst/>
            <a:ahLst/>
            <a:cxnLst/>
            <a:rect l="0" t="0" r="r" b="b"/>
            <a:pathLst>
              <a:path w="5054" h="1906">
                <a:moveTo>
                  <a:pt x="0" y="0"/>
                </a:moveTo>
                <a:lnTo>
                  <a:pt x="5054" y="0"/>
                </a:lnTo>
                <a:lnTo>
                  <a:pt x="5054" y="1906"/>
                </a:lnTo>
                <a:lnTo>
                  <a:pt x="0" y="1906"/>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1" name="Figura a mano libera: forma 1330"/>
          <p:cNvSpPr/>
          <p:nvPr/>
        </p:nvSpPr>
        <p:spPr>
          <a:xfrm>
            <a:off x="2800080" y="3181320"/>
            <a:ext cx="3686760" cy="686160"/>
          </a:xfrm>
          <a:custGeom>
            <a:avLst/>
            <a:gdLst/>
            <a:ahLst/>
            <a:cxnLst/>
            <a:rect l="0" t="0" r="r" b="b"/>
            <a:pathLst>
              <a:path w="10241" h="1906">
                <a:moveTo>
                  <a:pt x="0" y="0"/>
                </a:moveTo>
                <a:lnTo>
                  <a:pt x="10241" y="0"/>
                </a:lnTo>
                <a:lnTo>
                  <a:pt x="10241" y="1906"/>
                </a:lnTo>
                <a:lnTo>
                  <a:pt x="0" y="1906"/>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2" name="Figura a mano libera: forma 1331"/>
          <p:cNvSpPr/>
          <p:nvPr/>
        </p:nvSpPr>
        <p:spPr>
          <a:xfrm>
            <a:off x="6486480" y="3181320"/>
            <a:ext cx="5038920" cy="686160"/>
          </a:xfrm>
          <a:custGeom>
            <a:avLst/>
            <a:gdLst/>
            <a:ahLst/>
            <a:cxnLst/>
            <a:rect l="0" t="0" r="r" b="b"/>
            <a:pathLst>
              <a:path w="13997" h="1906">
                <a:moveTo>
                  <a:pt x="13997" y="1906"/>
                </a:moveTo>
                <a:lnTo>
                  <a:pt x="0" y="1906"/>
                </a:lnTo>
                <a:lnTo>
                  <a:pt x="0" y="0"/>
                </a:lnTo>
                <a:lnTo>
                  <a:pt x="13997" y="0"/>
                </a:lnTo>
                <a:lnTo>
                  <a:pt x="13997" y="1906"/>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3" name="Figura a mano libera: forma 1332"/>
          <p:cNvSpPr/>
          <p:nvPr/>
        </p:nvSpPr>
        <p:spPr>
          <a:xfrm>
            <a:off x="981000" y="3867120"/>
            <a:ext cx="1819440" cy="686160"/>
          </a:xfrm>
          <a:custGeom>
            <a:avLst/>
            <a:gdLst/>
            <a:ahLst/>
            <a:cxnLst/>
            <a:rect l="0" t="0" r="r" b="b"/>
            <a:pathLst>
              <a:path w="5054" h="1906">
                <a:moveTo>
                  <a:pt x="0" y="0"/>
                </a:moveTo>
                <a:lnTo>
                  <a:pt x="5054" y="0"/>
                </a:lnTo>
                <a:lnTo>
                  <a:pt x="5054"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4" name="Figura a mano libera: forma 1333"/>
          <p:cNvSpPr/>
          <p:nvPr/>
        </p:nvSpPr>
        <p:spPr>
          <a:xfrm>
            <a:off x="2800080" y="3867120"/>
            <a:ext cx="3686760" cy="686160"/>
          </a:xfrm>
          <a:custGeom>
            <a:avLst/>
            <a:gdLst/>
            <a:ahLst/>
            <a:cxnLst/>
            <a:rect l="0" t="0" r="r" b="b"/>
            <a:pathLst>
              <a:path w="10241" h="1906">
                <a:moveTo>
                  <a:pt x="0" y="0"/>
                </a:moveTo>
                <a:lnTo>
                  <a:pt x="10241" y="0"/>
                </a:lnTo>
                <a:lnTo>
                  <a:pt x="10241"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5" name="Figura a mano libera: forma 1334"/>
          <p:cNvSpPr/>
          <p:nvPr/>
        </p:nvSpPr>
        <p:spPr>
          <a:xfrm>
            <a:off x="6486480" y="3867120"/>
            <a:ext cx="5038920" cy="686160"/>
          </a:xfrm>
          <a:custGeom>
            <a:avLst/>
            <a:gdLst/>
            <a:ahLst/>
            <a:cxnLst/>
            <a:rect l="0" t="0" r="r" b="b"/>
            <a:pathLst>
              <a:path w="13997" h="1906">
                <a:moveTo>
                  <a:pt x="13997" y="1906"/>
                </a:moveTo>
                <a:lnTo>
                  <a:pt x="0" y="1906"/>
                </a:lnTo>
                <a:lnTo>
                  <a:pt x="0" y="0"/>
                </a:lnTo>
                <a:lnTo>
                  <a:pt x="13997" y="0"/>
                </a:lnTo>
                <a:lnTo>
                  <a:pt x="13997" y="1906"/>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6" name="Figura a mano libera: forma 1335"/>
          <p:cNvSpPr/>
          <p:nvPr/>
        </p:nvSpPr>
        <p:spPr>
          <a:xfrm>
            <a:off x="981000" y="4552920"/>
            <a:ext cx="1819440" cy="686160"/>
          </a:xfrm>
          <a:custGeom>
            <a:avLst/>
            <a:gdLst/>
            <a:ahLst/>
            <a:cxnLst/>
            <a:rect l="0" t="0" r="r" b="b"/>
            <a:pathLst>
              <a:path w="5054" h="1906">
                <a:moveTo>
                  <a:pt x="0" y="1906"/>
                </a:moveTo>
                <a:lnTo>
                  <a:pt x="0" y="0"/>
                </a:lnTo>
                <a:lnTo>
                  <a:pt x="5054" y="0"/>
                </a:lnTo>
                <a:lnTo>
                  <a:pt x="5054" y="1906"/>
                </a:lnTo>
                <a:lnTo>
                  <a:pt x="0" y="1906"/>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7" name="Figura a mano libera: forma 1336"/>
          <p:cNvSpPr/>
          <p:nvPr/>
        </p:nvSpPr>
        <p:spPr>
          <a:xfrm>
            <a:off x="2800080" y="4552920"/>
            <a:ext cx="3686760" cy="686160"/>
          </a:xfrm>
          <a:custGeom>
            <a:avLst/>
            <a:gdLst/>
            <a:ahLst/>
            <a:cxnLst/>
            <a:rect l="0" t="0" r="r" b="b"/>
            <a:pathLst>
              <a:path w="10241" h="1906">
                <a:moveTo>
                  <a:pt x="0" y="1906"/>
                </a:moveTo>
                <a:lnTo>
                  <a:pt x="0" y="0"/>
                </a:lnTo>
                <a:lnTo>
                  <a:pt x="10241" y="0"/>
                </a:lnTo>
                <a:lnTo>
                  <a:pt x="10241" y="1906"/>
                </a:lnTo>
                <a:lnTo>
                  <a:pt x="0" y="1906"/>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8" name="Figura a mano libera: forma 1337"/>
          <p:cNvSpPr/>
          <p:nvPr/>
        </p:nvSpPr>
        <p:spPr>
          <a:xfrm>
            <a:off x="6486480" y="4552920"/>
            <a:ext cx="5038920" cy="686160"/>
          </a:xfrm>
          <a:custGeom>
            <a:avLst/>
            <a:gdLst/>
            <a:ahLst/>
            <a:cxnLst/>
            <a:rect l="0" t="0" r="r" b="b"/>
            <a:pathLst>
              <a:path w="13997" h="1906">
                <a:moveTo>
                  <a:pt x="13997" y="1906"/>
                </a:moveTo>
                <a:lnTo>
                  <a:pt x="0" y="1906"/>
                </a:lnTo>
                <a:lnTo>
                  <a:pt x="0" y="0"/>
                </a:lnTo>
                <a:lnTo>
                  <a:pt x="13997" y="0"/>
                </a:lnTo>
                <a:lnTo>
                  <a:pt x="13997" y="1906"/>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39" name="Figura a mano libera: forma 1338"/>
          <p:cNvSpPr/>
          <p:nvPr/>
        </p:nvSpPr>
        <p:spPr>
          <a:xfrm>
            <a:off x="971280" y="2124000"/>
            <a:ext cx="10080" cy="381240"/>
          </a:xfrm>
          <a:custGeom>
            <a:avLst/>
            <a:gdLst/>
            <a:ahLst/>
            <a:cxn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0" name="Figura a mano libera: forma 1339"/>
          <p:cNvSpPr/>
          <p:nvPr/>
        </p:nvSpPr>
        <p:spPr>
          <a:xfrm>
            <a:off x="971280" y="2124000"/>
            <a:ext cx="1829160" cy="9720"/>
          </a:xfrm>
          <a:custGeom>
            <a:avLst/>
            <a:gdLst/>
            <a:ahLst/>
            <a:cxnLst/>
            <a:rect l="0" t="0" r="r" b="b"/>
            <a:pathLst>
              <a:path w="5081" h="27">
                <a:moveTo>
                  <a:pt x="0" y="0"/>
                </a:moveTo>
                <a:lnTo>
                  <a:pt x="5081" y="0"/>
                </a:lnTo>
                <a:lnTo>
                  <a:pt x="508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chemeClr val="bg1"/>
              </a:solidFill>
              <a:effectLst/>
              <a:uFillTx/>
              <a:latin typeface="Times New Roman"/>
            </a:endParaRPr>
          </a:p>
        </p:txBody>
      </p:sp>
      <p:sp>
        <p:nvSpPr>
          <p:cNvPr id="1341" name="Figura a mano libera: forma 1340"/>
          <p:cNvSpPr/>
          <p:nvPr/>
        </p:nvSpPr>
        <p:spPr>
          <a:xfrm>
            <a:off x="2790720" y="2124000"/>
            <a:ext cx="9720" cy="381240"/>
          </a:xfrm>
          <a:custGeom>
            <a:avLst/>
            <a:gdLst/>
            <a:ahLst/>
            <a:cxn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2" name="Figura a mano libera: forma 1341"/>
          <p:cNvSpPr/>
          <p:nvPr/>
        </p:nvSpPr>
        <p:spPr>
          <a:xfrm>
            <a:off x="2800080" y="2124000"/>
            <a:ext cx="3696120" cy="9720"/>
          </a:xfrm>
          <a:custGeom>
            <a:avLst/>
            <a:gdLst/>
            <a:ahLst/>
            <a:cxnLst/>
            <a:rect l="0" t="0" r="r" b="b"/>
            <a:pathLst>
              <a:path w="10267" h="27">
                <a:moveTo>
                  <a:pt x="0" y="0"/>
                </a:moveTo>
                <a:lnTo>
                  <a:pt x="10267" y="0"/>
                </a:lnTo>
                <a:lnTo>
                  <a:pt x="10267"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chemeClr val="bg1"/>
              </a:solidFill>
              <a:effectLst/>
              <a:uFillTx/>
              <a:latin typeface="Times New Roman"/>
            </a:endParaRPr>
          </a:p>
        </p:txBody>
      </p:sp>
      <p:sp>
        <p:nvSpPr>
          <p:cNvPr id="1343" name="Figura a mano libera: forma 1342"/>
          <p:cNvSpPr/>
          <p:nvPr/>
        </p:nvSpPr>
        <p:spPr>
          <a:xfrm>
            <a:off x="6486480" y="2124000"/>
            <a:ext cx="9720" cy="381240"/>
          </a:xfrm>
          <a:custGeom>
            <a:avLst/>
            <a:gdLst/>
            <a:ahLst/>
            <a:cxn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4" name="Figura a mano libera: forma 1343"/>
          <p:cNvSpPr/>
          <p:nvPr/>
        </p:nvSpPr>
        <p:spPr>
          <a:xfrm>
            <a:off x="6495840" y="2124000"/>
            <a:ext cx="5029560" cy="9720"/>
          </a:xfrm>
          <a:custGeom>
            <a:avLst/>
            <a:gdLst/>
            <a:ahLst/>
            <a:cxnLst/>
            <a:rect l="0" t="0" r="r" b="b"/>
            <a:pathLst>
              <a:path w="13971" h="27">
                <a:moveTo>
                  <a:pt x="13971" y="27"/>
                </a:moveTo>
                <a:lnTo>
                  <a:pt x="0" y="27"/>
                </a:lnTo>
                <a:lnTo>
                  <a:pt x="0" y="0"/>
                </a:lnTo>
                <a:lnTo>
                  <a:pt x="13971" y="0"/>
                </a:lnTo>
                <a:lnTo>
                  <a:pt x="13971" y="27"/>
                </a:lnTo>
                <a:close/>
              </a:path>
            </a:pathLst>
          </a:custGeom>
          <a:solidFill>
            <a:srgbClr val="D1D9E0"/>
          </a:solidFill>
          <a:ln w="0">
            <a:noFill/>
          </a:ln>
        </p:spPr>
        <p:txBody>
          <a:bodyPr lIns="0" tIns="0" rIns="0" bIns="0" anchor="t">
            <a:noAutofit/>
          </a:bodyPr>
          <a:lstStyle/>
          <a:p>
            <a:endParaRPr lang="it-IT" sz="2400" b="0" u="none" strike="noStrike">
              <a:solidFill>
                <a:schemeClr val="bg1"/>
              </a:solidFill>
              <a:effectLst/>
              <a:uFillTx/>
              <a:latin typeface="Times New Roman"/>
            </a:endParaRPr>
          </a:p>
        </p:txBody>
      </p:sp>
      <p:sp>
        <p:nvSpPr>
          <p:cNvPr id="1345" name="Figura a mano libera: forma 1344"/>
          <p:cNvSpPr/>
          <p:nvPr/>
        </p:nvSpPr>
        <p:spPr>
          <a:xfrm>
            <a:off x="11515680" y="2124000"/>
            <a:ext cx="9720" cy="381240"/>
          </a:xfrm>
          <a:custGeom>
            <a:avLst/>
            <a:gdLst/>
            <a:ahLst/>
            <a:cxnLst/>
            <a:rect l="0" t="0" r="r" b="b"/>
            <a:pathLst>
              <a:path w="27" h="1059">
                <a:moveTo>
                  <a:pt x="27" y="1059"/>
                </a:moveTo>
                <a:lnTo>
                  <a:pt x="0" y="1059"/>
                </a:lnTo>
                <a:lnTo>
                  <a:pt x="0" y="0"/>
                </a:lnTo>
                <a:lnTo>
                  <a:pt x="27" y="0"/>
                </a:lnTo>
                <a:lnTo>
                  <a:pt x="27" y="105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6" name="Figura a mano libera: forma 1345"/>
          <p:cNvSpPr/>
          <p:nvPr/>
        </p:nvSpPr>
        <p:spPr>
          <a:xfrm>
            <a:off x="971280" y="2495520"/>
            <a:ext cx="1829160" cy="9720"/>
          </a:xfrm>
          <a:custGeom>
            <a:avLst/>
            <a:gdLst/>
            <a:ahLst/>
            <a:cxnLst/>
            <a:rect l="0" t="0" r="r" b="b"/>
            <a:pathLst>
              <a:path w="5081" h="27">
                <a:moveTo>
                  <a:pt x="0" y="0"/>
                </a:moveTo>
                <a:lnTo>
                  <a:pt x="5081" y="0"/>
                </a:lnTo>
                <a:lnTo>
                  <a:pt x="508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7" name="Figura a mano libera: forma 1346"/>
          <p:cNvSpPr/>
          <p:nvPr/>
        </p:nvSpPr>
        <p:spPr>
          <a:xfrm>
            <a:off x="2800080" y="2495520"/>
            <a:ext cx="3696120" cy="9720"/>
          </a:xfrm>
          <a:custGeom>
            <a:avLst/>
            <a:gdLst/>
            <a:ahLst/>
            <a:cxnLst/>
            <a:rect l="0" t="0" r="r" b="b"/>
            <a:pathLst>
              <a:path w="10267" h="27">
                <a:moveTo>
                  <a:pt x="0" y="0"/>
                </a:moveTo>
                <a:lnTo>
                  <a:pt x="10267" y="0"/>
                </a:lnTo>
                <a:lnTo>
                  <a:pt x="10267"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8" name="Figura a mano libera: forma 1347"/>
          <p:cNvSpPr/>
          <p:nvPr/>
        </p:nvSpPr>
        <p:spPr>
          <a:xfrm>
            <a:off x="6495840" y="2495520"/>
            <a:ext cx="5029560" cy="9720"/>
          </a:xfrm>
          <a:custGeom>
            <a:avLst/>
            <a:gdLst/>
            <a:ahLst/>
            <a:cxnLst/>
            <a:rect l="0" t="0" r="r" b="b"/>
            <a:pathLst>
              <a:path w="13971" h="27">
                <a:moveTo>
                  <a:pt x="13971" y="27"/>
                </a:moveTo>
                <a:lnTo>
                  <a:pt x="0" y="27"/>
                </a:lnTo>
                <a:lnTo>
                  <a:pt x="0" y="0"/>
                </a:lnTo>
                <a:lnTo>
                  <a:pt x="13971" y="0"/>
                </a:lnTo>
                <a:lnTo>
                  <a:pt x="13971" y="27"/>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49" name="Figura a mano libera: forma 1348"/>
          <p:cNvSpPr/>
          <p:nvPr/>
        </p:nvSpPr>
        <p:spPr>
          <a:xfrm>
            <a:off x="971280" y="250488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0" name="Figura a mano libera: forma 1349"/>
          <p:cNvSpPr/>
          <p:nvPr/>
        </p:nvSpPr>
        <p:spPr>
          <a:xfrm>
            <a:off x="2790720" y="25048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1" name="Figura a mano libera: forma 1350"/>
          <p:cNvSpPr/>
          <p:nvPr/>
        </p:nvSpPr>
        <p:spPr>
          <a:xfrm>
            <a:off x="6486480" y="25048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2" name="Figura a mano libera: forma 1351"/>
          <p:cNvSpPr/>
          <p:nvPr/>
        </p:nvSpPr>
        <p:spPr>
          <a:xfrm>
            <a:off x="11515680" y="250488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3" name="Figura a mano libera: forma 1352"/>
          <p:cNvSpPr/>
          <p:nvPr/>
        </p:nvSpPr>
        <p:spPr>
          <a:xfrm>
            <a:off x="971280" y="319068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4" name="Figura a mano libera: forma 1353"/>
          <p:cNvSpPr/>
          <p:nvPr/>
        </p:nvSpPr>
        <p:spPr>
          <a:xfrm>
            <a:off x="971280" y="3181320"/>
            <a:ext cx="1829160" cy="9720"/>
          </a:xfrm>
          <a:custGeom>
            <a:avLst/>
            <a:gdLst/>
            <a:ahLst/>
            <a:cxnLst/>
            <a:rect l="0" t="0" r="r" b="b"/>
            <a:pathLst>
              <a:path w="5081" h="27">
                <a:moveTo>
                  <a:pt x="0" y="0"/>
                </a:moveTo>
                <a:lnTo>
                  <a:pt x="5081" y="0"/>
                </a:lnTo>
                <a:lnTo>
                  <a:pt x="508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5" name="Figura a mano libera: forma 1354"/>
          <p:cNvSpPr/>
          <p:nvPr/>
        </p:nvSpPr>
        <p:spPr>
          <a:xfrm>
            <a:off x="2790720" y="31906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6" name="Figura a mano libera: forma 1355"/>
          <p:cNvSpPr/>
          <p:nvPr/>
        </p:nvSpPr>
        <p:spPr>
          <a:xfrm>
            <a:off x="2800080" y="3181320"/>
            <a:ext cx="3696120" cy="9720"/>
          </a:xfrm>
          <a:custGeom>
            <a:avLst/>
            <a:gdLst/>
            <a:ahLst/>
            <a:cxnLst/>
            <a:rect l="0" t="0" r="r" b="b"/>
            <a:pathLst>
              <a:path w="10267" h="27">
                <a:moveTo>
                  <a:pt x="0" y="0"/>
                </a:moveTo>
                <a:lnTo>
                  <a:pt x="10267" y="0"/>
                </a:lnTo>
                <a:lnTo>
                  <a:pt x="10267"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7" name="Figura a mano libera: forma 1356"/>
          <p:cNvSpPr/>
          <p:nvPr/>
        </p:nvSpPr>
        <p:spPr>
          <a:xfrm>
            <a:off x="6486480" y="31906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8" name="Figura a mano libera: forma 1357"/>
          <p:cNvSpPr/>
          <p:nvPr/>
        </p:nvSpPr>
        <p:spPr>
          <a:xfrm>
            <a:off x="6495840" y="3181320"/>
            <a:ext cx="5029560" cy="9720"/>
          </a:xfrm>
          <a:custGeom>
            <a:avLst/>
            <a:gdLst/>
            <a:ahLst/>
            <a:cxnLst/>
            <a:rect l="0" t="0" r="r" b="b"/>
            <a:pathLst>
              <a:path w="13971" h="27">
                <a:moveTo>
                  <a:pt x="13971" y="27"/>
                </a:moveTo>
                <a:lnTo>
                  <a:pt x="0" y="27"/>
                </a:lnTo>
                <a:lnTo>
                  <a:pt x="0" y="0"/>
                </a:lnTo>
                <a:lnTo>
                  <a:pt x="13971" y="0"/>
                </a:lnTo>
                <a:lnTo>
                  <a:pt x="13971" y="27"/>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59" name="Figura a mano libera: forma 1358"/>
          <p:cNvSpPr/>
          <p:nvPr/>
        </p:nvSpPr>
        <p:spPr>
          <a:xfrm>
            <a:off x="11515680" y="319068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0" name="Figura a mano libera: forma 1359"/>
          <p:cNvSpPr/>
          <p:nvPr/>
        </p:nvSpPr>
        <p:spPr>
          <a:xfrm>
            <a:off x="971280" y="387648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1" name="Figura a mano libera: forma 1360"/>
          <p:cNvSpPr/>
          <p:nvPr/>
        </p:nvSpPr>
        <p:spPr>
          <a:xfrm>
            <a:off x="971280" y="3867120"/>
            <a:ext cx="1829160" cy="9720"/>
          </a:xfrm>
          <a:custGeom>
            <a:avLst/>
            <a:gdLst/>
            <a:ahLst/>
            <a:cxnLst/>
            <a:rect l="0" t="0" r="r" b="b"/>
            <a:pathLst>
              <a:path w="5081" h="27">
                <a:moveTo>
                  <a:pt x="0" y="0"/>
                </a:moveTo>
                <a:lnTo>
                  <a:pt x="5081" y="0"/>
                </a:lnTo>
                <a:lnTo>
                  <a:pt x="508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2" name="Figura a mano libera: forma 1361"/>
          <p:cNvSpPr/>
          <p:nvPr/>
        </p:nvSpPr>
        <p:spPr>
          <a:xfrm>
            <a:off x="2790720" y="38764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3" name="Figura a mano libera: forma 1362"/>
          <p:cNvSpPr/>
          <p:nvPr/>
        </p:nvSpPr>
        <p:spPr>
          <a:xfrm>
            <a:off x="2800080" y="3867120"/>
            <a:ext cx="3696120" cy="9720"/>
          </a:xfrm>
          <a:custGeom>
            <a:avLst/>
            <a:gdLst/>
            <a:ahLst/>
            <a:cxnLst/>
            <a:rect l="0" t="0" r="r" b="b"/>
            <a:pathLst>
              <a:path w="10267" h="27">
                <a:moveTo>
                  <a:pt x="0" y="0"/>
                </a:moveTo>
                <a:lnTo>
                  <a:pt x="10267" y="0"/>
                </a:lnTo>
                <a:lnTo>
                  <a:pt x="10267"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4" name="Figura a mano libera: forma 1363"/>
          <p:cNvSpPr/>
          <p:nvPr/>
        </p:nvSpPr>
        <p:spPr>
          <a:xfrm>
            <a:off x="6486480" y="38764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5" name="Figura a mano libera: forma 1364"/>
          <p:cNvSpPr/>
          <p:nvPr/>
        </p:nvSpPr>
        <p:spPr>
          <a:xfrm>
            <a:off x="6495840" y="3867120"/>
            <a:ext cx="5029560" cy="9720"/>
          </a:xfrm>
          <a:custGeom>
            <a:avLst/>
            <a:gdLst/>
            <a:ahLst/>
            <a:cxnLst/>
            <a:rect l="0" t="0" r="r" b="b"/>
            <a:pathLst>
              <a:path w="13971" h="27">
                <a:moveTo>
                  <a:pt x="13971" y="27"/>
                </a:moveTo>
                <a:lnTo>
                  <a:pt x="0" y="27"/>
                </a:lnTo>
                <a:lnTo>
                  <a:pt x="0" y="0"/>
                </a:lnTo>
                <a:lnTo>
                  <a:pt x="13971" y="0"/>
                </a:lnTo>
                <a:lnTo>
                  <a:pt x="13971" y="27"/>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6" name="Figura a mano libera: forma 1365"/>
          <p:cNvSpPr/>
          <p:nvPr/>
        </p:nvSpPr>
        <p:spPr>
          <a:xfrm>
            <a:off x="11515680" y="387648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7" name="Figura a mano libera: forma 1366"/>
          <p:cNvSpPr/>
          <p:nvPr/>
        </p:nvSpPr>
        <p:spPr>
          <a:xfrm>
            <a:off x="971280" y="4562280"/>
            <a:ext cx="10080" cy="676800"/>
          </a:xfrm>
          <a:custGeom>
            <a:avLst/>
            <a:gdLst/>
            <a:ahLst/>
            <a:cxnLst/>
            <a:rect l="0" t="0" r="r" b="b"/>
            <a:pathLst>
              <a:path w="28" h="1880">
                <a:moveTo>
                  <a:pt x="0" y="1880"/>
                </a:moveTo>
                <a:lnTo>
                  <a:pt x="0" y="0"/>
                </a:lnTo>
                <a:lnTo>
                  <a:pt x="28" y="0"/>
                </a:lnTo>
                <a:lnTo>
                  <a:pt x="28" y="1880"/>
                </a:lnTo>
                <a:lnTo>
                  <a:pt x="0" y="188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8" name="Figura a mano libera: forma 1367"/>
          <p:cNvSpPr/>
          <p:nvPr/>
        </p:nvSpPr>
        <p:spPr>
          <a:xfrm>
            <a:off x="971280" y="4552920"/>
            <a:ext cx="1829160" cy="9720"/>
          </a:xfrm>
          <a:custGeom>
            <a:avLst/>
            <a:gdLst/>
            <a:ahLst/>
            <a:cxnLst/>
            <a:rect l="0" t="0" r="r" b="b"/>
            <a:pathLst>
              <a:path w="5081" h="27">
                <a:moveTo>
                  <a:pt x="0" y="0"/>
                </a:moveTo>
                <a:lnTo>
                  <a:pt x="5081" y="0"/>
                </a:lnTo>
                <a:lnTo>
                  <a:pt x="5081"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69" name="Figura a mano libera: forma 1368"/>
          <p:cNvSpPr/>
          <p:nvPr/>
        </p:nvSpPr>
        <p:spPr>
          <a:xfrm>
            <a:off x="2790720" y="4562280"/>
            <a:ext cx="9720" cy="676800"/>
          </a:xfrm>
          <a:custGeom>
            <a:avLst/>
            <a:gdLst/>
            <a:ahLst/>
            <a:cxnLst/>
            <a:rect l="0" t="0" r="r" b="b"/>
            <a:pathLst>
              <a:path w="27" h="1880">
                <a:moveTo>
                  <a:pt x="0" y="1880"/>
                </a:moveTo>
                <a:lnTo>
                  <a:pt x="0" y="0"/>
                </a:lnTo>
                <a:lnTo>
                  <a:pt x="27" y="0"/>
                </a:lnTo>
                <a:lnTo>
                  <a:pt x="27" y="1880"/>
                </a:lnTo>
                <a:lnTo>
                  <a:pt x="0" y="188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70" name="Figura a mano libera: forma 1369"/>
          <p:cNvSpPr/>
          <p:nvPr/>
        </p:nvSpPr>
        <p:spPr>
          <a:xfrm>
            <a:off x="2800080" y="4552920"/>
            <a:ext cx="3696120" cy="9720"/>
          </a:xfrm>
          <a:custGeom>
            <a:avLst/>
            <a:gdLst/>
            <a:ahLst/>
            <a:cxnLst/>
            <a:rect l="0" t="0" r="r" b="b"/>
            <a:pathLst>
              <a:path w="10267" h="27">
                <a:moveTo>
                  <a:pt x="0" y="0"/>
                </a:moveTo>
                <a:lnTo>
                  <a:pt x="10267" y="0"/>
                </a:lnTo>
                <a:lnTo>
                  <a:pt x="10267" y="27"/>
                </a:lnTo>
                <a:lnTo>
                  <a:pt x="0" y="27"/>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71" name="Figura a mano libera: forma 1370"/>
          <p:cNvSpPr/>
          <p:nvPr/>
        </p:nvSpPr>
        <p:spPr>
          <a:xfrm>
            <a:off x="6486480" y="4562280"/>
            <a:ext cx="9720" cy="676800"/>
          </a:xfrm>
          <a:custGeom>
            <a:avLst/>
            <a:gdLst/>
            <a:ahLst/>
            <a:cxnLst/>
            <a:rect l="0" t="0" r="r" b="b"/>
            <a:pathLst>
              <a:path w="27" h="1880">
                <a:moveTo>
                  <a:pt x="0" y="1880"/>
                </a:moveTo>
                <a:lnTo>
                  <a:pt x="0" y="0"/>
                </a:lnTo>
                <a:lnTo>
                  <a:pt x="27" y="0"/>
                </a:lnTo>
                <a:lnTo>
                  <a:pt x="27" y="1880"/>
                </a:lnTo>
                <a:lnTo>
                  <a:pt x="0" y="188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72" name="Figura a mano libera: forma 1371"/>
          <p:cNvSpPr/>
          <p:nvPr/>
        </p:nvSpPr>
        <p:spPr>
          <a:xfrm>
            <a:off x="6495840" y="4552920"/>
            <a:ext cx="5029560" cy="9720"/>
          </a:xfrm>
          <a:custGeom>
            <a:avLst/>
            <a:gdLst/>
            <a:ahLst/>
            <a:cxnLst/>
            <a:rect l="0" t="0" r="r" b="b"/>
            <a:pathLst>
              <a:path w="13971" h="27">
                <a:moveTo>
                  <a:pt x="13971" y="27"/>
                </a:moveTo>
                <a:lnTo>
                  <a:pt x="0" y="27"/>
                </a:lnTo>
                <a:lnTo>
                  <a:pt x="0" y="0"/>
                </a:lnTo>
                <a:lnTo>
                  <a:pt x="13971" y="0"/>
                </a:lnTo>
                <a:lnTo>
                  <a:pt x="13971" y="27"/>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73" name="Figura a mano libera: forma 1372"/>
          <p:cNvSpPr/>
          <p:nvPr/>
        </p:nvSpPr>
        <p:spPr>
          <a:xfrm>
            <a:off x="11515680" y="4562280"/>
            <a:ext cx="9720" cy="676800"/>
          </a:xfrm>
          <a:custGeom>
            <a:avLst/>
            <a:gdLst/>
            <a:ahLst/>
            <a:cxnLst/>
            <a:rect l="0" t="0" r="r" b="b"/>
            <a:pathLst>
              <a:path w="27" h="1880">
                <a:moveTo>
                  <a:pt x="27" y="1880"/>
                </a:moveTo>
                <a:lnTo>
                  <a:pt x="0" y="1880"/>
                </a:lnTo>
                <a:lnTo>
                  <a:pt x="0" y="0"/>
                </a:lnTo>
                <a:lnTo>
                  <a:pt x="27" y="0"/>
                </a:lnTo>
                <a:lnTo>
                  <a:pt x="27" y="188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374" name="CasellaDiTesto 1373"/>
          <p:cNvSpPr txBox="1"/>
          <p:nvPr/>
        </p:nvSpPr>
        <p:spPr>
          <a:xfrm>
            <a:off x="971640" y="552600"/>
            <a:ext cx="54360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DISTINZIONE CONCETTUALE</a:t>
            </a:r>
            <a:endParaRPr lang="it-IT" sz="2850" b="0" u="none" strike="noStrike">
              <a:solidFill>
                <a:srgbClr val="000000"/>
              </a:solidFill>
              <a:effectLst/>
              <a:uFillTx/>
              <a:latin typeface="Times New Roman"/>
            </a:endParaRPr>
          </a:p>
        </p:txBody>
      </p:sp>
      <p:sp>
        <p:nvSpPr>
          <p:cNvPr id="1375" name="CasellaDiTesto 1374"/>
          <p:cNvSpPr txBox="1"/>
          <p:nvPr/>
        </p:nvSpPr>
        <p:spPr>
          <a:xfrm>
            <a:off x="971640" y="1307520"/>
            <a:ext cx="10081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Il D.Lgs. n. 33/2025 ricompone in un unico corpo normativo la disciplina previgente in materia di versamenti e</a:t>
            </a:r>
            <a:endParaRPr lang="it-IT" sz="1650" b="0" u="none" strike="noStrike">
              <a:solidFill>
                <a:srgbClr val="000000"/>
              </a:solidFill>
              <a:effectLst/>
              <a:uFillTx/>
              <a:latin typeface="Times New Roman"/>
            </a:endParaRPr>
          </a:p>
        </p:txBody>
      </p:sp>
      <p:sp>
        <p:nvSpPr>
          <p:cNvPr id="1376" name="CasellaDiTesto 1375"/>
          <p:cNvSpPr txBox="1"/>
          <p:nvPr/>
        </p:nvSpPr>
        <p:spPr>
          <a:xfrm>
            <a:off x="971640" y="1631160"/>
            <a:ext cx="92152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riscossione. Sul piano dogmatico, la </a:t>
            </a:r>
            <a:r>
              <a:rPr lang="it-IT" sz="1650" b="1" u="none" strike="noStrike">
                <a:solidFill>
                  <a:srgbClr val="00509E"/>
                </a:solidFill>
                <a:effectLst/>
                <a:uFillTx/>
                <a:latin typeface="SegoeUI"/>
                <a:ea typeface="SegoeUI"/>
              </a:rPr>
              <a:t>compensazione tributaria</a:t>
            </a:r>
            <a:r>
              <a:rPr lang="it-IT" sz="1650" b="0" u="none" strike="noStrike">
                <a:solidFill>
                  <a:srgbClr val="212529"/>
                </a:solidFill>
                <a:effectLst/>
                <a:uFillTx/>
                <a:latin typeface="SegoeUI"/>
                <a:ea typeface="SegoeUI"/>
              </a:rPr>
              <a:t> vi assume due differenti morfologie.</a:t>
            </a:r>
            <a:endParaRPr lang="it-IT" sz="1650" b="0" u="none" strike="noStrike">
              <a:solidFill>
                <a:srgbClr val="000000"/>
              </a:solidFill>
              <a:effectLst/>
              <a:uFillTx/>
              <a:latin typeface="Times New Roman"/>
            </a:endParaRPr>
          </a:p>
        </p:txBody>
      </p:sp>
      <p:sp>
        <p:nvSpPr>
          <p:cNvPr id="1377" name="CasellaDiTesto 1376"/>
          <p:cNvSpPr txBox="1"/>
          <p:nvPr/>
        </p:nvSpPr>
        <p:spPr>
          <a:xfrm>
            <a:off x="2925720" y="2206440"/>
            <a:ext cx="2695225" cy="196977"/>
          </a:xfrm>
          <a:prstGeom prst="rect">
            <a:avLst/>
          </a:prstGeom>
          <a:noFill/>
          <a:ln w="0">
            <a:noFill/>
          </a:ln>
        </p:spPr>
        <p:txBody>
          <a:bodyPr wrap="none" lIns="0" tIns="0" rIns="0" bIns="0" anchor="t">
            <a:spAutoFit/>
          </a:bodyPr>
          <a:lstStyle/>
          <a:p>
            <a:r>
              <a:rPr lang="it-IT" sz="1280" b="1" u="none" strike="noStrike">
                <a:solidFill>
                  <a:schemeClr val="bg1"/>
                </a:solidFill>
                <a:effectLst/>
                <a:uFillTx/>
                <a:latin typeface="SegoeUI"/>
                <a:ea typeface="SegoeUI"/>
              </a:rPr>
              <a:t>Compensazione orizzontale (art. 3)</a:t>
            </a:r>
            <a:endParaRPr lang="it-IT" sz="1280" b="0" u="none" strike="noStrike">
              <a:solidFill>
                <a:schemeClr val="bg1"/>
              </a:solidFill>
              <a:effectLst/>
              <a:uFillTx/>
              <a:latin typeface="Times New Roman"/>
            </a:endParaRPr>
          </a:p>
        </p:txBody>
      </p:sp>
      <p:sp>
        <p:nvSpPr>
          <p:cNvPr id="1378" name="CasellaDiTesto 1377"/>
          <p:cNvSpPr txBox="1"/>
          <p:nvPr/>
        </p:nvSpPr>
        <p:spPr>
          <a:xfrm>
            <a:off x="6617880" y="2206440"/>
            <a:ext cx="5042342" cy="196977"/>
          </a:xfrm>
          <a:prstGeom prst="rect">
            <a:avLst/>
          </a:prstGeom>
          <a:noFill/>
          <a:ln w="0">
            <a:noFill/>
          </a:ln>
        </p:spPr>
        <p:txBody>
          <a:bodyPr wrap="none" lIns="0" tIns="0" rIns="0" bIns="0" anchor="t">
            <a:spAutoFit/>
          </a:bodyPr>
          <a:lstStyle/>
          <a:p>
            <a:r>
              <a:rPr lang="it-IT" sz="1280" b="1" u="none" strike="noStrike">
                <a:solidFill>
                  <a:schemeClr val="bg1"/>
                </a:solidFill>
                <a:effectLst/>
                <a:uFillTx/>
                <a:latin typeface="SegoeUI"/>
                <a:ea typeface="SegoeUI"/>
              </a:rPr>
              <a:t>Compensazione con crediti extra fiscali (artt. 15, 16, 17, 108, 109)</a:t>
            </a:r>
            <a:endParaRPr lang="it-IT" sz="1280" b="0" u="none" strike="noStrike">
              <a:solidFill>
                <a:schemeClr val="bg1"/>
              </a:solidFill>
              <a:effectLst/>
              <a:uFillTx/>
              <a:latin typeface="Times New Roman"/>
            </a:endParaRPr>
          </a:p>
        </p:txBody>
      </p:sp>
      <p:sp>
        <p:nvSpPr>
          <p:cNvPr id="1379" name="CasellaDiTesto 1378"/>
          <p:cNvSpPr txBox="1"/>
          <p:nvPr/>
        </p:nvSpPr>
        <p:spPr>
          <a:xfrm>
            <a:off x="1104840" y="2576520"/>
            <a:ext cx="8114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Posizione</a:t>
            </a:r>
            <a:endParaRPr lang="it-IT" sz="1430" b="0" u="none" strike="noStrike">
              <a:solidFill>
                <a:srgbClr val="000000"/>
              </a:solidFill>
              <a:effectLst/>
              <a:uFillTx/>
              <a:latin typeface="Times New Roman"/>
            </a:endParaRPr>
          </a:p>
        </p:txBody>
      </p:sp>
      <p:sp>
        <p:nvSpPr>
          <p:cNvPr id="1380" name="CasellaDiTesto 1379"/>
          <p:cNvSpPr txBox="1"/>
          <p:nvPr/>
        </p:nvSpPr>
        <p:spPr>
          <a:xfrm>
            <a:off x="1104840" y="2852640"/>
            <a:ext cx="82476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creditoria</a:t>
            </a:r>
            <a:endParaRPr lang="it-IT" sz="1430" b="0" u="none" strike="noStrike">
              <a:solidFill>
                <a:srgbClr val="000000"/>
              </a:solidFill>
              <a:effectLst/>
              <a:uFillTx/>
              <a:latin typeface="Times New Roman"/>
            </a:endParaRPr>
          </a:p>
        </p:txBody>
      </p:sp>
      <p:sp>
        <p:nvSpPr>
          <p:cNvPr id="1381" name="CasellaDiTesto 1380"/>
          <p:cNvSpPr txBox="1"/>
          <p:nvPr/>
        </p:nvSpPr>
        <p:spPr>
          <a:xfrm>
            <a:off x="2925720" y="2576520"/>
            <a:ext cx="30420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crediti tributari, contributivi, assimilati,</a:t>
            </a:r>
            <a:endParaRPr lang="it-IT" sz="1430" b="0" u="none" strike="noStrike">
              <a:solidFill>
                <a:srgbClr val="000000"/>
              </a:solidFill>
              <a:effectLst/>
              <a:uFillTx/>
              <a:latin typeface="Times New Roman"/>
            </a:endParaRPr>
          </a:p>
        </p:txBody>
      </p:sp>
      <p:sp>
        <p:nvSpPr>
          <p:cNvPr id="1382" name="CasellaDiTesto 1381"/>
          <p:cNvSpPr txBox="1"/>
          <p:nvPr/>
        </p:nvSpPr>
        <p:spPr>
          <a:xfrm>
            <a:off x="2925720" y="2852640"/>
            <a:ext cx="21812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risultanti dalle dichiarazioni</a:t>
            </a:r>
            <a:endParaRPr lang="it-IT" sz="1430" b="0" u="none" strike="noStrike">
              <a:solidFill>
                <a:srgbClr val="000000"/>
              </a:solidFill>
              <a:effectLst/>
              <a:uFillTx/>
              <a:latin typeface="Times New Roman"/>
            </a:endParaRPr>
          </a:p>
        </p:txBody>
      </p:sp>
      <p:sp>
        <p:nvSpPr>
          <p:cNvPr id="1383" name="CasellaDiTesto 1382"/>
          <p:cNvSpPr txBox="1"/>
          <p:nvPr/>
        </p:nvSpPr>
        <p:spPr>
          <a:xfrm>
            <a:off x="6617880" y="2576520"/>
            <a:ext cx="41760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crediti del privato verso la P.A. per somministrazioni,</a:t>
            </a:r>
            <a:endParaRPr lang="it-IT" sz="1430" b="0" u="none" strike="noStrike">
              <a:solidFill>
                <a:srgbClr val="000000"/>
              </a:solidFill>
              <a:effectLst/>
              <a:uFillTx/>
              <a:latin typeface="Times New Roman"/>
            </a:endParaRPr>
          </a:p>
        </p:txBody>
      </p:sp>
      <p:sp>
        <p:nvSpPr>
          <p:cNvPr id="1384" name="CasellaDiTesto 1383"/>
          <p:cNvSpPr txBox="1"/>
          <p:nvPr/>
        </p:nvSpPr>
        <p:spPr>
          <a:xfrm>
            <a:off x="6617880" y="2852640"/>
            <a:ext cx="33584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forniture, prestazioni professionali, appalti</a:t>
            </a:r>
            <a:endParaRPr lang="it-IT" sz="1430" b="0" u="none" strike="noStrike">
              <a:solidFill>
                <a:srgbClr val="000000"/>
              </a:solidFill>
              <a:effectLst/>
              <a:uFillTx/>
              <a:latin typeface="Times New Roman"/>
            </a:endParaRPr>
          </a:p>
        </p:txBody>
      </p:sp>
      <p:sp>
        <p:nvSpPr>
          <p:cNvPr id="1385" name="CasellaDiTesto 1384"/>
          <p:cNvSpPr txBox="1"/>
          <p:nvPr/>
        </p:nvSpPr>
        <p:spPr>
          <a:xfrm>
            <a:off x="1104840" y="3262320"/>
            <a:ext cx="454320" cy="241200"/>
          </a:xfrm>
          <a:prstGeom prst="rect">
            <a:avLst/>
          </a:prstGeom>
          <a:noFill/>
          <a:ln w="0">
            <a:noFill/>
          </a:ln>
        </p:spPr>
        <p:txBody>
          <a:bodyPr wrap="none" lIns="0" tIns="0" rIns="0" bIns="0" anchor="t">
            <a:spAutoFit/>
          </a:bodyPr>
          <a:lstStyle/>
          <a:p>
            <a:r>
              <a:rPr lang="it-IT" sz="1430" b="1" i="1" u="none" strike="noStrike">
                <a:solidFill>
                  <a:srgbClr val="00509E"/>
                </a:solidFill>
                <a:effectLst/>
                <a:uFillTx/>
                <a:latin typeface="SegoeUI"/>
                <a:ea typeface="SegoeUI"/>
              </a:rPr>
              <a:t>Ratio</a:t>
            </a:r>
            <a:endParaRPr lang="it-IT" sz="1430" b="0" u="none" strike="noStrike">
              <a:solidFill>
                <a:srgbClr val="000000"/>
              </a:solidFill>
              <a:effectLst/>
              <a:uFillTx/>
              <a:latin typeface="Times New Roman"/>
            </a:endParaRPr>
          </a:p>
        </p:txBody>
      </p:sp>
      <p:sp>
        <p:nvSpPr>
          <p:cNvPr id="1386" name="CasellaDiTesto 1385"/>
          <p:cNvSpPr txBox="1"/>
          <p:nvPr/>
        </p:nvSpPr>
        <p:spPr>
          <a:xfrm>
            <a:off x="2925720" y="3262320"/>
            <a:ext cx="32151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semplificazione del versamento unitario;</a:t>
            </a:r>
            <a:endParaRPr lang="it-IT" sz="1430" b="0" u="none" strike="noStrike">
              <a:solidFill>
                <a:srgbClr val="000000"/>
              </a:solidFill>
              <a:effectLst/>
              <a:uFillTx/>
              <a:latin typeface="Times New Roman"/>
            </a:endParaRPr>
          </a:p>
        </p:txBody>
      </p:sp>
      <p:sp>
        <p:nvSpPr>
          <p:cNvPr id="1387" name="CasellaDiTesto 1386"/>
          <p:cNvSpPr txBox="1"/>
          <p:nvPr/>
        </p:nvSpPr>
        <p:spPr>
          <a:xfrm>
            <a:off x="2925720" y="3538440"/>
            <a:ext cx="19854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multilateralità soggettiva</a:t>
            </a:r>
            <a:endParaRPr lang="it-IT" sz="1430" b="0" u="none" strike="noStrike">
              <a:solidFill>
                <a:srgbClr val="000000"/>
              </a:solidFill>
              <a:effectLst/>
              <a:uFillTx/>
              <a:latin typeface="Times New Roman"/>
            </a:endParaRPr>
          </a:p>
        </p:txBody>
      </p:sp>
      <p:sp>
        <p:nvSpPr>
          <p:cNvPr id="1388" name="CasellaDiTesto 1387"/>
          <p:cNvSpPr txBox="1"/>
          <p:nvPr/>
        </p:nvSpPr>
        <p:spPr>
          <a:xfrm>
            <a:off x="6617880" y="3262320"/>
            <a:ext cx="43956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tutela del privato dal cronico ritardo della P.A.; sollecita</a:t>
            </a:r>
            <a:endParaRPr lang="it-IT" sz="1430" b="0" u="none" strike="noStrike">
              <a:solidFill>
                <a:srgbClr val="000000"/>
              </a:solidFill>
              <a:effectLst/>
              <a:uFillTx/>
              <a:latin typeface="Times New Roman"/>
            </a:endParaRPr>
          </a:p>
        </p:txBody>
      </p:sp>
      <p:sp>
        <p:nvSpPr>
          <p:cNvPr id="1389" name="CasellaDiTesto 1388"/>
          <p:cNvSpPr txBox="1"/>
          <p:nvPr/>
        </p:nvSpPr>
        <p:spPr>
          <a:xfrm>
            <a:off x="6617880" y="3538440"/>
            <a:ext cx="24692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estinzione del debito tributario</a:t>
            </a:r>
            <a:endParaRPr lang="it-IT" sz="1430" b="0" u="none" strike="noStrike">
              <a:solidFill>
                <a:srgbClr val="000000"/>
              </a:solidFill>
              <a:effectLst/>
              <a:uFillTx/>
              <a:latin typeface="Times New Roman"/>
            </a:endParaRPr>
          </a:p>
        </p:txBody>
      </p:sp>
      <p:sp>
        <p:nvSpPr>
          <p:cNvPr id="1390" name="CasellaDiTesto 1389"/>
          <p:cNvSpPr txBox="1"/>
          <p:nvPr/>
        </p:nvSpPr>
        <p:spPr>
          <a:xfrm>
            <a:off x="1104840" y="3948120"/>
            <a:ext cx="106236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Modello F24</a:t>
            </a:r>
            <a:endParaRPr lang="it-IT" sz="1430" b="0" u="none" strike="noStrike">
              <a:solidFill>
                <a:srgbClr val="000000"/>
              </a:solidFill>
              <a:effectLst/>
              <a:uFillTx/>
              <a:latin typeface="Times New Roman"/>
            </a:endParaRPr>
          </a:p>
        </p:txBody>
      </p:sp>
      <p:sp>
        <p:nvSpPr>
          <p:cNvPr id="1391" name="CasellaDiTesto 1390"/>
          <p:cNvSpPr txBox="1"/>
          <p:nvPr/>
        </p:nvSpPr>
        <p:spPr>
          <a:xfrm>
            <a:off x="2925720" y="3948120"/>
            <a:ext cx="106272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F24 ordinario</a:t>
            </a:r>
            <a:endParaRPr lang="it-IT" sz="1430" b="0" u="none" strike="noStrike">
              <a:solidFill>
                <a:srgbClr val="000000"/>
              </a:solidFill>
              <a:effectLst/>
              <a:uFillTx/>
              <a:latin typeface="Times New Roman"/>
            </a:endParaRPr>
          </a:p>
        </p:txBody>
      </p:sp>
      <p:sp>
        <p:nvSpPr>
          <p:cNvPr id="1392" name="CasellaDiTesto 1391"/>
          <p:cNvSpPr txBox="1"/>
          <p:nvPr/>
        </p:nvSpPr>
        <p:spPr>
          <a:xfrm>
            <a:off x="6617880" y="3948120"/>
            <a:ext cx="46623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F24 «Crediti PP.AA.» — servizi telematici dell'Agenzia delle</a:t>
            </a:r>
            <a:endParaRPr lang="it-IT" sz="1430" b="0" u="none" strike="noStrike">
              <a:solidFill>
                <a:srgbClr val="000000"/>
              </a:solidFill>
              <a:effectLst/>
              <a:uFillTx/>
              <a:latin typeface="Times New Roman"/>
            </a:endParaRPr>
          </a:p>
        </p:txBody>
      </p:sp>
      <p:sp>
        <p:nvSpPr>
          <p:cNvPr id="1393" name="CasellaDiTesto 1392"/>
          <p:cNvSpPr txBox="1"/>
          <p:nvPr/>
        </p:nvSpPr>
        <p:spPr>
          <a:xfrm>
            <a:off x="6617880" y="4224240"/>
            <a:ext cx="5680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Entrate</a:t>
            </a:r>
            <a:endParaRPr lang="it-IT" sz="1430" b="0" u="none" strike="noStrike">
              <a:solidFill>
                <a:srgbClr val="000000"/>
              </a:solidFill>
              <a:effectLst/>
              <a:uFillTx/>
              <a:latin typeface="Times New Roman"/>
            </a:endParaRPr>
          </a:p>
        </p:txBody>
      </p:sp>
      <p:sp>
        <p:nvSpPr>
          <p:cNvPr id="1394" name="CasellaDiTesto 1393"/>
          <p:cNvSpPr txBox="1"/>
          <p:nvPr/>
        </p:nvSpPr>
        <p:spPr>
          <a:xfrm>
            <a:off x="1104840" y="4633920"/>
            <a:ext cx="151668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Riferimento ante-</a:t>
            </a:r>
            <a:endParaRPr lang="it-IT" sz="1430" b="0" u="none" strike="noStrike">
              <a:solidFill>
                <a:srgbClr val="000000"/>
              </a:solidFill>
              <a:effectLst/>
              <a:uFillTx/>
              <a:latin typeface="Times New Roman"/>
            </a:endParaRPr>
          </a:p>
        </p:txBody>
      </p:sp>
      <p:sp>
        <p:nvSpPr>
          <p:cNvPr id="1395" name="CasellaDiTesto 1394"/>
          <p:cNvSpPr txBox="1"/>
          <p:nvPr/>
        </p:nvSpPr>
        <p:spPr>
          <a:xfrm>
            <a:off x="1104840" y="4910040"/>
            <a:ext cx="64080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riforma</a:t>
            </a:r>
            <a:endParaRPr lang="it-IT" sz="1430" b="0" u="none" strike="noStrike">
              <a:solidFill>
                <a:srgbClr val="000000"/>
              </a:solidFill>
              <a:effectLst/>
              <a:uFillTx/>
              <a:latin typeface="Times New Roman"/>
            </a:endParaRPr>
          </a:p>
        </p:txBody>
      </p:sp>
      <p:sp>
        <p:nvSpPr>
          <p:cNvPr id="1396" name="CasellaDiTesto 1395"/>
          <p:cNvSpPr txBox="1"/>
          <p:nvPr/>
        </p:nvSpPr>
        <p:spPr>
          <a:xfrm>
            <a:off x="2925720" y="4633920"/>
            <a:ext cx="20228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art. 17 D.Lgs. n. 241/1997</a:t>
            </a:r>
            <a:endParaRPr lang="it-IT" sz="1430" b="0" u="none" strike="noStrike">
              <a:solidFill>
                <a:srgbClr val="000000"/>
              </a:solidFill>
              <a:effectLst/>
              <a:uFillTx/>
              <a:latin typeface="Times New Roman"/>
            </a:endParaRPr>
          </a:p>
        </p:txBody>
      </p:sp>
      <p:sp>
        <p:nvSpPr>
          <p:cNvPr id="1397" name="CasellaDiTesto 1396"/>
          <p:cNvSpPr txBox="1"/>
          <p:nvPr/>
        </p:nvSpPr>
        <p:spPr>
          <a:xfrm>
            <a:off x="6617880" y="4633920"/>
            <a:ext cx="43282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artt. 28-</a:t>
            </a:r>
            <a:r>
              <a:rPr lang="it-IT" sz="1430" b="0" i="1" u="none" strike="noStrike">
                <a:solidFill>
                  <a:srgbClr val="495057"/>
                </a:solidFill>
                <a:effectLst/>
                <a:uFillTx/>
                <a:latin typeface="SegoeUI"/>
                <a:ea typeface="SegoeUI"/>
              </a:rPr>
              <a:t>ter</a:t>
            </a:r>
            <a:r>
              <a:rPr lang="it-IT" sz="1430" b="0" u="none" strike="noStrike">
                <a:solidFill>
                  <a:srgbClr val="212529"/>
                </a:solidFill>
                <a:effectLst/>
                <a:uFillTx/>
                <a:latin typeface="SegoeUI"/>
                <a:ea typeface="SegoeUI"/>
              </a:rPr>
              <a:t>, 28-</a:t>
            </a:r>
            <a:r>
              <a:rPr lang="it-IT" sz="1430" b="0" i="1" u="none" strike="noStrike">
                <a:solidFill>
                  <a:srgbClr val="495057"/>
                </a:solidFill>
                <a:effectLst/>
                <a:uFillTx/>
                <a:latin typeface="SegoeUI"/>
                <a:ea typeface="SegoeUI"/>
              </a:rPr>
              <a:t>quater</a:t>
            </a:r>
            <a:r>
              <a:rPr lang="it-IT" sz="1430" b="0" u="none" strike="noStrike">
                <a:solidFill>
                  <a:srgbClr val="212529"/>
                </a:solidFill>
                <a:effectLst/>
                <a:uFillTx/>
                <a:latin typeface="SegoeUI"/>
                <a:ea typeface="SegoeUI"/>
              </a:rPr>
              <a:t>, 28-</a:t>
            </a:r>
            <a:r>
              <a:rPr lang="it-IT" sz="1430" b="0" i="1" u="none" strike="noStrike">
                <a:solidFill>
                  <a:srgbClr val="495057"/>
                </a:solidFill>
                <a:effectLst/>
                <a:uFillTx/>
                <a:latin typeface="SegoeUI"/>
                <a:ea typeface="SegoeUI"/>
              </a:rPr>
              <a:t>quinquies</a:t>
            </a:r>
            <a:r>
              <a:rPr lang="it-IT" sz="1430" b="0" u="none" strike="noStrike">
                <a:solidFill>
                  <a:srgbClr val="212529"/>
                </a:solidFill>
                <a:effectLst/>
                <a:uFillTx/>
                <a:latin typeface="SegoeUI"/>
                <a:ea typeface="SegoeUI"/>
              </a:rPr>
              <a:t>, 28-</a:t>
            </a:r>
            <a:r>
              <a:rPr lang="it-IT" sz="1430" b="0" i="1" u="none" strike="noStrike">
                <a:solidFill>
                  <a:srgbClr val="495057"/>
                </a:solidFill>
                <a:effectLst/>
                <a:uFillTx/>
                <a:latin typeface="SegoeUI"/>
                <a:ea typeface="SegoeUI"/>
              </a:rPr>
              <a:t>sexies</a:t>
            </a:r>
            <a:r>
              <a:rPr lang="it-IT" sz="1430" b="0" u="none" strike="noStrike">
                <a:solidFill>
                  <a:srgbClr val="212529"/>
                </a:solidFill>
                <a:effectLst/>
                <a:uFillTx/>
                <a:latin typeface="SegoeUI"/>
                <a:ea typeface="SegoeUI"/>
              </a:rPr>
              <a:t> D.P.R. n.</a:t>
            </a:r>
            <a:endParaRPr lang="it-IT" sz="1430" b="0" u="none" strike="noStrike">
              <a:solidFill>
                <a:srgbClr val="000000"/>
              </a:solidFill>
              <a:effectLst/>
              <a:uFillTx/>
              <a:latin typeface="Times New Roman"/>
            </a:endParaRPr>
          </a:p>
        </p:txBody>
      </p:sp>
      <p:sp>
        <p:nvSpPr>
          <p:cNvPr id="1398" name="CasellaDiTesto 1397"/>
          <p:cNvSpPr txBox="1"/>
          <p:nvPr/>
        </p:nvSpPr>
        <p:spPr>
          <a:xfrm>
            <a:off x="6617880" y="4910040"/>
            <a:ext cx="7556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602/1973</a:t>
            </a:r>
            <a:endParaRPr lang="it-IT" sz="1430" b="0" u="none" strike="noStrike">
              <a:solidFill>
                <a:srgbClr val="000000"/>
              </a:solidFill>
              <a:effectLst/>
              <a:uFillTx/>
              <a:latin typeface="Times New Roman"/>
            </a:endParaRPr>
          </a:p>
        </p:txBody>
      </p:sp>
      <p:sp>
        <p:nvSpPr>
          <p:cNvPr id="1399" name="CasellaDiTesto 1398"/>
          <p:cNvSpPr txBox="1"/>
          <p:nvPr/>
        </p:nvSpPr>
        <p:spPr>
          <a:xfrm>
            <a:off x="3438540" y="5377451"/>
            <a:ext cx="4753080" cy="277920"/>
          </a:xfrm>
          <a:prstGeom prst="rect">
            <a:avLst/>
          </a:prstGeom>
          <a:noFill/>
          <a:ln w="0">
            <a:noFill/>
          </a:ln>
        </p:spPr>
        <p:txBody>
          <a:bodyPr wrap="none" lIns="0" tIns="0" rIns="0" bIns="0" anchor="t">
            <a:spAutoFit/>
          </a:bodyPr>
          <a:lstStyle/>
          <a:p>
            <a:r>
              <a:rPr lang="it-IT" sz="1650" b="1" u="none" strike="noStrike" dirty="0">
                <a:solidFill>
                  <a:srgbClr val="212529"/>
                </a:solidFill>
                <a:effectLst/>
                <a:uFillTx/>
                <a:latin typeface="SegoeUI"/>
                <a:ea typeface="SegoeUI"/>
              </a:rPr>
              <a:t>Il filo conduttore degli artt. 15, 16, 17, 108 e 109</a:t>
            </a:r>
            <a:endParaRPr lang="it-IT" sz="1650" b="0" u="none" strike="noStrike" dirty="0">
              <a:solidFill>
                <a:srgbClr val="000000"/>
              </a:solidFill>
              <a:effectLst/>
              <a:uFillTx/>
              <a:latin typeface="Times New Roman"/>
            </a:endParaRPr>
          </a:p>
        </p:txBody>
      </p:sp>
      <p:sp>
        <p:nvSpPr>
          <p:cNvPr id="1400" name="CasellaDiTesto 1399"/>
          <p:cNvSpPr txBox="1"/>
          <p:nvPr/>
        </p:nvSpPr>
        <p:spPr>
          <a:xfrm>
            <a:off x="961920" y="5650560"/>
            <a:ext cx="10465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Si tratta, in tutte le ipotesi, di un meccanismo che consente al privato di </a:t>
            </a:r>
            <a:r>
              <a:rPr lang="it-IT" sz="1650" b="1" u="none" strike="noStrike">
                <a:solidFill>
                  <a:srgbClr val="00509E"/>
                </a:solidFill>
                <a:effectLst/>
                <a:uFillTx/>
                <a:latin typeface="SegoeUI"/>
                <a:ea typeface="SegoeUI"/>
              </a:rPr>
              <a:t>convertire un credito civilistico vantato</a:t>
            </a:r>
            <a:endParaRPr lang="it-IT" sz="1650" b="0" u="none" strike="noStrike">
              <a:solidFill>
                <a:srgbClr val="000000"/>
              </a:solidFill>
              <a:effectLst/>
              <a:uFillTx/>
              <a:latin typeface="Times New Roman"/>
            </a:endParaRPr>
          </a:p>
        </p:txBody>
      </p:sp>
      <p:sp>
        <p:nvSpPr>
          <p:cNvPr id="1401" name="CasellaDiTesto 1400"/>
          <p:cNvSpPr txBox="1"/>
          <p:nvPr/>
        </p:nvSpPr>
        <p:spPr>
          <a:xfrm>
            <a:off x="961920" y="5974200"/>
            <a:ext cx="101491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verso la P.A.</a:t>
            </a:r>
            <a:r>
              <a:rPr lang="it-IT" sz="1650" b="0" u="none" strike="noStrike">
                <a:solidFill>
                  <a:srgbClr val="212529"/>
                </a:solidFill>
                <a:effectLst/>
                <a:uFillTx/>
                <a:latin typeface="SegoeUI"/>
                <a:ea typeface="SegoeUI"/>
              </a:rPr>
              <a:t> — tipicamente di lunga e incerta esigibilità — in un </a:t>
            </a:r>
            <a:r>
              <a:rPr lang="it-IT" sz="1650" b="1" u="none" strike="noStrike">
                <a:solidFill>
                  <a:srgbClr val="00509E"/>
                </a:solidFill>
                <a:effectLst/>
                <a:uFillTx/>
                <a:latin typeface="SegoeUI"/>
                <a:ea typeface="SegoeUI"/>
              </a:rPr>
              <a:t>mezzo immediato di estinzione del debito</a:t>
            </a:r>
            <a:endParaRPr lang="it-IT" sz="1650" b="0" u="none" strike="noStrike">
              <a:solidFill>
                <a:srgbClr val="000000"/>
              </a:solidFill>
              <a:effectLst/>
              <a:uFillTx/>
              <a:latin typeface="Times New Roman"/>
            </a:endParaRPr>
          </a:p>
        </p:txBody>
      </p:sp>
      <p:sp>
        <p:nvSpPr>
          <p:cNvPr id="1402" name="Figura a mano libera: forma 1401"/>
          <p:cNvSpPr/>
          <p:nvPr/>
        </p:nvSpPr>
        <p:spPr>
          <a:xfrm>
            <a:off x="961560" y="598104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03" name="CasellaDiTesto 1402"/>
          <p:cNvSpPr txBox="1"/>
          <p:nvPr/>
        </p:nvSpPr>
        <p:spPr>
          <a:xfrm>
            <a:off x="961920" y="6298200"/>
            <a:ext cx="933264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tributario</a:t>
            </a:r>
            <a:r>
              <a:rPr lang="it-IT" sz="1650" b="0" u="none" strike="noStrike">
                <a:solidFill>
                  <a:srgbClr val="212529"/>
                </a:solidFill>
                <a:effectLst/>
                <a:uFillTx/>
                <a:latin typeface="SegoeUI"/>
                <a:ea typeface="SegoeUI"/>
              </a:rPr>
              <a:t>, surrogando la </a:t>
            </a:r>
            <a:r>
              <a:rPr lang="it-IT" sz="1650" b="0" i="1" u="none" strike="noStrike">
                <a:solidFill>
                  <a:srgbClr val="495057"/>
                </a:solidFill>
                <a:effectLst/>
                <a:uFillTx/>
                <a:latin typeface="SegoeUI"/>
                <a:ea typeface="SegoeUI"/>
              </a:rPr>
              <a:t>res aliena</a:t>
            </a:r>
            <a:r>
              <a:rPr lang="it-IT" sz="1650" b="0" u="none" strike="noStrike">
                <a:solidFill>
                  <a:srgbClr val="212529"/>
                </a:solidFill>
                <a:effectLst/>
                <a:uFillTx/>
                <a:latin typeface="SegoeUI"/>
                <a:ea typeface="SegoeUI"/>
              </a:rPr>
              <a:t> del versamento con la posizione attiva del creditore commerciale.</a:t>
            </a:r>
            <a:endParaRPr lang="it-IT" sz="1650" b="0" u="none" strike="noStrike">
              <a:solidFill>
                <a:srgbClr val="000000"/>
              </a:solidFill>
              <a:effectLst/>
              <a:uFillTx/>
              <a:latin typeface="Times New Roman"/>
            </a:endParaRPr>
          </a:p>
        </p:txBody>
      </p:sp>
      <p:sp>
        <p:nvSpPr>
          <p:cNvPr id="1404" name="Figura a mano libera: forma 1403"/>
          <p:cNvSpPr/>
          <p:nvPr/>
        </p:nvSpPr>
        <p:spPr>
          <a:xfrm>
            <a:off x="10639080" y="598104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06" name="CasellaDiTesto 1405"/>
          <p:cNvSpPr txBox="1"/>
          <p:nvPr/>
        </p:nvSpPr>
        <p:spPr>
          <a:xfrm>
            <a:off x="10938422" y="6458923"/>
            <a:ext cx="721800" cy="163440"/>
          </a:xfrm>
          <a:prstGeom prst="rect">
            <a:avLst/>
          </a:prstGeom>
          <a:noFill/>
          <a:ln w="0">
            <a:noFill/>
          </a:ln>
        </p:spPr>
        <p:txBody>
          <a:bodyPr wrap="none" lIns="0" tIns="0" rIns="0" bIns="0" anchor="t">
            <a:spAutoFit/>
          </a:bodyPr>
          <a:lstStyle/>
          <a:p>
            <a:r>
              <a:rPr lang="it-IT" sz="980" b="0" u="none" strike="noStrike" dirty="0">
                <a:solidFill>
                  <a:srgbClr val="ADB5BD"/>
                </a:solidFill>
                <a:effectLst/>
                <a:uFillTx/>
                <a:latin typeface="SegoeUI"/>
                <a:ea typeface="SegoeUI"/>
              </a:rPr>
              <a:t>SLIDE 47 / 73</a:t>
            </a:r>
            <a:endParaRPr lang="it-IT" sz="980" b="0" u="none" strike="noStrike" dirty="0">
              <a:solidFill>
                <a:srgbClr val="000000"/>
              </a:solidFill>
              <a:effectLst/>
              <a:uFillTx/>
              <a:latin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7" name="Figura a mano libera: forma 140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08" name="Figura a mano libera: forma 140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09" name="Figura a mano libera: forma 1408"/>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10" name="Figura a mano libera: forma 1409"/>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11" name="Figura a mano libera: forma 1410"/>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13" name="Figura a mano libera: forma 1412"/>
          <p:cNvSpPr/>
          <p:nvPr/>
        </p:nvSpPr>
        <p:spPr>
          <a:xfrm>
            <a:off x="975960" y="6329160"/>
            <a:ext cx="10544760" cy="528840"/>
          </a:xfrm>
          <a:custGeom>
            <a:avLst/>
            <a:gdLst/>
            <a:ahLst/>
            <a:cxnLst/>
            <a:rect l="0" t="0" r="r" b="b"/>
            <a:pathLst>
              <a:path w="29291" h="1469">
                <a:moveTo>
                  <a:pt x="0" y="1469"/>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1469"/>
                </a:lnTo>
                <a:lnTo>
                  <a:pt x="0" y="1469"/>
                </a:ln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414" name="CasellaDiTesto 1413"/>
          <p:cNvSpPr txBox="1"/>
          <p:nvPr/>
        </p:nvSpPr>
        <p:spPr>
          <a:xfrm>
            <a:off x="971640" y="552600"/>
            <a:ext cx="93070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CREDITI PER SPESE, DIRITTI E ONORARI DI AVVOCATO</a:t>
            </a:r>
            <a:endParaRPr lang="it-IT" sz="2850" b="0" u="none" strike="noStrike">
              <a:solidFill>
                <a:srgbClr val="000000"/>
              </a:solidFill>
              <a:effectLst/>
              <a:uFillTx/>
              <a:latin typeface="Times New Roman"/>
            </a:endParaRPr>
          </a:p>
        </p:txBody>
      </p:sp>
      <p:sp>
        <p:nvSpPr>
          <p:cNvPr id="1415" name="CasellaDiTesto 1414"/>
          <p:cNvSpPr txBox="1"/>
          <p:nvPr/>
        </p:nvSpPr>
        <p:spPr>
          <a:xfrm>
            <a:off x="971640" y="1307520"/>
            <a:ext cx="10765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L'art. 15 D.Lgs. n. 33/2025 reca la disciplina già contenuta nell'</a:t>
            </a:r>
            <a:r>
              <a:rPr lang="it-IT" sz="1650" b="1" u="none" strike="noStrike">
                <a:solidFill>
                  <a:srgbClr val="00509E"/>
                </a:solidFill>
                <a:effectLst/>
                <a:uFillTx/>
                <a:latin typeface="SegoeUI"/>
                <a:ea typeface="SegoeUI"/>
              </a:rPr>
              <a:t>art. 1, commi 778-780, della L. 28 dicembre 2015, n.</a:t>
            </a:r>
            <a:endParaRPr lang="it-IT" sz="1650" b="0" u="none" strike="noStrike">
              <a:solidFill>
                <a:srgbClr val="000000"/>
              </a:solidFill>
              <a:effectLst/>
              <a:uFillTx/>
              <a:latin typeface="Times New Roman"/>
            </a:endParaRPr>
          </a:p>
        </p:txBody>
      </p:sp>
      <p:sp>
        <p:nvSpPr>
          <p:cNvPr id="1416" name="CasellaDiTesto 1415"/>
          <p:cNvSpPr txBox="1"/>
          <p:nvPr/>
        </p:nvSpPr>
        <p:spPr>
          <a:xfrm>
            <a:off x="971640" y="1631160"/>
            <a:ext cx="97599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208</a:t>
            </a:r>
            <a:r>
              <a:rPr lang="it-IT" sz="1650" b="0" u="none" strike="noStrike">
                <a:solidFill>
                  <a:srgbClr val="212529"/>
                </a:solidFill>
                <a:effectLst/>
                <a:uFillTx/>
                <a:latin typeface="SegoeUI"/>
                <a:ea typeface="SegoeUI"/>
              </a:rPr>
              <a:t> (</a:t>
            </a:r>
            <a:r>
              <a:rPr lang="it-IT" sz="1650" b="0" i="1" u="none" strike="noStrike">
                <a:solidFill>
                  <a:srgbClr val="495057"/>
                </a:solidFill>
                <a:effectLst/>
                <a:uFillTx/>
                <a:latin typeface="SegoeUI"/>
                <a:ea typeface="SegoeUI"/>
              </a:rPr>
              <a:t>Stabilità 2016</a:t>
            </a:r>
            <a:r>
              <a:rPr lang="it-IT" sz="1650" b="0" u="none" strike="noStrike">
                <a:solidFill>
                  <a:srgbClr val="212529"/>
                </a:solidFill>
                <a:effectLst/>
                <a:uFillTx/>
                <a:latin typeface="SegoeUI"/>
                <a:ea typeface="SegoeUI"/>
              </a:rPr>
              <a:t>). Configura una </a:t>
            </a:r>
            <a:r>
              <a:rPr lang="it-IT" sz="1650" b="0" i="1" u="none" strike="noStrike">
                <a:solidFill>
                  <a:srgbClr val="495057"/>
                </a:solidFill>
                <a:effectLst/>
                <a:uFillTx/>
                <a:latin typeface="SegoeUI"/>
                <a:ea typeface="SegoeUI"/>
              </a:rPr>
              <a:t>lex specialis</a:t>
            </a:r>
            <a:r>
              <a:rPr lang="it-IT" sz="1650" b="0" u="none" strike="noStrike">
                <a:solidFill>
                  <a:srgbClr val="212529"/>
                </a:solidFill>
                <a:effectLst/>
                <a:uFillTx/>
                <a:latin typeface="SegoeUI"/>
                <a:ea typeface="SegoeUI"/>
              </a:rPr>
              <a:t> a favore della sola classe forense, calibrata su una specifica</a:t>
            </a:r>
            <a:endParaRPr lang="it-IT" sz="1650" b="0" u="none" strike="noStrike">
              <a:solidFill>
                <a:srgbClr val="000000"/>
              </a:solidFill>
              <a:effectLst/>
              <a:uFillTx/>
              <a:latin typeface="Times New Roman"/>
            </a:endParaRPr>
          </a:p>
        </p:txBody>
      </p:sp>
      <p:sp>
        <p:nvSpPr>
          <p:cNvPr id="1417" name="CasellaDiTesto 1416"/>
          <p:cNvSpPr txBox="1"/>
          <p:nvPr/>
        </p:nvSpPr>
        <p:spPr>
          <a:xfrm>
            <a:off x="971640" y="1955160"/>
            <a:ext cx="9059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fattispecie funzionale: il </a:t>
            </a:r>
            <a:r>
              <a:rPr lang="it-IT" sz="1650" b="1" u="none" strike="noStrike">
                <a:solidFill>
                  <a:srgbClr val="00509E"/>
                </a:solidFill>
                <a:effectLst/>
                <a:uFillTx/>
                <a:latin typeface="SegoeUI"/>
                <a:ea typeface="SegoeUI"/>
              </a:rPr>
              <a:t>patrocinio a spese dello Stato</a:t>
            </a:r>
            <a:r>
              <a:rPr lang="it-IT" sz="1650" b="0" u="none" strike="noStrike">
                <a:solidFill>
                  <a:srgbClr val="212529"/>
                </a:solidFill>
                <a:effectLst/>
                <a:uFillTx/>
                <a:latin typeface="SegoeUI"/>
                <a:ea typeface="SegoeUI"/>
              </a:rPr>
              <a:t> ai sensi del D.P.R. n. 115/2002 (artt. 82 ss.).</a:t>
            </a:r>
            <a:endParaRPr lang="it-IT" sz="1650" b="0" u="none" strike="noStrike">
              <a:solidFill>
                <a:srgbClr val="000000"/>
              </a:solidFill>
              <a:effectLst/>
              <a:uFillTx/>
              <a:latin typeface="Times New Roman"/>
            </a:endParaRPr>
          </a:p>
        </p:txBody>
      </p:sp>
      <p:sp>
        <p:nvSpPr>
          <p:cNvPr id="1418" name="Figura a mano libera: forma 1417"/>
          <p:cNvSpPr/>
          <p:nvPr/>
        </p:nvSpPr>
        <p:spPr>
          <a:xfrm>
            <a:off x="1028520" y="322884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0"/>
                  <a:pt x="159" y="198"/>
                  <a:pt x="146" y="203"/>
                </a:cubicBezTo>
                <a:cubicBezTo>
                  <a:pt x="133" y="209"/>
                  <a:pt x="120" y="213"/>
                  <a:pt x="106" y="213"/>
                </a:cubicBezTo>
                <a:cubicBezTo>
                  <a:pt x="92" y="213"/>
                  <a:pt x="78" y="209"/>
                  <a:pt x="65" y="203"/>
                </a:cubicBezTo>
                <a:cubicBezTo>
                  <a:pt x="52" y="198"/>
                  <a:pt x="41" y="190"/>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19" name="CasellaDiTesto 1418"/>
          <p:cNvSpPr txBox="1"/>
          <p:nvPr/>
        </p:nvSpPr>
        <p:spPr>
          <a:xfrm>
            <a:off x="971640" y="2401200"/>
            <a:ext cx="247428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Struttura della fattispecie</a:t>
            </a:r>
            <a:endParaRPr lang="it-IT" sz="1800" b="0" u="none" strike="noStrike">
              <a:solidFill>
                <a:srgbClr val="000000"/>
              </a:solidFill>
              <a:effectLst/>
              <a:uFillTx/>
              <a:latin typeface="Times New Roman"/>
            </a:endParaRPr>
          </a:p>
        </p:txBody>
      </p:sp>
      <p:sp>
        <p:nvSpPr>
          <p:cNvPr id="1420" name="CasellaDiTesto 1419"/>
          <p:cNvSpPr txBox="1"/>
          <p:nvPr/>
        </p:nvSpPr>
        <p:spPr>
          <a:xfrm>
            <a:off x="1238400" y="3117960"/>
            <a:ext cx="102020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Crediti compensabili</a:t>
            </a:r>
            <a:r>
              <a:rPr lang="it-IT" sz="1580" b="0" u="none" strike="noStrike">
                <a:solidFill>
                  <a:srgbClr val="343A40"/>
                </a:solidFill>
                <a:effectLst/>
                <a:uFillTx/>
                <a:latin typeface="SegoeUI"/>
                <a:ea typeface="SegoeUI"/>
              </a:rPr>
              <a:t>: spese, diritti e onorari, </a:t>
            </a:r>
            <a:r>
              <a:rPr lang="it-IT" sz="1580" b="0" i="1" u="none" strike="noStrike">
                <a:solidFill>
                  <a:srgbClr val="495057"/>
                </a:solidFill>
                <a:effectLst/>
                <a:uFillTx/>
                <a:latin typeface="SegoeUI"/>
                <a:ea typeface="SegoeUI"/>
              </a:rPr>
              <a:t>in qualsiasi data maturati e non ancora saldati</a:t>
            </a:r>
            <a:r>
              <a:rPr lang="it-IT" sz="1580" b="0" u="none" strike="noStrike">
                <a:solidFill>
                  <a:srgbClr val="343A40"/>
                </a:solidFill>
                <a:effectLst/>
                <a:uFillTx/>
                <a:latin typeface="SegoeUI"/>
                <a:ea typeface="SegoeUI"/>
              </a:rPr>
              <a:t>, per i quali non sia stata</a:t>
            </a:r>
            <a:endParaRPr lang="it-IT" sz="1580" b="0" u="none" strike="noStrike">
              <a:solidFill>
                <a:srgbClr val="000000"/>
              </a:solidFill>
              <a:effectLst/>
              <a:uFillTx/>
              <a:latin typeface="Times New Roman"/>
            </a:endParaRPr>
          </a:p>
        </p:txBody>
      </p:sp>
      <p:sp>
        <p:nvSpPr>
          <p:cNvPr id="1421" name="Figura a mano libera: forma 1420"/>
          <p:cNvSpPr/>
          <p:nvPr/>
        </p:nvSpPr>
        <p:spPr>
          <a:xfrm>
            <a:off x="1028520" y="4019400"/>
            <a:ext cx="76680" cy="76680"/>
          </a:xfrm>
          <a:custGeom>
            <a:avLst/>
            <a:gdLst/>
            <a:ahLst/>
            <a:cxnLst/>
            <a:rect l="0" t="0" r="r" b="b"/>
            <a:pathLst>
              <a:path w="213" h="213">
                <a:moveTo>
                  <a:pt x="213" y="106"/>
                </a:moveTo>
                <a:cubicBezTo>
                  <a:pt x="213" y="120"/>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22" name="CasellaDiTesto 1421"/>
          <p:cNvSpPr txBox="1"/>
          <p:nvPr/>
        </p:nvSpPr>
        <p:spPr>
          <a:xfrm>
            <a:off x="1238400" y="3432240"/>
            <a:ext cx="45745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proposta opposizione </a:t>
            </a:r>
            <a:r>
              <a:rPr lang="it-IT" sz="1580" b="0" i="1" u="none" strike="noStrike">
                <a:solidFill>
                  <a:srgbClr val="495057"/>
                </a:solidFill>
                <a:effectLst/>
                <a:uFillTx/>
                <a:latin typeface="SegoeUI"/>
                <a:ea typeface="SegoeUI"/>
              </a:rPr>
              <a:t>ex</a:t>
            </a:r>
            <a:r>
              <a:rPr lang="it-IT" sz="1580" b="0" u="none" strike="noStrike">
                <a:solidFill>
                  <a:srgbClr val="343A40"/>
                </a:solidFill>
                <a:effectLst/>
                <a:uFillTx/>
                <a:latin typeface="SegoeUI"/>
                <a:ea typeface="SegoeUI"/>
              </a:rPr>
              <a:t> art. 170 D.P.R. n. 115/2002.</a:t>
            </a:r>
            <a:endParaRPr lang="it-IT" sz="1580" b="0" u="none" strike="noStrike">
              <a:solidFill>
                <a:srgbClr val="000000"/>
              </a:solidFill>
              <a:effectLst/>
              <a:uFillTx/>
              <a:latin typeface="Times New Roman"/>
            </a:endParaRPr>
          </a:p>
        </p:txBody>
      </p:sp>
      <p:sp>
        <p:nvSpPr>
          <p:cNvPr id="1423" name="Figura a mano libera: forma 1422"/>
          <p:cNvSpPr/>
          <p:nvPr/>
        </p:nvSpPr>
        <p:spPr>
          <a:xfrm>
            <a:off x="1028520" y="45050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24" name="CasellaDiTesto 1423"/>
          <p:cNvSpPr txBox="1"/>
          <p:nvPr/>
        </p:nvSpPr>
        <p:spPr>
          <a:xfrm>
            <a:off x="1238400" y="3908520"/>
            <a:ext cx="100724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Debiti compensabili</a:t>
            </a:r>
            <a:r>
              <a:rPr lang="it-IT" sz="1580" b="0" u="none" strike="noStrike">
                <a:solidFill>
                  <a:srgbClr val="343A40"/>
                </a:solidFill>
                <a:effectLst/>
                <a:uFillTx/>
                <a:latin typeface="SegoeUI"/>
                <a:ea typeface="SegoeUI"/>
              </a:rPr>
              <a:t>: </a:t>
            </a:r>
            <a:r>
              <a:rPr lang="it-IT" sz="1580" b="0" i="1" u="none" strike="noStrike">
                <a:solidFill>
                  <a:srgbClr val="495057"/>
                </a:solidFill>
                <a:effectLst/>
                <a:uFillTx/>
                <a:latin typeface="SegoeUI"/>
                <a:ea typeface="SegoeUI"/>
              </a:rPr>
              <a:t>ogni imposta e tassa, compresa l'IVA</a:t>
            </a:r>
            <a:r>
              <a:rPr lang="it-IT" sz="1580" b="0" u="none" strike="noStrike">
                <a:solidFill>
                  <a:srgbClr val="343A40"/>
                </a:solidFill>
                <a:effectLst/>
                <a:uFillTx/>
                <a:latin typeface="SegoeUI"/>
                <a:ea typeface="SegoeUI"/>
              </a:rPr>
              <a:t>, nonché contributi previdenziali (Cassa Forense — CPA).</a:t>
            </a:r>
            <a:endParaRPr lang="it-IT" sz="1580" b="0" u="none" strike="noStrike">
              <a:solidFill>
                <a:srgbClr val="000000"/>
              </a:solidFill>
              <a:effectLst/>
              <a:uFillTx/>
              <a:latin typeface="Times New Roman"/>
            </a:endParaRPr>
          </a:p>
        </p:txBody>
      </p:sp>
      <p:sp>
        <p:nvSpPr>
          <p:cNvPr id="1425" name="CasellaDiTesto 1424"/>
          <p:cNvSpPr txBox="1"/>
          <p:nvPr/>
        </p:nvSpPr>
        <p:spPr>
          <a:xfrm>
            <a:off x="1238400" y="4394160"/>
            <a:ext cx="91454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Modalità tecnica</a:t>
            </a:r>
            <a:r>
              <a:rPr lang="it-IT" sz="1580" b="0" u="none" strike="noStrike">
                <a:solidFill>
                  <a:srgbClr val="343A40"/>
                </a:solidFill>
                <a:effectLst/>
                <a:uFillTx/>
                <a:latin typeface="SegoeUI"/>
                <a:ea typeface="SegoeUI"/>
              </a:rPr>
              <a:t>: compensazione anche tramite </a:t>
            </a:r>
            <a:r>
              <a:rPr lang="it-IT" sz="1580" b="0" i="1" u="none" strike="noStrike">
                <a:solidFill>
                  <a:srgbClr val="495057"/>
                </a:solidFill>
                <a:effectLst/>
                <a:uFillTx/>
                <a:latin typeface="SegoeUI"/>
                <a:ea typeface="SegoeUI"/>
              </a:rPr>
              <a:t>cessione, anche parziale, dei crediti</a:t>
            </a:r>
            <a:r>
              <a:rPr lang="it-IT" sz="1580" b="0" u="none" strike="noStrike">
                <a:solidFill>
                  <a:srgbClr val="343A40"/>
                </a:solidFill>
                <a:effectLst/>
                <a:uFillTx/>
                <a:latin typeface="SegoeUI"/>
                <a:ea typeface="SegoeUI"/>
              </a:rPr>
              <a:t>, entro un limite pari</a:t>
            </a:r>
            <a:endParaRPr lang="it-IT" sz="1580" b="0" u="none" strike="noStrike">
              <a:solidFill>
                <a:srgbClr val="000000"/>
              </a:solidFill>
              <a:effectLst/>
              <a:uFillTx/>
              <a:latin typeface="Times New Roman"/>
            </a:endParaRPr>
          </a:p>
        </p:txBody>
      </p:sp>
      <p:sp>
        <p:nvSpPr>
          <p:cNvPr id="1426" name="Figura a mano libera: forma 1425"/>
          <p:cNvSpPr/>
          <p:nvPr/>
        </p:nvSpPr>
        <p:spPr>
          <a:xfrm>
            <a:off x="1028520" y="5295600"/>
            <a:ext cx="76680" cy="76680"/>
          </a:xfrm>
          <a:custGeom>
            <a:avLst/>
            <a:gdLst/>
            <a:ahLst/>
            <a:cxnLst/>
            <a:rect l="0" t="0" r="r" b="b"/>
            <a:pathLst>
              <a:path w="213" h="213">
                <a:moveTo>
                  <a:pt x="213" y="106"/>
                </a:moveTo>
                <a:cubicBezTo>
                  <a:pt x="213" y="120"/>
                  <a:pt x="210" y="134"/>
                  <a:pt x="205" y="147"/>
                </a:cubicBezTo>
                <a:cubicBezTo>
                  <a:pt x="198" y="160"/>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27" name="CasellaDiTesto 1426"/>
          <p:cNvSpPr txBox="1"/>
          <p:nvPr/>
        </p:nvSpPr>
        <p:spPr>
          <a:xfrm>
            <a:off x="1238400" y="4699080"/>
            <a:ext cx="96433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all'ammontare maggiorato di IVA e CPA. La cessione gode di </a:t>
            </a:r>
            <a:r>
              <a:rPr lang="it-IT" sz="1580" b="1" u="none" strike="noStrike">
                <a:solidFill>
                  <a:srgbClr val="00509E"/>
                </a:solidFill>
                <a:effectLst/>
                <a:uFillTx/>
                <a:latin typeface="SegoeUI"/>
                <a:ea typeface="SegoeUI"/>
              </a:rPr>
              <a:t>esenzione dalle imposte di bollo e di registro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1428" name="CasellaDiTesto 1427"/>
          <p:cNvSpPr txBox="1"/>
          <p:nvPr/>
        </p:nvSpPr>
        <p:spPr>
          <a:xfrm>
            <a:off x="1238400" y="5184720"/>
            <a:ext cx="949788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Limite quantitativo annuale</a:t>
            </a:r>
            <a:r>
              <a:rPr lang="it-IT" sz="1580" b="0" u="none" strike="noStrike">
                <a:solidFill>
                  <a:srgbClr val="343A40"/>
                </a:solidFill>
                <a:effectLst/>
                <a:uFillTx/>
                <a:latin typeface="SegoeUI"/>
                <a:ea typeface="SegoeUI"/>
              </a:rPr>
              <a:t>: a decorrere dal 2023, </a:t>
            </a:r>
            <a:r>
              <a:rPr lang="it-IT" sz="1580" b="1" u="none" strike="noStrike">
                <a:solidFill>
                  <a:srgbClr val="00509E"/>
                </a:solidFill>
                <a:effectLst/>
                <a:uFillTx/>
                <a:latin typeface="SegoeUI"/>
                <a:ea typeface="SegoeUI"/>
              </a:rPr>
              <a:t>40 milioni di euro</a:t>
            </a:r>
            <a:r>
              <a:rPr lang="it-IT" sz="1580" b="0" u="none" strike="noStrike">
                <a:solidFill>
                  <a:srgbClr val="343A40"/>
                </a:solidFill>
                <a:effectLst/>
                <a:uFillTx/>
                <a:latin typeface="SegoeUI"/>
                <a:ea typeface="SegoeUI"/>
              </a:rPr>
              <a:t> annui (precedentemente 10 milioni).</a:t>
            </a:r>
            <a:endParaRPr lang="it-IT" sz="1580" b="0" u="none" strike="noStrike">
              <a:solidFill>
                <a:srgbClr val="000000"/>
              </a:solidFill>
              <a:effectLst/>
              <a:uFillTx/>
              <a:latin typeface="Times New Roman"/>
            </a:endParaRPr>
          </a:p>
        </p:txBody>
      </p:sp>
      <p:sp>
        <p:nvSpPr>
          <p:cNvPr id="1430" name="Figura a mano libera: forma 142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32" name="Figura a mano libera: forma 143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33" name="CasellaDiTesto 143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434" name="CasellaDiTesto 143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48 / 73</a:t>
            </a:r>
            <a:endParaRPr lang="it-IT" sz="980" b="0" u="none" strike="noStrike">
              <a:solidFill>
                <a:srgbClr val="000000"/>
              </a:solidFill>
              <a:effectLst/>
              <a:uFillTx/>
              <a:latin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 name="Figura a mano libera: forma 143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36" name="Figura a mano libera: forma 143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437" name="Figura a mano libera: forma 1436"/>
          <p:cNvSpPr/>
          <p:nvPr/>
        </p:nvSpPr>
        <p:spPr>
          <a:xfrm>
            <a:off x="971280" y="1756800"/>
            <a:ext cx="10403640" cy="192312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r>
              <a:rPr lang="it-IT" sz="1600" dirty="0">
                <a:latin typeface="Segoe UI" panose="020B0502040204020203" pitchFamily="34" charset="0"/>
                <a:cs typeface="Segoe UI" panose="020B0502040204020203" pitchFamily="34" charset="0"/>
              </a:rPr>
              <a:t>Negli artt. 16 e 17 del </a:t>
            </a:r>
            <a:r>
              <a:rPr lang="it-IT" sz="1600" dirty="0" err="1">
                <a:latin typeface="Segoe UI" panose="020B0502040204020203" pitchFamily="34" charset="0"/>
                <a:cs typeface="Segoe UI" panose="020B0502040204020203" pitchFamily="34" charset="0"/>
              </a:rPr>
              <a:t>D.Lgs.</a:t>
            </a:r>
            <a:r>
              <a:rPr lang="it-IT" sz="1600" dirty="0">
                <a:latin typeface="Segoe UI" panose="020B0502040204020203" pitchFamily="34" charset="0"/>
                <a:cs typeface="Segoe UI" panose="020B0502040204020203" pitchFamily="34" charset="0"/>
              </a:rPr>
              <a:t> 33/2025, la compensazione opera </a:t>
            </a:r>
            <a:r>
              <a:rPr lang="it-IT" sz="1600" b="1" dirty="0">
                <a:latin typeface="Segoe UI" panose="020B0502040204020203" pitchFamily="34" charset="0"/>
                <a:cs typeface="Segoe UI" panose="020B0502040204020203" pitchFamily="34" charset="0"/>
              </a:rPr>
              <a:t>a monte</a:t>
            </a:r>
            <a:r>
              <a:rPr lang="it-IT" sz="1600" dirty="0">
                <a:latin typeface="Segoe UI" panose="020B0502040204020203" pitchFamily="34" charset="0"/>
                <a:cs typeface="Segoe UI" panose="020B0502040204020203" pitchFamily="34" charset="0"/>
              </a:rPr>
              <a:t> dell'iscrizione a ruolo. Comune è la struttura: </a:t>
            </a:r>
            <a:r>
              <a:rPr lang="it-IT" sz="1600" i="1" dirty="0">
                <a:latin typeface="Segoe UI" panose="020B0502040204020203" pitchFamily="34" charset="0"/>
                <a:cs typeface="Segoe UI" panose="020B0502040204020203" pitchFamily="34" charset="0"/>
              </a:rPr>
              <a:t>(i)</a:t>
            </a:r>
            <a:r>
              <a:rPr lang="it-IT" sz="1600" dirty="0">
                <a:latin typeface="Segoe UI" panose="020B0502040204020203" pitchFamily="34" charset="0"/>
                <a:cs typeface="Segoe UI" panose="020B0502040204020203" pitchFamily="34" charset="0"/>
              </a:rPr>
              <a:t> crediti commerciali certi, liquidi, esigibili e non prescritti vantati verso le P.A. </a:t>
            </a:r>
            <a:r>
              <a:rPr lang="it-IT" sz="1600" i="1" dirty="0">
                <a:latin typeface="Segoe UI" panose="020B0502040204020203" pitchFamily="34" charset="0"/>
                <a:cs typeface="Segoe UI" panose="020B0502040204020203" pitchFamily="34" charset="0"/>
              </a:rPr>
              <a:t>ex</a:t>
            </a:r>
            <a:r>
              <a:rPr lang="it-IT" sz="1600" dirty="0">
                <a:latin typeface="Segoe UI" panose="020B0502040204020203" pitchFamily="34" charset="0"/>
                <a:cs typeface="Segoe UI" panose="020B0502040204020203" pitchFamily="34" charset="0"/>
              </a:rPr>
              <a:t> art. 1, c. 2, </a:t>
            </a:r>
            <a:r>
              <a:rPr lang="it-IT" sz="1600" dirty="0" err="1">
                <a:latin typeface="Segoe UI" panose="020B0502040204020203" pitchFamily="34" charset="0"/>
                <a:cs typeface="Segoe UI" panose="020B0502040204020203" pitchFamily="34" charset="0"/>
              </a:rPr>
              <a:t>D.Lgs.</a:t>
            </a:r>
            <a:r>
              <a:rPr lang="it-IT" sz="1600" dirty="0">
                <a:latin typeface="Segoe UI" panose="020B0502040204020203" pitchFamily="34" charset="0"/>
                <a:cs typeface="Segoe UI" panose="020B0502040204020203" pitchFamily="34" charset="0"/>
              </a:rPr>
              <a:t> n. 165/2001; </a:t>
            </a:r>
            <a:r>
              <a:rPr lang="it-IT" sz="1600" i="1" dirty="0">
                <a:latin typeface="Segoe UI" panose="020B0502040204020203" pitchFamily="34" charset="0"/>
                <a:cs typeface="Segoe UI" panose="020B0502040204020203" pitchFamily="34" charset="0"/>
              </a:rPr>
              <a:t>(ii)</a:t>
            </a:r>
            <a:r>
              <a:rPr lang="it-IT" sz="1600" dirty="0">
                <a:latin typeface="Segoe UI" panose="020B0502040204020203" pitchFamily="34" charset="0"/>
                <a:cs typeface="Segoe UI" panose="020B0502040204020203" pitchFamily="34" charset="0"/>
              </a:rPr>
              <a:t> attivazione su specifica istanza del creditore; </a:t>
            </a:r>
            <a:r>
              <a:rPr lang="it-IT" sz="1600" i="1" dirty="0">
                <a:latin typeface="Segoe UI" panose="020B0502040204020203" pitchFamily="34" charset="0"/>
                <a:cs typeface="Segoe UI" panose="020B0502040204020203" pitchFamily="34" charset="0"/>
              </a:rPr>
              <a:t>(iii)</a:t>
            </a:r>
            <a:r>
              <a:rPr lang="it-IT" sz="1600" dirty="0">
                <a:latin typeface="Segoe UI" panose="020B0502040204020203" pitchFamily="34" charset="0"/>
                <a:cs typeface="Segoe UI" panose="020B0502040204020203" pitchFamily="34" charset="0"/>
              </a:rPr>
              <a:t> utilizzo del sistema </a:t>
            </a:r>
            <a:r>
              <a:rPr lang="it-IT" sz="1600" i="1" dirty="0">
                <a:latin typeface="Segoe UI" panose="020B0502040204020203" pitchFamily="34" charset="0"/>
                <a:cs typeface="Segoe UI" panose="020B0502040204020203" pitchFamily="34" charset="0"/>
              </a:rPr>
              <a:t>ex</a:t>
            </a:r>
            <a:r>
              <a:rPr lang="it-IT" sz="1600" dirty="0">
                <a:latin typeface="Segoe UI" panose="020B0502040204020203" pitchFamily="34" charset="0"/>
                <a:cs typeface="Segoe UI" panose="020B0502040204020203" pitchFamily="34" charset="0"/>
              </a:rPr>
              <a:t> art. 3 esclusivamente attraverso i servizi telematici dell'Agenzia delle Entrate; </a:t>
            </a:r>
            <a:r>
              <a:rPr lang="it-IT" sz="1600" i="1" dirty="0">
                <a:latin typeface="Segoe UI" panose="020B0502040204020203" pitchFamily="34" charset="0"/>
                <a:cs typeface="Segoe UI" panose="020B0502040204020203" pitchFamily="34" charset="0"/>
              </a:rPr>
              <a:t>(iv)</a:t>
            </a:r>
            <a:r>
              <a:rPr lang="it-IT" sz="1600" dirty="0">
                <a:latin typeface="Segoe UI" panose="020B0502040204020203" pitchFamily="34" charset="0"/>
                <a:cs typeface="Segoe UI" panose="020B0502040204020203" pitchFamily="34" charset="0"/>
              </a:rPr>
              <a:t> certificazione </a:t>
            </a:r>
            <a:r>
              <a:rPr lang="it-IT" sz="1600" i="1" dirty="0">
                <a:latin typeface="Segoe UI" panose="020B0502040204020203" pitchFamily="34" charset="0"/>
                <a:cs typeface="Segoe UI" panose="020B0502040204020203" pitchFamily="34" charset="0"/>
              </a:rPr>
              <a:t>ex</a:t>
            </a:r>
            <a:r>
              <a:rPr lang="it-IT" sz="1600" dirty="0">
                <a:latin typeface="Segoe UI" panose="020B0502040204020203" pitchFamily="34" charset="0"/>
                <a:cs typeface="Segoe UI" panose="020B0502040204020203" pitchFamily="34" charset="0"/>
              </a:rPr>
              <a:t> art. 9, c. 3-</a:t>
            </a:r>
            <a:r>
              <a:rPr lang="it-IT" sz="1600" i="1" dirty="0">
                <a:latin typeface="Segoe UI" panose="020B0502040204020203" pitchFamily="34" charset="0"/>
                <a:cs typeface="Segoe UI" panose="020B0502040204020203" pitchFamily="34" charset="0"/>
              </a:rPr>
              <a:t>bis</a:t>
            </a:r>
            <a:r>
              <a:rPr lang="it-IT" sz="1600" dirty="0">
                <a:latin typeface="Segoe UI" panose="020B0502040204020203" pitchFamily="34" charset="0"/>
                <a:cs typeface="Segoe UI" panose="020B0502040204020203" pitchFamily="34" charset="0"/>
              </a:rPr>
              <a:t>, D.L. n. 185/2008, con indicazione della data prevista per il pagamento; </a:t>
            </a:r>
            <a:r>
              <a:rPr lang="it-IT" sz="1600" i="1" dirty="0">
                <a:latin typeface="Segoe UI" panose="020B0502040204020203" pitchFamily="34" charset="0"/>
                <a:cs typeface="Segoe UI" panose="020B0502040204020203" pitchFamily="34" charset="0"/>
              </a:rPr>
              <a:t>(v)</a:t>
            </a:r>
            <a:r>
              <a:rPr lang="it-IT" sz="1600" dirty="0">
                <a:latin typeface="Segoe UI" panose="020B0502040204020203" pitchFamily="34" charset="0"/>
                <a:cs typeface="Segoe UI" panose="020B0502040204020203" pitchFamily="34" charset="0"/>
              </a:rPr>
              <a:t> trasmissione immediata alla piattaforma MEF — Ragioneria Generale dello Stato.</a:t>
            </a:r>
          </a:p>
        </p:txBody>
      </p:sp>
      <p:sp>
        <p:nvSpPr>
          <p:cNvPr id="1438" name="Figura a mano libera: forma 143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483" name="CasellaDiTesto 1482"/>
          <p:cNvSpPr txBox="1"/>
          <p:nvPr/>
        </p:nvSpPr>
        <p:spPr>
          <a:xfrm>
            <a:off x="971640" y="552600"/>
            <a:ext cx="7049943" cy="438582"/>
          </a:xfrm>
          <a:prstGeom prst="rect">
            <a:avLst/>
          </a:prstGeom>
          <a:noFill/>
          <a:ln w="0">
            <a:noFill/>
          </a:ln>
        </p:spPr>
        <p:txBody>
          <a:bodyPr wrap="none" lIns="0" tIns="0" rIns="0" bIns="0" anchor="t">
            <a:spAutoFit/>
          </a:bodyPr>
          <a:lstStyle/>
          <a:p>
            <a:r>
              <a:rPr lang="it-IT" sz="2850" b="1" u="none" strike="noStrike" dirty="0">
                <a:solidFill>
                  <a:srgbClr val="003366"/>
                </a:solidFill>
                <a:effectLst/>
                <a:uFillTx/>
                <a:latin typeface="SegoeUI"/>
                <a:ea typeface="SegoeUI"/>
              </a:rPr>
              <a:t>COMPENSAZIONE CON SOMME DOVUTE</a:t>
            </a:r>
            <a:endParaRPr lang="it-IT" sz="2850" b="0" u="none" strike="noStrike" dirty="0">
              <a:solidFill>
                <a:srgbClr val="000000"/>
              </a:solidFill>
              <a:effectLst/>
              <a:uFillTx/>
              <a:latin typeface="Times New Roman"/>
            </a:endParaRPr>
          </a:p>
        </p:txBody>
      </p:sp>
      <p:sp>
        <p:nvSpPr>
          <p:cNvPr id="1484" name="CasellaDiTesto 1483"/>
          <p:cNvSpPr txBox="1"/>
          <p:nvPr/>
        </p:nvSpPr>
        <p:spPr>
          <a:xfrm>
            <a:off x="971640" y="1009800"/>
            <a:ext cx="5260736" cy="438582"/>
          </a:xfrm>
          <a:prstGeom prst="rect">
            <a:avLst/>
          </a:prstGeom>
          <a:noFill/>
          <a:ln w="0">
            <a:noFill/>
          </a:ln>
        </p:spPr>
        <p:txBody>
          <a:bodyPr wrap="none" lIns="0" tIns="0" rIns="0" bIns="0" anchor="t">
            <a:spAutoFit/>
          </a:bodyPr>
          <a:lstStyle/>
          <a:p>
            <a:r>
              <a:rPr lang="it-IT" sz="2850" b="1" i="1" u="none" strike="noStrike" dirty="0">
                <a:solidFill>
                  <a:srgbClr val="003366"/>
                </a:solidFill>
                <a:effectLst/>
                <a:uFillTx/>
                <a:latin typeface="SegoeUI"/>
                <a:ea typeface="SegoeUI"/>
              </a:rPr>
              <a:t>ANTE RISCOSSIONE COATTIVA</a:t>
            </a:r>
            <a:endParaRPr lang="it-IT" sz="2850" b="0" i="1" u="none" strike="noStrike" dirty="0">
              <a:solidFill>
                <a:srgbClr val="000000"/>
              </a:solidFill>
              <a:effectLst/>
              <a:uFillTx/>
              <a:latin typeface="Times New Roman"/>
            </a:endParaRPr>
          </a:p>
        </p:txBody>
      </p:sp>
      <p:graphicFrame>
        <p:nvGraphicFramePr>
          <p:cNvPr id="4" name="Tabella 3">
            <a:extLst>
              <a:ext uri="{FF2B5EF4-FFF2-40B4-BE49-F238E27FC236}">
                <a16:creationId xmlns:a16="http://schemas.microsoft.com/office/drawing/2014/main" id="{8EDE60AA-C2E5-B022-B42C-45CF4F837694}"/>
              </a:ext>
            </a:extLst>
          </p:cNvPr>
          <p:cNvGraphicFramePr>
            <a:graphicFrameLocks noGrp="1"/>
          </p:cNvGraphicFramePr>
          <p:nvPr>
            <p:extLst>
              <p:ext uri="{D42A27DB-BD31-4B8C-83A1-F6EECF244321}">
                <p14:modId xmlns:p14="http://schemas.microsoft.com/office/powerpoint/2010/main" val="1324539463"/>
              </p:ext>
            </p:extLst>
          </p:nvPr>
        </p:nvGraphicFramePr>
        <p:xfrm>
          <a:off x="971280" y="3247200"/>
          <a:ext cx="10403639" cy="3058200"/>
        </p:xfrm>
        <a:graphic>
          <a:graphicData uri="http://schemas.openxmlformats.org/drawingml/2006/table">
            <a:tbl>
              <a:tblPr firstRow="1">
                <a:tableStyleId>{9DCAF9ED-07DC-4A11-8D7F-57B35C25682E}</a:tableStyleId>
              </a:tblPr>
              <a:tblGrid>
                <a:gridCol w="1482201">
                  <a:extLst>
                    <a:ext uri="{9D8B030D-6E8A-4147-A177-3AD203B41FA5}">
                      <a16:colId xmlns:a16="http://schemas.microsoft.com/office/drawing/2014/main" val="1396471453"/>
                    </a:ext>
                  </a:extLst>
                </a:gridCol>
                <a:gridCol w="4460719">
                  <a:extLst>
                    <a:ext uri="{9D8B030D-6E8A-4147-A177-3AD203B41FA5}">
                      <a16:colId xmlns:a16="http://schemas.microsoft.com/office/drawing/2014/main" val="1499886178"/>
                    </a:ext>
                  </a:extLst>
                </a:gridCol>
                <a:gridCol w="4460719">
                  <a:extLst>
                    <a:ext uri="{9D8B030D-6E8A-4147-A177-3AD203B41FA5}">
                      <a16:colId xmlns:a16="http://schemas.microsoft.com/office/drawing/2014/main" val="571840067"/>
                    </a:ext>
                  </a:extLst>
                </a:gridCol>
              </a:tblGrid>
              <a:tr h="305820">
                <a:tc>
                  <a:txBody>
                    <a:bodyPr/>
                    <a:lstStyle/>
                    <a:p>
                      <a:pPr algn="l" fontAlgn="ctr">
                        <a:buNone/>
                      </a:pPr>
                      <a:r>
                        <a:rPr lang="it-IT" sz="1200" u="none" strike="noStrike" dirty="0">
                          <a:effectLst/>
                        </a:rPr>
                        <a:t> </a:t>
                      </a:r>
                      <a:endParaRPr lang="it-IT" sz="1200" b="0" i="0" u="none" strike="noStrike" dirty="0">
                        <a:solidFill>
                          <a:srgbClr val="000000"/>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ctr" fontAlgn="ctr">
                        <a:buNone/>
                      </a:pPr>
                      <a:r>
                        <a:rPr lang="it-IT" sz="1200" u="none" strike="noStrike">
                          <a:effectLst/>
                        </a:rPr>
                        <a:t>Art. 16 — istituti definitori e deflativi (ex 28-quinquies)</a:t>
                      </a:r>
                      <a:endParaRPr lang="it-IT" sz="1200" b="1" i="0" u="none" strike="noStrike">
                        <a:solidFill>
                          <a:srgbClr val="F3F3F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ctr" fontAlgn="ctr">
                        <a:buNone/>
                      </a:pPr>
                      <a:r>
                        <a:rPr lang="it-IT" sz="1200" u="none" strike="noStrike">
                          <a:effectLst/>
                        </a:rPr>
                        <a:t>Art. 17 — avvisi bonari (ex 28-sexies)</a:t>
                      </a:r>
                      <a:endParaRPr lang="it-IT" sz="1200" b="1" i="0" u="none" strike="noStrike">
                        <a:solidFill>
                          <a:srgbClr val="F3F3F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249633601"/>
                  </a:ext>
                </a:extLst>
              </a:tr>
              <a:tr h="1223280">
                <a:tc>
                  <a:txBody>
                    <a:bodyPr/>
                    <a:lstStyle/>
                    <a:p>
                      <a:pPr algn="l" fontAlgn="ctr">
                        <a:buNone/>
                      </a:pPr>
                      <a:r>
                        <a:rPr lang="it-IT" sz="1200" b="1" u="none" strike="noStrike" dirty="0">
                          <a:effectLst/>
                        </a:rPr>
                        <a:t>Debiti compensabili</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rPr>
                        <a:t>accertamento con adesione (art. 8 </a:t>
                      </a:r>
                      <a:r>
                        <a:rPr lang="it-IT" sz="1200" u="none" strike="noStrike" dirty="0" err="1">
                          <a:effectLst/>
                        </a:rPr>
                        <a:t>D.Lgs.</a:t>
                      </a:r>
                      <a:r>
                        <a:rPr lang="it-IT" sz="1200" u="none" strike="noStrike" dirty="0">
                          <a:effectLst/>
                        </a:rPr>
                        <a:t> 218/1997); definizione (art. 5-quater); acquiescenza (art. 15); definizione agevolata delle sanzioni (artt. 18, 20 </a:t>
                      </a:r>
                      <a:r>
                        <a:rPr lang="it-IT" sz="1200" u="none" strike="noStrike" dirty="0" err="1">
                          <a:effectLst/>
                        </a:rPr>
                        <a:t>D.Lgs.</a:t>
                      </a:r>
                      <a:r>
                        <a:rPr lang="it-IT" sz="1200" u="none" strike="noStrike" dirty="0">
                          <a:effectLst/>
                        </a:rPr>
                        <a:t> 173/2024); conciliazione (artt. 99-101 </a:t>
                      </a:r>
                      <a:r>
                        <a:rPr lang="it-IT" sz="1200" u="none" strike="noStrike" dirty="0" err="1">
                          <a:effectLst/>
                        </a:rPr>
                        <a:t>D.Lgs.</a:t>
                      </a:r>
                      <a:r>
                        <a:rPr lang="it-IT" sz="1200" u="none" strike="noStrike" dirty="0">
                          <a:effectLst/>
                        </a:rPr>
                        <a:t> 175/2024)</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a:effectLst/>
                        </a:rPr>
                        <a:t>sanzioni e interessi per omessi versamenti di imposte sui redditi regolarmente dichiarati, a seguito di comunicazione di irregolarità ex art. 36-bis D.P.R. n. 600/1973</a:t>
                      </a:r>
                      <a:endParaRPr lang="it-IT" sz="1200" b="0" i="0" u="none" strike="noStrike">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521011012"/>
                  </a:ext>
                </a:extLst>
              </a:tr>
              <a:tr h="611640">
                <a:tc>
                  <a:txBody>
                    <a:bodyPr/>
                    <a:lstStyle/>
                    <a:p>
                      <a:pPr algn="l" fontAlgn="ctr">
                        <a:buNone/>
                      </a:pPr>
                      <a:r>
                        <a:rPr lang="it-IT" sz="1200" b="1" u="none" strike="noStrike" dirty="0">
                          <a:effectLst/>
                        </a:rPr>
                        <a:t>Limite oggettivo</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rPr>
                        <a:t>l'intera somma dovuta a seguito dell'istituto attivato</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a:effectLst/>
                        </a:rPr>
                        <a:t>sino a concorrenza dell'imposta a debito risultante dalla dichiarazione cui si riferiscono sanzioni e interessi</a:t>
                      </a:r>
                      <a:endParaRPr lang="it-IT" sz="1200" b="0" i="0" u="none" strike="noStrike">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795124009"/>
                  </a:ext>
                </a:extLst>
              </a:tr>
              <a:tr h="305820">
                <a:tc>
                  <a:txBody>
                    <a:bodyPr/>
                    <a:lstStyle/>
                    <a:p>
                      <a:pPr algn="l" fontAlgn="ctr">
                        <a:buNone/>
                      </a:pPr>
                      <a:r>
                        <a:rPr lang="it-IT" sz="1200" b="1" u="none" strike="noStrike" dirty="0">
                          <a:effectLst/>
                        </a:rPr>
                        <a:t>P.A. coinvolte</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rPr>
                        <a:t>tutte le amministrazioni ex art. 1, c. 2, </a:t>
                      </a:r>
                      <a:r>
                        <a:rPr lang="it-IT" sz="1200" u="none" strike="noStrike" dirty="0" err="1">
                          <a:effectLst/>
                        </a:rPr>
                        <a:t>D.Lgs.</a:t>
                      </a:r>
                      <a:r>
                        <a:rPr lang="it-IT" sz="1200" u="none" strike="noStrike" dirty="0">
                          <a:effectLst/>
                        </a:rPr>
                        <a:t> n. 165/2001</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a:effectLst/>
                        </a:rPr>
                        <a:t>esclusivamente le amministrazioni statali</a:t>
                      </a:r>
                      <a:endParaRPr lang="it-IT" sz="1200" b="0" i="0" u="none" strike="noStrike">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323257024"/>
                  </a:ext>
                </a:extLst>
              </a:tr>
              <a:tr h="611640">
                <a:tc>
                  <a:txBody>
                    <a:bodyPr/>
                    <a:lstStyle/>
                    <a:p>
                      <a:pPr algn="l" fontAlgn="ctr">
                        <a:buNone/>
                      </a:pPr>
                      <a:r>
                        <a:rPr lang="it-IT" sz="1200" b="1" u="none" strike="noStrike" dirty="0">
                          <a:effectLst/>
                        </a:rPr>
                        <a:t>Decorrenza</a:t>
                      </a:r>
                      <a:endParaRPr lang="it-IT" sz="1200" b="1"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rPr>
                        <a:t>applicazione a regime</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tc>
                  <a:txBody>
                    <a:bodyPr/>
                    <a:lstStyle/>
                    <a:p>
                      <a:pPr algn="l" fontAlgn="ctr">
                        <a:buNone/>
                      </a:pPr>
                      <a:r>
                        <a:rPr lang="it-IT" sz="1200" u="none" strike="noStrike" dirty="0">
                          <a:effectLst/>
                        </a:rPr>
                        <a:t>dichiarazioni dei redditi successive al periodo d'imposta in corso al 31 dicembre 2022</a:t>
                      </a:r>
                      <a:endParaRPr lang="it-IT" sz="1200" b="0" i="0" u="none" strike="noStrike" dirty="0">
                        <a:solidFill>
                          <a:srgbClr val="333333"/>
                        </a:solidFill>
                        <a:effectLst/>
                        <a:latin typeface="Segoe UI" panose="020B0502040204020203" pitchFamily="34" charset="0"/>
                        <a:cs typeface="Segoe UI" panose="020B0502040204020203" pitchFamily="34" charset="0"/>
                      </a:endParaRPr>
                    </a:p>
                  </a:txBody>
                  <a:tcPr marL="9525" marR="9525" marT="9525" marB="0" anchor="ctr"/>
                </a:tc>
                <a:extLst>
                  <a:ext uri="{0D108BD9-81ED-4DB2-BD59-A6C34878D82A}">
                    <a16:rowId xmlns:a16="http://schemas.microsoft.com/office/drawing/2014/main" val="172625216"/>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Figura a mano libera: forma 151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17" name="Figura a mano libera: forma 151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18" name="Figura a mano libera: forma 151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19" name="Figura a mano libera: forma 151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20" name="Figura a mano libera: forma 1519"/>
          <p:cNvSpPr/>
          <p:nvPr/>
        </p:nvSpPr>
        <p:spPr>
          <a:xfrm>
            <a:off x="971280" y="1618920"/>
            <a:ext cx="10554120" cy="19800"/>
          </a:xfrm>
          <a:custGeom>
            <a:avLst/>
            <a:gdLst/>
            <a:ahLst/>
            <a:cxnLst/>
            <a:rect l="0" t="0" r="r" b="b"/>
            <a:pathLst>
              <a:path w="29317" h="55">
                <a:moveTo>
                  <a:pt x="0" y="0"/>
                </a:moveTo>
                <a:lnTo>
                  <a:pt x="29317" y="0"/>
                </a:lnTo>
                <a:lnTo>
                  <a:pt x="29317" y="55"/>
                </a:lnTo>
                <a:lnTo>
                  <a:pt x="0" y="55"/>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21" name="Figura a mano libera: forma 1520"/>
          <p:cNvSpPr/>
          <p:nvPr/>
        </p:nvSpPr>
        <p:spPr>
          <a:xfrm>
            <a:off x="975960" y="5624280"/>
            <a:ext cx="10544760" cy="943560"/>
          </a:xfrm>
          <a:custGeom>
            <a:avLst/>
            <a:gdLst/>
            <a:ahLst/>
            <a:cxnLst/>
            <a:rect l="0" t="0" r="r" b="b"/>
            <a:pathLst>
              <a:path w="29291" h="2621">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1"/>
                  <a:pt x="29198" y="2621"/>
                </a:cubicBezTo>
                <a:lnTo>
                  <a:pt x="93" y="2621"/>
                </a:lnTo>
                <a:cubicBezTo>
                  <a:pt x="81" y="2621"/>
                  <a:pt x="69" y="2618"/>
                  <a:pt x="58" y="2613"/>
                </a:cubicBezTo>
                <a:cubicBezTo>
                  <a:pt x="46" y="2609"/>
                  <a:pt x="36" y="2602"/>
                  <a:pt x="28" y="2593"/>
                </a:cubicBezTo>
                <a:cubicBezTo>
                  <a:pt x="19" y="2585"/>
                  <a:pt x="12" y="2575"/>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22" name="Figura a mano libera: forma 1521"/>
          <p:cNvSpPr/>
          <p:nvPr/>
        </p:nvSpPr>
        <p:spPr>
          <a:xfrm>
            <a:off x="975960" y="5624280"/>
            <a:ext cx="10544760" cy="943560"/>
          </a:xfrm>
          <a:custGeom>
            <a:avLst/>
            <a:gdLst/>
            <a:ahLst/>
            <a:cxnLst/>
            <a:rect l="0" t="0" r="r" b="b"/>
            <a:pathLst>
              <a:path w="29291" h="2621">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1"/>
                  <a:pt x="29198" y="2621"/>
                </a:cubicBezTo>
                <a:lnTo>
                  <a:pt x="93" y="2621"/>
                </a:lnTo>
                <a:cubicBezTo>
                  <a:pt x="81" y="2621"/>
                  <a:pt x="69" y="2618"/>
                  <a:pt x="58" y="2613"/>
                </a:cubicBezTo>
                <a:cubicBezTo>
                  <a:pt x="46" y="2609"/>
                  <a:pt x="36" y="2602"/>
                  <a:pt x="28" y="2593"/>
                </a:cubicBezTo>
                <a:cubicBezTo>
                  <a:pt x="19" y="2585"/>
                  <a:pt x="12" y="2575"/>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523" name="CasellaDiTesto 1522"/>
          <p:cNvSpPr txBox="1"/>
          <p:nvPr/>
        </p:nvSpPr>
        <p:spPr>
          <a:xfrm>
            <a:off x="971640" y="552600"/>
            <a:ext cx="86644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COMPENSAZIONE NELLA FASE DI RISCOSSIONE</a:t>
            </a:r>
            <a:endParaRPr lang="it-IT" sz="2850" b="0" u="none" strike="noStrike">
              <a:solidFill>
                <a:srgbClr val="000000"/>
              </a:solidFill>
              <a:effectLst/>
              <a:uFillTx/>
              <a:latin typeface="Times New Roman"/>
            </a:endParaRPr>
          </a:p>
        </p:txBody>
      </p:sp>
      <p:sp>
        <p:nvSpPr>
          <p:cNvPr id="1524" name="CasellaDiTesto 1523"/>
          <p:cNvSpPr txBox="1"/>
          <p:nvPr/>
        </p:nvSpPr>
        <p:spPr>
          <a:xfrm>
            <a:off x="971640" y="1009800"/>
            <a:ext cx="37656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MEDIANTE RUOLO (1)</a:t>
            </a:r>
            <a:endParaRPr lang="it-IT" sz="2850" b="0" u="none" strike="noStrike">
              <a:solidFill>
                <a:srgbClr val="000000"/>
              </a:solidFill>
              <a:effectLst/>
              <a:uFillTx/>
              <a:latin typeface="Times New Roman"/>
            </a:endParaRPr>
          </a:p>
        </p:txBody>
      </p:sp>
      <p:sp>
        <p:nvSpPr>
          <p:cNvPr id="1525" name="CasellaDiTesto 1524"/>
          <p:cNvSpPr txBox="1"/>
          <p:nvPr/>
        </p:nvSpPr>
        <p:spPr>
          <a:xfrm>
            <a:off x="971640" y="1725120"/>
            <a:ext cx="757728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Art. 108 — Compensazione volontaria proposta dall'Agente della Riscossione</a:t>
            </a:r>
            <a:endParaRPr lang="it-IT" sz="1800" b="0" u="none" strike="noStrike">
              <a:solidFill>
                <a:srgbClr val="000000"/>
              </a:solidFill>
              <a:effectLst/>
              <a:uFillTx/>
              <a:latin typeface="Times New Roman"/>
            </a:endParaRPr>
          </a:p>
        </p:txBody>
      </p:sp>
      <p:sp>
        <p:nvSpPr>
          <p:cNvPr id="1526" name="CasellaDiTesto 1525"/>
          <p:cNvSpPr txBox="1"/>
          <p:nvPr/>
        </p:nvSpPr>
        <p:spPr>
          <a:xfrm>
            <a:off x="971640" y="2440800"/>
            <a:ext cx="96512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Costituisce ipotesi di compensazione </a:t>
            </a:r>
            <a:r>
              <a:rPr lang="it-IT" sz="1650" b="1" u="none" strike="noStrike">
                <a:solidFill>
                  <a:srgbClr val="00509E"/>
                </a:solidFill>
                <a:effectLst/>
                <a:uFillTx/>
                <a:latin typeface="SegoeUI"/>
                <a:ea typeface="SegoeUI"/>
              </a:rPr>
              <a:t>eterodiretta</a:t>
            </a:r>
            <a:r>
              <a:rPr lang="it-IT" sz="1650" b="0" u="none" strike="noStrike">
                <a:solidFill>
                  <a:srgbClr val="212529"/>
                </a:solidFill>
                <a:effectLst/>
                <a:uFillTx/>
                <a:latin typeface="SegoeUI"/>
                <a:ea typeface="SegoeUI"/>
              </a:rPr>
              <a:t>, attivata d'ufficio in sede di erogazione di un rimborso</a:t>
            </a:r>
            <a:endParaRPr lang="it-IT" sz="1650" b="0" u="none" strike="noStrike">
              <a:solidFill>
                <a:srgbClr val="000000"/>
              </a:solidFill>
              <a:effectLst/>
              <a:uFillTx/>
              <a:latin typeface="Times New Roman"/>
            </a:endParaRPr>
          </a:p>
        </p:txBody>
      </p:sp>
      <p:sp>
        <p:nvSpPr>
          <p:cNvPr id="1527" name="Figura a mano libera: forma 1526"/>
          <p:cNvSpPr/>
          <p:nvPr/>
        </p:nvSpPr>
        <p:spPr>
          <a:xfrm>
            <a:off x="1028520" y="33526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28" name="CasellaDiTesto 1527"/>
          <p:cNvSpPr txBox="1"/>
          <p:nvPr/>
        </p:nvSpPr>
        <p:spPr>
          <a:xfrm>
            <a:off x="971640" y="2764800"/>
            <a:ext cx="29188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d'imposta superiore a 500 euro:</a:t>
            </a:r>
            <a:endParaRPr lang="it-IT" sz="1650" b="0" u="none" strike="noStrike">
              <a:solidFill>
                <a:srgbClr val="000000"/>
              </a:solidFill>
              <a:effectLst/>
              <a:uFillTx/>
              <a:latin typeface="Times New Roman"/>
            </a:endParaRPr>
          </a:p>
        </p:txBody>
      </p:sp>
      <p:sp>
        <p:nvSpPr>
          <p:cNvPr id="1529" name="CasellaDiTesto 1528"/>
          <p:cNvSpPr txBox="1"/>
          <p:nvPr/>
        </p:nvSpPr>
        <p:spPr>
          <a:xfrm>
            <a:off x="1238400" y="3241800"/>
            <a:ext cx="10193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t>
            </a:r>
            <a:r>
              <a:rPr lang="it-IT" sz="1580" b="1" u="none" strike="noStrike">
                <a:solidFill>
                  <a:srgbClr val="00509E"/>
                </a:solidFill>
                <a:effectLst/>
                <a:uFillTx/>
                <a:latin typeface="SegoeUI"/>
                <a:ea typeface="SegoeUI"/>
              </a:rPr>
              <a:t>Agenzia delle Entrate</a:t>
            </a:r>
            <a:r>
              <a:rPr lang="it-IT" sz="1580" b="0" u="none" strike="noStrike">
                <a:solidFill>
                  <a:srgbClr val="343A40"/>
                </a:solidFill>
                <a:effectLst/>
                <a:uFillTx/>
                <a:latin typeface="SegoeUI"/>
                <a:ea typeface="SegoeUI"/>
              </a:rPr>
              <a:t> verifica l'eventuale inadempimento del beneficiario del rimborso e segnala il caso all'agente</a:t>
            </a:r>
            <a:endParaRPr lang="it-IT" sz="1580" b="0" u="none" strike="noStrike">
              <a:solidFill>
                <a:srgbClr val="000000"/>
              </a:solidFill>
              <a:effectLst/>
              <a:uFillTx/>
              <a:latin typeface="Times New Roman"/>
            </a:endParaRPr>
          </a:p>
        </p:txBody>
      </p:sp>
      <p:sp>
        <p:nvSpPr>
          <p:cNvPr id="1530" name="Figura a mano libera: forma 1529"/>
          <p:cNvSpPr/>
          <p:nvPr/>
        </p:nvSpPr>
        <p:spPr>
          <a:xfrm>
            <a:off x="1028520" y="414324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0"/>
                  <a:pt x="159" y="198"/>
                  <a:pt x="146" y="204"/>
                </a:cubicBezTo>
                <a:cubicBezTo>
                  <a:pt x="133" y="210"/>
                  <a:pt x="120" y="213"/>
                  <a:pt x="106" y="213"/>
                </a:cubicBezTo>
                <a:cubicBezTo>
                  <a:pt x="92" y="213"/>
                  <a:pt x="78" y="210"/>
                  <a:pt x="65" y="204"/>
                </a:cubicBezTo>
                <a:cubicBezTo>
                  <a:pt x="52" y="198"/>
                  <a:pt x="41" y="190"/>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31" name="CasellaDiTesto 1530"/>
          <p:cNvSpPr txBox="1"/>
          <p:nvPr/>
        </p:nvSpPr>
        <p:spPr>
          <a:xfrm>
            <a:off x="1238400" y="3556080"/>
            <a:ext cx="46584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della riscossione, mettendo a disposizione le somme;</a:t>
            </a:r>
            <a:endParaRPr lang="it-IT" sz="1580" b="0" u="none" strike="noStrike">
              <a:solidFill>
                <a:srgbClr val="000000"/>
              </a:solidFill>
              <a:effectLst/>
              <a:uFillTx/>
              <a:latin typeface="Times New Roman"/>
            </a:endParaRPr>
          </a:p>
        </p:txBody>
      </p:sp>
      <p:sp>
        <p:nvSpPr>
          <p:cNvPr id="1532" name="CasellaDiTesto 1531"/>
          <p:cNvSpPr txBox="1"/>
          <p:nvPr/>
        </p:nvSpPr>
        <p:spPr>
          <a:xfrm>
            <a:off x="1238400" y="4032360"/>
            <a:ext cx="96764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t>
            </a:r>
            <a:r>
              <a:rPr lang="it-IT" sz="1580" b="1" u="none" strike="noStrike">
                <a:solidFill>
                  <a:srgbClr val="00509E"/>
                </a:solidFill>
                <a:effectLst/>
                <a:uFillTx/>
                <a:latin typeface="SegoeUI"/>
                <a:ea typeface="SegoeUI"/>
              </a:rPr>
              <a:t>agente della riscossione</a:t>
            </a:r>
            <a:r>
              <a:rPr lang="it-IT" sz="1580" b="0" u="none" strike="noStrike">
                <a:solidFill>
                  <a:srgbClr val="343A40"/>
                </a:solidFill>
                <a:effectLst/>
                <a:uFillTx/>
                <a:latin typeface="SegoeUI"/>
                <a:ea typeface="SegoeUI"/>
              </a:rPr>
              <a:t> notifica al contribuente una </a:t>
            </a:r>
            <a:r>
              <a:rPr lang="it-IT" sz="1580" b="1" u="none" strike="noStrike">
                <a:solidFill>
                  <a:srgbClr val="00509E"/>
                </a:solidFill>
                <a:effectLst/>
                <a:uFillTx/>
                <a:latin typeface="SegoeUI"/>
                <a:ea typeface="SegoeUI"/>
              </a:rPr>
              <a:t>proposta di compensazione</a:t>
            </a:r>
            <a:r>
              <a:rPr lang="it-IT" sz="1580" b="0" u="none" strike="noStrike">
                <a:solidFill>
                  <a:srgbClr val="343A40"/>
                </a:solidFill>
                <a:effectLst/>
                <a:uFillTx/>
                <a:latin typeface="SegoeUI"/>
                <a:ea typeface="SegoeUI"/>
              </a:rPr>
              <a:t>, sospendendo l'azione di</a:t>
            </a:r>
            <a:endParaRPr lang="it-IT" sz="1580" b="0" u="none" strike="noStrike">
              <a:solidFill>
                <a:srgbClr val="000000"/>
              </a:solidFill>
              <a:effectLst/>
              <a:uFillTx/>
              <a:latin typeface="Times New Roman"/>
            </a:endParaRPr>
          </a:p>
        </p:txBody>
      </p:sp>
      <p:sp>
        <p:nvSpPr>
          <p:cNvPr id="1533" name="Figura a mano libera: forma 1532"/>
          <p:cNvSpPr/>
          <p:nvPr/>
        </p:nvSpPr>
        <p:spPr>
          <a:xfrm>
            <a:off x="1028520" y="494316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34" name="CasellaDiTesto 1533"/>
          <p:cNvSpPr txBox="1"/>
          <p:nvPr/>
        </p:nvSpPr>
        <p:spPr>
          <a:xfrm>
            <a:off x="1238400" y="4346640"/>
            <a:ext cx="8312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recupero;</a:t>
            </a:r>
            <a:endParaRPr lang="it-IT" sz="1580" b="0" u="none" strike="noStrike">
              <a:solidFill>
                <a:srgbClr val="000000"/>
              </a:solidFill>
              <a:effectLst/>
              <a:uFillTx/>
              <a:latin typeface="Times New Roman"/>
            </a:endParaRPr>
          </a:p>
        </p:txBody>
      </p:sp>
      <p:sp>
        <p:nvSpPr>
          <p:cNvPr id="1535" name="CasellaDiTesto 1534"/>
          <p:cNvSpPr txBox="1"/>
          <p:nvPr/>
        </p:nvSpPr>
        <p:spPr>
          <a:xfrm>
            <a:off x="1238400" y="4832280"/>
            <a:ext cx="101602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il contribuente dispone di sessanta giorni per esprimere accettazione; in caso affermativo, l'agente riversa le somme</a:t>
            </a:r>
            <a:endParaRPr lang="it-IT" sz="1580" b="0" u="none" strike="noStrike">
              <a:solidFill>
                <a:srgbClr val="000000"/>
              </a:solidFill>
              <a:effectLst/>
              <a:uFillTx/>
              <a:latin typeface="Times New Roman"/>
            </a:endParaRPr>
          </a:p>
        </p:txBody>
      </p:sp>
      <p:sp>
        <p:nvSpPr>
          <p:cNvPr id="1536" name="CasellaDiTesto 1535"/>
          <p:cNvSpPr txBox="1"/>
          <p:nvPr/>
        </p:nvSpPr>
        <p:spPr>
          <a:xfrm>
            <a:off x="1238400" y="5137200"/>
            <a:ext cx="33840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entro i limiti del debito iscritto a ruolo.</a:t>
            </a:r>
            <a:endParaRPr lang="it-IT" sz="1580" b="0" u="none" strike="noStrike">
              <a:solidFill>
                <a:srgbClr val="000000"/>
              </a:solidFill>
              <a:effectLst/>
              <a:uFillTx/>
              <a:latin typeface="Times New Roman"/>
            </a:endParaRPr>
          </a:p>
        </p:txBody>
      </p:sp>
      <p:sp>
        <p:nvSpPr>
          <p:cNvPr id="1537" name="CasellaDiTesto 1536"/>
          <p:cNvSpPr txBox="1"/>
          <p:nvPr/>
        </p:nvSpPr>
        <p:spPr>
          <a:xfrm>
            <a:off x="1209600" y="5823720"/>
            <a:ext cx="9916560" cy="253440"/>
          </a:xfrm>
          <a:prstGeom prst="rect">
            <a:avLst/>
          </a:prstGeom>
          <a:noFill/>
          <a:ln w="0">
            <a:noFill/>
          </a:ln>
        </p:spPr>
        <p:txBody>
          <a:bodyPr wrap="none" lIns="0" tIns="0" rIns="0" bIns="0" anchor="t">
            <a:spAutoFit/>
          </a:bodyPr>
          <a:lstStyle/>
          <a:p>
            <a:r>
              <a:rPr lang="it-IT" sz="1500" b="0" i="1" u="none" strike="noStrike" dirty="0">
                <a:solidFill>
                  <a:srgbClr val="495057"/>
                </a:solidFill>
                <a:effectLst/>
                <a:uFillTx/>
                <a:latin typeface="SegoeUI"/>
                <a:ea typeface="SegoeUI"/>
              </a:rPr>
              <a:t>Ratio</a:t>
            </a:r>
            <a:r>
              <a:rPr lang="it-IT" sz="1500" b="0" u="none" strike="noStrike" dirty="0">
                <a:solidFill>
                  <a:srgbClr val="343A40"/>
                </a:solidFill>
                <a:effectLst/>
                <a:uFillTx/>
                <a:latin typeface="SegoeUI"/>
                <a:ea typeface="SegoeUI"/>
              </a:rPr>
              <a:t>: l'istituto opera prevalentemente </a:t>
            </a:r>
            <a:r>
              <a:rPr lang="it-IT" sz="1500" b="0" i="1" u="none" strike="noStrike" dirty="0">
                <a:solidFill>
                  <a:srgbClr val="495057"/>
                </a:solidFill>
                <a:effectLst/>
                <a:uFillTx/>
                <a:latin typeface="SegoeUI"/>
                <a:ea typeface="SegoeUI"/>
              </a:rPr>
              <a:t>in </a:t>
            </a:r>
            <a:r>
              <a:rPr lang="it-IT" sz="1500" b="0" i="1" u="none" strike="noStrike" dirty="0" err="1">
                <a:solidFill>
                  <a:srgbClr val="495057"/>
                </a:solidFill>
                <a:effectLst/>
                <a:uFillTx/>
                <a:latin typeface="SegoeUI"/>
                <a:ea typeface="SegoeUI"/>
              </a:rPr>
              <a:t>favorem</a:t>
            </a:r>
            <a:r>
              <a:rPr lang="it-IT" sz="1500" b="0" u="none" strike="noStrike" dirty="0">
                <a:solidFill>
                  <a:srgbClr val="343A40"/>
                </a:solidFill>
                <a:effectLst/>
                <a:uFillTx/>
                <a:latin typeface="SegoeUI"/>
                <a:ea typeface="SegoeUI"/>
              </a:rPr>
              <a:t> dell'Erario, surrogando la fase coattiva con un meccanismo </a:t>
            </a:r>
            <a:r>
              <a:rPr lang="it-IT" sz="1500" b="0" u="none" strike="noStrike" dirty="0" err="1">
                <a:solidFill>
                  <a:srgbClr val="343A40"/>
                </a:solidFill>
                <a:effectLst/>
                <a:uFillTx/>
                <a:latin typeface="SegoeUI"/>
                <a:ea typeface="SegoeUI"/>
              </a:rPr>
              <a:t>solutorio</a:t>
            </a:r>
            <a:endParaRPr lang="it-IT" sz="1500" b="0" u="none" strike="noStrike" dirty="0">
              <a:solidFill>
                <a:srgbClr val="000000"/>
              </a:solidFill>
              <a:effectLst/>
              <a:uFillTx/>
              <a:latin typeface="Times New Roman"/>
            </a:endParaRPr>
          </a:p>
        </p:txBody>
      </p:sp>
      <p:sp>
        <p:nvSpPr>
          <p:cNvPr id="1538" name="Figura a mano libera: forma 153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39" name="CasellaDiTesto 1538"/>
          <p:cNvSpPr txBox="1"/>
          <p:nvPr/>
        </p:nvSpPr>
        <p:spPr>
          <a:xfrm>
            <a:off x="1209600" y="6118920"/>
            <a:ext cx="130140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"amministrato".</a:t>
            </a:r>
            <a:endParaRPr lang="it-IT" sz="1500" b="0" u="none" strike="noStrike">
              <a:solidFill>
                <a:srgbClr val="000000"/>
              </a:solidFill>
              <a:effectLst/>
              <a:uFillTx/>
              <a:latin typeface="Times New Roman"/>
            </a:endParaRPr>
          </a:p>
        </p:txBody>
      </p:sp>
      <p:sp>
        <p:nvSpPr>
          <p:cNvPr id="1540" name="Figura a mano libera: forma 153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41" name="CasellaDiTesto 154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542" name="CasellaDiTesto 154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50 / 73</a:t>
            </a:r>
            <a:endParaRPr lang="it-IT" sz="980" b="0" u="none" strike="noStrike">
              <a:solidFill>
                <a:srgbClr val="000000"/>
              </a:solidFill>
              <a:effectLst/>
              <a:uFillTx/>
              <a:latin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 name="Figura a mano libera: forma 154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44" name="Figura a mano libera: forma 154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45" name="Figura a mano libera: forma 154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46" name="Figura a mano libera: forma 154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47" name="Figura a mano libera: forma 1546"/>
          <p:cNvSpPr/>
          <p:nvPr/>
        </p:nvSpPr>
        <p:spPr>
          <a:xfrm>
            <a:off x="971280" y="187632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48" name="CasellaDiTesto 1547"/>
          <p:cNvSpPr txBox="1"/>
          <p:nvPr/>
        </p:nvSpPr>
        <p:spPr>
          <a:xfrm>
            <a:off x="971640" y="809640"/>
            <a:ext cx="86644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COMPENSAZIONE NELLA FASE DI RISCOSSIONE</a:t>
            </a:r>
            <a:endParaRPr lang="it-IT" sz="2850" b="0" u="none" strike="noStrike">
              <a:solidFill>
                <a:srgbClr val="000000"/>
              </a:solidFill>
              <a:effectLst/>
              <a:uFillTx/>
              <a:latin typeface="Times New Roman"/>
            </a:endParaRPr>
          </a:p>
        </p:txBody>
      </p:sp>
      <p:sp>
        <p:nvSpPr>
          <p:cNvPr id="1549" name="CasellaDiTesto 1548"/>
          <p:cNvSpPr txBox="1"/>
          <p:nvPr/>
        </p:nvSpPr>
        <p:spPr>
          <a:xfrm>
            <a:off x="971640" y="1257120"/>
            <a:ext cx="37656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MEDIANTE RUOLO (2)</a:t>
            </a:r>
            <a:endParaRPr lang="it-IT" sz="2850" b="0" u="none" strike="noStrike">
              <a:solidFill>
                <a:srgbClr val="000000"/>
              </a:solidFill>
              <a:effectLst/>
              <a:uFillTx/>
              <a:latin typeface="Times New Roman"/>
            </a:endParaRPr>
          </a:p>
        </p:txBody>
      </p:sp>
      <p:sp>
        <p:nvSpPr>
          <p:cNvPr id="1550" name="CasellaDiTesto 1549"/>
          <p:cNvSpPr txBox="1"/>
          <p:nvPr/>
        </p:nvSpPr>
        <p:spPr>
          <a:xfrm>
            <a:off x="971640" y="1982160"/>
            <a:ext cx="901692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Art. 109 — Compensazione di crediti commerciali con somme iscritte a ruolo (ex 28-quater)</a:t>
            </a:r>
            <a:endParaRPr lang="it-IT" sz="1800" b="0" u="none" strike="noStrike">
              <a:solidFill>
                <a:srgbClr val="000000"/>
              </a:solidFill>
              <a:effectLst/>
              <a:uFillTx/>
              <a:latin typeface="Times New Roman"/>
            </a:endParaRPr>
          </a:p>
        </p:txBody>
      </p:sp>
      <p:sp>
        <p:nvSpPr>
          <p:cNvPr id="1551" name="Figura a mano libera: forma 1550"/>
          <p:cNvSpPr/>
          <p:nvPr/>
        </p:nvSpPr>
        <p:spPr>
          <a:xfrm>
            <a:off x="1028520" y="3286080"/>
            <a:ext cx="76680" cy="76320"/>
          </a:xfrm>
          <a:custGeom>
            <a:avLst/>
            <a:gdLst/>
            <a:ahLst/>
            <a:cxnLst/>
            <a:rect l="0" t="0" r="r" b="b"/>
            <a:pathLst>
              <a:path w="213" h="212">
                <a:moveTo>
                  <a:pt x="213" y="106"/>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52" name="CasellaDiTesto 1551"/>
          <p:cNvSpPr txBox="1"/>
          <p:nvPr/>
        </p:nvSpPr>
        <p:spPr>
          <a:xfrm>
            <a:off x="971640" y="2698200"/>
            <a:ext cx="33580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Disposizione di chiusura del sistema:</a:t>
            </a:r>
            <a:endParaRPr lang="it-IT" sz="1650" b="0" u="none" strike="noStrike">
              <a:solidFill>
                <a:srgbClr val="000000"/>
              </a:solidFill>
              <a:effectLst/>
              <a:uFillTx/>
              <a:latin typeface="Times New Roman"/>
            </a:endParaRPr>
          </a:p>
        </p:txBody>
      </p:sp>
      <p:sp>
        <p:nvSpPr>
          <p:cNvPr id="1553" name="CasellaDiTesto 1552"/>
          <p:cNvSpPr txBox="1"/>
          <p:nvPr/>
        </p:nvSpPr>
        <p:spPr>
          <a:xfrm>
            <a:off x="1238400" y="3175200"/>
            <a:ext cx="97340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Oggetto</a:t>
            </a:r>
            <a:r>
              <a:rPr lang="it-IT" sz="1580" b="0" u="none" strike="noStrike">
                <a:solidFill>
                  <a:srgbClr val="343A40"/>
                </a:solidFill>
                <a:effectLst/>
                <a:uFillTx/>
                <a:latin typeface="SegoeUI"/>
                <a:ea typeface="SegoeUI"/>
              </a:rPr>
              <a:t>: crediti commerciali/professionali (somministrazioni, forniture, prestazioni professionali, appalti), certi,</a:t>
            </a:r>
            <a:endParaRPr lang="it-IT" sz="1580" b="0" u="none" strike="noStrike">
              <a:solidFill>
                <a:srgbClr val="000000"/>
              </a:solidFill>
              <a:effectLst/>
              <a:uFillTx/>
              <a:latin typeface="Times New Roman"/>
            </a:endParaRPr>
          </a:p>
        </p:txBody>
      </p:sp>
      <p:sp>
        <p:nvSpPr>
          <p:cNvPr id="1554" name="Figura a mano libera: forma 1553"/>
          <p:cNvSpPr/>
          <p:nvPr/>
        </p:nvSpPr>
        <p:spPr>
          <a:xfrm>
            <a:off x="1028520" y="4076640"/>
            <a:ext cx="76680" cy="76320"/>
          </a:xfrm>
          <a:custGeom>
            <a:avLst/>
            <a:gdLst/>
            <a:ahLst/>
            <a:cxnLst/>
            <a:rect l="0" t="0" r="r" b="b"/>
            <a:pathLst>
              <a:path w="213" h="212">
                <a:moveTo>
                  <a:pt x="213" y="105"/>
                </a:moveTo>
                <a:cubicBezTo>
                  <a:pt x="213" y="120"/>
                  <a:pt x="210" y="133"/>
                  <a:pt x="205" y="146"/>
                </a:cubicBezTo>
                <a:cubicBezTo>
                  <a:pt x="198" y="159"/>
                  <a:pt x="191" y="170"/>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0"/>
                  <a:pt x="13" y="159"/>
                  <a:pt x="8" y="146"/>
                </a:cubicBezTo>
                <a:cubicBezTo>
                  <a:pt x="3" y="133"/>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55" name="CasellaDiTesto 1554"/>
          <p:cNvSpPr txBox="1"/>
          <p:nvPr/>
        </p:nvSpPr>
        <p:spPr>
          <a:xfrm>
            <a:off x="1238400" y="3489480"/>
            <a:ext cx="3515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liquidi, esigibili, non prescritti, certificati.</a:t>
            </a:r>
            <a:endParaRPr lang="it-IT" sz="1580" b="0" u="none" strike="noStrike">
              <a:solidFill>
                <a:srgbClr val="000000"/>
              </a:solidFill>
              <a:effectLst/>
              <a:uFillTx/>
              <a:latin typeface="Times New Roman"/>
            </a:endParaRPr>
          </a:p>
        </p:txBody>
      </p:sp>
      <p:sp>
        <p:nvSpPr>
          <p:cNvPr id="1556" name="CasellaDiTesto 1555"/>
          <p:cNvSpPr txBox="1"/>
          <p:nvPr/>
        </p:nvSpPr>
        <p:spPr>
          <a:xfrm>
            <a:off x="1238400" y="3965760"/>
            <a:ext cx="101977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Debiti compensabili</a:t>
            </a:r>
            <a:r>
              <a:rPr lang="it-IT" sz="1580" b="0" u="none" strike="noStrike">
                <a:solidFill>
                  <a:srgbClr val="343A40"/>
                </a:solidFill>
                <a:effectLst/>
                <a:uFillTx/>
                <a:latin typeface="SegoeUI"/>
                <a:ea typeface="SegoeUI"/>
              </a:rPr>
              <a:t>: tutte le somme iscritte a ruolo — anche extra-tributarie — affidate all'agente della riscossione</a:t>
            </a:r>
            <a:endParaRPr lang="it-IT" sz="1580" b="0" u="none" strike="noStrike">
              <a:solidFill>
                <a:srgbClr val="000000"/>
              </a:solidFill>
              <a:effectLst/>
              <a:uFillTx/>
              <a:latin typeface="Times New Roman"/>
            </a:endParaRPr>
          </a:p>
        </p:txBody>
      </p:sp>
      <p:sp>
        <p:nvSpPr>
          <p:cNvPr id="1557" name="CasellaDiTesto 1556"/>
          <p:cNvSpPr txBox="1"/>
          <p:nvPr/>
        </p:nvSpPr>
        <p:spPr>
          <a:xfrm>
            <a:off x="1238400" y="4280040"/>
            <a:ext cx="1013076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successivamente al 30 settembre 2013</a:t>
            </a:r>
            <a:r>
              <a:rPr lang="it-IT" sz="1580" b="0" u="none" strike="noStrike">
                <a:solidFill>
                  <a:srgbClr val="343A40"/>
                </a:solidFill>
                <a:effectLst/>
                <a:uFillTx/>
                <a:latin typeface="SegoeUI"/>
                <a:ea typeface="SegoeUI"/>
              </a:rPr>
              <a:t> e </a:t>
            </a:r>
            <a:r>
              <a:rPr lang="it-IT" sz="1580" b="0" i="1" u="none" strike="noStrike">
                <a:solidFill>
                  <a:srgbClr val="495057"/>
                </a:solidFill>
                <a:effectLst/>
                <a:uFillTx/>
                <a:latin typeface="SegoeUI"/>
                <a:ea typeface="SegoeUI"/>
              </a:rPr>
              <a:t>entro il 31 dicembre del secondo anno antecedente</a:t>
            </a:r>
            <a:r>
              <a:rPr lang="it-IT" sz="1580" b="0" u="none" strike="noStrike">
                <a:solidFill>
                  <a:srgbClr val="343A40"/>
                </a:solidFill>
                <a:effectLst/>
                <a:uFillTx/>
                <a:latin typeface="SegoeUI"/>
                <a:ea typeface="SegoeUI"/>
              </a:rPr>
              <a:t> a quello della richiesta di</a:t>
            </a:r>
            <a:endParaRPr lang="it-IT" sz="1580" b="0" u="none" strike="noStrike">
              <a:solidFill>
                <a:srgbClr val="000000"/>
              </a:solidFill>
              <a:effectLst/>
              <a:uFillTx/>
              <a:latin typeface="Times New Roman"/>
            </a:endParaRPr>
          </a:p>
        </p:txBody>
      </p:sp>
      <p:sp>
        <p:nvSpPr>
          <p:cNvPr id="1558" name="Figura a mano libera: forma 1557"/>
          <p:cNvSpPr/>
          <p:nvPr/>
        </p:nvSpPr>
        <p:spPr>
          <a:xfrm>
            <a:off x="1028520" y="51814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6"/>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59" name="CasellaDiTesto 1558"/>
          <p:cNvSpPr txBox="1"/>
          <p:nvPr/>
        </p:nvSpPr>
        <p:spPr>
          <a:xfrm>
            <a:off x="1238400" y="4584600"/>
            <a:ext cx="14191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compensazione.</a:t>
            </a:r>
            <a:endParaRPr lang="it-IT" sz="1580" b="0" u="none" strike="noStrike">
              <a:solidFill>
                <a:srgbClr val="000000"/>
              </a:solidFill>
              <a:effectLst/>
              <a:uFillTx/>
              <a:latin typeface="Times New Roman"/>
            </a:endParaRPr>
          </a:p>
        </p:txBody>
      </p:sp>
      <p:sp>
        <p:nvSpPr>
          <p:cNvPr id="1560" name="CasellaDiTesto 1559"/>
          <p:cNvSpPr txBox="1"/>
          <p:nvPr/>
        </p:nvSpPr>
        <p:spPr>
          <a:xfrm>
            <a:off x="1238400" y="5070600"/>
            <a:ext cx="1022184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Procedura</a:t>
            </a:r>
            <a:r>
              <a:rPr lang="it-IT" sz="1580" b="0" u="none" strike="noStrike">
                <a:solidFill>
                  <a:srgbClr val="343A40"/>
                </a:solidFill>
                <a:effectLst/>
                <a:uFillTx/>
                <a:latin typeface="SegoeUI"/>
                <a:ea typeface="SegoeUI"/>
              </a:rPr>
              <a:t>: certificazione </a:t>
            </a:r>
            <a:r>
              <a:rPr lang="it-IT" sz="1580" b="0" i="1" u="none" strike="noStrike">
                <a:solidFill>
                  <a:srgbClr val="495057"/>
                </a:solidFill>
                <a:effectLst/>
                <a:uFillTx/>
                <a:latin typeface="SegoeUI"/>
                <a:ea typeface="SegoeUI"/>
              </a:rPr>
              <a:t>ex</a:t>
            </a:r>
            <a:r>
              <a:rPr lang="it-IT" sz="1580" b="0" u="none" strike="noStrike">
                <a:solidFill>
                  <a:srgbClr val="343A40"/>
                </a:solidFill>
                <a:effectLst/>
                <a:uFillTx/>
                <a:latin typeface="SegoeUI"/>
                <a:ea typeface="SegoeUI"/>
              </a:rPr>
              <a:t> art. 9, c. 3-</a:t>
            </a:r>
            <a:r>
              <a:rPr lang="it-IT" sz="1580" b="0" i="1" u="none" strike="noStrike">
                <a:solidFill>
                  <a:srgbClr val="495057"/>
                </a:solidFill>
                <a:effectLst/>
                <a:uFillTx/>
                <a:latin typeface="SegoeUI"/>
                <a:ea typeface="SegoeUI"/>
              </a:rPr>
              <a:t>bis</a:t>
            </a:r>
            <a:r>
              <a:rPr lang="it-IT" sz="1580" b="0" u="none" strike="noStrike">
                <a:solidFill>
                  <a:srgbClr val="343A40"/>
                </a:solidFill>
                <a:effectLst/>
                <a:uFillTx/>
                <a:latin typeface="SegoeUI"/>
                <a:ea typeface="SegoeUI"/>
              </a:rPr>
              <a:t>, D.L. n. 185/2008; </a:t>
            </a:r>
            <a:r>
              <a:rPr lang="it-IT" sz="1580" b="0" i="1" u="none" strike="noStrike">
                <a:solidFill>
                  <a:srgbClr val="495057"/>
                </a:solidFill>
                <a:effectLst/>
                <a:uFillTx/>
                <a:latin typeface="SegoeUI"/>
                <a:ea typeface="SegoeUI"/>
              </a:rPr>
              <a:t>commissario ad acta</a:t>
            </a:r>
            <a:r>
              <a:rPr lang="it-IT" sz="1580" b="0" u="none" strike="noStrike">
                <a:solidFill>
                  <a:srgbClr val="343A40"/>
                </a:solidFill>
                <a:effectLst/>
                <a:uFillTx/>
                <a:latin typeface="SegoeUI"/>
                <a:ea typeface="SegoeUI"/>
              </a:rPr>
              <a:t> (Ufficio centrale di bilancio del MEF</a:t>
            </a:r>
            <a:endParaRPr lang="it-IT" sz="1580" b="0" u="none" strike="noStrike">
              <a:solidFill>
                <a:srgbClr val="000000"/>
              </a:solidFill>
              <a:effectLst/>
              <a:uFillTx/>
              <a:latin typeface="Times New Roman"/>
            </a:endParaRPr>
          </a:p>
        </p:txBody>
      </p:sp>
      <p:sp>
        <p:nvSpPr>
          <p:cNvPr id="1561" name="Figura a mano libera: forma 156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62" name="CasellaDiTesto 1561"/>
          <p:cNvSpPr txBox="1"/>
          <p:nvPr/>
        </p:nvSpPr>
        <p:spPr>
          <a:xfrm>
            <a:off x="1238400" y="5384880"/>
            <a:ext cx="8371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o Ragioneria territoriale, </a:t>
            </a:r>
            <a:r>
              <a:rPr lang="it-IT" sz="1580" b="0" i="1" u="none" strike="noStrike">
                <a:solidFill>
                  <a:srgbClr val="495057"/>
                </a:solidFill>
                <a:effectLst/>
                <a:uFillTx/>
                <a:latin typeface="SegoeUI"/>
                <a:ea typeface="SegoeUI"/>
              </a:rPr>
              <a:t>a spese</a:t>
            </a:r>
            <a:r>
              <a:rPr lang="it-IT" sz="1580" b="0" u="none" strike="noStrike">
                <a:solidFill>
                  <a:srgbClr val="343A40"/>
                </a:solidFill>
                <a:effectLst/>
                <a:uFillTx/>
                <a:latin typeface="SegoeUI"/>
                <a:ea typeface="SegoeUI"/>
              </a:rPr>
              <a:t> della P.A. inerte) in caso di mancato rilascio entro trenta giorni.</a:t>
            </a:r>
            <a:endParaRPr lang="it-IT" sz="1580" b="0" u="none" strike="noStrike">
              <a:solidFill>
                <a:srgbClr val="000000"/>
              </a:solidFill>
              <a:effectLst/>
              <a:uFillTx/>
              <a:latin typeface="Times New Roman"/>
            </a:endParaRPr>
          </a:p>
        </p:txBody>
      </p:sp>
      <p:sp>
        <p:nvSpPr>
          <p:cNvPr id="1563" name="Figura a mano libera: forma 156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64" name="CasellaDiTesto 156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565" name="CasellaDiTesto 156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51 / 73</a:t>
            </a:r>
            <a:endParaRPr lang="it-IT" sz="980" b="0" u="none" strike="noStrike">
              <a:solidFill>
                <a:srgbClr val="000000"/>
              </a:solidFill>
              <a:effectLst/>
              <a:uFillTx/>
              <a:latin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 name="Figura a mano libera: forma 156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67" name="Figura a mano libera: forma 156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68" name="Figura a mano libera: forma 156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69" name="Figura a mano libera: forma 156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70" name="Figura a mano libera: forma 1569"/>
          <p:cNvSpPr/>
          <p:nvPr/>
        </p:nvSpPr>
        <p:spPr>
          <a:xfrm>
            <a:off x="971280" y="22096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71" name="CasellaDiTesto 1570"/>
          <p:cNvSpPr txBox="1"/>
          <p:nvPr/>
        </p:nvSpPr>
        <p:spPr>
          <a:xfrm>
            <a:off x="971640" y="1600200"/>
            <a:ext cx="91699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FERMO AMMINISTRATIVO: ART. 69 R.D. 2440/1923</a:t>
            </a:r>
            <a:endParaRPr lang="it-IT" sz="2850" b="0" u="none" strike="noStrike">
              <a:solidFill>
                <a:srgbClr val="000000"/>
              </a:solidFill>
              <a:effectLst/>
              <a:uFillTx/>
              <a:latin typeface="Times New Roman"/>
            </a:endParaRPr>
          </a:p>
        </p:txBody>
      </p:sp>
      <p:sp>
        <p:nvSpPr>
          <p:cNvPr id="1572" name="CasellaDiTesto 1571"/>
          <p:cNvSpPr txBox="1"/>
          <p:nvPr/>
        </p:nvSpPr>
        <p:spPr>
          <a:xfrm>
            <a:off x="971640" y="2345760"/>
            <a:ext cx="10018255"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rPr>
              <a:t>Nozione</a:t>
            </a:r>
            <a:r>
              <a:rPr lang="it-IT" sz="1650" b="0" u="none" strike="noStrike" dirty="0">
                <a:solidFill>
                  <a:srgbClr val="212529"/>
                </a:solidFill>
                <a:effectLst/>
                <a:uFillTx/>
                <a:latin typeface="SegoeUI"/>
                <a:ea typeface="SegoeUI"/>
              </a:rPr>
              <a:t>: provvedimento di autotutela cautelare (</a:t>
            </a:r>
            <a:r>
              <a:rPr lang="it-IT" sz="1650" b="0" u="none" strike="noStrike" dirty="0">
                <a:solidFill>
                  <a:srgbClr val="0969DA"/>
                </a:solidFill>
                <a:effectLst/>
                <a:uFillTx/>
                <a:latin typeface="SegoeUI"/>
                <a:ea typeface="SegoeUI"/>
                <a:hlinkClick r:id="rId2"/>
              </a:rPr>
              <a:t>Corte cost. 67/1972</a:t>
            </a:r>
            <a:r>
              <a:rPr lang="it-IT" sz="1650" b="0" u="none" strike="noStrike" dirty="0">
                <a:solidFill>
                  <a:srgbClr val="212529"/>
                </a:solidFill>
                <a:effectLst/>
                <a:uFillTx/>
                <a:latin typeface="SegoeUI"/>
                <a:ea typeface="SegoeUI"/>
              </a:rPr>
              <a:t>) con cui l'Amministrazione </a:t>
            </a:r>
            <a:r>
              <a:rPr lang="it-IT" sz="1650" b="0" i="1" u="none" strike="noStrike" dirty="0">
                <a:solidFill>
                  <a:srgbClr val="495057"/>
                </a:solidFill>
                <a:effectLst/>
                <a:uFillTx/>
                <a:latin typeface="SegoeUI"/>
                <a:ea typeface="SegoeUI"/>
              </a:rPr>
              <a:t>sospende il</a:t>
            </a:r>
            <a:endParaRPr lang="it-IT" sz="1650" b="0" u="none" strike="noStrike" dirty="0">
              <a:solidFill>
                <a:srgbClr val="000000"/>
              </a:solidFill>
              <a:effectLst/>
              <a:uFillTx/>
              <a:latin typeface="Times New Roman"/>
            </a:endParaRPr>
          </a:p>
        </p:txBody>
      </p:sp>
      <p:sp>
        <p:nvSpPr>
          <p:cNvPr id="1573" name="CasellaDiTesto 1572"/>
          <p:cNvSpPr txBox="1"/>
          <p:nvPr/>
        </p:nvSpPr>
        <p:spPr>
          <a:xfrm>
            <a:off x="971640" y="2669400"/>
            <a:ext cx="761184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pagamento</a:t>
            </a:r>
            <a:r>
              <a:rPr lang="it-IT" sz="1650" b="0" u="none" strike="noStrike">
                <a:solidFill>
                  <a:srgbClr val="212529"/>
                </a:solidFill>
                <a:effectLst/>
                <a:uFillTx/>
                <a:latin typeface="SegoeUI"/>
                <a:ea typeface="SegoeUI"/>
              </a:rPr>
              <a:t> di un credito del privato in presenza di una propria </a:t>
            </a:r>
            <a:r>
              <a:rPr lang="it-IT" sz="1650" b="1" u="none" strike="noStrike">
                <a:solidFill>
                  <a:srgbClr val="00509E"/>
                </a:solidFill>
                <a:effectLst/>
                <a:uFillTx/>
                <a:latin typeface="SegoeUI"/>
                <a:ea typeface="SegoeUI"/>
              </a:rPr>
              <a:t>ragione di credito</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574" name="Figura a mano libera: forma 1573"/>
          <p:cNvSpPr/>
          <p:nvPr/>
        </p:nvSpPr>
        <p:spPr>
          <a:xfrm>
            <a:off x="1028520" y="3743280"/>
            <a:ext cx="76680" cy="76320"/>
          </a:xfrm>
          <a:custGeom>
            <a:avLst/>
            <a:gdLst/>
            <a:ahLst/>
            <a:cxnLst/>
            <a:rect l="0" t="0" r="r" b="b"/>
            <a:pathLst>
              <a:path w="213" h="212">
                <a:moveTo>
                  <a:pt x="213" y="106"/>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75" name="CasellaDiTesto 1574"/>
          <p:cNvSpPr txBox="1"/>
          <p:nvPr/>
        </p:nvSpPr>
        <p:spPr>
          <a:xfrm>
            <a:off x="971640" y="3145680"/>
            <a:ext cx="31903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Rapporto con la compensazione</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576" name="Figura a mano libera: forma 1575"/>
          <p:cNvSpPr/>
          <p:nvPr/>
        </p:nvSpPr>
        <p:spPr>
          <a:xfrm>
            <a:off x="1028520" y="4219560"/>
            <a:ext cx="76680" cy="76320"/>
          </a:xfrm>
          <a:custGeom>
            <a:avLst/>
            <a:gdLst/>
            <a:ahLst/>
            <a:cxnLst/>
            <a:rect l="0" t="0" r="r" b="b"/>
            <a:pathLst>
              <a:path w="213" h="212">
                <a:moveTo>
                  <a:pt x="213" y="105"/>
                </a:moveTo>
                <a:cubicBezTo>
                  <a:pt x="213" y="119"/>
                  <a:pt x="210" y="133"/>
                  <a:pt x="205" y="146"/>
                </a:cubicBezTo>
                <a:cubicBezTo>
                  <a:pt x="198" y="159"/>
                  <a:pt x="191" y="170"/>
                  <a:pt x="181" y="180"/>
                </a:cubicBezTo>
                <a:cubicBezTo>
                  <a:pt x="171" y="190"/>
                  <a:pt x="159" y="198"/>
                  <a:pt x="146" y="204"/>
                </a:cubicBezTo>
                <a:cubicBezTo>
                  <a:pt x="133" y="210"/>
                  <a:pt x="120" y="212"/>
                  <a:pt x="106" y="212"/>
                </a:cubicBezTo>
                <a:cubicBezTo>
                  <a:pt x="92" y="212"/>
                  <a:pt x="78" y="210"/>
                  <a:pt x="65" y="204"/>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0"/>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77" name="CasellaDiTesto 1576"/>
          <p:cNvSpPr txBox="1"/>
          <p:nvPr/>
        </p:nvSpPr>
        <p:spPr>
          <a:xfrm>
            <a:off x="1238400" y="3632400"/>
            <a:ext cx="8985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funzione </a:t>
            </a:r>
            <a:r>
              <a:rPr lang="it-IT" sz="1580" b="1" u="none" strike="noStrike">
                <a:solidFill>
                  <a:srgbClr val="00509E"/>
                </a:solidFill>
                <a:effectLst/>
                <a:uFillTx/>
                <a:latin typeface="SegoeUI"/>
                <a:ea typeface="SegoeUI"/>
              </a:rPr>
              <a:t>strumentale</a:t>
            </a:r>
            <a:r>
              <a:rPr lang="it-IT" sz="1580" b="0" u="none" strike="noStrike">
                <a:solidFill>
                  <a:srgbClr val="343A40"/>
                </a:solidFill>
                <a:effectLst/>
                <a:uFillTx/>
                <a:latin typeface="SegoeUI"/>
                <a:ea typeface="SegoeUI"/>
              </a:rPr>
              <a:t>: il fermo congela il credito del privato </a:t>
            </a:r>
            <a:r>
              <a:rPr lang="it-IT" sz="1580" b="0" i="1" u="none" strike="noStrike">
                <a:solidFill>
                  <a:srgbClr val="495057"/>
                </a:solidFill>
                <a:effectLst/>
                <a:uFillTx/>
                <a:latin typeface="SegoeUI"/>
                <a:ea typeface="SegoeUI"/>
              </a:rPr>
              <a:t>in attesa</a:t>
            </a:r>
            <a:r>
              <a:rPr lang="it-IT" sz="1580" b="0" u="none" strike="noStrike">
                <a:solidFill>
                  <a:srgbClr val="343A40"/>
                </a:solidFill>
                <a:effectLst/>
                <a:uFillTx/>
                <a:latin typeface="SegoeUI"/>
                <a:ea typeface="SegoeUI"/>
              </a:rPr>
              <a:t> della successiva compensazione;</a:t>
            </a:r>
            <a:endParaRPr lang="it-IT" sz="1580" b="0" u="none" strike="noStrike">
              <a:solidFill>
                <a:srgbClr val="000000"/>
              </a:solidFill>
              <a:effectLst/>
              <a:uFillTx/>
              <a:latin typeface="Times New Roman"/>
            </a:endParaRPr>
          </a:p>
        </p:txBody>
      </p:sp>
      <p:sp>
        <p:nvSpPr>
          <p:cNvPr id="1578" name="Figura a mano libera: forma 1577"/>
          <p:cNvSpPr/>
          <p:nvPr/>
        </p:nvSpPr>
        <p:spPr>
          <a:xfrm>
            <a:off x="1028520" y="4705200"/>
            <a:ext cx="76680" cy="76680"/>
          </a:xfrm>
          <a:custGeom>
            <a:avLst/>
            <a:gdLst/>
            <a:ahLst/>
            <a:cxnLst/>
            <a:rect l="0" t="0" r="r" b="b"/>
            <a:pathLst>
              <a:path w="213" h="213">
                <a:moveTo>
                  <a:pt x="213" y="106"/>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79" name="CasellaDiTesto 1578"/>
          <p:cNvSpPr txBox="1"/>
          <p:nvPr/>
        </p:nvSpPr>
        <p:spPr>
          <a:xfrm>
            <a:off x="1238400" y="4108680"/>
            <a:ext cx="5280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opera </a:t>
            </a:r>
            <a:r>
              <a:rPr lang="it-IT" sz="1580" b="1" u="none" strike="noStrike">
                <a:solidFill>
                  <a:srgbClr val="00509E"/>
                </a:solidFill>
                <a:effectLst/>
                <a:uFillTx/>
                <a:latin typeface="SegoeUI"/>
                <a:ea typeface="SegoeUI"/>
              </a:rPr>
              <a:t>solo</a:t>
            </a:r>
            <a:r>
              <a:rPr lang="it-IT" sz="1580" b="0" u="none" strike="noStrike">
                <a:solidFill>
                  <a:srgbClr val="343A40"/>
                </a:solidFill>
                <a:effectLst/>
                <a:uFillTx/>
                <a:latin typeface="SegoeUI"/>
                <a:ea typeface="SegoeUI"/>
              </a:rPr>
              <a:t> se l'AF dispone il provvedimento amministrativo;</a:t>
            </a:r>
            <a:endParaRPr lang="it-IT" sz="1580" b="0" u="none" strike="noStrike">
              <a:solidFill>
                <a:srgbClr val="000000"/>
              </a:solidFill>
              <a:effectLst/>
              <a:uFillTx/>
              <a:latin typeface="Times New Roman"/>
            </a:endParaRPr>
          </a:p>
        </p:txBody>
      </p:sp>
      <p:sp>
        <p:nvSpPr>
          <p:cNvPr id="1580" name="Figura a mano libera: forma 157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81" name="CasellaDiTesto 1580"/>
          <p:cNvSpPr txBox="1"/>
          <p:nvPr/>
        </p:nvSpPr>
        <p:spPr>
          <a:xfrm>
            <a:off x="1238400" y="4594320"/>
            <a:ext cx="75272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non si sovrappone alla disciplina speciale dell'art. 38-bis DPR 633/1972 (rimborsi IVA).</a:t>
            </a:r>
            <a:endParaRPr lang="it-IT" sz="1580" b="0" u="none" strike="noStrike">
              <a:solidFill>
                <a:srgbClr val="000000"/>
              </a:solidFill>
              <a:effectLst/>
              <a:uFillTx/>
              <a:latin typeface="Times New Roman"/>
            </a:endParaRPr>
          </a:p>
        </p:txBody>
      </p:sp>
      <p:sp>
        <p:nvSpPr>
          <p:cNvPr id="1582" name="Figura a mano libera: forma 158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83" name="CasellaDiTesto 158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584" name="CasellaDiTesto 158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52 / 73</a:t>
            </a:r>
            <a:endParaRPr lang="it-IT" sz="980" b="0" u="none" strike="noStrike">
              <a:solidFill>
                <a:srgbClr val="000000"/>
              </a:solidFill>
              <a:effectLst/>
              <a:uFillTx/>
              <a:latin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 name="Figura a mano libera: forma 158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86" name="Figura a mano libera: forma 158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87" name="Figura a mano libera: forma 158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88" name="Figura a mano libera: forma 158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589" name="Figura a mano libera: forma 1588"/>
          <p:cNvSpPr/>
          <p:nvPr/>
        </p:nvSpPr>
        <p:spPr>
          <a:xfrm>
            <a:off x="971280" y="24382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90" name="CasellaDiTesto 1589"/>
          <p:cNvSpPr txBox="1"/>
          <p:nvPr/>
        </p:nvSpPr>
        <p:spPr>
          <a:xfrm>
            <a:off x="971640" y="1371600"/>
            <a:ext cx="83322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ECCEZIONE DI COMPENSAZIONE ADE IN SEDE DI</a:t>
            </a:r>
            <a:endParaRPr lang="it-IT" sz="2850" b="0" u="none" strike="noStrike">
              <a:solidFill>
                <a:srgbClr val="000000"/>
              </a:solidFill>
              <a:effectLst/>
              <a:uFillTx/>
              <a:latin typeface="Times New Roman"/>
            </a:endParaRPr>
          </a:p>
        </p:txBody>
      </p:sp>
      <p:sp>
        <p:nvSpPr>
          <p:cNvPr id="1591" name="CasellaDiTesto 1590"/>
          <p:cNvSpPr txBox="1"/>
          <p:nvPr/>
        </p:nvSpPr>
        <p:spPr>
          <a:xfrm>
            <a:off x="971640" y="1819080"/>
            <a:ext cx="19141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RIMBORSO</a:t>
            </a:r>
            <a:endParaRPr lang="it-IT" sz="2850" b="0" u="none" strike="noStrike">
              <a:solidFill>
                <a:srgbClr val="000000"/>
              </a:solidFill>
              <a:effectLst/>
              <a:uFillTx/>
              <a:latin typeface="Times New Roman"/>
            </a:endParaRPr>
          </a:p>
        </p:txBody>
      </p:sp>
      <p:sp>
        <p:nvSpPr>
          <p:cNvPr id="1592" name="CasellaDiTesto 1591"/>
          <p:cNvSpPr txBox="1"/>
          <p:nvPr/>
        </p:nvSpPr>
        <p:spPr>
          <a:xfrm>
            <a:off x="971640" y="2574360"/>
            <a:ext cx="3805785"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hlinkClick r:id="rId2"/>
              </a:rPr>
              <a:t>Cass., sez. </a:t>
            </a:r>
            <a:r>
              <a:rPr lang="it-IT" sz="1650" b="1" u="none" strike="noStrike" dirty="0" err="1">
                <a:solidFill>
                  <a:srgbClr val="00509E"/>
                </a:solidFill>
                <a:effectLst/>
                <a:uFillTx/>
                <a:latin typeface="SegoeUI"/>
                <a:ea typeface="SegoeUI"/>
                <a:hlinkClick r:id="rId2"/>
              </a:rPr>
              <a:t>trib</a:t>
            </a:r>
            <a:r>
              <a:rPr lang="it-IT" sz="1650" b="1" u="none" strike="noStrike" dirty="0">
                <a:solidFill>
                  <a:srgbClr val="00509E"/>
                </a:solidFill>
                <a:effectLst/>
                <a:uFillTx/>
                <a:latin typeface="SegoeUI"/>
                <a:ea typeface="SegoeUI"/>
                <a:hlinkClick r:id="rId2"/>
              </a:rPr>
              <a:t>., 9 marzo 2021, n. 6395</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1593" name="CasellaDiTesto 1592"/>
          <p:cNvSpPr txBox="1"/>
          <p:nvPr/>
        </p:nvSpPr>
        <p:spPr>
          <a:xfrm>
            <a:off x="971640" y="3050640"/>
            <a:ext cx="1048104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Fattispecie</a:t>
            </a:r>
            <a:r>
              <a:rPr lang="it-IT" sz="1650" b="0" u="none" strike="noStrike">
                <a:solidFill>
                  <a:srgbClr val="212529"/>
                </a:solidFill>
                <a:effectLst/>
                <a:uFillTx/>
                <a:latin typeface="SegoeUI"/>
                <a:ea typeface="SegoeUI"/>
              </a:rPr>
              <a:t>: rimborso IVA chiesto dal cessionario del credito; l'AF </a:t>
            </a:r>
            <a:r>
              <a:rPr lang="it-IT" sz="1650" b="0" i="1" u="none" strike="noStrike">
                <a:solidFill>
                  <a:srgbClr val="495057"/>
                </a:solidFill>
                <a:effectLst/>
                <a:uFillTx/>
                <a:latin typeface="SegoeUI"/>
                <a:ea typeface="SegoeUI"/>
              </a:rPr>
              <a:t>senza</a:t>
            </a:r>
            <a:r>
              <a:rPr lang="it-IT" sz="1650" b="0" u="none" strike="noStrike">
                <a:solidFill>
                  <a:srgbClr val="212529"/>
                </a:solidFill>
                <a:effectLst/>
                <a:uFillTx/>
                <a:latin typeface="SegoeUI"/>
                <a:ea typeface="SegoeUI"/>
              </a:rPr>
              <a:t> aver emesso alcun provvedimento di fermo</a:t>
            </a:r>
            <a:endParaRPr lang="it-IT" sz="1650" b="0" u="none" strike="noStrike">
              <a:solidFill>
                <a:srgbClr val="000000"/>
              </a:solidFill>
              <a:effectLst/>
              <a:uFillTx/>
              <a:latin typeface="Times New Roman"/>
            </a:endParaRPr>
          </a:p>
        </p:txBody>
      </p:sp>
      <p:sp>
        <p:nvSpPr>
          <p:cNvPr id="1594" name="CasellaDiTesto 1593"/>
          <p:cNvSpPr txBox="1"/>
          <p:nvPr/>
        </p:nvSpPr>
        <p:spPr>
          <a:xfrm>
            <a:off x="971640" y="3374280"/>
            <a:ext cx="49737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o sospensione </a:t>
            </a:r>
            <a:r>
              <a:rPr lang="it-IT" sz="1650" b="0" i="1" u="none" strike="noStrike">
                <a:solidFill>
                  <a:srgbClr val="495057"/>
                </a:solidFill>
                <a:effectLst/>
                <a:uFillTx/>
                <a:latin typeface="SegoeUI"/>
                <a:ea typeface="SegoeUI"/>
              </a:rPr>
              <a:t>eccepisce</a:t>
            </a:r>
            <a:r>
              <a:rPr lang="it-IT" sz="1650" b="0" u="none" strike="noStrike">
                <a:solidFill>
                  <a:srgbClr val="212529"/>
                </a:solidFill>
                <a:effectLst/>
                <a:uFillTx/>
                <a:latin typeface="SegoeUI"/>
                <a:ea typeface="SegoeUI"/>
              </a:rPr>
              <a:t> in giudizio la compensazione.</a:t>
            </a:r>
            <a:endParaRPr lang="it-IT" sz="1650" b="0" u="none" strike="noStrike">
              <a:solidFill>
                <a:srgbClr val="000000"/>
              </a:solidFill>
              <a:effectLst/>
              <a:uFillTx/>
              <a:latin typeface="Times New Roman"/>
            </a:endParaRPr>
          </a:p>
        </p:txBody>
      </p:sp>
      <p:sp>
        <p:nvSpPr>
          <p:cNvPr id="1595" name="CasellaDiTesto 1594"/>
          <p:cNvSpPr txBox="1"/>
          <p:nvPr/>
        </p:nvSpPr>
        <p:spPr>
          <a:xfrm>
            <a:off x="971640" y="3850560"/>
            <a:ext cx="9797490" cy="253916"/>
          </a:xfrm>
          <a:prstGeom prst="rect">
            <a:avLst/>
          </a:prstGeom>
          <a:noFill/>
          <a:ln w="0">
            <a:noFill/>
          </a:ln>
        </p:spPr>
        <p:txBody>
          <a:bodyPr wrap="none" lIns="0" tIns="0" rIns="0" bIns="0" anchor="t">
            <a:spAutoFit/>
          </a:bodyPr>
          <a:lstStyle/>
          <a:p>
            <a:r>
              <a:rPr lang="it-IT" sz="1650" b="0" i="1" u="none" strike="noStrike" dirty="0">
                <a:solidFill>
                  <a:srgbClr val="495057"/>
                </a:solidFill>
                <a:effectLst/>
                <a:uFillTx/>
                <a:latin typeface="SegoeUI"/>
                <a:ea typeface="SegoeUI"/>
              </a:rPr>
              <a:t>Decisione</a:t>
            </a:r>
            <a:r>
              <a:rPr lang="it-IT" sz="1650" b="0" u="none" strike="noStrike" dirty="0">
                <a:solidFill>
                  <a:srgbClr val="212529"/>
                </a:solidFill>
                <a:effectLst/>
                <a:uFillTx/>
                <a:latin typeface="SegoeUI"/>
                <a:ea typeface="SegoeUI"/>
              </a:rPr>
              <a:t>: la compensazione è eccepibile </a:t>
            </a:r>
            <a:r>
              <a:rPr lang="it-IT" sz="1650" b="1" u="none" strike="noStrike" dirty="0">
                <a:solidFill>
                  <a:srgbClr val="00509E"/>
                </a:solidFill>
                <a:effectLst/>
                <a:uFillTx/>
                <a:latin typeface="SegoeUI"/>
                <a:ea typeface="SegoeUI"/>
              </a:rPr>
              <a:t>direttamente in giudizio</a:t>
            </a:r>
            <a:r>
              <a:rPr lang="it-IT" sz="1650" b="0" u="none" strike="noStrike" dirty="0">
                <a:solidFill>
                  <a:srgbClr val="212529"/>
                </a:solidFill>
                <a:effectLst/>
                <a:uFillTx/>
                <a:latin typeface="SegoeUI"/>
                <a:ea typeface="SegoeUI"/>
              </a:rPr>
              <a:t> (richiamando </a:t>
            </a:r>
            <a:r>
              <a:rPr lang="it-IT" sz="1650" b="0" u="none" strike="noStrike" dirty="0">
                <a:solidFill>
                  <a:srgbClr val="0969DA"/>
                </a:solidFill>
                <a:effectLst/>
                <a:uFillTx/>
                <a:latin typeface="SegoeUI"/>
                <a:ea typeface="SegoeUI"/>
                <a:hlinkClick r:id="rId3"/>
              </a:rPr>
              <a:t>Cass. SS.UU. 2320/2020</a:t>
            </a:r>
            <a:endParaRPr lang="it-IT" sz="1650" b="0" u="none" strike="noStrike" dirty="0">
              <a:solidFill>
                <a:srgbClr val="000000"/>
              </a:solidFill>
              <a:effectLst/>
              <a:uFillTx/>
              <a:latin typeface="Times New Roman"/>
            </a:endParaRPr>
          </a:p>
        </p:txBody>
      </p:sp>
      <p:sp>
        <p:nvSpPr>
          <p:cNvPr id="1596" name="CasellaDiTesto 1595"/>
          <p:cNvSpPr txBox="1"/>
          <p:nvPr/>
        </p:nvSpPr>
        <p:spPr>
          <a:xfrm>
            <a:off x="971640" y="4174560"/>
            <a:ext cx="35611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sull'alternatività delle misure cautelari).</a:t>
            </a:r>
            <a:endParaRPr lang="it-IT" sz="1650" b="0" u="none" strike="noStrike">
              <a:solidFill>
                <a:srgbClr val="000000"/>
              </a:solidFill>
              <a:effectLst/>
              <a:uFillTx/>
              <a:latin typeface="Times New Roman"/>
            </a:endParaRPr>
          </a:p>
        </p:txBody>
      </p:sp>
      <p:sp>
        <p:nvSpPr>
          <p:cNvPr id="1597" name="CasellaDiTesto 1596"/>
          <p:cNvSpPr txBox="1"/>
          <p:nvPr/>
        </p:nvSpPr>
        <p:spPr>
          <a:xfrm>
            <a:off x="971640" y="4650840"/>
            <a:ext cx="957924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Critica</a:t>
            </a:r>
            <a:r>
              <a:rPr lang="it-IT" sz="1650" b="0" u="none" strike="noStrike">
                <a:solidFill>
                  <a:srgbClr val="212529"/>
                </a:solidFill>
                <a:effectLst/>
                <a:uFillTx/>
                <a:latin typeface="SegoeUI"/>
                <a:ea typeface="SegoeUI"/>
              </a:rPr>
              <a:t>: "salto logico" della Corte; il caso non rientrava né nell'art. 69 R.D. 2440/1923 né nell'art. 23 D.Lgs.</a:t>
            </a:r>
            <a:endParaRPr lang="it-IT" sz="1650" b="0" u="none" strike="noStrike">
              <a:solidFill>
                <a:srgbClr val="000000"/>
              </a:solidFill>
              <a:effectLst/>
              <a:uFillTx/>
              <a:latin typeface="Times New Roman"/>
            </a:endParaRPr>
          </a:p>
        </p:txBody>
      </p:sp>
      <p:sp>
        <p:nvSpPr>
          <p:cNvPr id="1598" name="Figura a mano libera: forma 159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599" name="CasellaDiTesto 1598"/>
          <p:cNvSpPr txBox="1"/>
          <p:nvPr/>
        </p:nvSpPr>
        <p:spPr>
          <a:xfrm>
            <a:off x="971640" y="4974480"/>
            <a:ext cx="4660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472/1997; dubbia compatibilità con l'art. 8 Statuto.</a:t>
            </a:r>
            <a:endParaRPr lang="it-IT" sz="1650" b="0" u="none" strike="noStrike">
              <a:solidFill>
                <a:srgbClr val="000000"/>
              </a:solidFill>
              <a:effectLst/>
              <a:uFillTx/>
              <a:latin typeface="Times New Roman"/>
            </a:endParaRPr>
          </a:p>
        </p:txBody>
      </p:sp>
      <p:sp>
        <p:nvSpPr>
          <p:cNvPr id="1600" name="Figura a mano libera: forma 159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01" name="CasellaDiTesto 160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602" name="CasellaDiTesto 160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53 / 73</a:t>
            </a:r>
            <a:endParaRPr lang="it-IT" sz="980" b="0" u="none" strike="noStrike">
              <a:solidFill>
                <a:srgbClr val="000000"/>
              </a:solidFill>
              <a:effectLst/>
              <a:uFillTx/>
              <a:latin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 name="Figura a mano libera: forma 160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04" name="Figura a mano libera: forma 160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05" name="Figura a mano libera: forma 160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06" name="Figura a mano libera: forma 160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07" name="CasellaDiTesto 1606"/>
          <p:cNvSpPr txBox="1"/>
          <p:nvPr/>
        </p:nvSpPr>
        <p:spPr>
          <a:xfrm>
            <a:off x="3793320" y="2697480"/>
            <a:ext cx="478332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I CREDITI DI IMPOSTA</a:t>
            </a:r>
            <a:endParaRPr lang="it-IT" sz="3600" b="0" u="none" strike="noStrike">
              <a:solidFill>
                <a:srgbClr val="000000"/>
              </a:solidFill>
              <a:effectLst/>
              <a:uFillTx/>
              <a:latin typeface="Times New Roman"/>
            </a:endParaRPr>
          </a:p>
        </p:txBody>
      </p:sp>
      <p:sp>
        <p:nvSpPr>
          <p:cNvPr id="1608" name="Figura a mano libera: forma 160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09" name="CasellaDiTesto 1608"/>
          <p:cNvSpPr txBox="1"/>
          <p:nvPr/>
        </p:nvSpPr>
        <p:spPr>
          <a:xfrm>
            <a:off x="3563640" y="3647160"/>
            <a:ext cx="5618160" cy="306720"/>
          </a:xfrm>
          <a:prstGeom prst="rect">
            <a:avLst/>
          </a:prstGeom>
          <a:noFill/>
          <a:ln w="0">
            <a:noFill/>
          </a:ln>
        </p:spPr>
        <p:txBody>
          <a:bodyPr wrap="none" lIns="0" tIns="0" rIns="0" bIns="0" anchor="t">
            <a:spAutoFit/>
          </a:bodyPr>
          <a:lstStyle/>
          <a:p>
            <a:r>
              <a:rPr lang="it-IT" sz="1810" b="1" i="1" u="none" strike="noStrike">
                <a:solidFill>
                  <a:srgbClr val="495057"/>
                </a:solidFill>
                <a:effectLst/>
                <a:uFillTx/>
                <a:latin typeface="SegoeUI"/>
                <a:ea typeface="SegoeUI"/>
              </a:rPr>
              <a:t>e la distinzione tra crediti inesistenti e non spettanti</a:t>
            </a:r>
            <a:endParaRPr lang="it-IT" sz="1810" b="0" u="none" strike="noStrike">
              <a:solidFill>
                <a:srgbClr val="000000"/>
              </a:solidFill>
              <a:effectLst/>
              <a:uFillTx/>
              <a:latin typeface="Times New Roman"/>
            </a:endParaRPr>
          </a:p>
        </p:txBody>
      </p:sp>
      <p:sp>
        <p:nvSpPr>
          <p:cNvPr id="1610" name="Figura a mano libera: forma 160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11" name="CasellaDiTesto 161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612" name="CasellaDiTesto 161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54 / 73</a:t>
            </a:r>
            <a:endParaRPr lang="it-IT" sz="980" b="0" u="none" strike="noStrike">
              <a:solidFill>
                <a:srgbClr val="000000"/>
              </a:solidFill>
              <a:effectLst/>
              <a:uFillTx/>
              <a:latin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3" name="Figura a mano libera: forma 161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14" name="Figura a mano libera: forma 161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15" name="Figura a mano libera: forma 161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16" name="Figura a mano libera: forma 161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17" name="Figura a mano libera: forma 1616"/>
          <p:cNvSpPr/>
          <p:nvPr/>
        </p:nvSpPr>
        <p:spPr>
          <a:xfrm>
            <a:off x="971280" y="18856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18" name="CasellaDiTesto 1617"/>
          <p:cNvSpPr txBox="1"/>
          <p:nvPr/>
        </p:nvSpPr>
        <p:spPr>
          <a:xfrm>
            <a:off x="971640" y="1266840"/>
            <a:ext cx="66729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TIPOLOGIA DEI CREDITI D'IMPOSTA</a:t>
            </a:r>
            <a:endParaRPr lang="it-IT" sz="2850" b="0" u="none" strike="noStrike">
              <a:solidFill>
                <a:srgbClr val="000000"/>
              </a:solidFill>
              <a:effectLst/>
              <a:uFillTx/>
              <a:latin typeface="Times New Roman"/>
            </a:endParaRPr>
          </a:p>
        </p:txBody>
      </p:sp>
      <p:sp>
        <p:nvSpPr>
          <p:cNvPr id="1619" name="CasellaDiTesto 1618"/>
          <p:cNvSpPr txBox="1"/>
          <p:nvPr/>
        </p:nvSpPr>
        <p:spPr>
          <a:xfrm>
            <a:off x="971640" y="2021760"/>
            <a:ext cx="44701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Il credito d'imposta non è una categoria unitaria.</a:t>
            </a:r>
            <a:endParaRPr lang="it-IT" sz="1650" b="0" u="none" strike="noStrike">
              <a:solidFill>
                <a:srgbClr val="000000"/>
              </a:solidFill>
              <a:effectLst/>
              <a:uFillTx/>
              <a:latin typeface="Times New Roman"/>
            </a:endParaRPr>
          </a:p>
        </p:txBody>
      </p:sp>
      <p:sp>
        <p:nvSpPr>
          <p:cNvPr id="1620" name="CasellaDiTesto 1619"/>
          <p:cNvSpPr txBox="1"/>
          <p:nvPr/>
        </p:nvSpPr>
        <p:spPr>
          <a:xfrm>
            <a:off x="971640" y="2345760"/>
            <a:ext cx="23043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Quattro macro-tipologie:</a:t>
            </a:r>
            <a:endParaRPr lang="it-IT" sz="1650" b="0" u="none" strike="noStrike">
              <a:solidFill>
                <a:srgbClr val="000000"/>
              </a:solidFill>
              <a:effectLst/>
              <a:uFillTx/>
              <a:latin typeface="Times New Roman"/>
            </a:endParaRPr>
          </a:p>
        </p:txBody>
      </p:sp>
      <p:sp>
        <p:nvSpPr>
          <p:cNvPr id="1621" name="CasellaDiTesto 1620"/>
          <p:cNvSpPr txBox="1"/>
          <p:nvPr/>
        </p:nvSpPr>
        <p:spPr>
          <a:xfrm>
            <a:off x="1184400" y="2822760"/>
            <a:ext cx="65462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a:t>
            </a:r>
            <a:r>
              <a:rPr lang="it-IT" sz="1580" b="1" u="none" strike="noStrike">
                <a:solidFill>
                  <a:srgbClr val="00509E"/>
                </a:solidFill>
                <a:effectLst/>
                <a:uFillTx/>
                <a:latin typeface="SegoeUI"/>
                <a:ea typeface="SegoeUI"/>
              </a:rPr>
              <a:t>Crediti restitutori da indebito ab origine</a:t>
            </a:r>
            <a:r>
              <a:rPr lang="it-IT" sz="1580" b="0" u="none" strike="noStrike">
                <a:solidFill>
                  <a:srgbClr val="343A40"/>
                </a:solidFill>
                <a:effectLst/>
                <a:uFillTx/>
                <a:latin typeface="SegoeUI"/>
                <a:ea typeface="SegoeUI"/>
              </a:rPr>
              <a:t> (artt. 37-38 D.P.R. 602/1973).</a:t>
            </a:r>
            <a:endParaRPr lang="it-IT" sz="1580" b="0" u="none" strike="noStrike">
              <a:solidFill>
                <a:srgbClr val="000000"/>
              </a:solidFill>
              <a:effectLst/>
              <a:uFillTx/>
              <a:latin typeface="Times New Roman"/>
            </a:endParaRPr>
          </a:p>
        </p:txBody>
      </p:sp>
      <p:sp>
        <p:nvSpPr>
          <p:cNvPr id="1622" name="CasellaDiTesto 1621"/>
          <p:cNvSpPr txBox="1"/>
          <p:nvPr/>
        </p:nvSpPr>
        <p:spPr>
          <a:xfrm>
            <a:off x="1184400" y="3308400"/>
            <a:ext cx="43473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a:t>
            </a:r>
            <a:r>
              <a:rPr lang="it-IT" sz="1580" b="1" u="none" strike="noStrike">
                <a:solidFill>
                  <a:srgbClr val="00509E"/>
                </a:solidFill>
                <a:effectLst/>
                <a:uFillTx/>
                <a:latin typeface="SegoeUI"/>
                <a:ea typeface="SegoeUI"/>
              </a:rPr>
              <a:t>Crediti restitutori da indebito sopravvenuto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1623" name="CasellaDiTesto 1622"/>
          <p:cNvSpPr txBox="1"/>
          <p:nvPr/>
        </p:nvSpPr>
        <p:spPr>
          <a:xfrm>
            <a:off x="1184400" y="3784680"/>
            <a:ext cx="99378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3. </a:t>
            </a:r>
            <a:r>
              <a:rPr lang="it-IT" sz="1580" b="1" u="none" strike="noStrike">
                <a:solidFill>
                  <a:srgbClr val="00509E"/>
                </a:solidFill>
                <a:effectLst/>
                <a:uFillTx/>
                <a:latin typeface="SegoeUI"/>
                <a:ea typeface="SegoeUI"/>
              </a:rPr>
              <a:t>Crediti da liquidazione fisiologica</a:t>
            </a:r>
            <a:r>
              <a:rPr lang="it-IT" sz="1580" b="0" u="none" strike="noStrike">
                <a:solidFill>
                  <a:srgbClr val="343A40"/>
                </a:solidFill>
                <a:effectLst/>
                <a:uFillTx/>
                <a:latin typeface="SegoeUI"/>
                <a:ea typeface="SegoeUI"/>
              </a:rPr>
              <a:t> del tributo (acconti, ritenute, IVA: art. 22 TUIR; artt. 27 e 30 DPR 633/1972).</a:t>
            </a:r>
            <a:endParaRPr lang="it-IT" sz="1580" b="0" u="none" strike="noStrike">
              <a:solidFill>
                <a:srgbClr val="000000"/>
              </a:solidFill>
              <a:effectLst/>
              <a:uFillTx/>
              <a:latin typeface="Times New Roman"/>
            </a:endParaRPr>
          </a:p>
        </p:txBody>
      </p:sp>
      <p:sp>
        <p:nvSpPr>
          <p:cNvPr id="1624" name="CasellaDiTesto 1623"/>
          <p:cNvSpPr txBox="1"/>
          <p:nvPr/>
        </p:nvSpPr>
        <p:spPr>
          <a:xfrm>
            <a:off x="1184400" y="4270320"/>
            <a:ext cx="73767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4. </a:t>
            </a:r>
            <a:r>
              <a:rPr lang="it-IT" sz="1580" b="1" u="none" strike="noStrike">
                <a:solidFill>
                  <a:srgbClr val="00509E"/>
                </a:solidFill>
                <a:effectLst/>
                <a:uFillTx/>
                <a:latin typeface="SegoeUI"/>
                <a:ea typeface="SegoeUI"/>
              </a:rPr>
              <a:t>Crediti con funzione sovvenzionale/agevolativa</a:t>
            </a:r>
            <a:r>
              <a:rPr lang="it-IT" sz="1580" b="0" u="none" strike="noStrike">
                <a:solidFill>
                  <a:srgbClr val="343A40"/>
                </a:solidFill>
                <a:effectLst/>
                <a:uFillTx/>
                <a:latin typeface="SegoeUI"/>
                <a:ea typeface="SegoeUI"/>
              </a:rPr>
              <a:t> (bonus, incentivi, superbonus).</a:t>
            </a:r>
            <a:endParaRPr lang="it-IT" sz="1580" b="0" u="none" strike="noStrike">
              <a:solidFill>
                <a:srgbClr val="000000"/>
              </a:solidFill>
              <a:effectLst/>
              <a:uFillTx/>
              <a:latin typeface="Times New Roman"/>
            </a:endParaRPr>
          </a:p>
        </p:txBody>
      </p:sp>
      <p:sp>
        <p:nvSpPr>
          <p:cNvPr id="1625" name="CasellaDiTesto 1624"/>
          <p:cNvSpPr txBox="1"/>
          <p:nvPr/>
        </p:nvSpPr>
        <p:spPr>
          <a:xfrm>
            <a:off x="971640" y="4745880"/>
            <a:ext cx="10481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 categoria (d) — divenuta pervasiva con la legislazione emergenziale Covid — è quella più problematica in tema</a:t>
            </a:r>
            <a:endParaRPr lang="it-IT" sz="1650" b="0" u="none" strike="noStrike">
              <a:solidFill>
                <a:srgbClr val="000000"/>
              </a:solidFill>
              <a:effectLst/>
              <a:uFillTx/>
              <a:latin typeface="Times New Roman"/>
            </a:endParaRPr>
          </a:p>
        </p:txBody>
      </p:sp>
      <p:sp>
        <p:nvSpPr>
          <p:cNvPr id="1626" name="Figura a mano libera: forma 1625"/>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27" name="CasellaDiTesto 1626"/>
          <p:cNvSpPr txBox="1"/>
          <p:nvPr/>
        </p:nvSpPr>
        <p:spPr>
          <a:xfrm>
            <a:off x="971640" y="5069880"/>
            <a:ext cx="1715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di compensazione.</a:t>
            </a:r>
            <a:endParaRPr lang="it-IT" sz="1650" b="0" u="none" strike="noStrike">
              <a:solidFill>
                <a:srgbClr val="000000"/>
              </a:solidFill>
              <a:effectLst/>
              <a:uFillTx/>
              <a:latin typeface="Times New Roman"/>
            </a:endParaRPr>
          </a:p>
        </p:txBody>
      </p:sp>
      <p:sp>
        <p:nvSpPr>
          <p:cNvPr id="1628" name="Figura a mano libera: forma 1627"/>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29" name="CasellaDiTesto 1628"/>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630" name="CasellaDiTesto 1629"/>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55 / 73</a:t>
            </a:r>
            <a:endParaRPr lang="it-IT" sz="980" b="0" u="none" strike="noStrike">
              <a:solidFill>
                <a:srgbClr val="000000"/>
              </a:solidFill>
              <a:effectLst/>
              <a:uFillTx/>
              <a:latin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1" name="Figura a mano libera: forma 163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32" name="Figura a mano libera: forma 163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33" name="Figura a mano libera: forma 1632"/>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34" name="Figura a mano libera: forma 1633"/>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35" name="Figura a mano libera: forma 1634"/>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36" name="CasellaDiTesto 1635"/>
          <p:cNvSpPr txBox="1"/>
          <p:nvPr/>
        </p:nvSpPr>
        <p:spPr>
          <a:xfrm>
            <a:off x="971640" y="552600"/>
            <a:ext cx="74376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 CREDITI CON FUNZIONE SOVVENZIONALE</a:t>
            </a:r>
            <a:endParaRPr lang="it-IT" sz="2850" b="0" u="none" strike="noStrike">
              <a:solidFill>
                <a:srgbClr val="000000"/>
              </a:solidFill>
              <a:effectLst/>
              <a:uFillTx/>
              <a:latin typeface="Times New Roman"/>
            </a:endParaRPr>
          </a:p>
        </p:txBody>
      </p:sp>
      <p:sp>
        <p:nvSpPr>
          <p:cNvPr id="1637" name="Figura a mano libera: forma 1636"/>
          <p:cNvSpPr/>
          <p:nvPr/>
        </p:nvSpPr>
        <p:spPr>
          <a:xfrm>
            <a:off x="1028520" y="1895400"/>
            <a:ext cx="76680" cy="76320"/>
          </a:xfrm>
          <a:custGeom>
            <a:avLst/>
            <a:gdLst/>
            <a:ahLst/>
            <a:cxnLst/>
            <a:rect l="0" t="0" r="r" b="b"/>
            <a:pathLst>
              <a:path w="213" h="212">
                <a:moveTo>
                  <a:pt x="213" y="106"/>
                </a:moveTo>
                <a:cubicBezTo>
                  <a:pt x="213" y="121"/>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38" name="CasellaDiTesto 1637"/>
          <p:cNvSpPr txBox="1"/>
          <p:nvPr/>
        </p:nvSpPr>
        <p:spPr>
          <a:xfrm>
            <a:off x="971640" y="1307520"/>
            <a:ext cx="13680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Caratteristiche:</a:t>
            </a:r>
            <a:endParaRPr lang="it-IT" sz="1650" b="0" u="none" strike="noStrike">
              <a:solidFill>
                <a:srgbClr val="000000"/>
              </a:solidFill>
              <a:effectLst/>
              <a:uFillTx/>
              <a:latin typeface="Times New Roman"/>
            </a:endParaRPr>
          </a:p>
        </p:txBody>
      </p:sp>
      <p:sp>
        <p:nvSpPr>
          <p:cNvPr id="1639" name="Figura a mano libera: forma 1638"/>
          <p:cNvSpPr/>
          <p:nvPr/>
        </p:nvSpPr>
        <p:spPr>
          <a:xfrm>
            <a:off x="1028520" y="238104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2"/>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40" name="CasellaDiTesto 1639"/>
          <p:cNvSpPr txBox="1"/>
          <p:nvPr/>
        </p:nvSpPr>
        <p:spPr>
          <a:xfrm>
            <a:off x="1238400" y="1784520"/>
            <a:ext cx="45554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nascono </a:t>
            </a:r>
            <a:r>
              <a:rPr lang="it-IT" sz="1580" b="0" i="1" u="none" strike="noStrike">
                <a:solidFill>
                  <a:srgbClr val="495057"/>
                </a:solidFill>
                <a:effectLst/>
                <a:uFillTx/>
                <a:latin typeface="SegoeUI"/>
                <a:ea typeface="SegoeUI"/>
              </a:rPr>
              <a:t>ex lege</a:t>
            </a:r>
            <a:r>
              <a:rPr lang="it-IT" sz="1580" b="0" u="none" strike="noStrike">
                <a:solidFill>
                  <a:srgbClr val="343A40"/>
                </a:solidFill>
                <a:effectLst/>
                <a:uFillTx/>
                <a:latin typeface="SegoeUI"/>
                <a:ea typeface="SegoeUI"/>
              </a:rPr>
              <a:t>, per finalità extra-fiscale (incentivo);</a:t>
            </a:r>
            <a:endParaRPr lang="it-IT" sz="1580" b="0" u="none" strike="noStrike">
              <a:solidFill>
                <a:srgbClr val="000000"/>
              </a:solidFill>
              <a:effectLst/>
              <a:uFillTx/>
              <a:latin typeface="Times New Roman"/>
            </a:endParaRPr>
          </a:p>
        </p:txBody>
      </p:sp>
      <p:sp>
        <p:nvSpPr>
          <p:cNvPr id="1641" name="Figura a mano libera: forma 1640"/>
          <p:cNvSpPr/>
          <p:nvPr/>
        </p:nvSpPr>
        <p:spPr>
          <a:xfrm>
            <a:off x="1028520" y="285732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2"/>
                  <a:pt x="159" y="199"/>
                  <a:pt x="146" y="205"/>
                </a:cubicBezTo>
                <a:cubicBezTo>
                  <a:pt x="133" y="210"/>
                  <a:pt x="120" y="213"/>
                  <a:pt x="106" y="213"/>
                </a:cubicBezTo>
                <a:cubicBezTo>
                  <a:pt x="92" y="213"/>
                  <a:pt x="78" y="210"/>
                  <a:pt x="65" y="205"/>
                </a:cubicBezTo>
                <a:cubicBezTo>
                  <a:pt x="52" y="199"/>
                  <a:pt x="41" y="192"/>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42" name="CasellaDiTesto 1641"/>
          <p:cNvSpPr txBox="1"/>
          <p:nvPr/>
        </p:nvSpPr>
        <p:spPr>
          <a:xfrm>
            <a:off x="1238400" y="2270160"/>
            <a:ext cx="42829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presuppongono copertura finanziaria di bilancio;</a:t>
            </a:r>
            <a:endParaRPr lang="it-IT" sz="1580" b="0" u="none" strike="noStrike">
              <a:solidFill>
                <a:srgbClr val="000000"/>
              </a:solidFill>
              <a:effectLst/>
              <a:uFillTx/>
              <a:latin typeface="Times New Roman"/>
            </a:endParaRPr>
          </a:p>
        </p:txBody>
      </p:sp>
      <p:sp>
        <p:nvSpPr>
          <p:cNvPr id="1643" name="Figura a mano libera: forma 1642"/>
          <p:cNvSpPr/>
          <p:nvPr/>
        </p:nvSpPr>
        <p:spPr>
          <a:xfrm>
            <a:off x="1028520" y="334296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44" name="CasellaDiTesto 1643"/>
          <p:cNvSpPr txBox="1"/>
          <p:nvPr/>
        </p:nvSpPr>
        <p:spPr>
          <a:xfrm>
            <a:off x="1238400" y="2746440"/>
            <a:ext cx="37447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esposti nel </a:t>
            </a:r>
            <a:r>
              <a:rPr lang="it-IT" sz="1580" b="1" u="none" strike="noStrike">
                <a:solidFill>
                  <a:srgbClr val="00509E"/>
                </a:solidFill>
                <a:effectLst/>
                <a:uFillTx/>
                <a:latin typeface="SegoeUI"/>
                <a:ea typeface="SegoeUI"/>
              </a:rPr>
              <a:t>quadro RU</a:t>
            </a:r>
            <a:r>
              <a:rPr lang="it-IT" sz="1580" b="0" u="none" strike="noStrike">
                <a:solidFill>
                  <a:srgbClr val="343A40"/>
                </a:solidFill>
                <a:effectLst/>
                <a:uFillTx/>
                <a:latin typeface="SegoeUI"/>
                <a:ea typeface="SegoeUI"/>
              </a:rPr>
              <a:t> della dichiarazione;</a:t>
            </a:r>
            <a:endParaRPr lang="it-IT" sz="1580" b="0" u="none" strike="noStrike">
              <a:solidFill>
                <a:srgbClr val="000000"/>
              </a:solidFill>
              <a:effectLst/>
              <a:uFillTx/>
              <a:latin typeface="Times New Roman"/>
            </a:endParaRPr>
          </a:p>
        </p:txBody>
      </p:sp>
      <p:sp>
        <p:nvSpPr>
          <p:cNvPr id="1645" name="CasellaDiTesto 1644"/>
          <p:cNvSpPr txBox="1"/>
          <p:nvPr/>
        </p:nvSpPr>
        <p:spPr>
          <a:xfrm>
            <a:off x="1238400" y="3232080"/>
            <a:ext cx="57567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non sono rimborsabili</a:t>
            </a:r>
            <a:r>
              <a:rPr lang="it-IT" sz="1580" b="0" u="none" strike="noStrike">
                <a:solidFill>
                  <a:srgbClr val="343A40"/>
                </a:solidFill>
                <a:effectLst/>
                <a:uFillTx/>
                <a:latin typeface="SegoeUI"/>
                <a:ea typeface="SegoeUI"/>
              </a:rPr>
              <a:t>: l'unica via di utilizzo è la compensazione.</a:t>
            </a:r>
            <a:endParaRPr lang="it-IT" sz="1580" b="0" u="none" strike="noStrike">
              <a:solidFill>
                <a:srgbClr val="000000"/>
              </a:solidFill>
              <a:effectLst/>
              <a:uFillTx/>
              <a:latin typeface="Times New Roman"/>
            </a:endParaRPr>
          </a:p>
        </p:txBody>
      </p:sp>
      <p:sp>
        <p:nvSpPr>
          <p:cNvPr id="1646" name="Figura a mano libera: forma 1645"/>
          <p:cNvSpPr/>
          <p:nvPr/>
        </p:nvSpPr>
        <p:spPr>
          <a:xfrm>
            <a:off x="1028520" y="4295520"/>
            <a:ext cx="76680" cy="76680"/>
          </a:xfrm>
          <a:custGeom>
            <a:avLst/>
            <a:gdLst/>
            <a:ahLst/>
            <a:cxnLst/>
            <a:rect l="0" t="0" r="r" b="b"/>
            <a:pathLst>
              <a:path w="213" h="213">
                <a:moveTo>
                  <a:pt x="213" y="106"/>
                </a:moveTo>
                <a:cubicBezTo>
                  <a:pt x="213" y="120"/>
                  <a:pt x="210" y="134"/>
                  <a:pt x="205" y="147"/>
                </a:cubicBezTo>
                <a:cubicBezTo>
                  <a:pt x="198" y="160"/>
                  <a:pt x="191" y="171"/>
                  <a:pt x="181" y="181"/>
                </a:cubicBezTo>
                <a:cubicBezTo>
                  <a:pt x="171" y="191"/>
                  <a:pt x="159" y="198"/>
                  <a:pt x="146" y="205"/>
                </a:cubicBezTo>
                <a:cubicBezTo>
                  <a:pt x="133" y="210"/>
                  <a:pt x="120" y="213"/>
                  <a:pt x="106" y="213"/>
                </a:cubicBezTo>
                <a:cubicBezTo>
                  <a:pt x="92" y="213"/>
                  <a:pt x="78" y="210"/>
                  <a:pt x="65" y="205"/>
                </a:cubicBezTo>
                <a:cubicBezTo>
                  <a:pt x="52" y="198"/>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47" name="CasellaDiTesto 1646"/>
          <p:cNvSpPr txBox="1"/>
          <p:nvPr/>
        </p:nvSpPr>
        <p:spPr>
          <a:xfrm>
            <a:off x="971640" y="3707640"/>
            <a:ext cx="21682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Tipologie rilevanti oggi:</a:t>
            </a:r>
            <a:endParaRPr lang="it-IT" sz="1650" b="0" u="none" strike="noStrike">
              <a:solidFill>
                <a:srgbClr val="000000"/>
              </a:solidFill>
              <a:effectLst/>
              <a:uFillTx/>
              <a:latin typeface="Times New Roman"/>
            </a:endParaRPr>
          </a:p>
        </p:txBody>
      </p:sp>
      <p:sp>
        <p:nvSpPr>
          <p:cNvPr id="1648" name="Figura a mano libera: forma 1647"/>
          <p:cNvSpPr/>
          <p:nvPr/>
        </p:nvSpPr>
        <p:spPr>
          <a:xfrm>
            <a:off x="1028520" y="4781520"/>
            <a:ext cx="76680" cy="76320"/>
          </a:xfrm>
          <a:custGeom>
            <a:avLst/>
            <a:gdLst/>
            <a:ahLst/>
            <a:cxnLst/>
            <a:rect l="0" t="0" r="r" b="b"/>
            <a:pathLst>
              <a:path w="213" h="212">
                <a:moveTo>
                  <a:pt x="213" y="105"/>
                </a:moveTo>
                <a:cubicBezTo>
                  <a:pt x="213" y="120"/>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0"/>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49" name="CasellaDiTesto 1648"/>
          <p:cNvSpPr txBox="1"/>
          <p:nvPr/>
        </p:nvSpPr>
        <p:spPr>
          <a:xfrm>
            <a:off x="1238400" y="4184640"/>
            <a:ext cx="54615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credito R&amp;S (art. 3 D.L. 145/2013 / art. 1, co. 200, L. 160/2019);</a:t>
            </a:r>
            <a:endParaRPr lang="it-IT" sz="1580" b="0" u="none" strike="noStrike">
              <a:solidFill>
                <a:srgbClr val="000000"/>
              </a:solidFill>
              <a:effectLst/>
              <a:uFillTx/>
              <a:latin typeface="Times New Roman"/>
            </a:endParaRPr>
          </a:p>
        </p:txBody>
      </p:sp>
      <p:sp>
        <p:nvSpPr>
          <p:cNvPr id="1650" name="Figura a mano libera: forma 1649"/>
          <p:cNvSpPr/>
          <p:nvPr/>
        </p:nvSpPr>
        <p:spPr>
          <a:xfrm>
            <a:off x="1028520" y="52574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51" name="CasellaDiTesto 1650"/>
          <p:cNvSpPr txBox="1"/>
          <p:nvPr/>
        </p:nvSpPr>
        <p:spPr>
          <a:xfrm>
            <a:off x="1238400" y="4670640"/>
            <a:ext cx="1688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Transizione 4.0/5.0;</a:t>
            </a:r>
            <a:endParaRPr lang="it-IT" sz="1580" b="0" u="none" strike="noStrike">
              <a:solidFill>
                <a:srgbClr val="000000"/>
              </a:solidFill>
              <a:effectLst/>
              <a:uFillTx/>
              <a:latin typeface="Times New Roman"/>
            </a:endParaRPr>
          </a:p>
        </p:txBody>
      </p:sp>
      <p:sp>
        <p:nvSpPr>
          <p:cNvPr id="1652" name="Figura a mano libera: forma 1651"/>
          <p:cNvSpPr/>
          <p:nvPr/>
        </p:nvSpPr>
        <p:spPr>
          <a:xfrm>
            <a:off x="1028520" y="5743440"/>
            <a:ext cx="76680" cy="76680"/>
          </a:xfrm>
          <a:custGeom>
            <a:avLst/>
            <a:gdLst/>
            <a:ahLst/>
            <a:cxnLst/>
            <a:rect l="0" t="0" r="r" b="b"/>
            <a:pathLst>
              <a:path w="213" h="213">
                <a:moveTo>
                  <a:pt x="213" y="106"/>
                </a:moveTo>
                <a:cubicBezTo>
                  <a:pt x="213" y="120"/>
                  <a:pt x="210" y="133"/>
                  <a:pt x="205" y="146"/>
                </a:cubicBezTo>
                <a:cubicBezTo>
                  <a:pt x="198" y="159"/>
                  <a:pt x="191" y="171"/>
                  <a:pt x="181" y="181"/>
                </a:cubicBezTo>
                <a:cubicBezTo>
                  <a:pt x="171" y="191"/>
                  <a:pt x="159" y="199"/>
                  <a:pt x="146" y="204"/>
                </a:cubicBezTo>
                <a:cubicBezTo>
                  <a:pt x="133" y="210"/>
                  <a:pt x="120" y="213"/>
                  <a:pt x="106" y="213"/>
                </a:cubicBezTo>
                <a:cubicBezTo>
                  <a:pt x="92" y="213"/>
                  <a:pt x="78" y="210"/>
                  <a:pt x="65" y="204"/>
                </a:cubicBezTo>
                <a:cubicBezTo>
                  <a:pt x="52" y="199"/>
                  <a:pt x="41" y="191"/>
                  <a:pt x="31" y="181"/>
                </a:cubicBezTo>
                <a:cubicBezTo>
                  <a:pt x="21" y="171"/>
                  <a:pt x="13" y="159"/>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53" name="CasellaDiTesto 1652"/>
          <p:cNvSpPr txBox="1"/>
          <p:nvPr/>
        </p:nvSpPr>
        <p:spPr>
          <a:xfrm>
            <a:off x="1238400" y="5146920"/>
            <a:ext cx="1149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bonus edilizi;</a:t>
            </a:r>
            <a:endParaRPr lang="it-IT" sz="1580" b="0" u="none" strike="noStrike">
              <a:solidFill>
                <a:srgbClr val="000000"/>
              </a:solidFill>
              <a:effectLst/>
              <a:uFillTx/>
              <a:latin typeface="Times New Roman"/>
            </a:endParaRPr>
          </a:p>
        </p:txBody>
      </p:sp>
      <p:sp>
        <p:nvSpPr>
          <p:cNvPr id="1654" name="Figura a mano libera: forma 1653"/>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55" name="CasellaDiTesto 1654"/>
          <p:cNvSpPr txBox="1"/>
          <p:nvPr/>
        </p:nvSpPr>
        <p:spPr>
          <a:xfrm>
            <a:off x="1238400" y="5632560"/>
            <a:ext cx="67903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caro-gasolio; zone speciali; credito cultura; credito investimenti Mezzogiorno.</a:t>
            </a:r>
            <a:endParaRPr lang="it-IT" sz="1580" b="0" u="none" strike="noStrike">
              <a:solidFill>
                <a:srgbClr val="000000"/>
              </a:solidFill>
              <a:effectLst/>
              <a:uFillTx/>
              <a:latin typeface="Times New Roman"/>
            </a:endParaRPr>
          </a:p>
        </p:txBody>
      </p:sp>
      <p:sp>
        <p:nvSpPr>
          <p:cNvPr id="1656" name="Figura a mano libera: forma 1655"/>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57" name="CasellaDiTesto 1656"/>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658" name="CasellaDiTesto 1657"/>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56 / 73</a:t>
            </a:r>
            <a:endParaRPr lang="it-IT" sz="980" b="0" u="none" strike="noStrike">
              <a:solidFill>
                <a:srgbClr val="000000"/>
              </a:solidFill>
              <a:effectLst/>
              <a:uFillTx/>
              <a:latin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9" name="Figura a mano libera: forma 165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60" name="Figura a mano libera: forma 165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61" name="Figura a mano libera: forma 1660"/>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62" name="Figura a mano libera: forma 1661"/>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63" name="Figura a mano libera: forma 1662"/>
          <p:cNvSpPr/>
          <p:nvPr/>
        </p:nvSpPr>
        <p:spPr>
          <a:xfrm>
            <a:off x="971280" y="8717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64" name="CasellaDiTesto 1663"/>
          <p:cNvSpPr txBox="1"/>
          <p:nvPr/>
        </p:nvSpPr>
        <p:spPr>
          <a:xfrm>
            <a:off x="971280" y="387000"/>
            <a:ext cx="7283520" cy="480600"/>
          </a:xfrm>
          <a:prstGeom prst="rect">
            <a:avLst/>
          </a:prstGeom>
          <a:noFill/>
          <a:ln w="0">
            <a:noFill/>
          </a:ln>
        </p:spPr>
        <p:txBody>
          <a:bodyPr wrap="none" lIns="0" tIns="0" rIns="0" bIns="0" anchor="t">
            <a:spAutoFit/>
          </a:bodyPr>
          <a:lstStyle/>
          <a:p>
            <a:r>
              <a:rPr lang="it-IT" sz="2850" b="1" u="none" strike="noStrike" dirty="0">
                <a:solidFill>
                  <a:srgbClr val="003366"/>
                </a:solidFill>
                <a:effectLst/>
                <a:uFillTx/>
                <a:latin typeface="SegoeUI"/>
                <a:ea typeface="SegoeUI"/>
              </a:rPr>
              <a:t>IL MONITORAGGIO EX ART. 6 D.L. 39/2024</a:t>
            </a:r>
            <a:endParaRPr lang="it-IT" sz="2850" b="0" u="none" strike="noStrike" dirty="0">
              <a:solidFill>
                <a:srgbClr val="000000"/>
              </a:solidFill>
              <a:effectLst/>
              <a:uFillTx/>
              <a:latin typeface="Times New Roman"/>
            </a:endParaRPr>
          </a:p>
        </p:txBody>
      </p:sp>
      <p:sp>
        <p:nvSpPr>
          <p:cNvPr id="1665" name="CasellaDiTesto 1664"/>
          <p:cNvSpPr txBox="1"/>
          <p:nvPr/>
        </p:nvSpPr>
        <p:spPr>
          <a:xfrm>
            <a:off x="894960" y="1210500"/>
            <a:ext cx="105166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Art. 6 D.L. 29 marzo 2024, n. 39</a:t>
            </a:r>
            <a:r>
              <a:rPr lang="it-IT" sz="1650" b="0" u="none" strike="noStrike">
                <a:solidFill>
                  <a:srgbClr val="212529"/>
                </a:solidFill>
                <a:effectLst/>
                <a:uFillTx/>
                <a:latin typeface="SegoeUI"/>
                <a:ea typeface="SegoeUI"/>
              </a:rPr>
              <a:t> (conv. L. 23 maggio 2024, n. 67); </a:t>
            </a:r>
            <a:r>
              <a:rPr lang="it-IT" sz="1650" b="1" u="none" strike="noStrike">
                <a:solidFill>
                  <a:srgbClr val="00509E"/>
                </a:solidFill>
                <a:effectLst/>
                <a:uFillTx/>
                <a:latin typeface="SegoeUI"/>
                <a:ea typeface="SegoeUI"/>
              </a:rPr>
              <a:t>D.M. MIMIT 24 aprile 2024</a:t>
            </a:r>
            <a:r>
              <a:rPr lang="it-IT" sz="1650" b="0" u="none" strike="noStrike">
                <a:solidFill>
                  <a:srgbClr val="212529"/>
                </a:solidFill>
                <a:effectLst/>
                <a:uFillTx/>
                <a:latin typeface="SegoeUI"/>
                <a:ea typeface="SegoeUI"/>
              </a:rPr>
              <a:t>; Ris. AE n. 19/E del</a:t>
            </a:r>
            <a:endParaRPr lang="it-IT" sz="1650" b="0" u="none" strike="noStrike">
              <a:solidFill>
                <a:srgbClr val="000000"/>
              </a:solidFill>
              <a:effectLst/>
              <a:uFillTx/>
              <a:latin typeface="Times New Roman"/>
            </a:endParaRPr>
          </a:p>
        </p:txBody>
      </p:sp>
      <p:sp>
        <p:nvSpPr>
          <p:cNvPr id="1666" name="CasellaDiTesto 1665"/>
          <p:cNvSpPr txBox="1"/>
          <p:nvPr/>
        </p:nvSpPr>
        <p:spPr>
          <a:xfrm>
            <a:off x="894960" y="1534140"/>
            <a:ext cx="13474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12 aprile 2024.</a:t>
            </a:r>
            <a:endParaRPr lang="it-IT" sz="1650" b="0" u="none" strike="noStrike">
              <a:solidFill>
                <a:srgbClr val="000000"/>
              </a:solidFill>
              <a:effectLst/>
              <a:uFillTx/>
              <a:latin typeface="Times New Roman"/>
            </a:endParaRPr>
          </a:p>
        </p:txBody>
      </p:sp>
      <p:sp>
        <p:nvSpPr>
          <p:cNvPr id="1667" name="CasellaDiTesto 1666"/>
          <p:cNvSpPr txBox="1"/>
          <p:nvPr/>
        </p:nvSpPr>
        <p:spPr>
          <a:xfrm>
            <a:off x="930600" y="1776600"/>
            <a:ext cx="105948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 </a:t>
            </a:r>
            <a:r>
              <a:rPr lang="it-IT" sz="1650" b="1" u="none" strike="noStrike">
                <a:solidFill>
                  <a:srgbClr val="00509E"/>
                </a:solidFill>
                <a:effectLst/>
                <a:uFillTx/>
                <a:latin typeface="SegoeUI"/>
                <a:ea typeface="SegoeUI"/>
              </a:rPr>
              <a:t>fruizione in compensazione</a:t>
            </a:r>
            <a:r>
              <a:rPr lang="it-IT" sz="1650" b="0" u="none" strike="noStrike">
                <a:solidFill>
                  <a:srgbClr val="212529"/>
                </a:solidFill>
                <a:effectLst/>
                <a:uFillTx/>
                <a:latin typeface="SegoeUI"/>
                <a:ea typeface="SegoeUI"/>
              </a:rPr>
              <a:t> dei crediti d'imposta </a:t>
            </a:r>
            <a:r>
              <a:rPr lang="it-IT" sz="1650" b="0" i="1" u="none" strike="noStrike">
                <a:solidFill>
                  <a:srgbClr val="495057"/>
                </a:solidFill>
                <a:effectLst/>
                <a:uFillTx/>
                <a:latin typeface="SegoeUI"/>
                <a:ea typeface="SegoeUI"/>
              </a:rPr>
              <a:t>Transizione 4.0</a:t>
            </a:r>
            <a:r>
              <a:rPr lang="it-IT" sz="1650" b="0" u="none" strike="noStrike">
                <a:solidFill>
                  <a:srgbClr val="212529"/>
                </a:solidFill>
                <a:effectLst/>
                <a:uFillTx/>
                <a:latin typeface="SegoeUI"/>
                <a:ea typeface="SegoeUI"/>
              </a:rPr>
              <a:t> e </a:t>
            </a:r>
            <a:r>
              <a:rPr lang="it-IT" sz="1650" b="0" i="1" u="none" strike="noStrike">
                <a:solidFill>
                  <a:srgbClr val="495057"/>
                </a:solidFill>
                <a:effectLst/>
                <a:uFillTx/>
                <a:latin typeface="SegoeUI"/>
                <a:ea typeface="SegoeUI"/>
              </a:rPr>
              <a:t>Ricerca &amp; Sviluppo / innovazione tecnologica</a:t>
            </a:r>
            <a:endParaRPr lang="it-IT" sz="1650" b="0" u="none" strike="noStrike">
              <a:solidFill>
                <a:srgbClr val="000000"/>
              </a:solidFill>
              <a:effectLst/>
              <a:uFillTx/>
              <a:latin typeface="Times New Roman"/>
            </a:endParaRPr>
          </a:p>
        </p:txBody>
      </p:sp>
      <p:sp>
        <p:nvSpPr>
          <p:cNvPr id="1668" name="Figura a mano libera: forma 1667"/>
          <p:cNvSpPr/>
          <p:nvPr/>
        </p:nvSpPr>
        <p:spPr>
          <a:xfrm>
            <a:off x="987480" y="2688480"/>
            <a:ext cx="76680" cy="76320"/>
          </a:xfrm>
          <a:custGeom>
            <a:avLst/>
            <a:gdLst/>
            <a:ahLst/>
            <a:cxnLst/>
            <a:rect l="0" t="0" r="r" b="b"/>
            <a:pathLst>
              <a:path w="213" h="212">
                <a:moveTo>
                  <a:pt x="213" y="106"/>
                </a:moveTo>
                <a:cubicBezTo>
                  <a:pt x="213" y="120"/>
                  <a:pt x="210" y="133"/>
                  <a:pt x="205" y="146"/>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69" name="CasellaDiTesto 1668"/>
          <p:cNvSpPr txBox="1"/>
          <p:nvPr/>
        </p:nvSpPr>
        <p:spPr>
          <a:xfrm>
            <a:off x="930600" y="2100600"/>
            <a:ext cx="778392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 design</a:t>
            </a:r>
            <a:r>
              <a:rPr lang="it-IT" sz="1650" b="0" u="none" strike="noStrike">
                <a:solidFill>
                  <a:srgbClr val="212529"/>
                </a:solidFill>
                <a:effectLst/>
                <a:uFillTx/>
                <a:latin typeface="SegoeUI"/>
                <a:ea typeface="SegoeUI"/>
              </a:rPr>
              <a:t> è subordinata a un doppio adempimento telematico al MIMIT (tramite </a:t>
            </a:r>
            <a:r>
              <a:rPr lang="it-IT" sz="1650" b="1" u="none" strike="noStrike">
                <a:solidFill>
                  <a:srgbClr val="00509E"/>
                </a:solidFill>
                <a:effectLst/>
                <a:uFillTx/>
                <a:latin typeface="SegoeUI"/>
                <a:ea typeface="SegoeUI"/>
              </a:rPr>
              <a:t>GSE</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670" name="CasellaDiTesto 1669"/>
          <p:cNvSpPr txBox="1"/>
          <p:nvPr/>
        </p:nvSpPr>
        <p:spPr>
          <a:xfrm>
            <a:off x="1197360" y="2577600"/>
            <a:ext cx="98575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comunicazione preventiva</a:t>
            </a:r>
            <a:r>
              <a:rPr lang="it-IT" sz="1580" b="0" u="none" strike="noStrike">
                <a:solidFill>
                  <a:srgbClr val="343A40"/>
                </a:solidFill>
                <a:effectLst/>
                <a:uFillTx/>
                <a:latin typeface="SegoeUI"/>
                <a:ea typeface="SegoeUI"/>
              </a:rPr>
              <a:t> (ex ante): ammontare complessivo degli investimenti e ripartizione pluriennale della</a:t>
            </a:r>
            <a:endParaRPr lang="it-IT" sz="1580" b="0" u="none" strike="noStrike">
              <a:solidFill>
                <a:srgbClr val="000000"/>
              </a:solidFill>
              <a:effectLst/>
              <a:uFillTx/>
              <a:latin typeface="Times New Roman"/>
            </a:endParaRPr>
          </a:p>
        </p:txBody>
      </p:sp>
      <p:sp>
        <p:nvSpPr>
          <p:cNvPr id="1671" name="Figura a mano libera: forma 1670"/>
          <p:cNvSpPr/>
          <p:nvPr/>
        </p:nvSpPr>
        <p:spPr>
          <a:xfrm>
            <a:off x="987480" y="347904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72" name="CasellaDiTesto 1671"/>
          <p:cNvSpPr txBox="1"/>
          <p:nvPr/>
        </p:nvSpPr>
        <p:spPr>
          <a:xfrm>
            <a:off x="1197360" y="2882160"/>
            <a:ext cx="1806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fruizione del credito;</a:t>
            </a:r>
            <a:endParaRPr lang="it-IT" sz="1580" b="0" u="none" strike="noStrike">
              <a:solidFill>
                <a:srgbClr val="000000"/>
              </a:solidFill>
              <a:effectLst/>
              <a:uFillTx/>
              <a:latin typeface="Times New Roman"/>
            </a:endParaRPr>
          </a:p>
        </p:txBody>
      </p:sp>
      <p:sp>
        <p:nvSpPr>
          <p:cNvPr id="1673" name="CasellaDiTesto 1672"/>
          <p:cNvSpPr txBox="1"/>
          <p:nvPr/>
        </p:nvSpPr>
        <p:spPr>
          <a:xfrm>
            <a:off x="1197360" y="3368160"/>
            <a:ext cx="854172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comunicazione consuntiva</a:t>
            </a:r>
            <a:r>
              <a:rPr lang="it-IT" sz="1580" b="0" u="none" strike="noStrike">
                <a:solidFill>
                  <a:srgbClr val="343A40"/>
                </a:solidFill>
                <a:effectLst/>
                <a:uFillTx/>
                <a:latin typeface="SegoeUI"/>
                <a:ea typeface="SegoeUI"/>
              </a:rPr>
              <a:t> (ex post): al completamento degli investimenti, per aggiornare i dati.</a:t>
            </a:r>
            <a:endParaRPr lang="it-IT" sz="1580" b="0" u="none" strike="noStrike">
              <a:solidFill>
                <a:srgbClr val="000000"/>
              </a:solidFill>
              <a:effectLst/>
              <a:uFillTx/>
              <a:latin typeface="Times New Roman"/>
            </a:endParaRPr>
          </a:p>
        </p:txBody>
      </p:sp>
      <p:sp>
        <p:nvSpPr>
          <p:cNvPr id="1674" name="CasellaDiTesto 1673"/>
          <p:cNvSpPr txBox="1"/>
          <p:nvPr/>
        </p:nvSpPr>
        <p:spPr>
          <a:xfrm>
            <a:off x="930600" y="3853080"/>
            <a:ext cx="1034748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Effetto</a:t>
            </a:r>
            <a:r>
              <a:rPr lang="it-IT" sz="1650" b="0" u="none" strike="noStrike">
                <a:solidFill>
                  <a:srgbClr val="212529"/>
                </a:solidFill>
                <a:effectLst/>
                <a:uFillTx/>
                <a:latin typeface="SegoeUI"/>
                <a:ea typeface="SegoeUI"/>
              </a:rPr>
              <a:t>: la trasmissione dei modelli è </a:t>
            </a:r>
            <a:r>
              <a:rPr lang="it-IT" sz="1650" b="1" u="none" strike="noStrike">
                <a:solidFill>
                  <a:srgbClr val="00509E"/>
                </a:solidFill>
                <a:effectLst/>
                <a:uFillTx/>
                <a:latin typeface="SegoeUI"/>
                <a:ea typeface="SegoeUI"/>
              </a:rPr>
              <a:t>presupposto costitutivo</a:t>
            </a:r>
            <a:r>
              <a:rPr lang="it-IT" sz="1650" b="0" u="none" strike="noStrike">
                <a:solidFill>
                  <a:srgbClr val="212529"/>
                </a:solidFill>
                <a:effectLst/>
                <a:uFillTx/>
                <a:latin typeface="SegoeUI"/>
                <a:ea typeface="SegoeUI"/>
              </a:rPr>
              <a:t> della compensazione. Nelle more dell'emanazione</a:t>
            </a:r>
            <a:endParaRPr lang="it-IT" sz="1650" b="0" u="none" strike="noStrike">
              <a:solidFill>
                <a:srgbClr val="000000"/>
              </a:solidFill>
              <a:effectLst/>
              <a:uFillTx/>
              <a:latin typeface="Times New Roman"/>
            </a:endParaRPr>
          </a:p>
        </p:txBody>
      </p:sp>
      <p:sp>
        <p:nvSpPr>
          <p:cNvPr id="1675" name="CasellaDiTesto 1674"/>
          <p:cNvSpPr txBox="1"/>
          <p:nvPr/>
        </p:nvSpPr>
        <p:spPr>
          <a:xfrm>
            <a:off x="930600" y="4177080"/>
            <a:ext cx="8206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del DM, l'Agenzia (Ris. 19/E/2024) aveva sospeso la compensabilità dei crediti 2023-2024.</a:t>
            </a:r>
            <a:endParaRPr lang="it-IT" sz="1650" b="0" u="none" strike="noStrike">
              <a:solidFill>
                <a:srgbClr val="000000"/>
              </a:solidFill>
              <a:effectLst/>
              <a:uFillTx/>
              <a:latin typeface="Times New Roman"/>
            </a:endParaRPr>
          </a:p>
        </p:txBody>
      </p:sp>
      <p:sp>
        <p:nvSpPr>
          <p:cNvPr id="1676" name="CasellaDiTesto 1675"/>
          <p:cNvSpPr txBox="1"/>
          <p:nvPr/>
        </p:nvSpPr>
        <p:spPr>
          <a:xfrm>
            <a:off x="930600" y="4653360"/>
            <a:ext cx="1036080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Remissione in bonis</a:t>
            </a:r>
            <a:r>
              <a:rPr lang="it-IT" sz="1650" b="0" u="none" strike="noStrike">
                <a:solidFill>
                  <a:srgbClr val="212529"/>
                </a:solidFill>
                <a:effectLst/>
                <a:uFillTx/>
                <a:latin typeface="SegoeUI"/>
                <a:ea typeface="SegoeUI"/>
              </a:rPr>
              <a:t> (art. 2 D.L. 16/2012): possibilità di regolarizzare l'omessa comunicazione con sanzione fissa di</a:t>
            </a:r>
            <a:endParaRPr lang="it-IT" sz="1650" b="0" u="none" strike="noStrike">
              <a:solidFill>
                <a:srgbClr val="000000"/>
              </a:solidFill>
              <a:effectLst/>
              <a:uFillTx/>
              <a:latin typeface="Times New Roman"/>
            </a:endParaRPr>
          </a:p>
        </p:txBody>
      </p:sp>
      <p:sp>
        <p:nvSpPr>
          <p:cNvPr id="1677" name="CasellaDiTesto 1676"/>
          <p:cNvSpPr txBox="1"/>
          <p:nvPr/>
        </p:nvSpPr>
        <p:spPr>
          <a:xfrm>
            <a:off x="930600" y="4977000"/>
            <a:ext cx="81493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250 €, purché i requisiti sostanziali siano esistenti e la violazione non sia stata contestata.</a:t>
            </a:r>
            <a:endParaRPr lang="it-IT" sz="1650" b="0" u="none" strike="noStrike">
              <a:solidFill>
                <a:srgbClr val="000000"/>
              </a:solidFill>
              <a:effectLst/>
              <a:uFillTx/>
              <a:latin typeface="Times New Roman"/>
            </a:endParaRPr>
          </a:p>
        </p:txBody>
      </p:sp>
      <p:sp>
        <p:nvSpPr>
          <p:cNvPr id="1678" name="CasellaDiTesto 1677"/>
          <p:cNvSpPr txBox="1"/>
          <p:nvPr/>
        </p:nvSpPr>
        <p:spPr>
          <a:xfrm>
            <a:off x="930600" y="5453280"/>
            <a:ext cx="1032912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Rilievo sistemico</a:t>
            </a:r>
            <a:r>
              <a:rPr lang="it-IT" sz="1650" b="0" u="none" strike="noStrike">
                <a:solidFill>
                  <a:srgbClr val="212529"/>
                </a:solidFill>
                <a:effectLst/>
                <a:uFillTx/>
                <a:latin typeface="SegoeUI"/>
                <a:ea typeface="SegoeUI"/>
              </a:rPr>
              <a:t>: la norma introduce un meccanismo di </a:t>
            </a:r>
            <a:r>
              <a:rPr lang="it-IT" sz="1650" b="0" i="1" u="none" strike="noStrike">
                <a:solidFill>
                  <a:srgbClr val="495057"/>
                </a:solidFill>
                <a:effectLst/>
                <a:uFillTx/>
                <a:latin typeface="SegoeUI"/>
                <a:ea typeface="SegoeUI"/>
              </a:rPr>
              <a:t>monitoraggio finanziario</a:t>
            </a:r>
            <a:r>
              <a:rPr lang="it-IT" sz="1650" b="0" u="none" strike="noStrike">
                <a:solidFill>
                  <a:srgbClr val="212529"/>
                </a:solidFill>
                <a:effectLst/>
                <a:uFillTx/>
                <a:latin typeface="SegoeUI"/>
                <a:ea typeface="SegoeUI"/>
              </a:rPr>
              <a:t> dei tetti di spesa, senza inficiare</a:t>
            </a:r>
            <a:endParaRPr lang="it-IT" sz="1650" b="0" u="none" strike="noStrike">
              <a:solidFill>
                <a:srgbClr val="000000"/>
              </a:solidFill>
              <a:effectLst/>
              <a:uFillTx/>
              <a:latin typeface="Times New Roman"/>
            </a:endParaRPr>
          </a:p>
        </p:txBody>
      </p:sp>
      <p:sp>
        <p:nvSpPr>
          <p:cNvPr id="1679" name="CasellaDiTesto 1678"/>
          <p:cNvSpPr txBox="1"/>
          <p:nvPr/>
        </p:nvSpPr>
        <p:spPr>
          <a:xfrm>
            <a:off x="930600" y="5777280"/>
            <a:ext cx="10432080" cy="277920"/>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la spettanza sostanziale del credito. Il mancato adempimento si colloca, alla luce del </a:t>
            </a:r>
            <a:r>
              <a:rPr lang="it-IT" sz="1650" b="0" u="none" strike="noStrike" dirty="0" err="1">
                <a:solidFill>
                  <a:srgbClr val="212529"/>
                </a:solidFill>
                <a:effectLst/>
                <a:uFillTx/>
                <a:latin typeface="SegoeUI"/>
                <a:ea typeface="SegoeUI"/>
              </a:rPr>
              <a:t>D.Lgs.</a:t>
            </a:r>
            <a:r>
              <a:rPr lang="it-IT" sz="1650" b="0" u="none" strike="noStrike" dirty="0">
                <a:solidFill>
                  <a:srgbClr val="212529"/>
                </a:solidFill>
                <a:effectLst/>
                <a:uFillTx/>
                <a:latin typeface="SegoeUI"/>
                <a:ea typeface="SegoeUI"/>
              </a:rPr>
              <a:t> 87/2024, nell'alveo del</a:t>
            </a:r>
            <a:endParaRPr lang="it-IT" sz="1650" b="0" u="none" strike="noStrike" dirty="0">
              <a:solidFill>
                <a:srgbClr val="000000"/>
              </a:solidFill>
              <a:effectLst/>
              <a:uFillTx/>
              <a:latin typeface="Times New Roman"/>
            </a:endParaRPr>
          </a:p>
        </p:txBody>
      </p:sp>
      <p:sp>
        <p:nvSpPr>
          <p:cNvPr id="1680" name="CasellaDiTesto 1679"/>
          <p:cNvSpPr txBox="1"/>
          <p:nvPr/>
        </p:nvSpPr>
        <p:spPr>
          <a:xfrm>
            <a:off x="930600" y="6100920"/>
            <a:ext cx="9640652" cy="253916"/>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credito </a:t>
            </a:r>
            <a:r>
              <a:rPr lang="it-IT" sz="1650" b="1" u="none" strike="noStrike" dirty="0">
                <a:solidFill>
                  <a:srgbClr val="00509E"/>
                </a:solidFill>
                <a:effectLst/>
                <a:uFillTx/>
                <a:latin typeface="SegoeUI"/>
                <a:ea typeface="SegoeUI"/>
              </a:rPr>
              <a:t>non spettante</a:t>
            </a:r>
            <a:r>
              <a:rPr lang="it-IT" sz="1650" b="0" u="none" strike="noStrike" dirty="0">
                <a:solidFill>
                  <a:srgbClr val="212529"/>
                </a:solidFill>
                <a:effectLst/>
                <a:uFillTx/>
                <a:latin typeface="SegoeUI"/>
                <a:ea typeface="SegoeUI"/>
              </a:rPr>
              <a:t> (lett. g-quinquies: «adempimenti amministrativi espressamente previsti a pena di</a:t>
            </a:r>
            <a:endParaRPr lang="it-IT" sz="1650" b="0" u="none" strike="noStrike" dirty="0">
              <a:solidFill>
                <a:srgbClr val="000000"/>
              </a:solidFill>
              <a:effectLst/>
              <a:uFillTx/>
              <a:latin typeface="Times New Roman"/>
            </a:endParaRPr>
          </a:p>
        </p:txBody>
      </p:sp>
      <p:sp>
        <p:nvSpPr>
          <p:cNvPr id="1691" name="CasellaDiTesto 1690"/>
          <p:cNvSpPr txBox="1"/>
          <p:nvPr/>
        </p:nvSpPr>
        <p:spPr>
          <a:xfrm>
            <a:off x="11054880" y="6413760"/>
            <a:ext cx="721800" cy="163440"/>
          </a:xfrm>
          <a:prstGeom prst="rect">
            <a:avLst/>
          </a:prstGeom>
          <a:noFill/>
          <a:ln w="0">
            <a:noFill/>
          </a:ln>
        </p:spPr>
        <p:txBody>
          <a:bodyPr wrap="none" lIns="0" tIns="0" rIns="0" bIns="0" anchor="t">
            <a:spAutoFit/>
          </a:bodyPr>
          <a:lstStyle/>
          <a:p>
            <a:r>
              <a:rPr lang="it-IT" sz="980" b="0" u="none" strike="noStrike" dirty="0">
                <a:solidFill>
                  <a:srgbClr val="ADB5BD"/>
                </a:solidFill>
                <a:effectLst/>
                <a:uFillTx/>
                <a:latin typeface="SegoeUI"/>
                <a:ea typeface="SegoeUI"/>
              </a:rPr>
              <a:t>SLIDE 57 / 73</a:t>
            </a:r>
            <a:endParaRPr lang="it-IT" sz="980" b="0" u="none" strike="noStrike" dirty="0">
              <a:solidFill>
                <a:srgbClr val="000000"/>
              </a:solidFill>
              <a:effectLst/>
              <a:uFillTx/>
              <a:latin typeface="Times New Roman"/>
            </a:endParaRPr>
          </a:p>
        </p:txBody>
      </p:sp>
      <p:sp>
        <p:nvSpPr>
          <p:cNvPr id="2" name="CasellaDiTesto 1">
            <a:extLst>
              <a:ext uri="{FF2B5EF4-FFF2-40B4-BE49-F238E27FC236}">
                <a16:creationId xmlns:a16="http://schemas.microsoft.com/office/drawing/2014/main" id="{AE28B9DB-575D-421D-857C-EB2DAE4F34F5}"/>
              </a:ext>
            </a:extLst>
          </p:cNvPr>
          <p:cNvSpPr txBox="1"/>
          <p:nvPr/>
        </p:nvSpPr>
        <p:spPr>
          <a:xfrm>
            <a:off x="930600" y="6422236"/>
            <a:ext cx="3149773" cy="253916"/>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Decadenza»), non dell’inesistente.</a:t>
            </a:r>
            <a:endParaRPr lang="it-IT" sz="1650" b="0" u="none" strike="noStrike" dirty="0">
              <a:solidFill>
                <a:srgbClr val="000000"/>
              </a:solidFill>
              <a:effectLst/>
              <a:uFillTx/>
              <a:latin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2" name="Figura a mano libera: forma 169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93" name="Figura a mano libera: forma 169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94" name="Figura a mano libera: forma 1693"/>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95" name="Figura a mano libera: forma 1694"/>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696" name="Figura a mano libera: forma 1695"/>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97" name="Figura a mano libera: forma 1696"/>
          <p:cNvSpPr/>
          <p:nvPr/>
        </p:nvSpPr>
        <p:spPr>
          <a:xfrm>
            <a:off x="981000" y="2447640"/>
            <a:ext cx="3753000" cy="381600"/>
          </a:xfrm>
          <a:custGeom>
            <a:avLst/>
            <a:gdLst/>
            <a:ahLst/>
            <a:cxnLst/>
            <a:rect l="0" t="0" r="r" b="b"/>
            <a:pathLst>
              <a:path w="10425" h="1060">
                <a:moveTo>
                  <a:pt x="0" y="0"/>
                </a:moveTo>
                <a:lnTo>
                  <a:pt x="10425" y="0"/>
                </a:lnTo>
                <a:lnTo>
                  <a:pt x="10425" y="1060"/>
                </a:lnTo>
                <a:lnTo>
                  <a:pt x="0" y="106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98" name="Figura a mano libera: forma 1697"/>
          <p:cNvSpPr/>
          <p:nvPr/>
        </p:nvSpPr>
        <p:spPr>
          <a:xfrm>
            <a:off x="4733640" y="2447640"/>
            <a:ext cx="3353400" cy="381600"/>
          </a:xfrm>
          <a:custGeom>
            <a:avLst/>
            <a:gdLst/>
            <a:ahLst/>
            <a:cxnLst/>
            <a:rect l="0" t="0" r="r" b="b"/>
            <a:pathLst>
              <a:path w="9315" h="1060">
                <a:moveTo>
                  <a:pt x="0" y="0"/>
                </a:moveTo>
                <a:lnTo>
                  <a:pt x="9315" y="0"/>
                </a:lnTo>
                <a:lnTo>
                  <a:pt x="9315" y="1060"/>
                </a:lnTo>
                <a:lnTo>
                  <a:pt x="0" y="106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699" name="Figura a mano libera: forma 1698"/>
          <p:cNvSpPr/>
          <p:nvPr/>
        </p:nvSpPr>
        <p:spPr>
          <a:xfrm>
            <a:off x="8086680" y="2447640"/>
            <a:ext cx="3438720" cy="381600"/>
          </a:xfrm>
          <a:custGeom>
            <a:avLst/>
            <a:gdLst/>
            <a:ahLst/>
            <a:cxnLst/>
            <a:rect l="0" t="0" r="r" b="b"/>
            <a:pathLst>
              <a:path w="9552" h="1060">
                <a:moveTo>
                  <a:pt x="9552" y="1060"/>
                </a:moveTo>
                <a:lnTo>
                  <a:pt x="0" y="1060"/>
                </a:lnTo>
                <a:lnTo>
                  <a:pt x="0" y="0"/>
                </a:lnTo>
                <a:lnTo>
                  <a:pt x="9552" y="0"/>
                </a:lnTo>
                <a:lnTo>
                  <a:pt x="9552" y="106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00" name="Figura a mano libera: forma 1699"/>
          <p:cNvSpPr/>
          <p:nvPr/>
        </p:nvSpPr>
        <p:spPr>
          <a:xfrm>
            <a:off x="981000" y="2447640"/>
            <a:ext cx="3753000" cy="381600"/>
          </a:xfrm>
          <a:custGeom>
            <a:avLst/>
            <a:gdLst/>
            <a:ahLst/>
            <a:cxnLst/>
            <a:rect l="0" t="0" r="r" b="b"/>
            <a:pathLst>
              <a:path w="10425" h="1060">
                <a:moveTo>
                  <a:pt x="0" y="0"/>
                </a:moveTo>
                <a:lnTo>
                  <a:pt x="10425" y="0"/>
                </a:lnTo>
                <a:lnTo>
                  <a:pt x="10425" y="1060"/>
                </a:lnTo>
                <a:lnTo>
                  <a:pt x="0" y="1060"/>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701" name="Figura a mano libera: forma 1700"/>
          <p:cNvSpPr/>
          <p:nvPr/>
        </p:nvSpPr>
        <p:spPr>
          <a:xfrm>
            <a:off x="4733640" y="2447640"/>
            <a:ext cx="3353400" cy="381600"/>
          </a:xfrm>
          <a:custGeom>
            <a:avLst/>
            <a:gdLst/>
            <a:ahLst/>
            <a:cxnLst/>
            <a:rect l="0" t="0" r="r" b="b"/>
            <a:pathLst>
              <a:path w="9315" h="1060">
                <a:moveTo>
                  <a:pt x="0" y="0"/>
                </a:moveTo>
                <a:lnTo>
                  <a:pt x="9315" y="0"/>
                </a:lnTo>
                <a:lnTo>
                  <a:pt x="9315" y="1060"/>
                </a:lnTo>
                <a:lnTo>
                  <a:pt x="0" y="1060"/>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702" name="Figura a mano libera: forma 1701"/>
          <p:cNvSpPr/>
          <p:nvPr/>
        </p:nvSpPr>
        <p:spPr>
          <a:xfrm>
            <a:off x="8086680" y="2447640"/>
            <a:ext cx="3438720" cy="381600"/>
          </a:xfrm>
          <a:custGeom>
            <a:avLst/>
            <a:gdLst/>
            <a:ahLst/>
            <a:cxnLst/>
            <a:rect l="0" t="0" r="r" b="b"/>
            <a:pathLst>
              <a:path w="9552" h="1060">
                <a:moveTo>
                  <a:pt x="9552" y="1060"/>
                </a:moveTo>
                <a:lnTo>
                  <a:pt x="0" y="1060"/>
                </a:lnTo>
                <a:lnTo>
                  <a:pt x="0" y="0"/>
                </a:lnTo>
                <a:lnTo>
                  <a:pt x="9552" y="0"/>
                </a:lnTo>
                <a:lnTo>
                  <a:pt x="9552" y="106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703" name="Figura a mano libera: forma 1702"/>
          <p:cNvSpPr/>
          <p:nvPr/>
        </p:nvSpPr>
        <p:spPr>
          <a:xfrm>
            <a:off x="981000" y="2828880"/>
            <a:ext cx="3753000" cy="686160"/>
          </a:xfrm>
          <a:custGeom>
            <a:avLst/>
            <a:gdLst/>
            <a:ahLst/>
            <a:cxnLst/>
            <a:rect l="0" t="0" r="r" b="b"/>
            <a:pathLst>
              <a:path w="10425" h="1906">
                <a:moveTo>
                  <a:pt x="0" y="0"/>
                </a:moveTo>
                <a:lnTo>
                  <a:pt x="10425" y="0"/>
                </a:lnTo>
                <a:lnTo>
                  <a:pt x="10425"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04" name="Figura a mano libera: forma 1703"/>
          <p:cNvSpPr/>
          <p:nvPr/>
        </p:nvSpPr>
        <p:spPr>
          <a:xfrm>
            <a:off x="4733640" y="2828880"/>
            <a:ext cx="3353400" cy="686160"/>
          </a:xfrm>
          <a:custGeom>
            <a:avLst/>
            <a:gdLst/>
            <a:ahLst/>
            <a:cxnLst/>
            <a:rect l="0" t="0" r="r" b="b"/>
            <a:pathLst>
              <a:path w="9315" h="1906">
                <a:moveTo>
                  <a:pt x="0" y="0"/>
                </a:moveTo>
                <a:lnTo>
                  <a:pt x="9315" y="0"/>
                </a:lnTo>
                <a:lnTo>
                  <a:pt x="9315" y="1906"/>
                </a:lnTo>
                <a:lnTo>
                  <a:pt x="0" y="1906"/>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05" name="Figura a mano libera: forma 1704"/>
          <p:cNvSpPr/>
          <p:nvPr/>
        </p:nvSpPr>
        <p:spPr>
          <a:xfrm>
            <a:off x="8086680" y="2828880"/>
            <a:ext cx="3438720" cy="686160"/>
          </a:xfrm>
          <a:custGeom>
            <a:avLst/>
            <a:gdLst/>
            <a:ahLst/>
            <a:cxnLst/>
            <a:rect l="0" t="0" r="r" b="b"/>
            <a:pathLst>
              <a:path w="9552" h="1906">
                <a:moveTo>
                  <a:pt x="9552" y="1906"/>
                </a:moveTo>
                <a:lnTo>
                  <a:pt x="0" y="1906"/>
                </a:lnTo>
                <a:lnTo>
                  <a:pt x="0" y="0"/>
                </a:lnTo>
                <a:lnTo>
                  <a:pt x="9552" y="0"/>
                </a:lnTo>
                <a:lnTo>
                  <a:pt x="9552" y="1906"/>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06" name="Figura a mano libera: forma 1705"/>
          <p:cNvSpPr/>
          <p:nvPr/>
        </p:nvSpPr>
        <p:spPr>
          <a:xfrm>
            <a:off x="981000" y="3514680"/>
            <a:ext cx="3753000" cy="676440"/>
          </a:xfrm>
          <a:custGeom>
            <a:avLst/>
            <a:gdLst/>
            <a:ahLst/>
            <a:cxnLst/>
            <a:rect l="0" t="0" r="r" b="b"/>
            <a:pathLst>
              <a:path w="10425" h="1879">
                <a:moveTo>
                  <a:pt x="0" y="0"/>
                </a:moveTo>
                <a:lnTo>
                  <a:pt x="10425" y="0"/>
                </a:lnTo>
                <a:lnTo>
                  <a:pt x="10425" y="1879"/>
                </a:lnTo>
                <a:lnTo>
                  <a:pt x="0" y="1879"/>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07" name="Figura a mano libera: forma 1706"/>
          <p:cNvSpPr/>
          <p:nvPr/>
        </p:nvSpPr>
        <p:spPr>
          <a:xfrm>
            <a:off x="4733640" y="3514680"/>
            <a:ext cx="3353400" cy="676440"/>
          </a:xfrm>
          <a:custGeom>
            <a:avLst/>
            <a:gdLst/>
            <a:ahLst/>
            <a:cxnLst/>
            <a:rect l="0" t="0" r="r" b="b"/>
            <a:pathLst>
              <a:path w="9315" h="1879">
                <a:moveTo>
                  <a:pt x="0" y="0"/>
                </a:moveTo>
                <a:lnTo>
                  <a:pt x="9315" y="0"/>
                </a:lnTo>
                <a:lnTo>
                  <a:pt x="9315" y="1879"/>
                </a:lnTo>
                <a:lnTo>
                  <a:pt x="0" y="1879"/>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08" name="Figura a mano libera: forma 1707"/>
          <p:cNvSpPr/>
          <p:nvPr/>
        </p:nvSpPr>
        <p:spPr>
          <a:xfrm>
            <a:off x="8086680" y="3514680"/>
            <a:ext cx="3438720" cy="676440"/>
          </a:xfrm>
          <a:custGeom>
            <a:avLst/>
            <a:gdLst/>
            <a:ahLst/>
            <a:cxnLst/>
            <a:rect l="0" t="0" r="r" b="b"/>
            <a:pathLst>
              <a:path w="9552" h="1879">
                <a:moveTo>
                  <a:pt x="9552" y="1879"/>
                </a:moveTo>
                <a:lnTo>
                  <a:pt x="0" y="1879"/>
                </a:lnTo>
                <a:lnTo>
                  <a:pt x="0" y="0"/>
                </a:lnTo>
                <a:lnTo>
                  <a:pt x="9552" y="0"/>
                </a:lnTo>
                <a:lnTo>
                  <a:pt x="9552" y="1879"/>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09" name="Figura a mano libera: forma 1708"/>
          <p:cNvSpPr/>
          <p:nvPr/>
        </p:nvSpPr>
        <p:spPr>
          <a:xfrm>
            <a:off x="981000" y="4190760"/>
            <a:ext cx="3753000" cy="686160"/>
          </a:xfrm>
          <a:custGeom>
            <a:avLst/>
            <a:gdLst/>
            <a:ahLst/>
            <a:cxnLst/>
            <a:rect l="0" t="0" r="r" b="b"/>
            <a:pathLst>
              <a:path w="10425" h="1906">
                <a:moveTo>
                  <a:pt x="0" y="1906"/>
                </a:moveTo>
                <a:lnTo>
                  <a:pt x="0" y="0"/>
                </a:lnTo>
                <a:lnTo>
                  <a:pt x="10425" y="0"/>
                </a:lnTo>
                <a:lnTo>
                  <a:pt x="10425" y="1906"/>
                </a:lnTo>
                <a:lnTo>
                  <a:pt x="0" y="1906"/>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0" name="Figura a mano libera: forma 1709"/>
          <p:cNvSpPr/>
          <p:nvPr/>
        </p:nvSpPr>
        <p:spPr>
          <a:xfrm>
            <a:off x="4733640" y="4190760"/>
            <a:ext cx="3353400" cy="686160"/>
          </a:xfrm>
          <a:custGeom>
            <a:avLst/>
            <a:gdLst/>
            <a:ahLst/>
            <a:cxnLst/>
            <a:rect l="0" t="0" r="r" b="b"/>
            <a:pathLst>
              <a:path w="9315" h="1906">
                <a:moveTo>
                  <a:pt x="0" y="1906"/>
                </a:moveTo>
                <a:lnTo>
                  <a:pt x="0" y="0"/>
                </a:lnTo>
                <a:lnTo>
                  <a:pt x="9315" y="0"/>
                </a:lnTo>
                <a:lnTo>
                  <a:pt x="9315" y="1906"/>
                </a:lnTo>
                <a:lnTo>
                  <a:pt x="0" y="1906"/>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1" name="Figura a mano libera: forma 1710"/>
          <p:cNvSpPr/>
          <p:nvPr/>
        </p:nvSpPr>
        <p:spPr>
          <a:xfrm>
            <a:off x="8086680" y="4190760"/>
            <a:ext cx="3438720" cy="686160"/>
          </a:xfrm>
          <a:custGeom>
            <a:avLst/>
            <a:gdLst/>
            <a:ahLst/>
            <a:cxnLst/>
            <a:rect l="0" t="0" r="r" b="b"/>
            <a:pathLst>
              <a:path w="9552" h="1906">
                <a:moveTo>
                  <a:pt x="9552" y="1906"/>
                </a:moveTo>
                <a:lnTo>
                  <a:pt x="0" y="1906"/>
                </a:lnTo>
                <a:lnTo>
                  <a:pt x="0" y="0"/>
                </a:lnTo>
                <a:lnTo>
                  <a:pt x="9552" y="0"/>
                </a:lnTo>
                <a:lnTo>
                  <a:pt x="9552" y="1906"/>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2" name="Figura a mano libera: forma 1711"/>
          <p:cNvSpPr/>
          <p:nvPr/>
        </p:nvSpPr>
        <p:spPr>
          <a:xfrm>
            <a:off x="971280" y="244764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3" name="Figura a mano libera: forma 1712"/>
          <p:cNvSpPr/>
          <p:nvPr/>
        </p:nvSpPr>
        <p:spPr>
          <a:xfrm>
            <a:off x="971280" y="2447640"/>
            <a:ext cx="3762720" cy="10080"/>
          </a:xfrm>
          <a:custGeom>
            <a:avLst/>
            <a:gdLst/>
            <a:ahLst/>
            <a:cxnLst/>
            <a:rect l="0" t="0" r="r" b="b"/>
            <a:pathLst>
              <a:path w="10452" h="28">
                <a:moveTo>
                  <a:pt x="0" y="0"/>
                </a:moveTo>
                <a:lnTo>
                  <a:pt x="10452" y="0"/>
                </a:lnTo>
                <a:lnTo>
                  <a:pt x="10452"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4" name="Figura a mano libera: forma 1713"/>
          <p:cNvSpPr/>
          <p:nvPr/>
        </p:nvSpPr>
        <p:spPr>
          <a:xfrm>
            <a:off x="4724280" y="2447640"/>
            <a:ext cx="9720" cy="381600"/>
          </a:xfrm>
          <a:custGeom>
            <a:avLst/>
            <a:gdLst/>
            <a:ahLst/>
            <a:cxn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5" name="Figura a mano libera: forma 1714"/>
          <p:cNvSpPr/>
          <p:nvPr/>
        </p:nvSpPr>
        <p:spPr>
          <a:xfrm>
            <a:off x="4733640" y="2447640"/>
            <a:ext cx="3362760" cy="10080"/>
          </a:xfrm>
          <a:custGeom>
            <a:avLst/>
            <a:gdLst/>
            <a:ahLst/>
            <a:cxnLst/>
            <a:rect l="0" t="0" r="r" b="b"/>
            <a:pathLst>
              <a:path w="9341" h="28">
                <a:moveTo>
                  <a:pt x="0" y="0"/>
                </a:moveTo>
                <a:lnTo>
                  <a:pt x="9341" y="0"/>
                </a:lnTo>
                <a:lnTo>
                  <a:pt x="934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6" name="Figura a mano libera: forma 1715"/>
          <p:cNvSpPr/>
          <p:nvPr/>
        </p:nvSpPr>
        <p:spPr>
          <a:xfrm>
            <a:off x="8086680" y="2447640"/>
            <a:ext cx="9720" cy="381600"/>
          </a:xfrm>
          <a:custGeom>
            <a:avLst/>
            <a:gdLst/>
            <a:ahLst/>
            <a:cxn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7" name="Figura a mano libera: forma 1716"/>
          <p:cNvSpPr/>
          <p:nvPr/>
        </p:nvSpPr>
        <p:spPr>
          <a:xfrm>
            <a:off x="8096040" y="2447640"/>
            <a:ext cx="3429360" cy="10080"/>
          </a:xfrm>
          <a:custGeom>
            <a:avLst/>
            <a:gdLst/>
            <a:ahLst/>
            <a:cxnLst/>
            <a:rect l="0" t="0" r="r" b="b"/>
            <a:pathLst>
              <a:path w="9526" h="28">
                <a:moveTo>
                  <a:pt x="9526" y="28"/>
                </a:moveTo>
                <a:lnTo>
                  <a:pt x="0" y="28"/>
                </a:lnTo>
                <a:lnTo>
                  <a:pt x="0" y="0"/>
                </a:lnTo>
                <a:lnTo>
                  <a:pt x="9526" y="0"/>
                </a:lnTo>
                <a:lnTo>
                  <a:pt x="9526" y="28"/>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8" name="Figura a mano libera: forma 1717"/>
          <p:cNvSpPr/>
          <p:nvPr/>
        </p:nvSpPr>
        <p:spPr>
          <a:xfrm>
            <a:off x="11515680" y="2447640"/>
            <a:ext cx="9720" cy="381600"/>
          </a:xfrm>
          <a:custGeom>
            <a:avLst/>
            <a:gdLst/>
            <a:ahLst/>
            <a:cxnLst/>
            <a:rect l="0" t="0" r="r" b="b"/>
            <a:pathLst>
              <a:path w="27" h="1060">
                <a:moveTo>
                  <a:pt x="27" y="1060"/>
                </a:moveTo>
                <a:lnTo>
                  <a:pt x="0" y="1060"/>
                </a:lnTo>
                <a:lnTo>
                  <a:pt x="0" y="0"/>
                </a:lnTo>
                <a:lnTo>
                  <a:pt x="27" y="0"/>
                </a:lnTo>
                <a:lnTo>
                  <a:pt x="27" y="106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19" name="Figura a mano libera: forma 1718"/>
          <p:cNvSpPr/>
          <p:nvPr/>
        </p:nvSpPr>
        <p:spPr>
          <a:xfrm>
            <a:off x="971280" y="2819160"/>
            <a:ext cx="3762720" cy="10080"/>
          </a:xfrm>
          <a:custGeom>
            <a:avLst/>
            <a:gdLst/>
            <a:ahLst/>
            <a:cxnLst/>
            <a:rect l="0" t="0" r="r" b="b"/>
            <a:pathLst>
              <a:path w="10452" h="28">
                <a:moveTo>
                  <a:pt x="0" y="0"/>
                </a:moveTo>
                <a:lnTo>
                  <a:pt x="10452" y="0"/>
                </a:lnTo>
                <a:lnTo>
                  <a:pt x="10452"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0" name="Figura a mano libera: forma 1719"/>
          <p:cNvSpPr/>
          <p:nvPr/>
        </p:nvSpPr>
        <p:spPr>
          <a:xfrm>
            <a:off x="4733640" y="2819160"/>
            <a:ext cx="3362760" cy="10080"/>
          </a:xfrm>
          <a:custGeom>
            <a:avLst/>
            <a:gdLst/>
            <a:ahLst/>
            <a:cxnLst/>
            <a:rect l="0" t="0" r="r" b="b"/>
            <a:pathLst>
              <a:path w="9341" h="28">
                <a:moveTo>
                  <a:pt x="0" y="0"/>
                </a:moveTo>
                <a:lnTo>
                  <a:pt x="9341" y="0"/>
                </a:lnTo>
                <a:lnTo>
                  <a:pt x="934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1" name="Figura a mano libera: forma 1720"/>
          <p:cNvSpPr/>
          <p:nvPr/>
        </p:nvSpPr>
        <p:spPr>
          <a:xfrm>
            <a:off x="8096040" y="2819160"/>
            <a:ext cx="3429360" cy="10080"/>
          </a:xfrm>
          <a:custGeom>
            <a:avLst/>
            <a:gdLst/>
            <a:ahLst/>
            <a:cxnLst/>
            <a:rect l="0" t="0" r="r" b="b"/>
            <a:pathLst>
              <a:path w="9526" h="28">
                <a:moveTo>
                  <a:pt x="9526" y="28"/>
                </a:moveTo>
                <a:lnTo>
                  <a:pt x="0" y="28"/>
                </a:lnTo>
                <a:lnTo>
                  <a:pt x="0" y="0"/>
                </a:lnTo>
                <a:lnTo>
                  <a:pt x="9526" y="0"/>
                </a:lnTo>
                <a:lnTo>
                  <a:pt x="9526" y="28"/>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2" name="Figura a mano libera: forma 1721"/>
          <p:cNvSpPr/>
          <p:nvPr/>
        </p:nvSpPr>
        <p:spPr>
          <a:xfrm>
            <a:off x="971280" y="282888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3" name="Figura a mano libera: forma 1722"/>
          <p:cNvSpPr/>
          <p:nvPr/>
        </p:nvSpPr>
        <p:spPr>
          <a:xfrm>
            <a:off x="4724280" y="28288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4" name="Figura a mano libera: forma 1723"/>
          <p:cNvSpPr/>
          <p:nvPr/>
        </p:nvSpPr>
        <p:spPr>
          <a:xfrm>
            <a:off x="8086680" y="28288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5" name="Figura a mano libera: forma 1724"/>
          <p:cNvSpPr/>
          <p:nvPr/>
        </p:nvSpPr>
        <p:spPr>
          <a:xfrm>
            <a:off x="11515680" y="282888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6" name="Figura a mano libera: forma 1725"/>
          <p:cNvSpPr/>
          <p:nvPr/>
        </p:nvSpPr>
        <p:spPr>
          <a:xfrm>
            <a:off x="971280" y="3514680"/>
            <a:ext cx="10080" cy="686160"/>
          </a:xfrm>
          <a:custGeom>
            <a:avLst/>
            <a:gdLst/>
            <a:ahLst/>
            <a:cxnLst/>
            <a:rect l="0" t="0" r="r" b="b"/>
            <a:pathLst>
              <a:path w="28" h="1906">
                <a:moveTo>
                  <a:pt x="0" y="0"/>
                </a:moveTo>
                <a:lnTo>
                  <a:pt x="28" y="0"/>
                </a:lnTo>
                <a:lnTo>
                  <a:pt x="28"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7" name="Figura a mano libera: forma 1726"/>
          <p:cNvSpPr/>
          <p:nvPr/>
        </p:nvSpPr>
        <p:spPr>
          <a:xfrm>
            <a:off x="971280" y="3504960"/>
            <a:ext cx="3762720" cy="10440"/>
          </a:xfrm>
          <a:custGeom>
            <a:avLst/>
            <a:gdLst/>
            <a:ahLst/>
            <a:cxnLst/>
            <a:rect l="0" t="0" r="r" b="b"/>
            <a:pathLst>
              <a:path w="10452" h="29">
                <a:moveTo>
                  <a:pt x="0" y="0"/>
                </a:moveTo>
                <a:lnTo>
                  <a:pt x="10452" y="0"/>
                </a:lnTo>
                <a:lnTo>
                  <a:pt x="10452" y="29"/>
                </a:lnTo>
                <a:lnTo>
                  <a:pt x="0" y="2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8" name="Figura a mano libera: forma 1727"/>
          <p:cNvSpPr/>
          <p:nvPr/>
        </p:nvSpPr>
        <p:spPr>
          <a:xfrm>
            <a:off x="4724280" y="35146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29" name="Figura a mano libera: forma 1728"/>
          <p:cNvSpPr/>
          <p:nvPr/>
        </p:nvSpPr>
        <p:spPr>
          <a:xfrm>
            <a:off x="4733640" y="3504960"/>
            <a:ext cx="3362760" cy="10440"/>
          </a:xfrm>
          <a:custGeom>
            <a:avLst/>
            <a:gdLst/>
            <a:ahLst/>
            <a:cxnLst/>
            <a:rect l="0" t="0" r="r" b="b"/>
            <a:pathLst>
              <a:path w="9341" h="29">
                <a:moveTo>
                  <a:pt x="0" y="0"/>
                </a:moveTo>
                <a:lnTo>
                  <a:pt x="9341" y="0"/>
                </a:lnTo>
                <a:lnTo>
                  <a:pt x="9341" y="29"/>
                </a:lnTo>
                <a:lnTo>
                  <a:pt x="0" y="2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0" name="Figura a mano libera: forma 1729"/>
          <p:cNvSpPr/>
          <p:nvPr/>
        </p:nvSpPr>
        <p:spPr>
          <a:xfrm>
            <a:off x="8086680" y="3514680"/>
            <a:ext cx="9720" cy="686160"/>
          </a:xfrm>
          <a:custGeom>
            <a:avLst/>
            <a:gdLst/>
            <a:ahLst/>
            <a:cxnLst/>
            <a:rect l="0" t="0" r="r" b="b"/>
            <a:pathLst>
              <a:path w="27" h="1906">
                <a:moveTo>
                  <a:pt x="0" y="0"/>
                </a:moveTo>
                <a:lnTo>
                  <a:pt x="27" y="0"/>
                </a:lnTo>
                <a:lnTo>
                  <a:pt x="27" y="1906"/>
                </a:lnTo>
                <a:lnTo>
                  <a:pt x="0" y="1906"/>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1" name="Figura a mano libera: forma 1730"/>
          <p:cNvSpPr/>
          <p:nvPr/>
        </p:nvSpPr>
        <p:spPr>
          <a:xfrm>
            <a:off x="8096040" y="3504960"/>
            <a:ext cx="3429360" cy="10440"/>
          </a:xfrm>
          <a:custGeom>
            <a:avLst/>
            <a:gdLst/>
            <a:ahLst/>
            <a:cxnLst/>
            <a:rect l="0" t="0" r="r" b="b"/>
            <a:pathLst>
              <a:path w="9526" h="29">
                <a:moveTo>
                  <a:pt x="9526" y="29"/>
                </a:moveTo>
                <a:lnTo>
                  <a:pt x="0" y="29"/>
                </a:lnTo>
                <a:lnTo>
                  <a:pt x="0" y="0"/>
                </a:lnTo>
                <a:lnTo>
                  <a:pt x="9526" y="0"/>
                </a:lnTo>
                <a:lnTo>
                  <a:pt x="9526" y="2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2" name="Figura a mano libera: forma 1731"/>
          <p:cNvSpPr/>
          <p:nvPr/>
        </p:nvSpPr>
        <p:spPr>
          <a:xfrm>
            <a:off x="11515680" y="3514680"/>
            <a:ext cx="9720" cy="686160"/>
          </a:xfrm>
          <a:custGeom>
            <a:avLst/>
            <a:gdLst/>
            <a:ahLst/>
            <a:cxnLst/>
            <a:rect l="0" t="0" r="r" b="b"/>
            <a:pathLst>
              <a:path w="27" h="1906">
                <a:moveTo>
                  <a:pt x="27" y="1906"/>
                </a:moveTo>
                <a:lnTo>
                  <a:pt x="0" y="1906"/>
                </a:lnTo>
                <a:lnTo>
                  <a:pt x="0" y="0"/>
                </a:lnTo>
                <a:lnTo>
                  <a:pt x="27" y="0"/>
                </a:lnTo>
                <a:lnTo>
                  <a:pt x="27" y="1906"/>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3" name="Figura a mano libera: forma 1732"/>
          <p:cNvSpPr/>
          <p:nvPr/>
        </p:nvSpPr>
        <p:spPr>
          <a:xfrm>
            <a:off x="971280" y="4200480"/>
            <a:ext cx="10080" cy="676440"/>
          </a:xfrm>
          <a:custGeom>
            <a:avLst/>
            <a:gdLst/>
            <a:ahLst/>
            <a:cxnLst/>
            <a:rect l="0" t="0" r="r" b="b"/>
            <a:pathLst>
              <a:path w="28" h="1879">
                <a:moveTo>
                  <a:pt x="0" y="1879"/>
                </a:moveTo>
                <a:lnTo>
                  <a:pt x="0" y="0"/>
                </a:lnTo>
                <a:lnTo>
                  <a:pt x="28" y="0"/>
                </a:lnTo>
                <a:lnTo>
                  <a:pt x="28" y="1879"/>
                </a:lnTo>
                <a:lnTo>
                  <a:pt x="0"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4" name="Figura a mano libera: forma 1733"/>
          <p:cNvSpPr/>
          <p:nvPr/>
        </p:nvSpPr>
        <p:spPr>
          <a:xfrm>
            <a:off x="971280" y="4190760"/>
            <a:ext cx="3762720" cy="10080"/>
          </a:xfrm>
          <a:custGeom>
            <a:avLst/>
            <a:gdLst/>
            <a:ahLst/>
            <a:cxnLst/>
            <a:rect l="0" t="0" r="r" b="b"/>
            <a:pathLst>
              <a:path w="10452" h="28">
                <a:moveTo>
                  <a:pt x="0" y="0"/>
                </a:moveTo>
                <a:lnTo>
                  <a:pt x="10452" y="0"/>
                </a:lnTo>
                <a:lnTo>
                  <a:pt x="10452"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5" name="Figura a mano libera: forma 1734"/>
          <p:cNvSpPr/>
          <p:nvPr/>
        </p:nvSpPr>
        <p:spPr>
          <a:xfrm>
            <a:off x="4724280" y="4200480"/>
            <a:ext cx="9720" cy="676440"/>
          </a:xfrm>
          <a:custGeom>
            <a:avLst/>
            <a:gdLst/>
            <a:ahLst/>
            <a:cxnLst/>
            <a:rect l="0" t="0" r="r" b="b"/>
            <a:pathLst>
              <a:path w="27" h="1879">
                <a:moveTo>
                  <a:pt x="0" y="1879"/>
                </a:moveTo>
                <a:lnTo>
                  <a:pt x="0" y="0"/>
                </a:lnTo>
                <a:lnTo>
                  <a:pt x="27" y="0"/>
                </a:lnTo>
                <a:lnTo>
                  <a:pt x="27" y="1879"/>
                </a:lnTo>
                <a:lnTo>
                  <a:pt x="0"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6" name="Figura a mano libera: forma 1735"/>
          <p:cNvSpPr/>
          <p:nvPr/>
        </p:nvSpPr>
        <p:spPr>
          <a:xfrm>
            <a:off x="4733640" y="4190760"/>
            <a:ext cx="3362760" cy="10080"/>
          </a:xfrm>
          <a:custGeom>
            <a:avLst/>
            <a:gdLst/>
            <a:ahLst/>
            <a:cxnLst/>
            <a:rect l="0" t="0" r="r" b="b"/>
            <a:pathLst>
              <a:path w="9341" h="28">
                <a:moveTo>
                  <a:pt x="0" y="0"/>
                </a:moveTo>
                <a:lnTo>
                  <a:pt x="9341" y="0"/>
                </a:lnTo>
                <a:lnTo>
                  <a:pt x="934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7" name="Figura a mano libera: forma 1736"/>
          <p:cNvSpPr/>
          <p:nvPr/>
        </p:nvSpPr>
        <p:spPr>
          <a:xfrm>
            <a:off x="8086680" y="4200480"/>
            <a:ext cx="9720" cy="676440"/>
          </a:xfrm>
          <a:custGeom>
            <a:avLst/>
            <a:gdLst/>
            <a:ahLst/>
            <a:cxnLst/>
            <a:rect l="0" t="0" r="r" b="b"/>
            <a:pathLst>
              <a:path w="27" h="1879">
                <a:moveTo>
                  <a:pt x="0" y="1879"/>
                </a:moveTo>
                <a:lnTo>
                  <a:pt x="0" y="0"/>
                </a:lnTo>
                <a:lnTo>
                  <a:pt x="27" y="0"/>
                </a:lnTo>
                <a:lnTo>
                  <a:pt x="27" y="1879"/>
                </a:lnTo>
                <a:lnTo>
                  <a:pt x="0"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8" name="Figura a mano libera: forma 1737"/>
          <p:cNvSpPr/>
          <p:nvPr/>
        </p:nvSpPr>
        <p:spPr>
          <a:xfrm>
            <a:off x="8096040" y="4190760"/>
            <a:ext cx="3429360" cy="10080"/>
          </a:xfrm>
          <a:custGeom>
            <a:avLst/>
            <a:gdLst/>
            <a:ahLst/>
            <a:cxnLst/>
            <a:rect l="0" t="0" r="r" b="b"/>
            <a:pathLst>
              <a:path w="9526" h="28">
                <a:moveTo>
                  <a:pt x="9526" y="28"/>
                </a:moveTo>
                <a:lnTo>
                  <a:pt x="0" y="28"/>
                </a:lnTo>
                <a:lnTo>
                  <a:pt x="0" y="0"/>
                </a:lnTo>
                <a:lnTo>
                  <a:pt x="9526" y="0"/>
                </a:lnTo>
                <a:lnTo>
                  <a:pt x="9526" y="28"/>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39" name="Figura a mano libera: forma 1738"/>
          <p:cNvSpPr/>
          <p:nvPr/>
        </p:nvSpPr>
        <p:spPr>
          <a:xfrm>
            <a:off x="11515680" y="4200480"/>
            <a:ext cx="9720" cy="676440"/>
          </a:xfrm>
          <a:custGeom>
            <a:avLst/>
            <a:gdLst/>
            <a:ahLst/>
            <a:cxnLst/>
            <a:rect l="0" t="0" r="r" b="b"/>
            <a:pathLst>
              <a:path w="27" h="1879">
                <a:moveTo>
                  <a:pt x="27" y="1879"/>
                </a:moveTo>
                <a:lnTo>
                  <a:pt x="0" y="1879"/>
                </a:lnTo>
                <a:lnTo>
                  <a:pt x="0" y="0"/>
                </a:lnTo>
                <a:lnTo>
                  <a:pt x="27" y="0"/>
                </a:lnTo>
                <a:lnTo>
                  <a:pt x="27" y="1879"/>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40" name="Figura a mano libera: forma 1739"/>
          <p:cNvSpPr/>
          <p:nvPr/>
        </p:nvSpPr>
        <p:spPr>
          <a:xfrm>
            <a:off x="975960" y="5072040"/>
            <a:ext cx="10544760" cy="648000"/>
          </a:xfrm>
          <a:custGeom>
            <a:avLst/>
            <a:gdLst/>
            <a:ahLst/>
            <a:cxnLst/>
            <a:rect l="0" t="0" r="r" b="b"/>
            <a:pathLst>
              <a:path w="29291" h="1800">
                <a:moveTo>
                  <a:pt x="0" y="1707"/>
                </a:moveTo>
                <a:lnTo>
                  <a:pt x="0" y="92"/>
                </a:lnTo>
                <a:cubicBezTo>
                  <a:pt x="0" y="80"/>
                  <a:pt x="3" y="68"/>
                  <a:pt x="8" y="57"/>
                </a:cubicBezTo>
                <a:cubicBezTo>
                  <a:pt x="12" y="45"/>
                  <a:pt x="19" y="35"/>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5"/>
                  <a:pt x="29279" y="45"/>
                  <a:pt x="29284" y="57"/>
                </a:cubicBezTo>
                <a:cubicBezTo>
                  <a:pt x="29288" y="68"/>
                  <a:pt x="29291" y="80"/>
                  <a:pt x="29291" y="92"/>
                </a:cubicBezTo>
                <a:lnTo>
                  <a:pt x="29291" y="1707"/>
                </a:lnTo>
                <a:cubicBezTo>
                  <a:pt x="29291" y="1719"/>
                  <a:pt x="29288" y="1731"/>
                  <a:pt x="29284" y="1743"/>
                </a:cubicBezTo>
                <a:cubicBezTo>
                  <a:pt x="29279" y="1754"/>
                  <a:pt x="29272" y="1764"/>
                  <a:pt x="29264" y="1773"/>
                </a:cubicBezTo>
                <a:cubicBezTo>
                  <a:pt x="29255" y="1781"/>
                  <a:pt x="29245" y="1788"/>
                  <a:pt x="29234" y="1793"/>
                </a:cubicBezTo>
                <a:cubicBezTo>
                  <a:pt x="29222" y="1797"/>
                  <a:pt x="29211" y="1800"/>
                  <a:pt x="29198" y="1800"/>
                </a:cubicBezTo>
                <a:lnTo>
                  <a:pt x="93" y="1800"/>
                </a:lnTo>
                <a:cubicBezTo>
                  <a:pt x="81" y="1800"/>
                  <a:pt x="69" y="1797"/>
                  <a:pt x="58" y="1793"/>
                </a:cubicBezTo>
                <a:cubicBezTo>
                  <a:pt x="46" y="1788"/>
                  <a:pt x="36" y="1781"/>
                  <a:pt x="28" y="1773"/>
                </a:cubicBezTo>
                <a:cubicBezTo>
                  <a:pt x="19" y="1764"/>
                  <a:pt x="12" y="1754"/>
                  <a:pt x="8" y="1743"/>
                </a:cubicBezTo>
                <a:cubicBezTo>
                  <a:pt x="3" y="1731"/>
                  <a:pt x="0" y="1719"/>
                  <a:pt x="0" y="1707"/>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41" name="Figura a mano libera: forma 1740"/>
          <p:cNvSpPr/>
          <p:nvPr/>
        </p:nvSpPr>
        <p:spPr>
          <a:xfrm>
            <a:off x="975960" y="5072040"/>
            <a:ext cx="10544760" cy="648000"/>
          </a:xfrm>
          <a:custGeom>
            <a:avLst/>
            <a:gdLst/>
            <a:ahLst/>
            <a:cxnLst/>
            <a:rect l="0" t="0" r="r" b="b"/>
            <a:pathLst>
              <a:path w="29291" h="1800">
                <a:moveTo>
                  <a:pt x="0" y="1707"/>
                </a:moveTo>
                <a:lnTo>
                  <a:pt x="0" y="92"/>
                </a:lnTo>
                <a:cubicBezTo>
                  <a:pt x="0" y="80"/>
                  <a:pt x="3" y="68"/>
                  <a:pt x="8" y="57"/>
                </a:cubicBezTo>
                <a:cubicBezTo>
                  <a:pt x="12" y="45"/>
                  <a:pt x="19" y="35"/>
                  <a:pt x="28" y="27"/>
                </a:cubicBezTo>
                <a:cubicBezTo>
                  <a:pt x="36" y="18"/>
                  <a:pt x="46" y="11"/>
                  <a:pt x="58" y="7"/>
                </a:cubicBezTo>
                <a:cubicBezTo>
                  <a:pt x="69" y="2"/>
                  <a:pt x="81" y="0"/>
                  <a:pt x="93" y="0"/>
                </a:cubicBezTo>
                <a:lnTo>
                  <a:pt x="29198" y="0"/>
                </a:lnTo>
                <a:cubicBezTo>
                  <a:pt x="29211" y="0"/>
                  <a:pt x="29222" y="2"/>
                  <a:pt x="29234" y="7"/>
                </a:cubicBezTo>
                <a:cubicBezTo>
                  <a:pt x="29245" y="11"/>
                  <a:pt x="29255" y="18"/>
                  <a:pt x="29264" y="27"/>
                </a:cubicBezTo>
                <a:cubicBezTo>
                  <a:pt x="29272" y="35"/>
                  <a:pt x="29279" y="45"/>
                  <a:pt x="29284" y="57"/>
                </a:cubicBezTo>
                <a:cubicBezTo>
                  <a:pt x="29288" y="68"/>
                  <a:pt x="29291" y="80"/>
                  <a:pt x="29291" y="92"/>
                </a:cubicBezTo>
                <a:lnTo>
                  <a:pt x="29291" y="1707"/>
                </a:lnTo>
                <a:cubicBezTo>
                  <a:pt x="29291" y="1719"/>
                  <a:pt x="29288" y="1731"/>
                  <a:pt x="29284" y="1743"/>
                </a:cubicBezTo>
                <a:cubicBezTo>
                  <a:pt x="29279" y="1754"/>
                  <a:pt x="29272" y="1764"/>
                  <a:pt x="29264" y="1773"/>
                </a:cubicBezTo>
                <a:cubicBezTo>
                  <a:pt x="29255" y="1781"/>
                  <a:pt x="29245" y="1788"/>
                  <a:pt x="29234" y="1793"/>
                </a:cubicBezTo>
                <a:cubicBezTo>
                  <a:pt x="29222" y="1797"/>
                  <a:pt x="29211" y="1800"/>
                  <a:pt x="29198" y="1800"/>
                </a:cubicBezTo>
                <a:lnTo>
                  <a:pt x="93" y="1800"/>
                </a:lnTo>
                <a:cubicBezTo>
                  <a:pt x="81" y="1800"/>
                  <a:pt x="69" y="1797"/>
                  <a:pt x="58" y="1793"/>
                </a:cubicBezTo>
                <a:cubicBezTo>
                  <a:pt x="46" y="1788"/>
                  <a:pt x="36" y="1781"/>
                  <a:pt x="28" y="1773"/>
                </a:cubicBezTo>
                <a:cubicBezTo>
                  <a:pt x="19" y="1764"/>
                  <a:pt x="12" y="1754"/>
                  <a:pt x="8" y="1743"/>
                </a:cubicBezTo>
                <a:cubicBezTo>
                  <a:pt x="3" y="1731"/>
                  <a:pt x="0" y="1719"/>
                  <a:pt x="0" y="1707"/>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742" name="CasellaDiTesto 1741"/>
          <p:cNvSpPr txBox="1"/>
          <p:nvPr/>
        </p:nvSpPr>
        <p:spPr>
          <a:xfrm>
            <a:off x="971640" y="552600"/>
            <a:ext cx="707940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CREDITI INESISTENTI VS NON SPETTANTI</a:t>
            </a:r>
            <a:endParaRPr lang="it-IT" sz="2850" b="0" u="none" strike="noStrike">
              <a:solidFill>
                <a:srgbClr val="000000"/>
              </a:solidFill>
              <a:effectLst/>
              <a:uFillTx/>
              <a:latin typeface="Times New Roman"/>
            </a:endParaRPr>
          </a:p>
        </p:txBody>
      </p:sp>
      <p:sp>
        <p:nvSpPr>
          <p:cNvPr id="1743" name="CasellaDiTesto 1742"/>
          <p:cNvSpPr txBox="1"/>
          <p:nvPr/>
        </p:nvSpPr>
        <p:spPr>
          <a:xfrm>
            <a:off x="971640" y="1307520"/>
            <a:ext cx="103867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Perché distinguere "inesistente" da "non spettante"?</a:t>
            </a:r>
            <a:r>
              <a:rPr lang="it-IT" sz="1650" b="0" u="none" strike="noStrike">
                <a:solidFill>
                  <a:srgbClr val="212529"/>
                </a:solidFill>
                <a:effectLst/>
                <a:uFillTx/>
                <a:latin typeface="SegoeUI"/>
                <a:ea typeface="SegoeUI"/>
              </a:rPr>
              <a:t> La qualificazione del credito indebitamente compensato</a:t>
            </a:r>
            <a:endParaRPr lang="it-IT" sz="1650" b="0" u="none" strike="noStrike">
              <a:solidFill>
                <a:srgbClr val="000000"/>
              </a:solidFill>
              <a:effectLst/>
              <a:uFillTx/>
              <a:latin typeface="Times New Roman"/>
            </a:endParaRPr>
          </a:p>
        </p:txBody>
      </p:sp>
      <p:sp>
        <p:nvSpPr>
          <p:cNvPr id="1744" name="CasellaDiTesto 1743"/>
          <p:cNvSpPr txBox="1"/>
          <p:nvPr/>
        </p:nvSpPr>
        <p:spPr>
          <a:xfrm>
            <a:off x="971640" y="1631160"/>
            <a:ext cx="97279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produce conseguenze su </a:t>
            </a:r>
            <a:r>
              <a:rPr lang="it-IT" sz="1650" b="1" u="none" strike="noStrike">
                <a:solidFill>
                  <a:srgbClr val="00509E"/>
                </a:solidFill>
                <a:effectLst/>
                <a:uFillTx/>
                <a:latin typeface="SegoeUI"/>
                <a:ea typeface="SegoeUI"/>
              </a:rPr>
              <a:t>tre piani distinti</a:t>
            </a:r>
            <a:r>
              <a:rPr lang="it-IT" sz="1650" b="0" u="none" strike="noStrike">
                <a:solidFill>
                  <a:srgbClr val="212529"/>
                </a:solidFill>
                <a:effectLst/>
                <a:uFillTx/>
                <a:latin typeface="SegoeUI"/>
                <a:ea typeface="SegoeUI"/>
              </a:rPr>
              <a:t>, ciascuno governato da una propria disciplina, ma logicamente</a:t>
            </a:r>
            <a:endParaRPr lang="it-IT" sz="1650" b="0" u="none" strike="noStrike">
              <a:solidFill>
                <a:srgbClr val="000000"/>
              </a:solidFill>
              <a:effectLst/>
              <a:uFillTx/>
              <a:latin typeface="Times New Roman"/>
            </a:endParaRPr>
          </a:p>
        </p:txBody>
      </p:sp>
      <p:sp>
        <p:nvSpPr>
          <p:cNvPr id="1745" name="CasellaDiTesto 1744"/>
          <p:cNvSpPr txBox="1"/>
          <p:nvPr/>
        </p:nvSpPr>
        <p:spPr>
          <a:xfrm>
            <a:off x="971640" y="1955160"/>
            <a:ext cx="8380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connessi.</a:t>
            </a:r>
            <a:endParaRPr lang="it-IT" sz="1650" b="0" u="none" strike="noStrike">
              <a:solidFill>
                <a:srgbClr val="000000"/>
              </a:solidFill>
              <a:effectLst/>
              <a:uFillTx/>
              <a:latin typeface="Times New Roman"/>
            </a:endParaRPr>
          </a:p>
        </p:txBody>
      </p:sp>
      <p:sp>
        <p:nvSpPr>
          <p:cNvPr id="1746" name="CasellaDiTesto 1745"/>
          <p:cNvSpPr txBox="1"/>
          <p:nvPr/>
        </p:nvSpPr>
        <p:spPr>
          <a:xfrm>
            <a:off x="1104840" y="2530440"/>
            <a:ext cx="42912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Piano</a:t>
            </a:r>
            <a:endParaRPr lang="it-IT" sz="1280" b="0" u="none" strike="noStrike">
              <a:solidFill>
                <a:srgbClr val="000000"/>
              </a:solidFill>
              <a:effectLst/>
              <a:uFillTx/>
              <a:latin typeface="Times New Roman"/>
            </a:endParaRPr>
          </a:p>
        </p:txBody>
      </p:sp>
      <p:sp>
        <p:nvSpPr>
          <p:cNvPr id="1747" name="CasellaDiTesto 1746"/>
          <p:cNvSpPr txBox="1"/>
          <p:nvPr/>
        </p:nvSpPr>
        <p:spPr>
          <a:xfrm>
            <a:off x="4859280" y="2530440"/>
            <a:ext cx="1569240" cy="215280"/>
          </a:xfrm>
          <a:prstGeom prst="rect">
            <a:avLst/>
          </a:prstGeom>
          <a:noFill/>
          <a:ln w="0">
            <a:noFill/>
          </a:ln>
        </p:spPr>
        <p:txBody>
          <a:bodyPr wrap="none" lIns="0" tIns="0" rIns="0" bIns="0" anchor="t">
            <a:spAutoFit/>
          </a:bodyPr>
          <a:lstStyle/>
          <a:p>
            <a:r>
              <a:rPr lang="it-IT" sz="1280" b="1" u="none" strike="noStrike" dirty="0">
                <a:solidFill>
                  <a:srgbClr val="FFFFFF"/>
                </a:solidFill>
                <a:effectLst/>
                <a:uFillTx/>
                <a:latin typeface="SegoeUI"/>
                <a:ea typeface="SegoeUI"/>
              </a:rPr>
              <a:t>Crediti </a:t>
            </a:r>
            <a:r>
              <a:rPr lang="it-IT" sz="1280" b="1" u="none" strike="noStrike" dirty="0">
                <a:solidFill>
                  <a:srgbClr val="00509E"/>
                </a:solidFill>
                <a:effectLst/>
                <a:uFillTx/>
                <a:latin typeface="SegoeUI"/>
                <a:ea typeface="SegoeUI"/>
              </a:rPr>
              <a:t>non spettanti</a:t>
            </a:r>
            <a:endParaRPr lang="it-IT" sz="1280" b="0" u="none" strike="noStrike" dirty="0">
              <a:solidFill>
                <a:srgbClr val="000000"/>
              </a:solidFill>
              <a:effectLst/>
              <a:uFillTx/>
              <a:latin typeface="Times New Roman"/>
            </a:endParaRPr>
          </a:p>
        </p:txBody>
      </p:sp>
      <p:sp>
        <p:nvSpPr>
          <p:cNvPr id="1748" name="CasellaDiTesto 1747"/>
          <p:cNvSpPr txBox="1"/>
          <p:nvPr/>
        </p:nvSpPr>
        <p:spPr>
          <a:xfrm>
            <a:off x="8218800" y="2530440"/>
            <a:ext cx="132840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Crediti </a:t>
            </a:r>
            <a:r>
              <a:rPr lang="it-IT" sz="1280" b="1" u="none" strike="noStrike">
                <a:solidFill>
                  <a:srgbClr val="00509E"/>
                </a:solidFill>
                <a:effectLst/>
                <a:uFillTx/>
                <a:latin typeface="SegoeUI"/>
                <a:ea typeface="SegoeUI"/>
              </a:rPr>
              <a:t>inesistenti</a:t>
            </a:r>
            <a:endParaRPr lang="it-IT" sz="1280" b="0" u="none" strike="noStrike">
              <a:solidFill>
                <a:srgbClr val="000000"/>
              </a:solidFill>
              <a:effectLst/>
              <a:uFillTx/>
              <a:latin typeface="Times New Roman"/>
            </a:endParaRPr>
          </a:p>
        </p:txBody>
      </p:sp>
      <p:sp>
        <p:nvSpPr>
          <p:cNvPr id="1749" name="CasellaDiTesto 1748"/>
          <p:cNvSpPr txBox="1"/>
          <p:nvPr/>
        </p:nvSpPr>
        <p:spPr>
          <a:xfrm>
            <a:off x="1104840" y="2900520"/>
            <a:ext cx="190008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Decadenza accertativa</a:t>
            </a:r>
            <a:endParaRPr lang="it-IT" sz="1430" b="0" u="none" strike="noStrike">
              <a:solidFill>
                <a:srgbClr val="000000"/>
              </a:solidFill>
              <a:effectLst/>
              <a:uFillTx/>
              <a:latin typeface="Times New Roman"/>
            </a:endParaRPr>
          </a:p>
        </p:txBody>
      </p:sp>
      <p:sp>
        <p:nvSpPr>
          <p:cNvPr id="1750" name="CasellaDiTesto 1749"/>
          <p:cNvSpPr txBox="1"/>
          <p:nvPr/>
        </p:nvSpPr>
        <p:spPr>
          <a:xfrm>
            <a:off x="4859280" y="2900520"/>
            <a:ext cx="28000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5 anni (</a:t>
            </a:r>
            <a:r>
              <a:rPr lang="it-IT" sz="1430" b="0" i="1" u="none" strike="noStrike">
                <a:solidFill>
                  <a:srgbClr val="495057"/>
                </a:solidFill>
                <a:effectLst/>
                <a:uFillTx/>
                <a:latin typeface="SegoeUI"/>
                <a:ea typeface="SegoeUI"/>
              </a:rPr>
              <a:t>art. 38-bis, co. 1, lett. a, DPR</a:t>
            </a:r>
            <a:endParaRPr lang="it-IT" sz="1430" b="0" u="none" strike="noStrike">
              <a:solidFill>
                <a:srgbClr val="000000"/>
              </a:solidFill>
              <a:effectLst/>
              <a:uFillTx/>
              <a:latin typeface="Times New Roman"/>
            </a:endParaRPr>
          </a:p>
        </p:txBody>
      </p:sp>
      <p:sp>
        <p:nvSpPr>
          <p:cNvPr id="1751" name="CasellaDiTesto 1750"/>
          <p:cNvSpPr txBox="1"/>
          <p:nvPr/>
        </p:nvSpPr>
        <p:spPr>
          <a:xfrm>
            <a:off x="4859280" y="3186000"/>
            <a:ext cx="615960" cy="241200"/>
          </a:xfrm>
          <a:prstGeom prst="rect">
            <a:avLst/>
          </a:prstGeom>
          <a:noFill/>
          <a:ln w="0">
            <a:noFill/>
          </a:ln>
        </p:spPr>
        <p:txBody>
          <a:bodyPr wrap="none" lIns="0" tIns="0" rIns="0" bIns="0" anchor="t">
            <a:spAutoFit/>
          </a:bodyPr>
          <a:lstStyle/>
          <a:p>
            <a:r>
              <a:rPr lang="it-IT" sz="1430" b="0" i="1" u="none" strike="noStrike">
                <a:solidFill>
                  <a:srgbClr val="495057"/>
                </a:solidFill>
                <a:effectLst/>
                <a:uFillTx/>
                <a:latin typeface="SegoeUI"/>
                <a:ea typeface="SegoeUI"/>
              </a:rPr>
              <a:t>600/73</a:t>
            </a:r>
            <a:r>
              <a:rPr lang="it-IT" sz="1430" b="0" u="none" strike="noStrike">
                <a:solidFill>
                  <a:srgbClr val="212529"/>
                </a:solidFill>
                <a:effectLst/>
                <a:uFillTx/>
                <a:latin typeface="SegoeUI"/>
                <a:ea typeface="SegoeUI"/>
              </a:rPr>
              <a:t>)</a:t>
            </a:r>
            <a:endParaRPr lang="it-IT" sz="1430" b="0" u="none" strike="noStrike">
              <a:solidFill>
                <a:srgbClr val="000000"/>
              </a:solidFill>
              <a:effectLst/>
              <a:uFillTx/>
              <a:latin typeface="Times New Roman"/>
            </a:endParaRPr>
          </a:p>
        </p:txBody>
      </p:sp>
      <p:sp>
        <p:nvSpPr>
          <p:cNvPr id="1752" name="CasellaDiTesto 1751"/>
          <p:cNvSpPr txBox="1"/>
          <p:nvPr/>
        </p:nvSpPr>
        <p:spPr>
          <a:xfrm>
            <a:off x="8218800" y="2900520"/>
            <a:ext cx="246060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8 anni</a:t>
            </a:r>
            <a:r>
              <a:rPr lang="it-IT" sz="1430" b="0" u="none" strike="noStrike">
                <a:solidFill>
                  <a:srgbClr val="212529"/>
                </a:solidFill>
                <a:effectLst/>
                <a:uFillTx/>
                <a:latin typeface="SegoeUI"/>
                <a:ea typeface="SegoeUI"/>
              </a:rPr>
              <a:t> (</a:t>
            </a:r>
            <a:r>
              <a:rPr lang="it-IT" sz="1430" b="0" i="1" u="none" strike="noStrike">
                <a:solidFill>
                  <a:srgbClr val="495057"/>
                </a:solidFill>
                <a:effectLst/>
                <a:uFillTx/>
                <a:latin typeface="SegoeUI"/>
                <a:ea typeface="SegoeUI"/>
              </a:rPr>
              <a:t>art. 38-bis, co. 1, lett. b</a:t>
            </a:r>
            <a:r>
              <a:rPr lang="it-IT" sz="1430" b="0" u="none" strike="noStrike">
                <a:solidFill>
                  <a:srgbClr val="212529"/>
                </a:solidFill>
                <a:effectLst/>
                <a:uFillTx/>
                <a:latin typeface="SegoeUI"/>
                <a:ea typeface="SegoeUI"/>
              </a:rPr>
              <a:t>)</a:t>
            </a:r>
            <a:endParaRPr lang="it-IT" sz="1430" b="0" u="none" strike="noStrike">
              <a:solidFill>
                <a:srgbClr val="000000"/>
              </a:solidFill>
              <a:effectLst/>
              <a:uFillTx/>
              <a:latin typeface="Times New Roman"/>
            </a:endParaRPr>
          </a:p>
        </p:txBody>
      </p:sp>
      <p:sp>
        <p:nvSpPr>
          <p:cNvPr id="1753" name="CasellaDiTesto 1752"/>
          <p:cNvSpPr txBox="1"/>
          <p:nvPr/>
        </p:nvSpPr>
        <p:spPr>
          <a:xfrm>
            <a:off x="1104840" y="3586320"/>
            <a:ext cx="209772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Sanzione amministrativa</a:t>
            </a:r>
            <a:endParaRPr lang="it-IT" sz="1430" b="0" u="none" strike="noStrike">
              <a:solidFill>
                <a:srgbClr val="000000"/>
              </a:solidFill>
              <a:effectLst/>
              <a:uFillTx/>
              <a:latin typeface="Times New Roman"/>
            </a:endParaRPr>
          </a:p>
        </p:txBody>
      </p:sp>
      <p:sp>
        <p:nvSpPr>
          <p:cNvPr id="1754" name="CasellaDiTesto 1753"/>
          <p:cNvSpPr txBox="1"/>
          <p:nvPr/>
        </p:nvSpPr>
        <p:spPr>
          <a:xfrm>
            <a:off x="4859280" y="3586320"/>
            <a:ext cx="286416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25% del credito (</a:t>
            </a:r>
            <a:r>
              <a:rPr lang="it-IT" sz="1430" b="0" i="1" u="none" strike="noStrike">
                <a:solidFill>
                  <a:srgbClr val="495057"/>
                </a:solidFill>
                <a:effectLst/>
                <a:uFillTx/>
                <a:latin typeface="SegoeUI"/>
                <a:ea typeface="SegoeUI"/>
              </a:rPr>
              <a:t>art. 13, co. 4, D.Lgs.</a:t>
            </a:r>
            <a:endParaRPr lang="it-IT" sz="1430" b="0" u="none" strike="noStrike">
              <a:solidFill>
                <a:srgbClr val="000000"/>
              </a:solidFill>
              <a:effectLst/>
              <a:uFillTx/>
              <a:latin typeface="Times New Roman"/>
            </a:endParaRPr>
          </a:p>
        </p:txBody>
      </p:sp>
      <p:sp>
        <p:nvSpPr>
          <p:cNvPr id="1755" name="CasellaDiTesto 1754"/>
          <p:cNvSpPr txBox="1"/>
          <p:nvPr/>
        </p:nvSpPr>
        <p:spPr>
          <a:xfrm>
            <a:off x="4859280" y="3862440"/>
            <a:ext cx="615960" cy="241200"/>
          </a:xfrm>
          <a:prstGeom prst="rect">
            <a:avLst/>
          </a:prstGeom>
          <a:noFill/>
          <a:ln w="0">
            <a:noFill/>
          </a:ln>
        </p:spPr>
        <p:txBody>
          <a:bodyPr wrap="none" lIns="0" tIns="0" rIns="0" bIns="0" anchor="t">
            <a:spAutoFit/>
          </a:bodyPr>
          <a:lstStyle/>
          <a:p>
            <a:r>
              <a:rPr lang="it-IT" sz="1430" b="0" i="1" u="none" strike="noStrike">
                <a:solidFill>
                  <a:srgbClr val="495057"/>
                </a:solidFill>
                <a:effectLst/>
                <a:uFillTx/>
                <a:latin typeface="SegoeUI"/>
                <a:ea typeface="SegoeUI"/>
              </a:rPr>
              <a:t>471/97</a:t>
            </a:r>
            <a:r>
              <a:rPr lang="it-IT" sz="1430" b="0" u="none" strike="noStrike">
                <a:solidFill>
                  <a:srgbClr val="212529"/>
                </a:solidFill>
                <a:effectLst/>
                <a:uFillTx/>
                <a:latin typeface="SegoeUI"/>
                <a:ea typeface="SegoeUI"/>
              </a:rPr>
              <a:t>)</a:t>
            </a:r>
            <a:endParaRPr lang="it-IT" sz="1430" b="0" u="none" strike="noStrike">
              <a:solidFill>
                <a:srgbClr val="000000"/>
              </a:solidFill>
              <a:effectLst/>
              <a:uFillTx/>
              <a:latin typeface="Times New Roman"/>
            </a:endParaRPr>
          </a:p>
        </p:txBody>
      </p:sp>
      <p:sp>
        <p:nvSpPr>
          <p:cNvPr id="1756" name="CasellaDiTesto 1755"/>
          <p:cNvSpPr txBox="1"/>
          <p:nvPr/>
        </p:nvSpPr>
        <p:spPr>
          <a:xfrm>
            <a:off x="8218800" y="3586320"/>
            <a:ext cx="26204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70%</a:t>
            </a:r>
            <a:r>
              <a:rPr lang="it-IT" sz="1430" b="0" u="none" strike="noStrike">
                <a:solidFill>
                  <a:srgbClr val="212529"/>
                </a:solidFill>
                <a:effectLst/>
                <a:uFillTx/>
                <a:latin typeface="SegoeUI"/>
                <a:ea typeface="SegoeUI"/>
              </a:rPr>
              <a:t> (</a:t>
            </a:r>
            <a:r>
              <a:rPr lang="it-IT" sz="1430" b="0" i="1" u="none" strike="noStrike">
                <a:solidFill>
                  <a:srgbClr val="495057"/>
                </a:solidFill>
                <a:effectLst/>
                <a:uFillTx/>
                <a:latin typeface="SegoeUI"/>
                <a:ea typeface="SegoeUI"/>
              </a:rPr>
              <a:t>art. 13, co. 5</a:t>
            </a:r>
            <a:r>
              <a:rPr lang="it-IT" sz="1430" b="0" u="none" strike="noStrike">
                <a:solidFill>
                  <a:srgbClr val="212529"/>
                </a:solidFill>
                <a:effectLst/>
                <a:uFillTx/>
                <a:latin typeface="SegoeUI"/>
                <a:ea typeface="SegoeUI"/>
              </a:rPr>
              <a:t>); 105–140% se</a:t>
            </a:r>
            <a:endParaRPr lang="it-IT" sz="1430" b="0" u="none" strike="noStrike">
              <a:solidFill>
                <a:srgbClr val="000000"/>
              </a:solidFill>
              <a:effectLst/>
              <a:uFillTx/>
              <a:latin typeface="Times New Roman"/>
            </a:endParaRPr>
          </a:p>
        </p:txBody>
      </p:sp>
      <p:sp>
        <p:nvSpPr>
          <p:cNvPr id="1757" name="CasellaDiTesto 1756"/>
          <p:cNvSpPr txBox="1"/>
          <p:nvPr/>
        </p:nvSpPr>
        <p:spPr>
          <a:xfrm>
            <a:off x="8218800" y="3862440"/>
            <a:ext cx="9374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fraudolento</a:t>
            </a:r>
            <a:endParaRPr lang="it-IT" sz="1430" b="0" u="none" strike="noStrike">
              <a:solidFill>
                <a:srgbClr val="000000"/>
              </a:solidFill>
              <a:effectLst/>
              <a:uFillTx/>
              <a:latin typeface="Times New Roman"/>
            </a:endParaRPr>
          </a:p>
        </p:txBody>
      </p:sp>
      <p:sp>
        <p:nvSpPr>
          <p:cNvPr id="1758" name="CasellaDiTesto 1757"/>
          <p:cNvSpPr txBox="1"/>
          <p:nvPr/>
        </p:nvSpPr>
        <p:spPr>
          <a:xfrm>
            <a:off x="1104840" y="4272120"/>
            <a:ext cx="326160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Sanzione penale</a:t>
            </a:r>
            <a:r>
              <a:rPr lang="it-IT" sz="1430" b="0" u="none" strike="noStrike">
                <a:solidFill>
                  <a:srgbClr val="212529"/>
                </a:solidFill>
                <a:effectLst/>
                <a:uFillTx/>
                <a:latin typeface="SegoeUI"/>
                <a:ea typeface="SegoeUI"/>
              </a:rPr>
              <a:t> </a:t>
            </a:r>
            <a:r>
              <a:rPr lang="it-IT" sz="1430" b="0" i="1" u="none" strike="noStrike">
                <a:solidFill>
                  <a:srgbClr val="495057"/>
                </a:solidFill>
                <a:effectLst/>
                <a:uFillTx/>
                <a:latin typeface="SegoeUI"/>
                <a:ea typeface="SegoeUI"/>
              </a:rPr>
              <a:t>ex</a:t>
            </a:r>
            <a:r>
              <a:rPr lang="it-IT" sz="1430" b="0" u="none" strike="noStrike">
                <a:solidFill>
                  <a:srgbClr val="212529"/>
                </a:solidFill>
                <a:effectLst/>
                <a:uFillTx/>
                <a:latin typeface="SegoeUI"/>
                <a:ea typeface="SegoeUI"/>
              </a:rPr>
              <a:t> art. 10-</a:t>
            </a:r>
            <a:r>
              <a:rPr lang="it-IT" sz="1430" b="0" i="1" u="none" strike="noStrike">
                <a:solidFill>
                  <a:srgbClr val="495057"/>
                </a:solidFill>
                <a:effectLst/>
                <a:uFillTx/>
                <a:latin typeface="SegoeUI"/>
                <a:ea typeface="SegoeUI"/>
              </a:rPr>
              <a:t>quater</a:t>
            </a:r>
            <a:r>
              <a:rPr lang="it-IT" sz="1430" b="0" u="none" strike="noStrike">
                <a:solidFill>
                  <a:srgbClr val="212529"/>
                </a:solidFill>
                <a:effectLst/>
                <a:uFillTx/>
                <a:latin typeface="SegoeUI"/>
                <a:ea typeface="SegoeUI"/>
              </a:rPr>
              <a:t> D.Lgs.</a:t>
            </a:r>
            <a:endParaRPr lang="it-IT" sz="1430" b="0" u="none" strike="noStrike">
              <a:solidFill>
                <a:srgbClr val="000000"/>
              </a:solidFill>
              <a:effectLst/>
              <a:uFillTx/>
              <a:latin typeface="Times New Roman"/>
            </a:endParaRPr>
          </a:p>
        </p:txBody>
      </p:sp>
      <p:sp>
        <p:nvSpPr>
          <p:cNvPr id="1759" name="CasellaDiTesto 1758"/>
          <p:cNvSpPr txBox="1"/>
          <p:nvPr/>
        </p:nvSpPr>
        <p:spPr>
          <a:xfrm>
            <a:off x="1104840" y="4548240"/>
            <a:ext cx="6580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74/2000</a:t>
            </a:r>
            <a:endParaRPr lang="it-IT" sz="1430" b="0" u="none" strike="noStrike">
              <a:solidFill>
                <a:srgbClr val="000000"/>
              </a:solidFill>
              <a:effectLst/>
              <a:uFillTx/>
              <a:latin typeface="Times New Roman"/>
            </a:endParaRPr>
          </a:p>
        </p:txBody>
      </p:sp>
      <p:sp>
        <p:nvSpPr>
          <p:cNvPr id="1760" name="CasellaDiTesto 1759"/>
          <p:cNvSpPr txBox="1"/>
          <p:nvPr/>
        </p:nvSpPr>
        <p:spPr>
          <a:xfrm>
            <a:off x="4859280" y="4272120"/>
            <a:ext cx="25974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reclusione 6 mesi – 2 anni (co. 1)</a:t>
            </a:r>
            <a:endParaRPr lang="it-IT" sz="1430" b="0" u="none" strike="noStrike">
              <a:solidFill>
                <a:srgbClr val="000000"/>
              </a:solidFill>
              <a:effectLst/>
              <a:uFillTx/>
              <a:latin typeface="Times New Roman"/>
            </a:endParaRPr>
          </a:p>
        </p:txBody>
      </p:sp>
      <p:sp>
        <p:nvSpPr>
          <p:cNvPr id="1761" name="CasellaDiTesto 1760"/>
          <p:cNvSpPr txBox="1"/>
          <p:nvPr/>
        </p:nvSpPr>
        <p:spPr>
          <a:xfrm>
            <a:off x="8218800" y="4272120"/>
            <a:ext cx="25808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1 anno e 6 mesi – 6 anni</a:t>
            </a:r>
            <a:r>
              <a:rPr lang="it-IT" sz="1430" b="0" u="none" strike="noStrike">
                <a:solidFill>
                  <a:srgbClr val="212529"/>
                </a:solidFill>
                <a:effectLst/>
                <a:uFillTx/>
                <a:latin typeface="SegoeUI"/>
                <a:ea typeface="SegoeUI"/>
              </a:rPr>
              <a:t> (co. 2)</a:t>
            </a:r>
            <a:endParaRPr lang="it-IT" sz="1430" b="0" u="none" strike="noStrike">
              <a:solidFill>
                <a:srgbClr val="000000"/>
              </a:solidFill>
              <a:effectLst/>
              <a:uFillTx/>
              <a:latin typeface="Times New Roman"/>
            </a:endParaRPr>
          </a:p>
        </p:txBody>
      </p:sp>
      <p:sp>
        <p:nvSpPr>
          <p:cNvPr id="1762" name="CasellaDiTesto 1761"/>
          <p:cNvSpPr txBox="1"/>
          <p:nvPr/>
        </p:nvSpPr>
        <p:spPr>
          <a:xfrm>
            <a:off x="1209600" y="5271480"/>
            <a:ext cx="4145400" cy="253440"/>
          </a:xfrm>
          <a:prstGeom prst="rect">
            <a:avLst/>
          </a:prstGeom>
          <a:noFill/>
          <a:ln w="0">
            <a:noFill/>
          </a:ln>
        </p:spPr>
        <p:txBody>
          <a:bodyPr wrap="none" lIns="0" tIns="0" rIns="0" bIns="0" anchor="t">
            <a:spAutoFit/>
          </a:bodyPr>
          <a:lstStyle/>
          <a:p>
            <a:r>
              <a:rPr lang="it-IT" sz="1500" b="0" i="1" u="none" strike="noStrike">
                <a:solidFill>
                  <a:srgbClr val="495057"/>
                </a:solidFill>
                <a:effectLst/>
                <a:uFillTx/>
                <a:latin typeface="SegoeUI"/>
                <a:ea typeface="SegoeUI"/>
              </a:rPr>
              <a:t>Soglia comune di rilevanza penale: € 50.000 annui</a:t>
            </a:r>
            <a:endParaRPr lang="it-IT" sz="1500" b="0" u="none" strike="noStrike">
              <a:solidFill>
                <a:srgbClr val="000000"/>
              </a:solidFill>
              <a:effectLst/>
              <a:uFillTx/>
              <a:latin typeface="Times New Roman"/>
            </a:endParaRPr>
          </a:p>
        </p:txBody>
      </p:sp>
      <p:sp>
        <p:nvSpPr>
          <p:cNvPr id="1763" name="CasellaDiTesto 1762"/>
          <p:cNvSpPr txBox="1"/>
          <p:nvPr/>
        </p:nvSpPr>
        <p:spPr>
          <a:xfrm>
            <a:off x="971640" y="5898600"/>
            <a:ext cx="100764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L'asimmetria sanzionatoria riflette una scelta di </a:t>
            </a:r>
            <a:r>
              <a:rPr lang="it-IT" sz="1650" b="0" i="1" u="none" strike="noStrike">
                <a:solidFill>
                  <a:srgbClr val="495057"/>
                </a:solidFill>
                <a:effectLst/>
                <a:uFillTx/>
                <a:latin typeface="SegoeUI"/>
                <a:ea typeface="SegoeUI"/>
              </a:rPr>
              <a:t>tax policy</a:t>
            </a:r>
            <a:r>
              <a:rPr lang="it-IT" sz="1650" b="0" u="none" strike="noStrike">
                <a:solidFill>
                  <a:srgbClr val="212529"/>
                </a:solidFill>
                <a:effectLst/>
                <a:uFillTx/>
                <a:latin typeface="SegoeUI"/>
                <a:ea typeface="SegoeUI"/>
              </a:rPr>
              <a:t> fondata sulla </a:t>
            </a:r>
            <a:r>
              <a:rPr lang="it-IT" sz="1650" b="1" u="none" strike="noStrike">
                <a:solidFill>
                  <a:srgbClr val="00509E"/>
                </a:solidFill>
                <a:effectLst/>
                <a:uFillTx/>
                <a:latin typeface="SegoeUI"/>
                <a:ea typeface="SegoeUI"/>
              </a:rPr>
              <a:t>gradazione del disvalore</a:t>
            </a:r>
            <a:r>
              <a:rPr lang="it-IT" sz="1650" b="0" u="none" strike="noStrike">
                <a:solidFill>
                  <a:srgbClr val="212529"/>
                </a:solidFill>
                <a:effectLst/>
                <a:uFillTx/>
                <a:latin typeface="SegoeUI"/>
                <a:ea typeface="SegoeUI"/>
              </a:rPr>
              <a:t>: tanto più la</a:t>
            </a:r>
            <a:endParaRPr lang="it-IT" sz="1650" b="0" u="none" strike="noStrike">
              <a:solidFill>
                <a:srgbClr val="000000"/>
              </a:solidFill>
              <a:effectLst/>
              <a:uFillTx/>
              <a:latin typeface="Times New Roman"/>
            </a:endParaRPr>
          </a:p>
        </p:txBody>
      </p:sp>
      <p:sp>
        <p:nvSpPr>
          <p:cNvPr id="1764" name="CasellaDiTesto 1763"/>
          <p:cNvSpPr txBox="1"/>
          <p:nvPr/>
        </p:nvSpPr>
        <p:spPr>
          <a:xfrm>
            <a:off x="971640" y="6222240"/>
            <a:ext cx="9979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condotta del contribuente compromette le possibilità di controllo dell'erario, tanto più rigorosa è la reazione</a:t>
            </a:r>
            <a:endParaRPr lang="it-IT" sz="1650" b="0" u="none" strike="noStrike">
              <a:solidFill>
                <a:srgbClr val="000000"/>
              </a:solidFill>
              <a:effectLst/>
              <a:uFillTx/>
              <a:latin typeface="Times New Roman"/>
            </a:endParaRPr>
          </a:p>
        </p:txBody>
      </p:sp>
      <p:sp>
        <p:nvSpPr>
          <p:cNvPr id="1765" name="Figura a mano libera: forma 176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66" name="CasellaDiTesto 1765"/>
          <p:cNvSpPr txBox="1"/>
          <p:nvPr/>
        </p:nvSpPr>
        <p:spPr>
          <a:xfrm>
            <a:off x="971640" y="6546240"/>
            <a:ext cx="13827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ordinamentale.</a:t>
            </a:r>
            <a:endParaRPr lang="it-IT" sz="1650" b="0" u="none" strike="noStrike">
              <a:solidFill>
                <a:srgbClr val="000000"/>
              </a:solidFill>
              <a:effectLst/>
              <a:uFillTx/>
              <a:latin typeface="Times New Roman"/>
            </a:endParaRPr>
          </a:p>
        </p:txBody>
      </p:sp>
      <p:sp>
        <p:nvSpPr>
          <p:cNvPr id="1767" name="Figura a mano libera: forma 1766"/>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0" name="Figura a mano libera: forma 176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71" name="Figura a mano libera: forma 177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72" name="Figura a mano libera: forma 177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73" name="Figura a mano libera: forma 177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774" name="Figura a mano libera: forma 1773"/>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75" name="Figura a mano libera: forma 1774"/>
          <p:cNvSpPr/>
          <p:nvPr/>
        </p:nvSpPr>
        <p:spPr>
          <a:xfrm>
            <a:off x="975960" y="1804680"/>
            <a:ext cx="10544760" cy="943560"/>
          </a:xfrm>
          <a:custGeom>
            <a:avLst/>
            <a:gdLst/>
            <a:ahLst/>
            <a:cxnLst/>
            <a:rect l="0" t="0" r="r" b="b"/>
            <a:pathLst>
              <a:path w="29291" h="2621">
                <a:moveTo>
                  <a:pt x="0" y="2528"/>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2528"/>
                </a:lnTo>
                <a:cubicBezTo>
                  <a:pt x="29291" y="2540"/>
                  <a:pt x="29288" y="2552"/>
                  <a:pt x="29284" y="2564"/>
                </a:cubicBezTo>
                <a:cubicBezTo>
                  <a:pt x="29279" y="2575"/>
                  <a:pt x="29272" y="2585"/>
                  <a:pt x="29264" y="2594"/>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4"/>
                </a:cubicBezTo>
                <a:cubicBezTo>
                  <a:pt x="19" y="2585"/>
                  <a:pt x="12" y="2575"/>
                  <a:pt x="8" y="2564"/>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76" name="Figura a mano libera: forma 1775"/>
          <p:cNvSpPr/>
          <p:nvPr/>
        </p:nvSpPr>
        <p:spPr>
          <a:xfrm>
            <a:off x="975960" y="1804680"/>
            <a:ext cx="10544760" cy="943560"/>
          </a:xfrm>
          <a:custGeom>
            <a:avLst/>
            <a:gdLst/>
            <a:ahLst/>
            <a:cxnLst/>
            <a:rect l="0" t="0" r="r" b="b"/>
            <a:pathLst>
              <a:path w="29291" h="2621">
                <a:moveTo>
                  <a:pt x="0" y="2528"/>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2528"/>
                </a:lnTo>
                <a:cubicBezTo>
                  <a:pt x="29291" y="2540"/>
                  <a:pt x="29288" y="2552"/>
                  <a:pt x="29284" y="2564"/>
                </a:cubicBezTo>
                <a:cubicBezTo>
                  <a:pt x="29279" y="2575"/>
                  <a:pt x="29272" y="2585"/>
                  <a:pt x="29264" y="2594"/>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4"/>
                </a:cubicBezTo>
                <a:cubicBezTo>
                  <a:pt x="19" y="2585"/>
                  <a:pt x="12" y="2575"/>
                  <a:pt x="8" y="2564"/>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777" name="Figura a mano libera: forma 1776"/>
          <p:cNvSpPr/>
          <p:nvPr/>
        </p:nvSpPr>
        <p:spPr>
          <a:xfrm>
            <a:off x="975960" y="5348160"/>
            <a:ext cx="10544760" cy="943200"/>
          </a:xfrm>
          <a:custGeom>
            <a:avLst/>
            <a:gdLst/>
            <a:ahLst/>
            <a:cxnLst/>
            <a:rect l="0" t="0" r="r" b="b"/>
            <a:pathLst>
              <a:path w="29291" h="2620">
                <a:moveTo>
                  <a:pt x="0" y="2528"/>
                </a:moveTo>
                <a:lnTo>
                  <a:pt x="0" y="92"/>
                </a:lnTo>
                <a:cubicBezTo>
                  <a:pt x="0" y="80"/>
                  <a:pt x="3" y="68"/>
                  <a:pt x="8" y="57"/>
                </a:cubicBezTo>
                <a:cubicBezTo>
                  <a:pt x="12" y="46"/>
                  <a:pt x="19" y="36"/>
                  <a:pt x="28" y="27"/>
                </a:cubicBezTo>
                <a:cubicBezTo>
                  <a:pt x="36" y="18"/>
                  <a:pt x="46" y="12"/>
                  <a:pt x="58" y="7"/>
                </a:cubicBezTo>
                <a:cubicBezTo>
                  <a:pt x="69" y="2"/>
                  <a:pt x="81" y="0"/>
                  <a:pt x="93" y="0"/>
                </a:cubicBezTo>
                <a:lnTo>
                  <a:pt x="29198" y="0"/>
                </a:lnTo>
                <a:cubicBezTo>
                  <a:pt x="29211" y="0"/>
                  <a:pt x="29222" y="2"/>
                  <a:pt x="29234" y="7"/>
                </a:cubicBezTo>
                <a:cubicBezTo>
                  <a:pt x="29245" y="12"/>
                  <a:pt x="29255" y="18"/>
                  <a:pt x="29264" y="27"/>
                </a:cubicBezTo>
                <a:cubicBezTo>
                  <a:pt x="29272" y="36"/>
                  <a:pt x="29279" y="46"/>
                  <a:pt x="29284" y="57"/>
                </a:cubicBezTo>
                <a:cubicBezTo>
                  <a:pt x="29288" y="68"/>
                  <a:pt x="29291" y="80"/>
                  <a:pt x="29291" y="92"/>
                </a:cubicBezTo>
                <a:lnTo>
                  <a:pt x="29291" y="2528"/>
                </a:lnTo>
                <a:cubicBezTo>
                  <a:pt x="29291" y="2540"/>
                  <a:pt x="29288" y="2552"/>
                  <a:pt x="29284" y="2563"/>
                </a:cubicBezTo>
                <a:cubicBezTo>
                  <a:pt x="29279" y="2574"/>
                  <a:pt x="29272" y="2584"/>
                  <a:pt x="29264" y="2593"/>
                </a:cubicBezTo>
                <a:cubicBezTo>
                  <a:pt x="29255" y="2602"/>
                  <a:pt x="29245" y="2608"/>
                  <a:pt x="29234" y="2613"/>
                </a:cubicBezTo>
                <a:cubicBezTo>
                  <a:pt x="29222" y="2618"/>
                  <a:pt x="29211" y="2620"/>
                  <a:pt x="29198" y="2620"/>
                </a:cubicBezTo>
                <a:lnTo>
                  <a:pt x="93" y="2620"/>
                </a:lnTo>
                <a:cubicBezTo>
                  <a:pt x="81" y="2620"/>
                  <a:pt x="69" y="2618"/>
                  <a:pt x="58" y="2613"/>
                </a:cubicBezTo>
                <a:cubicBezTo>
                  <a:pt x="46" y="2608"/>
                  <a:pt x="36" y="2602"/>
                  <a:pt x="28" y="2593"/>
                </a:cubicBezTo>
                <a:cubicBezTo>
                  <a:pt x="19" y="2584"/>
                  <a:pt x="12" y="2574"/>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78" name="Figura a mano libera: forma 1777"/>
          <p:cNvSpPr/>
          <p:nvPr/>
        </p:nvSpPr>
        <p:spPr>
          <a:xfrm>
            <a:off x="975960" y="5348160"/>
            <a:ext cx="10544760" cy="943200"/>
          </a:xfrm>
          <a:custGeom>
            <a:avLst/>
            <a:gdLst/>
            <a:ahLst/>
            <a:cxnLst/>
            <a:rect l="0" t="0" r="r" b="b"/>
            <a:pathLst>
              <a:path w="29291" h="2620">
                <a:moveTo>
                  <a:pt x="0" y="2528"/>
                </a:moveTo>
                <a:lnTo>
                  <a:pt x="0" y="92"/>
                </a:lnTo>
                <a:cubicBezTo>
                  <a:pt x="0" y="80"/>
                  <a:pt x="3" y="68"/>
                  <a:pt x="8" y="57"/>
                </a:cubicBezTo>
                <a:cubicBezTo>
                  <a:pt x="12" y="46"/>
                  <a:pt x="19" y="36"/>
                  <a:pt x="28" y="27"/>
                </a:cubicBezTo>
                <a:cubicBezTo>
                  <a:pt x="36" y="18"/>
                  <a:pt x="46" y="12"/>
                  <a:pt x="58" y="7"/>
                </a:cubicBezTo>
                <a:cubicBezTo>
                  <a:pt x="69" y="2"/>
                  <a:pt x="81" y="0"/>
                  <a:pt x="93" y="0"/>
                </a:cubicBezTo>
                <a:lnTo>
                  <a:pt x="29198" y="0"/>
                </a:lnTo>
                <a:cubicBezTo>
                  <a:pt x="29211" y="0"/>
                  <a:pt x="29222" y="2"/>
                  <a:pt x="29234" y="7"/>
                </a:cubicBezTo>
                <a:cubicBezTo>
                  <a:pt x="29245" y="12"/>
                  <a:pt x="29255" y="18"/>
                  <a:pt x="29264" y="27"/>
                </a:cubicBezTo>
                <a:cubicBezTo>
                  <a:pt x="29272" y="36"/>
                  <a:pt x="29279" y="46"/>
                  <a:pt x="29284" y="57"/>
                </a:cubicBezTo>
                <a:cubicBezTo>
                  <a:pt x="29288" y="68"/>
                  <a:pt x="29291" y="80"/>
                  <a:pt x="29291" y="92"/>
                </a:cubicBezTo>
                <a:lnTo>
                  <a:pt x="29291" y="2528"/>
                </a:lnTo>
                <a:cubicBezTo>
                  <a:pt x="29291" y="2540"/>
                  <a:pt x="29288" y="2552"/>
                  <a:pt x="29284" y="2563"/>
                </a:cubicBezTo>
                <a:cubicBezTo>
                  <a:pt x="29279" y="2574"/>
                  <a:pt x="29272" y="2584"/>
                  <a:pt x="29264" y="2593"/>
                </a:cubicBezTo>
                <a:cubicBezTo>
                  <a:pt x="29255" y="2602"/>
                  <a:pt x="29245" y="2608"/>
                  <a:pt x="29234" y="2613"/>
                </a:cubicBezTo>
                <a:cubicBezTo>
                  <a:pt x="29222" y="2618"/>
                  <a:pt x="29211" y="2620"/>
                  <a:pt x="29198" y="2620"/>
                </a:cubicBezTo>
                <a:lnTo>
                  <a:pt x="93" y="2620"/>
                </a:lnTo>
                <a:cubicBezTo>
                  <a:pt x="81" y="2620"/>
                  <a:pt x="69" y="2618"/>
                  <a:pt x="58" y="2613"/>
                </a:cubicBezTo>
                <a:cubicBezTo>
                  <a:pt x="46" y="2608"/>
                  <a:pt x="36" y="2602"/>
                  <a:pt x="28" y="2593"/>
                </a:cubicBezTo>
                <a:cubicBezTo>
                  <a:pt x="19" y="2584"/>
                  <a:pt x="12" y="2574"/>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779" name="CasellaDiTesto 1778"/>
          <p:cNvSpPr txBox="1"/>
          <p:nvPr/>
        </p:nvSpPr>
        <p:spPr>
          <a:xfrm>
            <a:off x="971640" y="552600"/>
            <a:ext cx="9167125" cy="438582"/>
          </a:xfrm>
          <a:prstGeom prst="rect">
            <a:avLst/>
          </a:prstGeom>
          <a:noFill/>
          <a:ln w="0">
            <a:noFill/>
          </a:ln>
        </p:spPr>
        <p:txBody>
          <a:bodyPr wrap="none" lIns="0" tIns="0" rIns="0" bIns="0" anchor="t">
            <a:spAutoFit/>
          </a:bodyPr>
          <a:lstStyle/>
          <a:p>
            <a:r>
              <a:rPr lang="it-IT" sz="2850" b="1" u="none" strike="noStrike" dirty="0">
                <a:solidFill>
                  <a:srgbClr val="003366"/>
                </a:solidFill>
                <a:effectLst/>
                <a:uFillTx/>
                <a:latin typeface="SegoeUI"/>
                <a:ea typeface="SegoeUI"/>
              </a:rPr>
              <a:t>IL CONTRASTO GIURISPRUDENZIALE </a:t>
            </a:r>
            <a:r>
              <a:rPr lang="it-IT" sz="2850" b="1" i="1" u="none" strike="noStrike" dirty="0">
                <a:solidFill>
                  <a:srgbClr val="003366"/>
                </a:solidFill>
                <a:effectLst/>
                <a:uFillTx/>
                <a:latin typeface="SegoeUI"/>
                <a:ea typeface="SegoeUI"/>
              </a:rPr>
              <a:t>ANTE</a:t>
            </a:r>
            <a:r>
              <a:rPr lang="it-IT" sz="2850" b="1" u="none" strike="noStrike" dirty="0">
                <a:solidFill>
                  <a:srgbClr val="003366"/>
                </a:solidFill>
                <a:effectLst/>
                <a:uFillTx/>
                <a:latin typeface="SegoeUI"/>
                <a:ea typeface="SegoeUI"/>
              </a:rPr>
              <a:t> RIFORMA</a:t>
            </a:r>
            <a:endParaRPr lang="it-IT" sz="2850" b="0" u="none" strike="noStrike" dirty="0">
              <a:solidFill>
                <a:srgbClr val="000000"/>
              </a:solidFill>
              <a:effectLst/>
              <a:uFillTx/>
              <a:latin typeface="Times New Roman"/>
            </a:endParaRPr>
          </a:p>
        </p:txBody>
      </p:sp>
      <p:sp>
        <p:nvSpPr>
          <p:cNvPr id="1780" name="CasellaDiTesto 1779"/>
          <p:cNvSpPr txBox="1"/>
          <p:nvPr/>
        </p:nvSpPr>
        <p:spPr>
          <a:xfrm>
            <a:off x="971640" y="1307520"/>
            <a:ext cx="6956969" cy="253916"/>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Secondo un primo indirizzo più risalente (Cass. </a:t>
            </a:r>
            <a:r>
              <a:rPr lang="it-IT" sz="1650" b="0" u="none" strike="noStrike" dirty="0" err="1">
                <a:solidFill>
                  <a:srgbClr val="212529"/>
                </a:solidFill>
                <a:effectLst/>
                <a:uFillTx/>
                <a:latin typeface="SegoeUI"/>
                <a:ea typeface="SegoeUI"/>
              </a:rPr>
              <a:t>nn</a:t>
            </a:r>
            <a:r>
              <a:rPr lang="it-IT" sz="1650" b="0" u="none" strike="noStrike" dirty="0">
                <a:solidFill>
                  <a:srgbClr val="212529"/>
                </a:solidFill>
                <a:effectLst/>
                <a:uFillTx/>
                <a:latin typeface="SegoeUI"/>
                <a:ea typeface="SegoeUI"/>
              </a:rPr>
              <a:t>. </a:t>
            </a:r>
            <a:r>
              <a:rPr lang="it-IT" sz="1650" b="0" u="none" strike="noStrike" dirty="0">
                <a:solidFill>
                  <a:srgbClr val="0969DA"/>
                </a:solidFill>
                <a:effectLst/>
                <a:uFillTx/>
                <a:latin typeface="SegoeUI"/>
                <a:ea typeface="SegoeUI"/>
                <a:hlinkClick r:id="rId2"/>
              </a:rPr>
              <a:t>24093/2020</a:t>
            </a:r>
            <a:r>
              <a:rPr lang="it-IT" sz="1650" b="0" u="none" strike="noStrike" dirty="0">
                <a:solidFill>
                  <a:srgbClr val="212529"/>
                </a:solidFill>
                <a:effectLst/>
                <a:uFillTx/>
                <a:latin typeface="SegoeUI"/>
                <a:ea typeface="SegoeUI"/>
              </a:rPr>
              <a:t>, </a:t>
            </a:r>
            <a:r>
              <a:rPr lang="it-IT" sz="1650" b="0" u="none" strike="noStrike" dirty="0">
                <a:solidFill>
                  <a:srgbClr val="0969DA"/>
                </a:solidFill>
                <a:effectLst/>
                <a:uFillTx/>
                <a:latin typeface="SegoeUI"/>
                <a:ea typeface="SegoeUI"/>
                <a:hlinkClick r:id="rId3"/>
              </a:rPr>
              <a:t>354/2021</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1781" name="CasellaDiTesto 1780"/>
          <p:cNvSpPr txBox="1"/>
          <p:nvPr/>
        </p:nvSpPr>
        <p:spPr>
          <a:xfrm>
            <a:off x="1209600" y="2004120"/>
            <a:ext cx="989604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«L'art. 27, co. 16, D.L. 185/2008 </a:t>
            </a:r>
            <a:r>
              <a:rPr lang="it-IT" sz="1500" b="0" i="1" u="none" strike="noStrike">
                <a:solidFill>
                  <a:srgbClr val="495057"/>
                </a:solidFill>
                <a:effectLst/>
                <a:uFillTx/>
                <a:latin typeface="SegoeUI"/>
                <a:ea typeface="SegoeUI"/>
              </a:rPr>
              <a:t>non intende elevare l'inesistenza del credito a categoria distinta dalla non spettanza, ma</a:t>
            </a:r>
            <a:endParaRPr lang="it-IT" sz="1500" b="0" u="none" strike="noStrike">
              <a:solidFill>
                <a:srgbClr val="000000"/>
              </a:solidFill>
              <a:effectLst/>
              <a:uFillTx/>
              <a:latin typeface="Times New Roman"/>
            </a:endParaRPr>
          </a:p>
        </p:txBody>
      </p:sp>
      <p:sp>
        <p:nvSpPr>
          <p:cNvPr id="1782" name="CasellaDiTesto 1781"/>
          <p:cNvSpPr txBox="1"/>
          <p:nvPr/>
        </p:nvSpPr>
        <p:spPr>
          <a:xfrm>
            <a:off x="1209600" y="2299680"/>
            <a:ext cx="5762880" cy="253440"/>
          </a:xfrm>
          <a:prstGeom prst="rect">
            <a:avLst/>
          </a:prstGeom>
          <a:noFill/>
          <a:ln w="0">
            <a:noFill/>
          </a:ln>
        </p:spPr>
        <p:txBody>
          <a:bodyPr wrap="none" lIns="0" tIns="0" rIns="0" bIns="0" anchor="t">
            <a:spAutoFit/>
          </a:bodyPr>
          <a:lstStyle/>
          <a:p>
            <a:r>
              <a:rPr lang="it-IT" sz="1500" b="0" i="1" u="none" strike="noStrike">
                <a:solidFill>
                  <a:srgbClr val="495057"/>
                </a:solidFill>
                <a:effectLst/>
                <a:uFillTx/>
                <a:latin typeface="SegoeUI"/>
                <a:ea typeface="SegoeUI"/>
              </a:rPr>
              <a:t>intende solo garantire un margine di tempo adeguato per le verifiche</a:t>
            </a:r>
            <a:r>
              <a:rPr lang="it-IT" sz="1500" b="0" u="none" strike="noStrike">
                <a:solidFill>
                  <a:srgbClr val="343A40"/>
                </a:solidFill>
                <a:effectLst/>
                <a:uFillTx/>
                <a:latin typeface="SegoeUI"/>
                <a:ea typeface="SegoeUI"/>
              </a:rPr>
              <a:t>»</a:t>
            </a:r>
            <a:endParaRPr lang="it-IT" sz="1500" b="0" u="none" strike="noStrike">
              <a:solidFill>
                <a:srgbClr val="000000"/>
              </a:solidFill>
              <a:effectLst/>
              <a:uFillTx/>
              <a:latin typeface="Times New Roman"/>
            </a:endParaRPr>
          </a:p>
        </p:txBody>
      </p:sp>
      <p:sp>
        <p:nvSpPr>
          <p:cNvPr id="1783" name="CasellaDiTesto 1782"/>
          <p:cNvSpPr txBox="1"/>
          <p:nvPr/>
        </p:nvSpPr>
        <p:spPr>
          <a:xfrm>
            <a:off x="971640" y="2989800"/>
            <a:ext cx="209160" cy="209160"/>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CambriaMath"/>
                <a:ea typeface="CambriaMath"/>
              </a:rPr>
              <a:t>⇒</a:t>
            </a:r>
            <a:endParaRPr lang="it-IT" sz="1650" b="0" u="none" strike="noStrike" dirty="0">
              <a:solidFill>
                <a:srgbClr val="000000"/>
              </a:solidFill>
              <a:effectLst/>
              <a:uFillTx/>
              <a:latin typeface="Times New Roman"/>
            </a:endParaRPr>
          </a:p>
        </p:txBody>
      </p:sp>
      <p:sp>
        <p:nvSpPr>
          <p:cNvPr id="1784" name="CasellaDiTesto 1783"/>
          <p:cNvSpPr txBox="1"/>
          <p:nvPr/>
        </p:nvSpPr>
        <p:spPr>
          <a:xfrm>
            <a:off x="1153080" y="2926800"/>
            <a:ext cx="77428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 termine ottennale </a:t>
            </a:r>
            <a:r>
              <a:rPr lang="it-IT" sz="1650" b="1" u="none" strike="noStrike">
                <a:solidFill>
                  <a:srgbClr val="00509E"/>
                </a:solidFill>
                <a:effectLst/>
                <a:uFillTx/>
                <a:latin typeface="SegoeUI"/>
                <a:ea typeface="SegoeUI"/>
              </a:rPr>
              <a:t>sempre applicabile</a:t>
            </a:r>
            <a:r>
              <a:rPr lang="it-IT" sz="1650" b="0" u="none" strike="noStrike">
                <a:solidFill>
                  <a:srgbClr val="212529"/>
                </a:solidFill>
                <a:effectLst/>
                <a:uFillTx/>
                <a:latin typeface="SegoeUI"/>
                <a:ea typeface="SegoeUI"/>
              </a:rPr>
              <a:t>, indipendentemente dalla natura del credito.</a:t>
            </a:r>
            <a:endParaRPr lang="it-IT" sz="1650" b="0" u="none" strike="noStrike">
              <a:solidFill>
                <a:srgbClr val="000000"/>
              </a:solidFill>
              <a:effectLst/>
              <a:uFillTx/>
              <a:latin typeface="Times New Roman"/>
            </a:endParaRPr>
          </a:p>
        </p:txBody>
      </p:sp>
      <p:sp>
        <p:nvSpPr>
          <p:cNvPr id="1785" name="CasellaDiTesto 1784"/>
          <p:cNvSpPr txBox="1"/>
          <p:nvPr/>
        </p:nvSpPr>
        <p:spPr>
          <a:xfrm>
            <a:off x="971640" y="3403080"/>
            <a:ext cx="103654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Secondo un secondo diverso orientamento, </a:t>
            </a:r>
            <a:r>
              <a:rPr lang="it-IT" sz="1650" b="1" u="none" strike="noStrike">
                <a:solidFill>
                  <a:srgbClr val="00509E"/>
                </a:solidFill>
                <a:effectLst/>
                <a:uFillTx/>
                <a:latin typeface="SegoeUI"/>
                <a:ea typeface="SegoeUI"/>
              </a:rPr>
              <a:t>sentenze "gemelle"</a:t>
            </a:r>
            <a:r>
              <a:rPr lang="it-IT" sz="1650" b="0" u="none" strike="noStrike">
                <a:solidFill>
                  <a:srgbClr val="212529"/>
                </a:solidFill>
                <a:effectLst/>
                <a:uFillTx/>
                <a:latin typeface="SegoeUI"/>
                <a:ea typeface="SegoeUI"/>
              </a:rPr>
              <a:t> della Sezione Tributaria del 16.11.2021 (Cass. n.</a:t>
            </a:r>
            <a:endParaRPr lang="it-IT" sz="1650" b="0" u="none" strike="noStrike">
              <a:solidFill>
                <a:srgbClr val="000000"/>
              </a:solidFill>
              <a:effectLst/>
              <a:uFillTx/>
              <a:latin typeface="Times New Roman"/>
            </a:endParaRPr>
          </a:p>
        </p:txBody>
      </p:sp>
      <p:sp>
        <p:nvSpPr>
          <p:cNvPr id="1786" name="CasellaDiTesto 1785"/>
          <p:cNvSpPr txBox="1"/>
          <p:nvPr/>
        </p:nvSpPr>
        <p:spPr>
          <a:xfrm>
            <a:off x="971640" y="3726720"/>
            <a:ext cx="10442731" cy="253916"/>
          </a:xfrm>
          <a:prstGeom prst="rect">
            <a:avLst/>
          </a:prstGeom>
          <a:noFill/>
          <a:ln w="0">
            <a:noFill/>
          </a:ln>
        </p:spPr>
        <p:txBody>
          <a:bodyPr wrap="none" lIns="0" tIns="0" rIns="0" bIns="0" anchor="t">
            <a:spAutoFit/>
          </a:bodyPr>
          <a:lstStyle/>
          <a:p>
            <a:r>
              <a:rPr lang="it-IT" sz="1650" b="1" u="none" strike="noStrike" dirty="0">
                <a:solidFill>
                  <a:srgbClr val="0969DA"/>
                </a:solidFill>
                <a:effectLst/>
                <a:uFillTx/>
                <a:latin typeface="SegoeUI"/>
                <a:ea typeface="SegoeUI"/>
                <a:hlinkClick r:id="rId4"/>
              </a:rPr>
              <a:t>34443/2021</a:t>
            </a:r>
            <a:r>
              <a:rPr lang="it-IT" sz="1650" b="0" u="none" strike="noStrike" dirty="0">
                <a:solidFill>
                  <a:srgbClr val="212529"/>
                </a:solidFill>
                <a:effectLst/>
                <a:uFillTx/>
                <a:latin typeface="SegoeUI"/>
                <a:ea typeface="SegoeUI"/>
              </a:rPr>
              <a:t>; Cass. n. </a:t>
            </a:r>
            <a:r>
              <a:rPr lang="it-IT" sz="1650" b="1" u="none" strike="noStrike" dirty="0">
                <a:solidFill>
                  <a:srgbClr val="0969DA"/>
                </a:solidFill>
                <a:effectLst/>
                <a:uFillTx/>
                <a:latin typeface="SegoeUI"/>
                <a:ea typeface="SegoeUI"/>
                <a:hlinkClick r:id="rId5"/>
              </a:rPr>
              <a:t>34444/2021</a:t>
            </a:r>
            <a:r>
              <a:rPr lang="it-IT" sz="1650" b="0" u="none" strike="noStrike" dirty="0">
                <a:solidFill>
                  <a:srgbClr val="212529"/>
                </a:solidFill>
                <a:effectLst/>
                <a:uFillTx/>
                <a:latin typeface="SegoeUI"/>
                <a:ea typeface="SegoeUI"/>
              </a:rPr>
              <a:t>; Cass. n. </a:t>
            </a:r>
            <a:r>
              <a:rPr lang="it-IT" sz="1650" b="1" u="none" strike="noStrike" dirty="0">
                <a:solidFill>
                  <a:srgbClr val="0969DA"/>
                </a:solidFill>
                <a:effectLst/>
                <a:uFillTx/>
                <a:latin typeface="SegoeUI"/>
                <a:ea typeface="SegoeUI"/>
                <a:hlinkClick r:id="rId6"/>
              </a:rPr>
              <a:t>34445/2021</a:t>
            </a:r>
            <a:r>
              <a:rPr lang="it-IT" sz="1650" b="0" u="none" strike="noStrike" dirty="0">
                <a:solidFill>
                  <a:srgbClr val="212529"/>
                </a:solidFill>
                <a:effectLst/>
                <a:uFillTx/>
                <a:latin typeface="SegoeUI"/>
                <a:ea typeface="SegoeUI"/>
              </a:rPr>
              <a:t>), il termine </a:t>
            </a:r>
            <a:r>
              <a:rPr lang="it-IT" sz="1650" b="0" u="none" strike="noStrike" dirty="0" err="1">
                <a:solidFill>
                  <a:srgbClr val="212529"/>
                </a:solidFill>
                <a:effectLst/>
                <a:uFillTx/>
                <a:latin typeface="SegoeUI"/>
                <a:ea typeface="SegoeUI"/>
              </a:rPr>
              <a:t>ottennale</a:t>
            </a:r>
            <a:r>
              <a:rPr lang="it-IT" sz="1650" b="0" u="none" strike="noStrike" dirty="0">
                <a:solidFill>
                  <a:srgbClr val="212529"/>
                </a:solidFill>
                <a:effectLst/>
                <a:uFillTx/>
                <a:latin typeface="SegoeUI"/>
                <a:ea typeface="SegoeUI"/>
              </a:rPr>
              <a:t> rileva </a:t>
            </a:r>
            <a:r>
              <a:rPr lang="it-IT" sz="1650" b="1" u="none" strike="noStrike" dirty="0">
                <a:solidFill>
                  <a:srgbClr val="00509E"/>
                </a:solidFill>
                <a:effectLst/>
                <a:uFillTx/>
                <a:latin typeface="SegoeUI"/>
                <a:ea typeface="SegoeUI"/>
              </a:rPr>
              <a:t>solo</a:t>
            </a:r>
            <a:r>
              <a:rPr lang="it-IT" sz="1650" b="0" u="none" strike="noStrike" dirty="0">
                <a:solidFill>
                  <a:srgbClr val="212529"/>
                </a:solidFill>
                <a:effectLst/>
                <a:uFillTx/>
                <a:latin typeface="SegoeUI"/>
                <a:ea typeface="SegoeUI"/>
              </a:rPr>
              <a:t> per i crediti inesistenti;</a:t>
            </a:r>
            <a:endParaRPr lang="it-IT" sz="1650" b="0" u="none" strike="noStrike" dirty="0">
              <a:solidFill>
                <a:srgbClr val="000000"/>
              </a:solidFill>
              <a:effectLst/>
              <a:uFillTx/>
              <a:latin typeface="Times New Roman"/>
            </a:endParaRPr>
          </a:p>
        </p:txBody>
      </p:sp>
      <p:sp>
        <p:nvSpPr>
          <p:cNvPr id="1787" name="CasellaDiTesto 1786"/>
          <p:cNvSpPr txBox="1"/>
          <p:nvPr/>
        </p:nvSpPr>
        <p:spPr>
          <a:xfrm>
            <a:off x="971640" y="4050720"/>
            <a:ext cx="39542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ordinario quinquennale per i non spettanti.</a:t>
            </a:r>
            <a:endParaRPr lang="it-IT" sz="1650" b="0" u="none" strike="noStrike">
              <a:solidFill>
                <a:srgbClr val="000000"/>
              </a:solidFill>
              <a:effectLst/>
              <a:uFillTx/>
              <a:latin typeface="Times New Roman"/>
            </a:endParaRPr>
          </a:p>
        </p:txBody>
      </p:sp>
      <p:sp>
        <p:nvSpPr>
          <p:cNvPr id="1788" name="CasellaDiTesto 1787"/>
          <p:cNvSpPr txBox="1"/>
          <p:nvPr/>
        </p:nvSpPr>
        <p:spPr>
          <a:xfrm>
            <a:off x="971640" y="4527000"/>
            <a:ext cx="9892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Il persistere del contrasto induce la Sezione Tributaria a investire le SS.UU. con due ordinanze interlocutorie,</a:t>
            </a:r>
            <a:endParaRPr lang="it-IT" sz="1650" b="0" u="none" strike="noStrike">
              <a:solidFill>
                <a:srgbClr val="000000"/>
              </a:solidFill>
              <a:effectLst/>
              <a:uFillTx/>
              <a:latin typeface="Times New Roman"/>
            </a:endParaRPr>
          </a:p>
        </p:txBody>
      </p:sp>
      <p:sp>
        <p:nvSpPr>
          <p:cNvPr id="1789" name="CasellaDiTesto 1788"/>
          <p:cNvSpPr txBox="1"/>
          <p:nvPr/>
        </p:nvSpPr>
        <p:spPr>
          <a:xfrm>
            <a:off x="971640" y="4850640"/>
            <a:ext cx="100677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relative rispettivamente al versante della </a:t>
            </a:r>
            <a:r>
              <a:rPr lang="it-IT" sz="1650" b="1" u="none" strike="noStrike">
                <a:solidFill>
                  <a:srgbClr val="00509E"/>
                </a:solidFill>
                <a:effectLst/>
                <a:uFillTx/>
                <a:latin typeface="SegoeUI"/>
                <a:ea typeface="SegoeUI"/>
              </a:rPr>
              <a:t>decadenza accertativa</a:t>
            </a:r>
            <a:r>
              <a:rPr lang="it-IT" sz="1650" b="0" u="none" strike="noStrike">
                <a:solidFill>
                  <a:srgbClr val="212529"/>
                </a:solidFill>
                <a:effectLst/>
                <a:uFillTx/>
                <a:latin typeface="SegoeUI"/>
                <a:ea typeface="SegoeUI"/>
              </a:rPr>
              <a:t> e al versante delle </a:t>
            </a:r>
            <a:r>
              <a:rPr lang="it-IT" sz="1650" b="1" u="none" strike="noStrike">
                <a:solidFill>
                  <a:srgbClr val="00509E"/>
                </a:solidFill>
                <a:effectLst/>
                <a:uFillTx/>
                <a:latin typeface="SegoeUI"/>
                <a:ea typeface="SegoeUI"/>
              </a:rPr>
              <a:t>sanzioni amministrative</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790" name="CasellaDiTesto 1789"/>
          <p:cNvSpPr txBox="1"/>
          <p:nvPr/>
        </p:nvSpPr>
        <p:spPr>
          <a:xfrm>
            <a:off x="1209600" y="5547600"/>
            <a:ext cx="96544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Fattispecie ricorrente: </a:t>
            </a:r>
            <a:r>
              <a:rPr lang="it-IT" sz="1500" b="0" i="1" u="none" strike="noStrike">
                <a:solidFill>
                  <a:srgbClr val="495057"/>
                </a:solidFill>
                <a:effectLst/>
                <a:uFillTx/>
                <a:latin typeface="SegoeUI"/>
                <a:ea typeface="SegoeUI"/>
              </a:rPr>
              <a:t>indebita compensazione del credito d'imposta R&amp;S</a:t>
            </a:r>
            <a:r>
              <a:rPr lang="it-IT" sz="1500" b="0" u="none" strike="noStrike">
                <a:solidFill>
                  <a:srgbClr val="343A40"/>
                </a:solidFill>
                <a:effectLst/>
                <a:uFillTx/>
                <a:latin typeface="SegoeUI"/>
                <a:ea typeface="SegoeUI"/>
              </a:rPr>
              <a:t> — terreno particolarmente sensibile, su cui</a:t>
            </a:r>
            <a:endParaRPr lang="it-IT" sz="1500" b="0" u="none" strike="noStrike">
              <a:solidFill>
                <a:srgbClr val="000000"/>
              </a:solidFill>
              <a:effectLst/>
              <a:uFillTx/>
              <a:latin typeface="Times New Roman"/>
            </a:endParaRPr>
          </a:p>
        </p:txBody>
      </p:sp>
      <p:sp>
        <p:nvSpPr>
          <p:cNvPr id="1791" name="Figura a mano libera: forma 1790"/>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92" name="CasellaDiTesto 1791"/>
          <p:cNvSpPr txBox="1"/>
          <p:nvPr/>
        </p:nvSpPr>
        <p:spPr>
          <a:xfrm>
            <a:off x="1209600" y="5842800"/>
            <a:ext cx="9334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torneremo.</a:t>
            </a:r>
            <a:endParaRPr lang="it-IT" sz="1500" b="0" u="none" strike="noStrike">
              <a:solidFill>
                <a:srgbClr val="000000"/>
              </a:solidFill>
              <a:effectLst/>
              <a:uFillTx/>
              <a:latin typeface="Times New Roman"/>
            </a:endParaRPr>
          </a:p>
        </p:txBody>
      </p:sp>
      <p:sp>
        <p:nvSpPr>
          <p:cNvPr id="1793" name="Figura a mano libera: forma 1792"/>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94" name="CasellaDiTesto 1793"/>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795" name="CasellaDiTesto 1794"/>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59 / 73</a:t>
            </a:r>
            <a:endParaRPr lang="it-IT" sz="980" b="0" u="none" strike="noStrike">
              <a:solidFill>
                <a:srgbClr val="000000"/>
              </a:solidFill>
              <a:effectLst/>
              <a:uFillTx/>
              <a:latin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6" name="Figura a mano libera: forma 179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97" name="Figura a mano libera: forma 179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98" name="Figura a mano libera: forma 1797"/>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799" name="Figura a mano libera: forma 1798"/>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00" name="Figura a mano libera: forma 1799"/>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01" name="Figura a mano libera: forma 1800"/>
          <p:cNvSpPr/>
          <p:nvPr/>
        </p:nvSpPr>
        <p:spPr>
          <a:xfrm>
            <a:off x="975960" y="1804680"/>
            <a:ext cx="10544760" cy="2124720"/>
          </a:xfrm>
          <a:custGeom>
            <a:avLst/>
            <a:gdLst/>
            <a:ahLst/>
            <a:cxnLst/>
            <a:rect l="0" t="0" r="r" b="b"/>
            <a:pathLst>
              <a:path w="29291" h="5902">
                <a:moveTo>
                  <a:pt x="0" y="5809"/>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5809"/>
                </a:lnTo>
                <a:cubicBezTo>
                  <a:pt x="29291" y="5821"/>
                  <a:pt x="29288" y="5833"/>
                  <a:pt x="29284" y="5844"/>
                </a:cubicBezTo>
                <a:cubicBezTo>
                  <a:pt x="29279" y="5856"/>
                  <a:pt x="29272" y="5866"/>
                  <a:pt x="29264" y="5874"/>
                </a:cubicBezTo>
                <a:cubicBezTo>
                  <a:pt x="29255" y="5883"/>
                  <a:pt x="29245" y="5890"/>
                  <a:pt x="29234" y="5895"/>
                </a:cubicBezTo>
                <a:cubicBezTo>
                  <a:pt x="29222" y="5899"/>
                  <a:pt x="29211" y="5902"/>
                  <a:pt x="29198" y="5902"/>
                </a:cubicBezTo>
                <a:lnTo>
                  <a:pt x="93" y="5902"/>
                </a:lnTo>
                <a:cubicBezTo>
                  <a:pt x="81" y="5902"/>
                  <a:pt x="69" y="5899"/>
                  <a:pt x="58" y="5895"/>
                </a:cubicBezTo>
                <a:cubicBezTo>
                  <a:pt x="46" y="5890"/>
                  <a:pt x="36" y="5883"/>
                  <a:pt x="28" y="5874"/>
                </a:cubicBezTo>
                <a:cubicBezTo>
                  <a:pt x="19" y="5866"/>
                  <a:pt x="12" y="5856"/>
                  <a:pt x="8" y="5844"/>
                </a:cubicBezTo>
                <a:cubicBezTo>
                  <a:pt x="3" y="5833"/>
                  <a:pt x="0" y="5821"/>
                  <a:pt x="0" y="5809"/>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02" name="Figura a mano libera: forma 1801"/>
          <p:cNvSpPr/>
          <p:nvPr/>
        </p:nvSpPr>
        <p:spPr>
          <a:xfrm>
            <a:off x="975960" y="1804680"/>
            <a:ext cx="10544760" cy="2124720"/>
          </a:xfrm>
          <a:custGeom>
            <a:avLst/>
            <a:gdLst/>
            <a:ahLst/>
            <a:cxnLst/>
            <a:rect l="0" t="0" r="r" b="b"/>
            <a:pathLst>
              <a:path w="29291" h="5902">
                <a:moveTo>
                  <a:pt x="0" y="5809"/>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5809"/>
                </a:lnTo>
                <a:cubicBezTo>
                  <a:pt x="29291" y="5821"/>
                  <a:pt x="29288" y="5833"/>
                  <a:pt x="29284" y="5844"/>
                </a:cubicBezTo>
                <a:cubicBezTo>
                  <a:pt x="29279" y="5856"/>
                  <a:pt x="29272" y="5866"/>
                  <a:pt x="29264" y="5874"/>
                </a:cubicBezTo>
                <a:cubicBezTo>
                  <a:pt x="29255" y="5883"/>
                  <a:pt x="29245" y="5890"/>
                  <a:pt x="29234" y="5895"/>
                </a:cubicBezTo>
                <a:cubicBezTo>
                  <a:pt x="29222" y="5899"/>
                  <a:pt x="29211" y="5902"/>
                  <a:pt x="29198" y="5902"/>
                </a:cubicBezTo>
                <a:lnTo>
                  <a:pt x="93" y="5902"/>
                </a:lnTo>
                <a:cubicBezTo>
                  <a:pt x="81" y="5902"/>
                  <a:pt x="69" y="5899"/>
                  <a:pt x="58" y="5895"/>
                </a:cubicBezTo>
                <a:cubicBezTo>
                  <a:pt x="46" y="5890"/>
                  <a:pt x="36" y="5883"/>
                  <a:pt x="28" y="5874"/>
                </a:cubicBezTo>
                <a:cubicBezTo>
                  <a:pt x="19" y="5866"/>
                  <a:pt x="12" y="5856"/>
                  <a:pt x="8" y="5844"/>
                </a:cubicBezTo>
                <a:cubicBezTo>
                  <a:pt x="3" y="5833"/>
                  <a:pt x="0" y="5821"/>
                  <a:pt x="0" y="5809"/>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803" name="Figura a mano libera: forma 1802"/>
          <p:cNvSpPr/>
          <p:nvPr/>
        </p:nvSpPr>
        <p:spPr>
          <a:xfrm>
            <a:off x="975960" y="5729040"/>
            <a:ext cx="10544760" cy="943560"/>
          </a:xfrm>
          <a:custGeom>
            <a:avLst/>
            <a:gdLst/>
            <a:ahLst/>
            <a:cxnLst/>
            <a:rect l="0" t="0" r="r" b="b"/>
            <a:pathLst>
              <a:path w="29291" h="2621">
                <a:moveTo>
                  <a:pt x="0" y="252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2528"/>
                </a:lnTo>
                <a:cubicBezTo>
                  <a:pt x="29291" y="2540"/>
                  <a:pt x="29288" y="2552"/>
                  <a:pt x="29284" y="2563"/>
                </a:cubicBezTo>
                <a:cubicBezTo>
                  <a:pt x="29279" y="2575"/>
                  <a:pt x="29272" y="2585"/>
                  <a:pt x="29264" y="2593"/>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3"/>
                </a:cubicBezTo>
                <a:cubicBezTo>
                  <a:pt x="19" y="2585"/>
                  <a:pt x="12" y="2575"/>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04" name="Figura a mano libera: forma 1803"/>
          <p:cNvSpPr/>
          <p:nvPr/>
        </p:nvSpPr>
        <p:spPr>
          <a:xfrm>
            <a:off x="975960" y="5729040"/>
            <a:ext cx="10544760" cy="943560"/>
          </a:xfrm>
          <a:custGeom>
            <a:avLst/>
            <a:gdLst/>
            <a:ahLst/>
            <a:cxnLst/>
            <a:rect l="0" t="0" r="r" b="b"/>
            <a:pathLst>
              <a:path w="29291" h="2621">
                <a:moveTo>
                  <a:pt x="0" y="252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2528"/>
                </a:lnTo>
                <a:cubicBezTo>
                  <a:pt x="29291" y="2540"/>
                  <a:pt x="29288" y="2552"/>
                  <a:pt x="29284" y="2563"/>
                </a:cubicBezTo>
                <a:cubicBezTo>
                  <a:pt x="29279" y="2575"/>
                  <a:pt x="29272" y="2585"/>
                  <a:pt x="29264" y="2593"/>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3"/>
                </a:cubicBezTo>
                <a:cubicBezTo>
                  <a:pt x="19" y="2585"/>
                  <a:pt x="12" y="2575"/>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805" name="CasellaDiTesto 1804"/>
          <p:cNvSpPr txBox="1"/>
          <p:nvPr/>
        </p:nvSpPr>
        <p:spPr>
          <a:xfrm>
            <a:off x="971640" y="552600"/>
            <a:ext cx="52912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LE SEZIONI UNITE DEL 2023 (1)</a:t>
            </a:r>
            <a:endParaRPr lang="it-IT" sz="2850" b="0" u="none" strike="noStrike">
              <a:solidFill>
                <a:srgbClr val="000000"/>
              </a:solidFill>
              <a:effectLst/>
              <a:uFillTx/>
              <a:latin typeface="Times New Roman"/>
            </a:endParaRPr>
          </a:p>
        </p:txBody>
      </p:sp>
      <p:sp>
        <p:nvSpPr>
          <p:cNvPr id="1806" name="CasellaDiTesto 1805"/>
          <p:cNvSpPr txBox="1"/>
          <p:nvPr/>
        </p:nvSpPr>
        <p:spPr>
          <a:xfrm>
            <a:off x="971640" y="1307520"/>
            <a:ext cx="6189708"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hlinkClick r:id="rId2"/>
              </a:rPr>
              <a:t>Cass. SS.UU., 11 dicembre 2023, n. 34419</a:t>
            </a:r>
            <a:r>
              <a:rPr lang="it-IT" sz="1650" b="0" u="none" strike="noStrike" dirty="0">
                <a:solidFill>
                  <a:srgbClr val="212529"/>
                </a:solidFill>
                <a:effectLst/>
                <a:uFillTx/>
                <a:latin typeface="SegoeUI"/>
                <a:ea typeface="SegoeUI"/>
              </a:rPr>
              <a:t> - profilo decadenziale:</a:t>
            </a:r>
            <a:endParaRPr lang="it-IT" sz="1650" b="0" u="none" strike="noStrike" dirty="0">
              <a:solidFill>
                <a:srgbClr val="000000"/>
              </a:solidFill>
              <a:effectLst/>
              <a:uFillTx/>
              <a:latin typeface="Times New Roman"/>
            </a:endParaRPr>
          </a:p>
        </p:txBody>
      </p:sp>
      <p:sp>
        <p:nvSpPr>
          <p:cNvPr id="1807" name="CasellaDiTesto 1806"/>
          <p:cNvSpPr txBox="1"/>
          <p:nvPr/>
        </p:nvSpPr>
        <p:spPr>
          <a:xfrm>
            <a:off x="1209600" y="2004120"/>
            <a:ext cx="98452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«In tema di compensazione di crediti o eccedenze d'imposta […], all'azione di accertamento dell'erario si applica il più</a:t>
            </a:r>
            <a:endParaRPr lang="it-IT" sz="1500" b="0" u="none" strike="noStrike">
              <a:solidFill>
                <a:srgbClr val="000000"/>
              </a:solidFill>
              <a:effectLst/>
              <a:uFillTx/>
              <a:latin typeface="Times New Roman"/>
            </a:endParaRPr>
          </a:p>
        </p:txBody>
      </p:sp>
      <p:sp>
        <p:nvSpPr>
          <p:cNvPr id="1808" name="CasellaDiTesto 1807"/>
          <p:cNvSpPr txBox="1"/>
          <p:nvPr/>
        </p:nvSpPr>
        <p:spPr>
          <a:xfrm>
            <a:off x="1209600" y="2299680"/>
            <a:ext cx="997776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lungo termine di </a:t>
            </a:r>
            <a:r>
              <a:rPr lang="it-IT" sz="1500" b="1" u="none" strike="noStrike">
                <a:solidFill>
                  <a:srgbClr val="00509E"/>
                </a:solidFill>
                <a:effectLst/>
                <a:uFillTx/>
                <a:latin typeface="SegoeUI"/>
                <a:ea typeface="SegoeUI"/>
              </a:rPr>
              <a:t>otto anni</a:t>
            </a:r>
            <a:r>
              <a:rPr lang="it-IT" sz="1500" b="0" u="none" strike="noStrike">
                <a:solidFill>
                  <a:srgbClr val="343A40"/>
                </a:solidFill>
                <a:effectLst/>
                <a:uFillTx/>
                <a:latin typeface="SegoeUI"/>
                <a:ea typeface="SegoeUI"/>
              </a:rPr>
              <a:t>, di cui all'art. 27, co. 16, D.L. 185/2008, quando il credito utilizzato è </a:t>
            </a:r>
            <a:r>
              <a:rPr lang="it-IT" sz="1500" b="1" u="none" strike="noStrike">
                <a:solidFill>
                  <a:srgbClr val="00509E"/>
                </a:solidFill>
                <a:effectLst/>
                <a:uFillTx/>
                <a:latin typeface="SegoeUI"/>
                <a:ea typeface="SegoeUI"/>
              </a:rPr>
              <a:t>inesistente</a:t>
            </a:r>
            <a:r>
              <a:rPr lang="it-IT" sz="1500" b="0" u="none" strike="noStrike">
                <a:solidFill>
                  <a:srgbClr val="343A40"/>
                </a:solidFill>
                <a:effectLst/>
                <a:uFillTx/>
                <a:latin typeface="SegoeUI"/>
                <a:ea typeface="SegoeUI"/>
              </a:rPr>
              <a:t>, condizione</a:t>
            </a:r>
            <a:endParaRPr lang="it-IT" sz="1500" b="0" u="none" strike="noStrike">
              <a:solidFill>
                <a:srgbClr val="000000"/>
              </a:solidFill>
              <a:effectLst/>
              <a:uFillTx/>
              <a:latin typeface="Times New Roman"/>
            </a:endParaRPr>
          </a:p>
        </p:txBody>
      </p:sp>
      <p:sp>
        <p:nvSpPr>
          <p:cNvPr id="1809" name="CasellaDiTesto 1808"/>
          <p:cNvSpPr txBox="1"/>
          <p:nvPr/>
        </p:nvSpPr>
        <p:spPr>
          <a:xfrm>
            <a:off x="1209600" y="2594880"/>
            <a:ext cx="1002780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che si realizza allorché ricorrano </a:t>
            </a:r>
            <a:r>
              <a:rPr lang="it-IT" sz="1500" b="0" i="1" u="none" strike="noStrike">
                <a:solidFill>
                  <a:srgbClr val="495057"/>
                </a:solidFill>
                <a:effectLst/>
                <a:uFillTx/>
                <a:latin typeface="SegoeUI"/>
                <a:ea typeface="SegoeUI"/>
              </a:rPr>
              <a:t>congiuntamente</a:t>
            </a:r>
            <a:r>
              <a:rPr lang="it-IT" sz="1500" b="0" u="none" strike="noStrike">
                <a:solidFill>
                  <a:srgbClr val="343A40"/>
                </a:solidFill>
                <a:effectLst/>
                <a:uFillTx/>
                <a:latin typeface="SegoeUI"/>
                <a:ea typeface="SegoeUI"/>
              </a:rPr>
              <a:t>: a) il credito è il risultato di una </a:t>
            </a:r>
            <a:r>
              <a:rPr lang="it-IT" sz="1500" b="1" u="none" strike="noStrike">
                <a:solidFill>
                  <a:srgbClr val="00509E"/>
                </a:solidFill>
                <a:effectLst/>
                <a:uFillTx/>
                <a:latin typeface="SegoeUI"/>
                <a:ea typeface="SegoeUI"/>
              </a:rPr>
              <a:t>artificiosa rappresentazione</a:t>
            </a:r>
            <a:r>
              <a:rPr lang="it-IT" sz="1500" b="0" u="none" strike="noStrike">
                <a:solidFill>
                  <a:srgbClr val="343A40"/>
                </a:solidFill>
                <a:effectLst/>
                <a:uFillTx/>
                <a:latin typeface="SegoeUI"/>
                <a:ea typeface="SegoeUI"/>
              </a:rPr>
              <a:t> ovvero è</a:t>
            </a:r>
            <a:endParaRPr lang="it-IT" sz="1500" b="0" u="none" strike="noStrike">
              <a:solidFill>
                <a:srgbClr val="000000"/>
              </a:solidFill>
              <a:effectLst/>
              <a:uFillTx/>
              <a:latin typeface="Times New Roman"/>
            </a:endParaRPr>
          </a:p>
        </p:txBody>
      </p:sp>
      <p:sp>
        <p:nvSpPr>
          <p:cNvPr id="1810" name="CasellaDiTesto 1809"/>
          <p:cNvSpPr txBox="1"/>
          <p:nvPr/>
        </p:nvSpPr>
        <p:spPr>
          <a:xfrm>
            <a:off x="1209600" y="2890080"/>
            <a:ext cx="10016640" cy="253440"/>
          </a:xfrm>
          <a:prstGeom prst="rect">
            <a:avLst/>
          </a:prstGeom>
          <a:noFill/>
          <a:ln w="0">
            <a:noFill/>
          </a:ln>
        </p:spPr>
        <p:txBody>
          <a:bodyPr wrap="none" lIns="0" tIns="0" rIns="0" bIns="0" anchor="t">
            <a:spAutoFit/>
          </a:bodyPr>
          <a:lstStyle/>
          <a:p>
            <a:r>
              <a:rPr lang="it-IT" sz="1500" b="1" u="none" strike="noStrike">
                <a:solidFill>
                  <a:srgbClr val="00509E"/>
                </a:solidFill>
                <a:effectLst/>
                <a:uFillTx/>
                <a:latin typeface="SegoeUI"/>
                <a:ea typeface="SegoeUI"/>
              </a:rPr>
              <a:t>carente dei presupposti costitutivi</a:t>
            </a:r>
            <a:r>
              <a:rPr lang="it-IT" sz="1500" b="0" u="none" strike="noStrike">
                <a:solidFill>
                  <a:srgbClr val="343A40"/>
                </a:solidFill>
                <a:effectLst/>
                <a:uFillTx/>
                <a:latin typeface="SegoeUI"/>
                <a:ea typeface="SegoeUI"/>
              </a:rPr>
              <a:t> previsti dalla legge ovvero, pur sorto, </a:t>
            </a:r>
            <a:r>
              <a:rPr lang="it-IT" sz="1500" b="1" u="none" strike="noStrike">
                <a:solidFill>
                  <a:srgbClr val="00509E"/>
                </a:solidFill>
                <a:effectLst/>
                <a:uFillTx/>
                <a:latin typeface="SegoeUI"/>
                <a:ea typeface="SegoeUI"/>
              </a:rPr>
              <a:t>è già estinto</a:t>
            </a:r>
            <a:r>
              <a:rPr lang="it-IT" sz="1500" b="0" u="none" strike="noStrike">
                <a:solidFill>
                  <a:srgbClr val="343A40"/>
                </a:solidFill>
                <a:effectLst/>
                <a:uFillTx/>
                <a:latin typeface="SegoeUI"/>
                <a:ea typeface="SegoeUI"/>
              </a:rPr>
              <a:t> al momento del suo utilizzo; b)</a:t>
            </a:r>
            <a:endParaRPr lang="it-IT" sz="1500" b="0" u="none" strike="noStrike">
              <a:solidFill>
                <a:srgbClr val="000000"/>
              </a:solidFill>
              <a:effectLst/>
              <a:uFillTx/>
              <a:latin typeface="Times New Roman"/>
            </a:endParaRPr>
          </a:p>
        </p:txBody>
      </p:sp>
      <p:sp>
        <p:nvSpPr>
          <p:cNvPr id="1811" name="CasellaDiTesto 1810"/>
          <p:cNvSpPr txBox="1"/>
          <p:nvPr/>
        </p:nvSpPr>
        <p:spPr>
          <a:xfrm>
            <a:off x="1209600" y="3185280"/>
            <a:ext cx="936396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a:t>
            </a:r>
            <a:r>
              <a:rPr lang="it-IT" sz="1500" b="1" u="none" strike="noStrike">
                <a:solidFill>
                  <a:srgbClr val="00509E"/>
                </a:solidFill>
                <a:effectLst/>
                <a:uFillTx/>
                <a:latin typeface="SegoeUI"/>
                <a:ea typeface="SegoeUI"/>
              </a:rPr>
              <a:t>inesistenza non è riscontrabile</a:t>
            </a:r>
            <a:r>
              <a:rPr lang="it-IT" sz="1500" b="0" u="none" strike="noStrike">
                <a:solidFill>
                  <a:srgbClr val="343A40"/>
                </a:solidFill>
                <a:effectLst/>
                <a:uFillTx/>
                <a:latin typeface="SegoeUI"/>
                <a:ea typeface="SegoeUI"/>
              </a:rPr>
              <a:t> mediante i controlli di cui agli artt. 36-</a:t>
            </a:r>
            <a:r>
              <a:rPr lang="it-IT" sz="1500" b="0" i="1" u="none" strike="noStrike">
                <a:solidFill>
                  <a:srgbClr val="495057"/>
                </a:solidFill>
                <a:effectLst/>
                <a:uFillTx/>
                <a:latin typeface="SegoeUI"/>
                <a:ea typeface="SegoeUI"/>
              </a:rPr>
              <a:t>bis</a:t>
            </a:r>
            <a:r>
              <a:rPr lang="it-IT" sz="1500" b="0" u="none" strike="noStrike">
                <a:solidFill>
                  <a:srgbClr val="343A40"/>
                </a:solidFill>
                <a:effectLst/>
                <a:uFillTx/>
                <a:latin typeface="SegoeUI"/>
                <a:ea typeface="SegoeUI"/>
              </a:rPr>
              <a:t> e 36-</a:t>
            </a:r>
            <a:r>
              <a:rPr lang="it-IT" sz="1500" b="0" i="1" u="none" strike="noStrike">
                <a:solidFill>
                  <a:srgbClr val="495057"/>
                </a:solidFill>
                <a:effectLst/>
                <a:uFillTx/>
                <a:latin typeface="SegoeUI"/>
                <a:ea typeface="SegoeUI"/>
              </a:rPr>
              <a:t>ter</a:t>
            </a:r>
            <a:r>
              <a:rPr lang="it-IT" sz="1500" b="0" u="none" strike="noStrike">
                <a:solidFill>
                  <a:srgbClr val="343A40"/>
                </a:solidFill>
                <a:effectLst/>
                <a:uFillTx/>
                <a:latin typeface="SegoeUI"/>
                <a:ea typeface="SegoeUI"/>
              </a:rPr>
              <a:t> DPR 600/1973 e 54-</a:t>
            </a:r>
            <a:r>
              <a:rPr lang="it-IT" sz="1500" b="0" i="1" u="none" strike="noStrike">
                <a:solidFill>
                  <a:srgbClr val="495057"/>
                </a:solidFill>
                <a:effectLst/>
                <a:uFillTx/>
                <a:latin typeface="SegoeUI"/>
                <a:ea typeface="SegoeUI"/>
              </a:rPr>
              <a:t>bis</a:t>
            </a:r>
            <a:r>
              <a:rPr lang="it-IT" sz="1500" b="0" u="none" strike="noStrike">
                <a:solidFill>
                  <a:srgbClr val="343A40"/>
                </a:solidFill>
                <a:effectLst/>
                <a:uFillTx/>
                <a:latin typeface="SegoeUI"/>
                <a:ea typeface="SegoeUI"/>
              </a:rPr>
              <a:t> DPR</a:t>
            </a:r>
            <a:endParaRPr lang="it-IT" sz="1500" b="0" u="none" strike="noStrike">
              <a:solidFill>
                <a:srgbClr val="000000"/>
              </a:solidFill>
              <a:effectLst/>
              <a:uFillTx/>
              <a:latin typeface="Times New Roman"/>
            </a:endParaRPr>
          </a:p>
        </p:txBody>
      </p:sp>
      <p:sp>
        <p:nvSpPr>
          <p:cNvPr id="1812" name="CasellaDiTesto 1811"/>
          <p:cNvSpPr txBox="1"/>
          <p:nvPr/>
        </p:nvSpPr>
        <p:spPr>
          <a:xfrm>
            <a:off x="1209600" y="3480480"/>
            <a:ext cx="93132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633/1972».</a:t>
            </a:r>
            <a:endParaRPr lang="it-IT" sz="1500" b="0" u="none" strike="noStrike">
              <a:solidFill>
                <a:srgbClr val="000000"/>
              </a:solidFill>
              <a:effectLst/>
              <a:uFillTx/>
              <a:latin typeface="Times New Roman"/>
            </a:endParaRPr>
          </a:p>
        </p:txBody>
      </p:sp>
      <p:sp>
        <p:nvSpPr>
          <p:cNvPr id="1813" name="CasellaDiTesto 1812"/>
          <p:cNvSpPr txBox="1"/>
          <p:nvPr/>
        </p:nvSpPr>
        <p:spPr>
          <a:xfrm>
            <a:off x="971640" y="4107600"/>
            <a:ext cx="100616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Il requisito è </a:t>
            </a:r>
            <a:r>
              <a:rPr lang="it-IT" sz="1650" b="1" u="none" strike="noStrike">
                <a:solidFill>
                  <a:srgbClr val="00509E"/>
                </a:solidFill>
                <a:effectLst/>
                <a:uFillTx/>
                <a:latin typeface="SegoeUI"/>
                <a:ea typeface="SegoeUI"/>
              </a:rPr>
              <a:t>oggettivo</a:t>
            </a:r>
            <a:r>
              <a:rPr lang="it-IT" sz="1650" b="0" u="none" strike="noStrike">
                <a:solidFill>
                  <a:srgbClr val="212529"/>
                </a:solidFill>
                <a:effectLst/>
                <a:uFillTx/>
                <a:latin typeface="SegoeUI"/>
                <a:ea typeface="SegoeUI"/>
              </a:rPr>
              <a:t>: non rileva che, in concreto, l'Amministrazione abbia operato un controllo sostanziale;</a:t>
            </a:r>
            <a:endParaRPr lang="it-IT" sz="1650" b="0" u="none" strike="noStrike">
              <a:solidFill>
                <a:srgbClr val="000000"/>
              </a:solidFill>
              <a:effectLst/>
              <a:uFillTx/>
              <a:latin typeface="Times New Roman"/>
            </a:endParaRPr>
          </a:p>
        </p:txBody>
      </p:sp>
      <p:sp>
        <p:nvSpPr>
          <p:cNvPr id="1814" name="CasellaDiTesto 1813"/>
          <p:cNvSpPr txBox="1"/>
          <p:nvPr/>
        </p:nvSpPr>
        <p:spPr>
          <a:xfrm>
            <a:off x="971640" y="4431600"/>
            <a:ext cx="97329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rileva solo che, </a:t>
            </a:r>
            <a:r>
              <a:rPr lang="it-IT" sz="1650" b="0" i="1" u="none" strike="noStrike">
                <a:solidFill>
                  <a:srgbClr val="495057"/>
                </a:solidFill>
                <a:effectLst/>
                <a:uFillTx/>
                <a:latin typeface="SegoeUI"/>
                <a:ea typeface="SegoeUI"/>
              </a:rPr>
              <a:t>astrattamente</a:t>
            </a:r>
            <a:r>
              <a:rPr lang="it-IT" sz="1650" b="0" u="none" strike="noStrike">
                <a:solidFill>
                  <a:srgbClr val="212529"/>
                </a:solidFill>
                <a:effectLst/>
                <a:uFillTx/>
                <a:latin typeface="SegoeUI"/>
                <a:ea typeface="SegoeUI"/>
              </a:rPr>
              <a:t>, l'anomalia non fosse rilevabile in sede di controllo automatizzato o formale.</a:t>
            </a:r>
            <a:endParaRPr lang="it-IT" sz="1650" b="0" u="none" strike="noStrike">
              <a:solidFill>
                <a:srgbClr val="000000"/>
              </a:solidFill>
              <a:effectLst/>
              <a:uFillTx/>
              <a:latin typeface="Times New Roman"/>
            </a:endParaRPr>
          </a:p>
        </p:txBody>
      </p:sp>
      <p:sp>
        <p:nvSpPr>
          <p:cNvPr id="1815" name="CasellaDiTesto 1814"/>
          <p:cNvSpPr txBox="1"/>
          <p:nvPr/>
        </p:nvSpPr>
        <p:spPr>
          <a:xfrm>
            <a:off x="971640" y="4907880"/>
            <a:ext cx="103698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 Argomento di particolare rilievo perché la qualificazione come "inesistente" da parte dell'Agenzia delle Entrate</a:t>
            </a:r>
            <a:endParaRPr lang="it-IT" sz="1650" b="0" u="none" strike="noStrike">
              <a:solidFill>
                <a:srgbClr val="000000"/>
              </a:solidFill>
              <a:effectLst/>
              <a:uFillTx/>
              <a:latin typeface="Times New Roman"/>
            </a:endParaRPr>
          </a:p>
        </p:txBody>
      </p:sp>
      <p:sp>
        <p:nvSpPr>
          <p:cNvPr id="1816" name="CasellaDiTesto 1815"/>
          <p:cNvSpPr txBox="1"/>
          <p:nvPr/>
        </p:nvSpPr>
        <p:spPr>
          <a:xfrm>
            <a:off x="971640" y="5231880"/>
            <a:ext cx="71103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poggia sovente sulla maggiore complessità dei controlli effettivamente svolti.</a:t>
            </a:r>
            <a:endParaRPr lang="it-IT" sz="1650" b="0" u="none" strike="noStrike">
              <a:solidFill>
                <a:srgbClr val="000000"/>
              </a:solidFill>
              <a:effectLst/>
              <a:uFillTx/>
              <a:latin typeface="Times New Roman"/>
            </a:endParaRPr>
          </a:p>
        </p:txBody>
      </p:sp>
      <p:sp>
        <p:nvSpPr>
          <p:cNvPr id="1817" name="CasellaDiTesto 1816"/>
          <p:cNvSpPr txBox="1"/>
          <p:nvPr/>
        </p:nvSpPr>
        <p:spPr>
          <a:xfrm>
            <a:off x="1209600" y="5928480"/>
            <a:ext cx="945504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«L'inesistenza ha un valore obiettivo, mentre la non spettanza ha un carattere dinamico ancorato al presupposto,</a:t>
            </a:r>
            <a:endParaRPr lang="it-IT" sz="1500" b="0" u="none" strike="noStrike">
              <a:solidFill>
                <a:srgbClr val="000000"/>
              </a:solidFill>
              <a:effectLst/>
              <a:uFillTx/>
              <a:latin typeface="Times New Roman"/>
            </a:endParaRPr>
          </a:p>
        </p:txBody>
      </p:sp>
      <p:sp>
        <p:nvSpPr>
          <p:cNvPr id="1818" name="Figura a mano libera: forma 181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19" name="CasellaDiTesto 1818"/>
          <p:cNvSpPr txBox="1"/>
          <p:nvPr/>
        </p:nvSpPr>
        <p:spPr>
          <a:xfrm>
            <a:off x="1209600" y="6223680"/>
            <a:ext cx="589572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antitetico, dell'esistenza del credito» (</a:t>
            </a:r>
            <a:r>
              <a:rPr lang="it-IT" sz="1500" b="0" i="1" u="none" strike="noStrike">
                <a:solidFill>
                  <a:srgbClr val="495057"/>
                </a:solidFill>
                <a:effectLst/>
                <a:uFillTx/>
                <a:latin typeface="SegoeUI"/>
                <a:ea typeface="SegoeUI"/>
              </a:rPr>
              <a:t>motivazione SS.UU. 34419/2023</a:t>
            </a:r>
            <a:r>
              <a:rPr lang="it-IT" sz="1500" b="0" u="none" strike="noStrike">
                <a:solidFill>
                  <a:srgbClr val="343A40"/>
                </a:solidFill>
                <a:effectLst/>
                <a:uFillTx/>
                <a:latin typeface="SegoeUI"/>
                <a:ea typeface="SegoeUI"/>
              </a:rPr>
              <a:t>).</a:t>
            </a:r>
            <a:endParaRPr lang="it-IT" sz="1500" b="0" u="none" strike="noStrike">
              <a:solidFill>
                <a:srgbClr val="000000"/>
              </a:solidFill>
              <a:effectLst/>
              <a:uFillTx/>
              <a:latin typeface="Times New Roman"/>
            </a:endParaRPr>
          </a:p>
        </p:txBody>
      </p:sp>
      <p:sp>
        <p:nvSpPr>
          <p:cNvPr id="1820" name="Figura a mano libera: forma 181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21" name="CasellaDiTesto 182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822" name="CasellaDiTesto 182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60 / 73</a:t>
            </a:r>
            <a:endParaRPr lang="it-IT" sz="980" b="0" u="none" strike="noStrike">
              <a:solidFill>
                <a:srgbClr val="000000"/>
              </a:solidFill>
              <a:effectLst/>
              <a:uFillTx/>
              <a:latin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3" name="Figura a mano libera: forma 182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24" name="Figura a mano libera: forma 182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25" name="Figura a mano libera: forma 182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26" name="Figura a mano libera: forma 182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27" name="Figura a mano libera: forma 1826"/>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28" name="Figura a mano libera: forma 1827"/>
          <p:cNvSpPr/>
          <p:nvPr/>
        </p:nvSpPr>
        <p:spPr>
          <a:xfrm>
            <a:off x="975960" y="1804680"/>
            <a:ext cx="10544760" cy="1238760"/>
          </a:xfrm>
          <a:custGeom>
            <a:avLst/>
            <a:gdLst/>
            <a:ahLst/>
            <a:cxnLst/>
            <a:rect l="0" t="0" r="r" b="b"/>
            <a:pathLst>
              <a:path w="29291" h="3441">
                <a:moveTo>
                  <a:pt x="0" y="3348"/>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3348"/>
                </a:lnTo>
                <a:cubicBezTo>
                  <a:pt x="29291" y="3361"/>
                  <a:pt x="29288" y="3372"/>
                  <a:pt x="29284" y="3384"/>
                </a:cubicBezTo>
                <a:cubicBezTo>
                  <a:pt x="29279" y="3395"/>
                  <a:pt x="29272" y="3405"/>
                  <a:pt x="29264" y="3414"/>
                </a:cubicBezTo>
                <a:cubicBezTo>
                  <a:pt x="29255" y="3422"/>
                  <a:pt x="29245" y="3429"/>
                  <a:pt x="29234" y="3434"/>
                </a:cubicBezTo>
                <a:cubicBezTo>
                  <a:pt x="29222" y="3439"/>
                  <a:pt x="29211" y="3441"/>
                  <a:pt x="29198" y="3441"/>
                </a:cubicBezTo>
                <a:lnTo>
                  <a:pt x="93" y="3441"/>
                </a:lnTo>
                <a:cubicBezTo>
                  <a:pt x="81" y="3441"/>
                  <a:pt x="69" y="3439"/>
                  <a:pt x="58" y="3434"/>
                </a:cubicBezTo>
                <a:cubicBezTo>
                  <a:pt x="46" y="3429"/>
                  <a:pt x="36" y="3422"/>
                  <a:pt x="28" y="3414"/>
                </a:cubicBezTo>
                <a:cubicBezTo>
                  <a:pt x="19" y="3405"/>
                  <a:pt x="12" y="3395"/>
                  <a:pt x="8" y="3384"/>
                </a:cubicBezTo>
                <a:cubicBezTo>
                  <a:pt x="3" y="3372"/>
                  <a:pt x="0" y="3361"/>
                  <a:pt x="0" y="334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29" name="Figura a mano libera: forma 1828"/>
          <p:cNvSpPr/>
          <p:nvPr/>
        </p:nvSpPr>
        <p:spPr>
          <a:xfrm>
            <a:off x="975960" y="1804680"/>
            <a:ext cx="10544760" cy="1238760"/>
          </a:xfrm>
          <a:custGeom>
            <a:avLst/>
            <a:gdLst/>
            <a:ahLst/>
            <a:cxnLst/>
            <a:rect l="0" t="0" r="r" b="b"/>
            <a:pathLst>
              <a:path w="29291" h="3441">
                <a:moveTo>
                  <a:pt x="0" y="3348"/>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3348"/>
                </a:lnTo>
                <a:cubicBezTo>
                  <a:pt x="29291" y="3361"/>
                  <a:pt x="29288" y="3372"/>
                  <a:pt x="29284" y="3384"/>
                </a:cubicBezTo>
                <a:cubicBezTo>
                  <a:pt x="29279" y="3395"/>
                  <a:pt x="29272" y="3405"/>
                  <a:pt x="29264" y="3414"/>
                </a:cubicBezTo>
                <a:cubicBezTo>
                  <a:pt x="29255" y="3422"/>
                  <a:pt x="29245" y="3429"/>
                  <a:pt x="29234" y="3434"/>
                </a:cubicBezTo>
                <a:cubicBezTo>
                  <a:pt x="29222" y="3439"/>
                  <a:pt x="29211" y="3441"/>
                  <a:pt x="29198" y="3441"/>
                </a:cubicBezTo>
                <a:lnTo>
                  <a:pt x="93" y="3441"/>
                </a:lnTo>
                <a:cubicBezTo>
                  <a:pt x="81" y="3441"/>
                  <a:pt x="69" y="3439"/>
                  <a:pt x="58" y="3434"/>
                </a:cubicBezTo>
                <a:cubicBezTo>
                  <a:pt x="46" y="3429"/>
                  <a:pt x="36" y="3422"/>
                  <a:pt x="28" y="3414"/>
                </a:cubicBezTo>
                <a:cubicBezTo>
                  <a:pt x="19" y="3405"/>
                  <a:pt x="12" y="3395"/>
                  <a:pt x="8" y="3384"/>
                </a:cubicBezTo>
                <a:cubicBezTo>
                  <a:pt x="3" y="3372"/>
                  <a:pt x="0" y="3361"/>
                  <a:pt x="0" y="334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830" name="CasellaDiTesto 1829"/>
          <p:cNvSpPr txBox="1"/>
          <p:nvPr/>
        </p:nvSpPr>
        <p:spPr>
          <a:xfrm>
            <a:off x="971640" y="552600"/>
            <a:ext cx="52912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LE SEZIONI UNITE DEL 2023 (2)</a:t>
            </a:r>
            <a:endParaRPr lang="it-IT" sz="2850" b="0" u="none" strike="noStrike">
              <a:solidFill>
                <a:srgbClr val="000000"/>
              </a:solidFill>
              <a:effectLst/>
              <a:uFillTx/>
              <a:latin typeface="Times New Roman"/>
            </a:endParaRPr>
          </a:p>
        </p:txBody>
      </p:sp>
      <p:sp>
        <p:nvSpPr>
          <p:cNvPr id="1831" name="CasellaDiTesto 1830"/>
          <p:cNvSpPr txBox="1"/>
          <p:nvPr/>
        </p:nvSpPr>
        <p:spPr>
          <a:xfrm>
            <a:off x="971640" y="1307520"/>
            <a:ext cx="6234527"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hlinkClick r:id="rId2"/>
              </a:rPr>
              <a:t>Cass. SS.UU., 11 dicembre 2023, n. 34452</a:t>
            </a:r>
            <a:r>
              <a:rPr lang="it-IT" sz="1650" b="0" u="none" strike="noStrike" dirty="0">
                <a:solidFill>
                  <a:srgbClr val="212529"/>
                </a:solidFill>
                <a:effectLst/>
                <a:uFillTx/>
                <a:latin typeface="SegoeUI"/>
                <a:ea typeface="SegoeUI"/>
                <a:hlinkClick r:id="rId2"/>
              </a:rPr>
              <a:t> </a:t>
            </a:r>
            <a:r>
              <a:rPr lang="it-IT" sz="1650" b="0" u="none" strike="noStrike" dirty="0">
                <a:solidFill>
                  <a:srgbClr val="212529"/>
                </a:solidFill>
                <a:effectLst/>
                <a:uFillTx/>
                <a:latin typeface="SegoeUI"/>
                <a:ea typeface="SegoeUI"/>
              </a:rPr>
              <a:t>- profilo sanzionatorio:</a:t>
            </a:r>
            <a:endParaRPr lang="it-IT" sz="1650" b="0" u="none" strike="noStrike" dirty="0">
              <a:solidFill>
                <a:srgbClr val="000000"/>
              </a:solidFill>
              <a:effectLst/>
              <a:uFillTx/>
              <a:latin typeface="Times New Roman"/>
            </a:endParaRPr>
          </a:p>
        </p:txBody>
      </p:sp>
      <p:sp>
        <p:nvSpPr>
          <p:cNvPr id="1832" name="CasellaDiTesto 1831"/>
          <p:cNvSpPr txBox="1"/>
          <p:nvPr/>
        </p:nvSpPr>
        <p:spPr>
          <a:xfrm>
            <a:off x="1209600" y="2004120"/>
            <a:ext cx="100522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«È applicabile la sanzione di cui all'art. 27, co. 18, D.L. 185/2008 […], ovvero, se più favorevole, quella prevista dall'art. 13,</a:t>
            </a:r>
            <a:endParaRPr lang="it-IT" sz="1500" b="0" u="none" strike="noStrike">
              <a:solidFill>
                <a:srgbClr val="000000"/>
              </a:solidFill>
              <a:effectLst/>
              <a:uFillTx/>
              <a:latin typeface="Times New Roman"/>
            </a:endParaRPr>
          </a:p>
        </p:txBody>
      </p:sp>
      <p:sp>
        <p:nvSpPr>
          <p:cNvPr id="1833" name="CasellaDiTesto 1832"/>
          <p:cNvSpPr txBox="1"/>
          <p:nvPr/>
        </p:nvSpPr>
        <p:spPr>
          <a:xfrm>
            <a:off x="1209600" y="2299680"/>
            <a:ext cx="982332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co. 5, D.Lgs. 471/1997 quando il credito utilizzato è </a:t>
            </a:r>
            <a:r>
              <a:rPr lang="it-IT" sz="1500" b="1" u="none" strike="noStrike">
                <a:solidFill>
                  <a:srgbClr val="00509E"/>
                </a:solidFill>
                <a:effectLst/>
                <a:uFillTx/>
                <a:latin typeface="SegoeUI"/>
                <a:ea typeface="SegoeUI"/>
              </a:rPr>
              <a:t>inesistente</a:t>
            </a:r>
            <a:r>
              <a:rPr lang="it-IT" sz="1500" b="0" u="none" strike="noStrike">
                <a:solidFill>
                  <a:srgbClr val="343A40"/>
                </a:solidFill>
                <a:effectLst/>
                <a:uFillTx/>
                <a:latin typeface="SegoeUI"/>
                <a:ea typeface="SegoeUI"/>
              </a:rPr>
              <a:t>, condizione che si realizza [secondo i medesimi criteri</a:t>
            </a:r>
            <a:endParaRPr lang="it-IT" sz="1500" b="0" u="none" strike="noStrike">
              <a:solidFill>
                <a:srgbClr val="000000"/>
              </a:solidFill>
              <a:effectLst/>
              <a:uFillTx/>
              <a:latin typeface="Times New Roman"/>
            </a:endParaRPr>
          </a:p>
        </p:txBody>
      </p:sp>
      <p:sp>
        <p:nvSpPr>
          <p:cNvPr id="1834" name="CasellaDiTesto 1833"/>
          <p:cNvSpPr txBox="1"/>
          <p:nvPr/>
        </p:nvSpPr>
        <p:spPr>
          <a:xfrm>
            <a:off x="1209600" y="2594880"/>
            <a:ext cx="32086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congiunti della gemella 34419/2023]».</a:t>
            </a:r>
            <a:endParaRPr lang="it-IT" sz="1500" b="0" u="none" strike="noStrike">
              <a:solidFill>
                <a:srgbClr val="000000"/>
              </a:solidFill>
              <a:effectLst/>
              <a:uFillTx/>
              <a:latin typeface="Times New Roman"/>
            </a:endParaRPr>
          </a:p>
        </p:txBody>
      </p:sp>
      <p:sp>
        <p:nvSpPr>
          <p:cNvPr id="1835" name="CasellaDiTesto 1834"/>
          <p:cNvSpPr txBox="1"/>
          <p:nvPr/>
        </p:nvSpPr>
        <p:spPr>
          <a:xfrm>
            <a:off x="971640" y="3222000"/>
            <a:ext cx="10347120" cy="277920"/>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rPr>
              <a:t>Ricaduta sistemica</a:t>
            </a:r>
            <a:r>
              <a:rPr lang="it-IT" sz="1650" b="0" u="none" strike="noStrike" dirty="0">
                <a:solidFill>
                  <a:srgbClr val="212529"/>
                </a:solidFill>
                <a:effectLst/>
                <a:uFillTx/>
                <a:latin typeface="SegoeUI"/>
                <a:ea typeface="SegoeUI"/>
              </a:rPr>
              <a:t>: le SS.UU. ristabiliscono coerenza tra sanzioni amministrative, profilo decadenziale e — in via</a:t>
            </a:r>
            <a:endParaRPr lang="it-IT" sz="1650" b="0" u="none" strike="noStrike" dirty="0">
              <a:solidFill>
                <a:srgbClr val="000000"/>
              </a:solidFill>
              <a:effectLst/>
              <a:uFillTx/>
              <a:latin typeface="Times New Roman"/>
            </a:endParaRPr>
          </a:p>
        </p:txBody>
      </p:sp>
      <p:sp>
        <p:nvSpPr>
          <p:cNvPr id="1836" name="CasellaDiTesto 1835"/>
          <p:cNvSpPr txBox="1"/>
          <p:nvPr/>
        </p:nvSpPr>
        <p:spPr>
          <a:xfrm>
            <a:off x="971640" y="3545640"/>
            <a:ext cx="274536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indiretta</a:t>
            </a:r>
            <a:r>
              <a:rPr lang="it-IT" sz="1650" b="0" u="none" strike="noStrike">
                <a:solidFill>
                  <a:srgbClr val="212529"/>
                </a:solidFill>
                <a:effectLst/>
                <a:uFillTx/>
                <a:latin typeface="SegoeUI"/>
                <a:ea typeface="SegoeUI"/>
              </a:rPr>
              <a:t> — fattispecie penale.</a:t>
            </a:r>
            <a:endParaRPr lang="it-IT" sz="1650" b="0" u="none" strike="noStrike">
              <a:solidFill>
                <a:srgbClr val="000000"/>
              </a:solidFill>
              <a:effectLst/>
              <a:uFillTx/>
              <a:latin typeface="Times New Roman"/>
            </a:endParaRPr>
          </a:p>
        </p:txBody>
      </p:sp>
      <p:sp>
        <p:nvSpPr>
          <p:cNvPr id="1837" name="Figura a mano libera: forma 1836"/>
          <p:cNvSpPr/>
          <p:nvPr/>
        </p:nvSpPr>
        <p:spPr>
          <a:xfrm>
            <a:off x="1028520" y="4609800"/>
            <a:ext cx="76680" cy="76680"/>
          </a:xfrm>
          <a:custGeom>
            <a:avLst/>
            <a:gdLst/>
            <a:ahLst/>
            <a:cxnLst/>
            <a:rect l="0" t="0" r="r" b="b"/>
            <a:pathLst>
              <a:path w="213" h="213">
                <a:moveTo>
                  <a:pt x="213" y="106"/>
                </a:moveTo>
                <a:cubicBezTo>
                  <a:pt x="213" y="120"/>
                  <a:pt x="210" y="134"/>
                  <a:pt x="205" y="147"/>
                </a:cubicBezTo>
                <a:cubicBezTo>
                  <a:pt x="198" y="160"/>
                  <a:pt x="191" y="171"/>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38" name="CasellaDiTesto 1837"/>
          <p:cNvSpPr txBox="1"/>
          <p:nvPr/>
        </p:nvSpPr>
        <p:spPr>
          <a:xfrm>
            <a:off x="971640" y="4021920"/>
            <a:ext cx="49384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Le SS.UU. precisano un profilo di non poco momento:</a:t>
            </a:r>
            <a:endParaRPr lang="it-IT" sz="1650" b="0" u="none" strike="noStrike">
              <a:solidFill>
                <a:srgbClr val="000000"/>
              </a:solidFill>
              <a:effectLst/>
              <a:uFillTx/>
              <a:latin typeface="Times New Roman"/>
            </a:endParaRPr>
          </a:p>
        </p:txBody>
      </p:sp>
      <p:sp>
        <p:nvSpPr>
          <p:cNvPr id="1839" name="CasellaDiTesto 1838"/>
          <p:cNvSpPr txBox="1"/>
          <p:nvPr/>
        </p:nvSpPr>
        <p:spPr>
          <a:xfrm>
            <a:off x="1238400" y="4498920"/>
            <a:ext cx="1009584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Inesistenza del credito</a:t>
            </a:r>
            <a:r>
              <a:rPr lang="it-IT" sz="1580" b="0" u="none" strike="noStrike">
                <a:solidFill>
                  <a:srgbClr val="343A40"/>
                </a:solidFill>
                <a:effectLst/>
                <a:uFillTx/>
                <a:latin typeface="SegoeUI"/>
                <a:ea typeface="SegoeUI"/>
              </a:rPr>
              <a:t> → costituisce </a:t>
            </a:r>
            <a:r>
              <a:rPr lang="it-IT" sz="1580" b="0" i="1" u="none" strike="noStrike">
                <a:solidFill>
                  <a:srgbClr val="495057"/>
                </a:solidFill>
                <a:effectLst/>
                <a:uFillTx/>
                <a:latin typeface="SegoeUI"/>
                <a:ea typeface="SegoeUI"/>
              </a:rPr>
              <a:t>di per sé</a:t>
            </a:r>
            <a:r>
              <a:rPr lang="it-IT" sz="1580" b="0" u="none" strike="noStrike">
                <a:solidFill>
                  <a:srgbClr val="343A40"/>
                </a:solidFill>
                <a:effectLst/>
                <a:uFillTx/>
                <a:latin typeface="SegoeUI"/>
                <a:ea typeface="SegoeUI"/>
              </a:rPr>
              <a:t>, salvo prova contraria, </a:t>
            </a:r>
            <a:r>
              <a:rPr lang="it-IT" sz="1580" b="1" u="none" strike="noStrike">
                <a:solidFill>
                  <a:srgbClr val="00509E"/>
                </a:solidFill>
                <a:effectLst/>
                <a:uFillTx/>
                <a:latin typeface="SegoeUI"/>
                <a:ea typeface="SegoeUI"/>
              </a:rPr>
              <a:t>indice rivelatore</a:t>
            </a:r>
            <a:r>
              <a:rPr lang="it-IT" sz="1580" b="0" u="none" strike="noStrike">
                <a:solidFill>
                  <a:srgbClr val="343A40"/>
                </a:solidFill>
                <a:effectLst/>
                <a:uFillTx/>
                <a:latin typeface="SegoeUI"/>
                <a:ea typeface="SegoeUI"/>
              </a:rPr>
              <a:t> della consapevole volontà del</a:t>
            </a:r>
            <a:endParaRPr lang="it-IT" sz="1580" b="0" u="none" strike="noStrike">
              <a:solidFill>
                <a:srgbClr val="000000"/>
              </a:solidFill>
              <a:effectLst/>
              <a:uFillTx/>
              <a:latin typeface="Times New Roman"/>
            </a:endParaRPr>
          </a:p>
        </p:txBody>
      </p:sp>
      <p:sp>
        <p:nvSpPr>
          <p:cNvPr id="1840" name="Figura a mano libera: forma 1839"/>
          <p:cNvSpPr/>
          <p:nvPr/>
        </p:nvSpPr>
        <p:spPr>
          <a:xfrm>
            <a:off x="1028520" y="540036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41" name="CasellaDiTesto 1840"/>
          <p:cNvSpPr txBox="1"/>
          <p:nvPr/>
        </p:nvSpPr>
        <p:spPr>
          <a:xfrm>
            <a:off x="1238400" y="4803840"/>
            <a:ext cx="78408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contribuente di bilanciare i debiti erariali con una posta creditoria artificiosamente creata;</a:t>
            </a:r>
            <a:endParaRPr lang="it-IT" sz="1580" b="0" u="none" strike="noStrike">
              <a:solidFill>
                <a:srgbClr val="000000"/>
              </a:solidFill>
              <a:effectLst/>
              <a:uFillTx/>
              <a:latin typeface="Times New Roman"/>
            </a:endParaRPr>
          </a:p>
        </p:txBody>
      </p:sp>
      <p:sp>
        <p:nvSpPr>
          <p:cNvPr id="1842" name="CasellaDiTesto 1841"/>
          <p:cNvSpPr txBox="1"/>
          <p:nvPr/>
        </p:nvSpPr>
        <p:spPr>
          <a:xfrm>
            <a:off x="1238400" y="5289480"/>
            <a:ext cx="980280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Non spettanza</a:t>
            </a:r>
            <a:r>
              <a:rPr lang="it-IT" sz="1580" b="0" u="none" strike="noStrike">
                <a:solidFill>
                  <a:srgbClr val="343A40"/>
                </a:solidFill>
                <a:effectLst/>
                <a:uFillTx/>
                <a:latin typeface="SegoeUI"/>
                <a:ea typeface="SegoeUI"/>
              </a:rPr>
              <a:t> → richiede che l'Ufficio dimostri la </a:t>
            </a:r>
            <a:r>
              <a:rPr lang="it-IT" sz="1580" b="1" u="none" strike="noStrike">
                <a:solidFill>
                  <a:srgbClr val="00509E"/>
                </a:solidFill>
                <a:effectLst/>
                <a:uFillTx/>
                <a:latin typeface="SegoeUI"/>
                <a:ea typeface="SegoeUI"/>
              </a:rPr>
              <a:t>consapevolezza</a:t>
            </a:r>
            <a:r>
              <a:rPr lang="it-IT" sz="1580" b="0" u="none" strike="noStrike">
                <a:solidFill>
                  <a:srgbClr val="343A40"/>
                </a:solidFill>
                <a:effectLst/>
                <a:uFillTx/>
                <a:latin typeface="SegoeUI"/>
                <a:ea typeface="SegoeUI"/>
              </a:rPr>
              <a:t> del contribuente circa la non utilizzabilità del</a:t>
            </a:r>
            <a:endParaRPr lang="it-IT" sz="1580" b="0" u="none" strike="noStrike">
              <a:solidFill>
                <a:srgbClr val="000000"/>
              </a:solidFill>
              <a:effectLst/>
              <a:uFillTx/>
              <a:latin typeface="Times New Roman"/>
            </a:endParaRPr>
          </a:p>
        </p:txBody>
      </p:sp>
      <p:sp>
        <p:nvSpPr>
          <p:cNvPr id="1843" name="CasellaDiTesto 1842"/>
          <p:cNvSpPr txBox="1"/>
          <p:nvPr/>
        </p:nvSpPr>
        <p:spPr>
          <a:xfrm>
            <a:off x="1238400" y="5604120"/>
            <a:ext cx="23065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credito in compensazione.</a:t>
            </a:r>
            <a:endParaRPr lang="it-IT" sz="1580" b="0" u="none" strike="noStrike">
              <a:solidFill>
                <a:srgbClr val="000000"/>
              </a:solidFill>
              <a:effectLst/>
              <a:uFillTx/>
              <a:latin typeface="Times New Roman"/>
            </a:endParaRPr>
          </a:p>
        </p:txBody>
      </p:sp>
      <p:sp>
        <p:nvSpPr>
          <p:cNvPr id="1844" name="CasellaDiTesto 1843"/>
          <p:cNvSpPr txBox="1"/>
          <p:nvPr/>
        </p:nvSpPr>
        <p:spPr>
          <a:xfrm>
            <a:off x="971640" y="6142680"/>
            <a:ext cx="209160" cy="20916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CambriaMath"/>
                <a:ea typeface="CambriaMath"/>
              </a:rPr>
              <a:t>⇒</a:t>
            </a:r>
            <a:endParaRPr lang="it-IT" sz="1650" b="0" u="none" strike="noStrike">
              <a:solidFill>
                <a:srgbClr val="000000"/>
              </a:solidFill>
              <a:effectLst/>
              <a:uFillTx/>
              <a:latin typeface="Times New Roman"/>
            </a:endParaRPr>
          </a:p>
        </p:txBody>
      </p:sp>
      <p:sp>
        <p:nvSpPr>
          <p:cNvPr id="1845" name="Figura a mano libera: forma 184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46" name="CasellaDiTesto 1845"/>
          <p:cNvSpPr txBox="1"/>
          <p:nvPr/>
        </p:nvSpPr>
        <p:spPr>
          <a:xfrm>
            <a:off x="1153080" y="6079320"/>
            <a:ext cx="62413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 </a:t>
            </a:r>
            <a:r>
              <a:rPr lang="it-IT" sz="1650" b="0" i="1" u="none" strike="noStrike">
                <a:solidFill>
                  <a:srgbClr val="495057"/>
                </a:solidFill>
                <a:effectLst/>
                <a:uFillTx/>
                <a:latin typeface="SegoeUI"/>
                <a:ea typeface="SegoeUI"/>
              </a:rPr>
              <a:t>Praesumptio iuris tantum</a:t>
            </a:r>
            <a:r>
              <a:rPr lang="it-IT" sz="1650" b="0" u="none" strike="noStrike">
                <a:solidFill>
                  <a:srgbClr val="212529"/>
                </a:solidFill>
                <a:effectLst/>
                <a:uFillTx/>
                <a:latin typeface="SegoeUI"/>
                <a:ea typeface="SegoeUI"/>
              </a:rPr>
              <a:t> a favore del Fisco solo nella prima ipotesi.</a:t>
            </a:r>
            <a:endParaRPr lang="it-IT" sz="1650" b="0" u="none" strike="noStrike">
              <a:solidFill>
                <a:srgbClr val="000000"/>
              </a:solidFill>
              <a:effectLst/>
              <a:uFillTx/>
              <a:latin typeface="Times New Roman"/>
            </a:endParaRPr>
          </a:p>
        </p:txBody>
      </p:sp>
      <p:sp>
        <p:nvSpPr>
          <p:cNvPr id="1847" name="Figura a mano libera: forma 1846"/>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48" name="CasellaDiTesto 1847"/>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849" name="CasellaDiTesto 1848"/>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61 / 73</a:t>
            </a:r>
            <a:endParaRPr lang="it-IT" sz="980" b="0" u="none" strike="noStrike">
              <a:solidFill>
                <a:srgbClr val="000000"/>
              </a:solidFill>
              <a:effectLst/>
              <a:uFillTx/>
              <a:latin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0" name="Figura a mano libera: forma 184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51" name="Figura a mano libera: forma 185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52" name="Figura a mano libera: forma 185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53" name="Figura a mano libera: forma 185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54" name="Figura a mano libera: forma 1853"/>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55" name="Figura a mano libera: forma 1854"/>
          <p:cNvSpPr/>
          <p:nvPr/>
        </p:nvSpPr>
        <p:spPr>
          <a:xfrm>
            <a:off x="975960" y="6386400"/>
            <a:ext cx="10544760" cy="471600"/>
          </a:xfrm>
          <a:custGeom>
            <a:avLst/>
            <a:gdLst/>
            <a:ahLst/>
            <a:cxnLst/>
            <a:rect l="0" t="0" r="r" b="b"/>
            <a:pathLst>
              <a:path w="29291" h="1310">
                <a:moveTo>
                  <a:pt x="0" y="1310"/>
                </a:moveTo>
                <a:lnTo>
                  <a:pt x="0" y="92"/>
                </a:lnTo>
                <a:cubicBezTo>
                  <a:pt x="0" y="80"/>
                  <a:pt x="3" y="68"/>
                  <a:pt x="8" y="57"/>
                </a:cubicBezTo>
                <a:cubicBezTo>
                  <a:pt x="12" y="46"/>
                  <a:pt x="19" y="36"/>
                  <a:pt x="28" y="27"/>
                </a:cubicBezTo>
                <a:cubicBezTo>
                  <a:pt x="36" y="18"/>
                  <a:pt x="46" y="12"/>
                  <a:pt x="58" y="7"/>
                </a:cubicBezTo>
                <a:cubicBezTo>
                  <a:pt x="69" y="2"/>
                  <a:pt x="81" y="0"/>
                  <a:pt x="93" y="0"/>
                </a:cubicBezTo>
                <a:lnTo>
                  <a:pt x="29198" y="0"/>
                </a:lnTo>
                <a:cubicBezTo>
                  <a:pt x="29211" y="0"/>
                  <a:pt x="29222" y="2"/>
                  <a:pt x="29234" y="7"/>
                </a:cubicBezTo>
                <a:cubicBezTo>
                  <a:pt x="29245" y="12"/>
                  <a:pt x="29255" y="18"/>
                  <a:pt x="29264" y="27"/>
                </a:cubicBezTo>
                <a:cubicBezTo>
                  <a:pt x="29272" y="36"/>
                  <a:pt x="29279" y="46"/>
                  <a:pt x="29284" y="57"/>
                </a:cubicBezTo>
                <a:cubicBezTo>
                  <a:pt x="29288" y="68"/>
                  <a:pt x="29291" y="80"/>
                  <a:pt x="29291" y="92"/>
                </a:cubicBezTo>
                <a:lnTo>
                  <a:pt x="29291" y="1310"/>
                </a:lnTo>
                <a:lnTo>
                  <a:pt x="0" y="1310"/>
                </a:ln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56" name="Figura a mano libera: forma 1855"/>
          <p:cNvSpPr/>
          <p:nvPr/>
        </p:nvSpPr>
        <p:spPr>
          <a:xfrm>
            <a:off x="975960" y="6297840"/>
            <a:ext cx="10544760" cy="471600"/>
          </a:xfrm>
          <a:custGeom>
            <a:avLst/>
            <a:gdLst/>
            <a:ahLst/>
            <a:cxnLst/>
            <a:rect l="0" t="0" r="r" b="b"/>
            <a:pathLst>
              <a:path w="29291" h="1310">
                <a:moveTo>
                  <a:pt x="0" y="1310"/>
                </a:moveTo>
                <a:lnTo>
                  <a:pt x="0" y="92"/>
                </a:lnTo>
                <a:cubicBezTo>
                  <a:pt x="0" y="80"/>
                  <a:pt x="3" y="68"/>
                  <a:pt x="8" y="57"/>
                </a:cubicBezTo>
                <a:cubicBezTo>
                  <a:pt x="12" y="46"/>
                  <a:pt x="19" y="36"/>
                  <a:pt x="28" y="27"/>
                </a:cubicBezTo>
                <a:cubicBezTo>
                  <a:pt x="36" y="18"/>
                  <a:pt x="46" y="12"/>
                  <a:pt x="58" y="7"/>
                </a:cubicBezTo>
                <a:cubicBezTo>
                  <a:pt x="69" y="2"/>
                  <a:pt x="81" y="0"/>
                  <a:pt x="93" y="0"/>
                </a:cubicBezTo>
                <a:lnTo>
                  <a:pt x="29198" y="0"/>
                </a:lnTo>
                <a:cubicBezTo>
                  <a:pt x="29211" y="0"/>
                  <a:pt x="29222" y="2"/>
                  <a:pt x="29234" y="7"/>
                </a:cubicBezTo>
                <a:cubicBezTo>
                  <a:pt x="29245" y="12"/>
                  <a:pt x="29255" y="18"/>
                  <a:pt x="29264" y="27"/>
                </a:cubicBezTo>
                <a:cubicBezTo>
                  <a:pt x="29272" y="36"/>
                  <a:pt x="29279" y="46"/>
                  <a:pt x="29284" y="57"/>
                </a:cubicBezTo>
                <a:cubicBezTo>
                  <a:pt x="29288" y="68"/>
                  <a:pt x="29291" y="80"/>
                  <a:pt x="29291" y="92"/>
                </a:cubicBezTo>
                <a:lnTo>
                  <a:pt x="29291" y="1310"/>
                </a:lnTo>
                <a:lnTo>
                  <a:pt x="0" y="1310"/>
                </a:ln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857" name="CasellaDiTesto 1856"/>
          <p:cNvSpPr txBox="1"/>
          <p:nvPr/>
        </p:nvSpPr>
        <p:spPr>
          <a:xfrm>
            <a:off x="971640" y="552600"/>
            <a:ext cx="56217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DISTINZIONE POST-RIFORMA</a:t>
            </a:r>
            <a:endParaRPr lang="it-IT" sz="2850" b="0" u="none" strike="noStrike">
              <a:solidFill>
                <a:srgbClr val="000000"/>
              </a:solidFill>
              <a:effectLst/>
              <a:uFillTx/>
              <a:latin typeface="Times New Roman"/>
            </a:endParaRPr>
          </a:p>
        </p:txBody>
      </p:sp>
      <p:sp>
        <p:nvSpPr>
          <p:cNvPr id="1858" name="CasellaDiTesto 1857"/>
          <p:cNvSpPr txBox="1"/>
          <p:nvPr/>
        </p:nvSpPr>
        <p:spPr>
          <a:xfrm>
            <a:off x="971640" y="1307520"/>
            <a:ext cx="7666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L'art. 1 del D.lgs. 87/2024 inserisce due nuove lettere all'art. 1, co. 1, D.Lgs. 74/2000.</a:t>
            </a:r>
            <a:endParaRPr lang="it-IT" sz="1650" b="0" u="none" strike="noStrike">
              <a:solidFill>
                <a:srgbClr val="000000"/>
              </a:solidFill>
              <a:effectLst/>
              <a:uFillTx/>
              <a:latin typeface="Times New Roman"/>
            </a:endParaRPr>
          </a:p>
        </p:txBody>
      </p:sp>
      <p:sp>
        <p:nvSpPr>
          <p:cNvPr id="1859" name="CasellaDiTesto 1858"/>
          <p:cNvSpPr txBox="1"/>
          <p:nvPr/>
        </p:nvSpPr>
        <p:spPr>
          <a:xfrm>
            <a:off x="971640" y="1783800"/>
            <a:ext cx="35218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Lett. g-</a:t>
            </a:r>
            <a:r>
              <a:rPr lang="it-IT" sz="1650" b="1" i="1" u="none" strike="noStrike">
                <a:solidFill>
                  <a:srgbClr val="495057"/>
                </a:solidFill>
                <a:effectLst/>
                <a:uFillTx/>
                <a:latin typeface="SegoeUI"/>
                <a:ea typeface="SegoeUI"/>
              </a:rPr>
              <a:t>quater</a:t>
            </a:r>
            <a:r>
              <a:rPr lang="it-IT" sz="1650" b="1" u="none" strike="noStrike">
                <a:solidFill>
                  <a:srgbClr val="00509E"/>
                </a:solidFill>
                <a:effectLst/>
                <a:uFillTx/>
                <a:latin typeface="SegoeUI"/>
                <a:ea typeface="SegoeUI"/>
              </a:rPr>
              <a:t>) — </a:t>
            </a:r>
            <a:r>
              <a:rPr lang="it-IT" sz="1650" b="1" i="1" u="none" strike="noStrike">
                <a:solidFill>
                  <a:srgbClr val="495057"/>
                </a:solidFill>
                <a:effectLst/>
                <a:uFillTx/>
                <a:latin typeface="SegoeUI"/>
                <a:ea typeface="SegoeUI"/>
              </a:rPr>
              <a:t>Crediti inesistenti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860" name="CasellaDiTesto 1859"/>
          <p:cNvSpPr txBox="1"/>
          <p:nvPr/>
        </p:nvSpPr>
        <p:spPr>
          <a:xfrm>
            <a:off x="1184400" y="2260800"/>
            <a:ext cx="96753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crediti per i quali </a:t>
            </a:r>
            <a:r>
              <a:rPr lang="it-IT" sz="1580" b="0" i="1" u="none" strike="noStrike">
                <a:solidFill>
                  <a:srgbClr val="495057"/>
                </a:solidFill>
                <a:effectLst/>
                <a:uFillTx/>
                <a:latin typeface="SegoeUI"/>
                <a:ea typeface="SegoeUI"/>
              </a:rPr>
              <a:t>mancano, in tutto o in parte, i </a:t>
            </a:r>
            <a:r>
              <a:rPr lang="it-IT" sz="1580" b="1" i="1" u="none" strike="noStrike">
                <a:solidFill>
                  <a:srgbClr val="00509E"/>
                </a:solidFill>
                <a:effectLst/>
                <a:uFillTx/>
                <a:latin typeface="SegoeUI"/>
                <a:ea typeface="SegoeUI"/>
              </a:rPr>
              <a:t>requisiti oggettivi o soggettivi</a:t>
            </a:r>
            <a:r>
              <a:rPr lang="it-IT" sz="1580" b="0" i="1" u="none" strike="noStrike">
                <a:solidFill>
                  <a:srgbClr val="495057"/>
                </a:solidFill>
                <a:effectLst/>
                <a:uFillTx/>
                <a:latin typeface="SegoeUI"/>
                <a:ea typeface="SegoeUI"/>
              </a:rPr>
              <a:t> specificamente indicati nella</a:t>
            </a:r>
            <a:endParaRPr lang="it-IT" sz="1580" b="0" u="none" strike="noStrike">
              <a:solidFill>
                <a:srgbClr val="000000"/>
              </a:solidFill>
              <a:effectLst/>
              <a:uFillTx/>
              <a:latin typeface="Times New Roman"/>
            </a:endParaRPr>
          </a:p>
        </p:txBody>
      </p:sp>
      <p:sp>
        <p:nvSpPr>
          <p:cNvPr id="1861" name="CasellaDiTesto 1860"/>
          <p:cNvSpPr txBox="1"/>
          <p:nvPr/>
        </p:nvSpPr>
        <p:spPr>
          <a:xfrm>
            <a:off x="1390680" y="2565360"/>
            <a:ext cx="301932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disciplina normativa di riferimento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1862" name="CasellaDiTesto 1861"/>
          <p:cNvSpPr txBox="1"/>
          <p:nvPr/>
        </p:nvSpPr>
        <p:spPr>
          <a:xfrm>
            <a:off x="1184400" y="3051360"/>
            <a:ext cx="10321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crediti per i quali tali requisiti sono </a:t>
            </a:r>
            <a:r>
              <a:rPr lang="it-IT" sz="1580" b="0" i="1" u="none" strike="noStrike">
                <a:solidFill>
                  <a:srgbClr val="495057"/>
                </a:solidFill>
                <a:effectLst/>
                <a:uFillTx/>
                <a:latin typeface="SegoeUI"/>
                <a:ea typeface="SegoeUI"/>
              </a:rPr>
              <a:t>oggetto di </a:t>
            </a:r>
            <a:r>
              <a:rPr lang="it-IT" sz="1580" b="1" i="1" u="none" strike="noStrike">
                <a:solidFill>
                  <a:srgbClr val="00509E"/>
                </a:solidFill>
                <a:effectLst/>
                <a:uFillTx/>
                <a:latin typeface="SegoeUI"/>
                <a:ea typeface="SegoeUI"/>
              </a:rPr>
              <a:t>rappresentazioni fraudolente</a:t>
            </a:r>
            <a:r>
              <a:rPr lang="it-IT" sz="1580" b="0" i="1" u="none" strike="noStrike">
                <a:solidFill>
                  <a:srgbClr val="495057"/>
                </a:solidFill>
                <a:effectLst/>
                <a:uFillTx/>
                <a:latin typeface="SegoeUI"/>
                <a:ea typeface="SegoeUI"/>
              </a:rPr>
              <a:t>, attuate con documenti materialmente</a:t>
            </a:r>
            <a:endParaRPr lang="it-IT" sz="1580" b="0" u="none" strike="noStrike">
              <a:solidFill>
                <a:srgbClr val="000000"/>
              </a:solidFill>
              <a:effectLst/>
              <a:uFillTx/>
              <a:latin typeface="Times New Roman"/>
            </a:endParaRPr>
          </a:p>
        </p:txBody>
      </p:sp>
      <p:sp>
        <p:nvSpPr>
          <p:cNvPr id="1863" name="CasellaDiTesto 1862"/>
          <p:cNvSpPr txBox="1"/>
          <p:nvPr/>
        </p:nvSpPr>
        <p:spPr>
          <a:xfrm>
            <a:off x="1390680" y="3355920"/>
            <a:ext cx="427680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o ideologicamente falsi, simulazioni o altri artifici</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1864" name="CasellaDiTesto 1863"/>
          <p:cNvSpPr txBox="1"/>
          <p:nvPr/>
        </p:nvSpPr>
        <p:spPr>
          <a:xfrm>
            <a:off x="971640" y="3841200"/>
            <a:ext cx="41299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Lett. g-</a:t>
            </a:r>
            <a:r>
              <a:rPr lang="it-IT" sz="1650" b="1" i="1" u="none" strike="noStrike">
                <a:solidFill>
                  <a:srgbClr val="495057"/>
                </a:solidFill>
                <a:effectLst/>
                <a:uFillTx/>
                <a:latin typeface="SegoeUI"/>
                <a:ea typeface="SegoeUI"/>
              </a:rPr>
              <a:t>quinquies</a:t>
            </a:r>
            <a:r>
              <a:rPr lang="it-IT" sz="1650" b="1" u="none" strike="noStrike">
                <a:solidFill>
                  <a:srgbClr val="00509E"/>
                </a:solidFill>
                <a:effectLst/>
                <a:uFillTx/>
                <a:latin typeface="SegoeUI"/>
                <a:ea typeface="SegoeUI"/>
              </a:rPr>
              <a:t>) — </a:t>
            </a:r>
            <a:r>
              <a:rPr lang="it-IT" sz="1650" b="1" i="1" u="none" strike="noStrike">
                <a:solidFill>
                  <a:srgbClr val="495057"/>
                </a:solidFill>
                <a:effectLst/>
                <a:uFillTx/>
                <a:latin typeface="SegoeUI"/>
                <a:ea typeface="SegoeUI"/>
              </a:rPr>
              <a:t>Crediti non spettanti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865" name="CasellaDiTesto 1864"/>
          <p:cNvSpPr txBox="1"/>
          <p:nvPr/>
        </p:nvSpPr>
        <p:spPr>
          <a:xfrm>
            <a:off x="1184400" y="4318200"/>
            <a:ext cx="102409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crediti </a:t>
            </a:r>
            <a:r>
              <a:rPr lang="it-IT" sz="1580" b="1" u="none" strike="noStrike">
                <a:solidFill>
                  <a:srgbClr val="00509E"/>
                </a:solidFill>
                <a:effectLst/>
                <a:uFillTx/>
                <a:latin typeface="SegoeUI"/>
                <a:ea typeface="SegoeUI"/>
              </a:rPr>
              <a:t>fruiti in violazione</a:t>
            </a:r>
            <a:r>
              <a:rPr lang="it-IT" sz="1580" b="0" u="none" strike="noStrike">
                <a:solidFill>
                  <a:srgbClr val="343A40"/>
                </a:solidFill>
                <a:effectLst/>
                <a:uFillTx/>
                <a:latin typeface="SegoeUI"/>
                <a:ea typeface="SegoeUI"/>
              </a:rPr>
              <a:t> delle modalità di utilizzo previste dalle leggi vigenti o, per la relativa eccedenza, fruiti in</a:t>
            </a:r>
            <a:endParaRPr lang="it-IT" sz="1580" b="0" u="none" strike="noStrike">
              <a:solidFill>
                <a:srgbClr val="000000"/>
              </a:solidFill>
              <a:effectLst/>
              <a:uFillTx/>
              <a:latin typeface="Times New Roman"/>
            </a:endParaRPr>
          </a:p>
        </p:txBody>
      </p:sp>
      <p:sp>
        <p:nvSpPr>
          <p:cNvPr id="1866" name="CasellaDiTesto 1865"/>
          <p:cNvSpPr txBox="1"/>
          <p:nvPr/>
        </p:nvSpPr>
        <p:spPr>
          <a:xfrm>
            <a:off x="1390680" y="4632480"/>
            <a:ext cx="310500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misura superiore</a:t>
            </a:r>
            <a:r>
              <a:rPr lang="it-IT" sz="1580" b="0" u="none" strike="noStrike">
                <a:solidFill>
                  <a:srgbClr val="343A40"/>
                </a:solidFill>
                <a:effectLst/>
                <a:uFillTx/>
                <a:latin typeface="SegoeUI"/>
                <a:ea typeface="SegoeUI"/>
              </a:rPr>
              <a:t> a quella stabilita;</a:t>
            </a:r>
            <a:endParaRPr lang="it-IT" sz="1580" b="0" u="none" strike="noStrike">
              <a:solidFill>
                <a:srgbClr val="000000"/>
              </a:solidFill>
              <a:effectLst/>
              <a:uFillTx/>
              <a:latin typeface="Times New Roman"/>
            </a:endParaRPr>
          </a:p>
        </p:txBody>
      </p:sp>
      <p:sp>
        <p:nvSpPr>
          <p:cNvPr id="1867" name="CasellaDiTesto 1866"/>
          <p:cNvSpPr txBox="1"/>
          <p:nvPr/>
        </p:nvSpPr>
        <p:spPr>
          <a:xfrm>
            <a:off x="1184400" y="5108760"/>
            <a:ext cx="9826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crediti che, pur </a:t>
            </a:r>
            <a:r>
              <a:rPr lang="it-IT" sz="1580" b="0" i="1" u="none" strike="noStrike">
                <a:solidFill>
                  <a:srgbClr val="495057"/>
                </a:solidFill>
                <a:effectLst/>
                <a:uFillTx/>
                <a:latin typeface="SegoeUI"/>
                <a:ea typeface="SegoeUI"/>
              </a:rPr>
              <a:t>in presenza dei requisiti oggettivi e soggettivi</a:t>
            </a:r>
            <a:r>
              <a:rPr lang="it-IT" sz="1580" b="0" u="none" strike="noStrike">
                <a:solidFill>
                  <a:srgbClr val="343A40"/>
                </a:solidFill>
                <a:effectLst/>
                <a:uFillTx/>
                <a:latin typeface="SegoeUI"/>
                <a:ea typeface="SegoeUI"/>
              </a:rPr>
              <a:t>, si fondano su fatti </a:t>
            </a:r>
            <a:r>
              <a:rPr lang="it-IT" sz="1580" b="1" u="none" strike="noStrike">
                <a:solidFill>
                  <a:srgbClr val="00509E"/>
                </a:solidFill>
                <a:effectLst/>
                <a:uFillTx/>
                <a:latin typeface="SegoeUI"/>
                <a:ea typeface="SegoeUI"/>
              </a:rPr>
              <a:t>non rientranti</a:t>
            </a:r>
            <a:r>
              <a:rPr lang="it-IT" sz="1580" b="0" u="none" strike="noStrike">
                <a:solidFill>
                  <a:srgbClr val="343A40"/>
                </a:solidFill>
                <a:effectLst/>
                <a:uFillTx/>
                <a:latin typeface="SegoeUI"/>
                <a:ea typeface="SegoeUI"/>
              </a:rPr>
              <a:t> nella disciplina</a:t>
            </a:r>
            <a:endParaRPr lang="it-IT" sz="1580" b="0" u="none" strike="noStrike">
              <a:solidFill>
                <a:srgbClr val="000000"/>
              </a:solidFill>
              <a:effectLst/>
              <a:uFillTx/>
              <a:latin typeface="Times New Roman"/>
            </a:endParaRPr>
          </a:p>
        </p:txBody>
      </p:sp>
      <p:sp>
        <p:nvSpPr>
          <p:cNvPr id="1868" name="CasellaDiTesto 1867"/>
          <p:cNvSpPr txBox="1"/>
          <p:nvPr/>
        </p:nvSpPr>
        <p:spPr>
          <a:xfrm>
            <a:off x="1390680" y="5423040"/>
            <a:ext cx="62301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attributiva per difetto di </a:t>
            </a:r>
            <a:r>
              <a:rPr lang="it-IT" sz="1580" b="0" i="1" u="none" strike="noStrike">
                <a:solidFill>
                  <a:srgbClr val="495057"/>
                </a:solidFill>
                <a:effectLst/>
                <a:uFillTx/>
                <a:latin typeface="SegoeUI"/>
                <a:ea typeface="SegoeUI"/>
              </a:rPr>
              <a:t>ulteriori elementi</a:t>
            </a:r>
            <a:r>
              <a:rPr lang="it-IT" sz="1580" b="0" u="none" strike="noStrike">
                <a:solidFill>
                  <a:srgbClr val="343A40"/>
                </a:solidFill>
                <a:effectLst/>
                <a:uFillTx/>
                <a:latin typeface="SegoeUI"/>
                <a:ea typeface="SegoeUI"/>
              </a:rPr>
              <a:t> o </a:t>
            </a:r>
            <a:r>
              <a:rPr lang="it-IT" sz="1580" b="0" i="1" u="none" strike="noStrike">
                <a:solidFill>
                  <a:srgbClr val="495057"/>
                </a:solidFill>
                <a:effectLst/>
                <a:uFillTx/>
                <a:latin typeface="SegoeUI"/>
                <a:ea typeface="SegoeUI"/>
              </a:rPr>
              <a:t>particolari qualità</a:t>
            </a:r>
            <a:r>
              <a:rPr lang="it-IT" sz="1580" b="0" u="none" strike="noStrike">
                <a:solidFill>
                  <a:srgbClr val="343A40"/>
                </a:solidFill>
                <a:effectLst/>
                <a:uFillTx/>
                <a:latin typeface="SegoeUI"/>
                <a:ea typeface="SegoeUI"/>
              </a:rPr>
              <a:t> richieste;</a:t>
            </a:r>
            <a:endParaRPr lang="it-IT" sz="1580" b="0" u="none" strike="noStrike">
              <a:solidFill>
                <a:srgbClr val="000000"/>
              </a:solidFill>
              <a:effectLst/>
              <a:uFillTx/>
              <a:latin typeface="Times New Roman"/>
            </a:endParaRPr>
          </a:p>
        </p:txBody>
      </p:sp>
      <p:sp>
        <p:nvSpPr>
          <p:cNvPr id="1869" name="CasellaDiTesto 1868"/>
          <p:cNvSpPr txBox="1"/>
          <p:nvPr/>
        </p:nvSpPr>
        <p:spPr>
          <a:xfrm>
            <a:off x="1184400" y="5899320"/>
            <a:ext cx="10263240" cy="265680"/>
          </a:xfrm>
          <a:prstGeom prst="rect">
            <a:avLst/>
          </a:prstGeom>
          <a:noFill/>
          <a:ln w="0">
            <a:noFill/>
          </a:ln>
        </p:spPr>
        <p:txBody>
          <a:bodyPr wrap="none" lIns="0" tIns="0" rIns="0" bIns="0" anchor="t">
            <a:spAutoFit/>
          </a:bodyPr>
          <a:lstStyle/>
          <a:p>
            <a:r>
              <a:rPr lang="it-IT" sz="1580" b="0" u="none" strike="noStrike" dirty="0">
                <a:solidFill>
                  <a:srgbClr val="343A40"/>
                </a:solidFill>
                <a:effectLst/>
                <a:uFillTx/>
                <a:latin typeface="SegoeUI"/>
                <a:ea typeface="SegoeUI"/>
              </a:rPr>
              <a:t>3. crediti </a:t>
            </a:r>
            <a:r>
              <a:rPr lang="it-IT" sz="1580" b="1" u="none" strike="noStrike" dirty="0">
                <a:solidFill>
                  <a:srgbClr val="00509E"/>
                </a:solidFill>
                <a:effectLst/>
                <a:uFillTx/>
                <a:latin typeface="SegoeUI"/>
                <a:ea typeface="SegoeUI"/>
              </a:rPr>
              <a:t>utilizzati in difetto</a:t>
            </a:r>
            <a:r>
              <a:rPr lang="it-IT" sz="1580" b="0" u="none" strike="noStrike" dirty="0">
                <a:solidFill>
                  <a:srgbClr val="343A40"/>
                </a:solidFill>
                <a:effectLst/>
                <a:uFillTx/>
                <a:latin typeface="SegoeUI"/>
                <a:ea typeface="SegoeUI"/>
              </a:rPr>
              <a:t> dei prescritti adempimenti amministrativi espressamente previsti </a:t>
            </a:r>
            <a:r>
              <a:rPr lang="it-IT" sz="1580" b="1" u="none" strike="noStrike" dirty="0">
                <a:solidFill>
                  <a:srgbClr val="00509E"/>
                </a:solidFill>
                <a:effectLst/>
                <a:uFillTx/>
                <a:latin typeface="SegoeUI"/>
                <a:ea typeface="SegoeUI"/>
              </a:rPr>
              <a:t>a pena di decadenza</a:t>
            </a:r>
            <a:r>
              <a:rPr lang="it-IT" sz="1580" b="0" u="none" strike="noStrike" dirty="0">
                <a:solidFill>
                  <a:srgbClr val="343A40"/>
                </a:solidFill>
                <a:effectLst/>
                <a:uFillTx/>
                <a:latin typeface="SegoeUI"/>
                <a:ea typeface="SegoeUI"/>
              </a:rPr>
              <a:t>.</a:t>
            </a:r>
            <a:endParaRPr lang="it-IT" sz="1580" b="0" u="none" strike="noStrike" dirty="0">
              <a:solidFill>
                <a:srgbClr val="000000"/>
              </a:solidFill>
              <a:effectLst/>
              <a:uFillTx/>
              <a:latin typeface="Times New Roman"/>
            </a:endParaRPr>
          </a:p>
        </p:txBody>
      </p:sp>
      <p:sp>
        <p:nvSpPr>
          <p:cNvPr id="1870" name="Figura a mano libera: forma 186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71" name="CasellaDiTesto 1870"/>
          <p:cNvSpPr txBox="1"/>
          <p:nvPr/>
        </p:nvSpPr>
        <p:spPr>
          <a:xfrm>
            <a:off x="1266480" y="6386400"/>
            <a:ext cx="8230320" cy="253440"/>
          </a:xfrm>
          <a:prstGeom prst="rect">
            <a:avLst/>
          </a:prstGeom>
          <a:noFill/>
          <a:ln w="0">
            <a:noFill/>
          </a:ln>
        </p:spPr>
        <p:txBody>
          <a:bodyPr wrap="none" lIns="0" tIns="0" rIns="0" bIns="0" anchor="t">
            <a:spAutoFit/>
          </a:bodyPr>
          <a:lstStyle/>
          <a:p>
            <a:r>
              <a:rPr lang="it-IT" sz="1500" b="0" i="1" u="none" strike="noStrike" dirty="0">
                <a:solidFill>
                  <a:srgbClr val="495057"/>
                </a:solidFill>
                <a:effectLst/>
                <a:uFillTx/>
                <a:latin typeface="SegoeUI"/>
                <a:ea typeface="SegoeUI"/>
              </a:rPr>
              <a:t>Nota critica</a:t>
            </a:r>
            <a:r>
              <a:rPr lang="it-IT" sz="1500" b="0" u="none" strike="noStrike" dirty="0">
                <a:solidFill>
                  <a:srgbClr val="343A40"/>
                </a:solidFill>
                <a:effectLst/>
                <a:uFillTx/>
                <a:latin typeface="SegoeUI"/>
                <a:ea typeface="SegoeUI"/>
              </a:rPr>
              <a:t>: la linea di demarcazione resta </a:t>
            </a:r>
            <a:r>
              <a:rPr lang="it-IT" sz="1500" b="0" i="1" u="none" strike="noStrike" dirty="0">
                <a:solidFill>
                  <a:srgbClr val="495057"/>
                </a:solidFill>
                <a:effectLst/>
                <a:uFillTx/>
                <a:latin typeface="SegoeUI"/>
                <a:ea typeface="SegoeUI"/>
              </a:rPr>
              <a:t>sfumata</a:t>
            </a:r>
            <a:r>
              <a:rPr lang="it-IT" sz="1500" b="0" u="none" strike="noStrike" dirty="0">
                <a:solidFill>
                  <a:srgbClr val="343A40"/>
                </a:solidFill>
                <a:effectLst/>
                <a:uFillTx/>
                <a:latin typeface="SegoeUI"/>
                <a:ea typeface="SegoeUI"/>
              </a:rPr>
              <a:t> al di fuori delle ipotesi di fraudolenza tipizzata.</a:t>
            </a:r>
            <a:endParaRPr lang="it-IT" sz="1500" b="0" u="none" strike="noStrike" dirty="0">
              <a:solidFill>
                <a:srgbClr val="000000"/>
              </a:solidFill>
              <a:effectLst/>
              <a:uFillTx/>
              <a:latin typeface="Times New Roman"/>
            </a:endParaRPr>
          </a:p>
        </p:txBody>
      </p:sp>
      <p:sp>
        <p:nvSpPr>
          <p:cNvPr id="1872" name="Figura a mano libera: forma 187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74" name="CasellaDiTesto 187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62 / 73</a:t>
            </a:r>
            <a:endParaRPr lang="it-IT" sz="980" b="0" u="none" strike="noStrike">
              <a:solidFill>
                <a:srgbClr val="000000"/>
              </a:solidFill>
              <a:effectLst/>
              <a:uFillTx/>
              <a:latin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5" name="Figura a mano libera: forma 187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76" name="Figura a mano libera: forma 187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77" name="Figura a mano libera: forma 187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78" name="Figura a mano libera: forma 187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79" name="Figura a mano libera: forma 1878"/>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0" name="Figura a mano libera: forma 1879"/>
          <p:cNvSpPr/>
          <p:nvPr/>
        </p:nvSpPr>
        <p:spPr>
          <a:xfrm>
            <a:off x="981000" y="1971360"/>
            <a:ext cx="2762640" cy="381600"/>
          </a:xfrm>
          <a:custGeom>
            <a:avLst/>
            <a:gdLst/>
            <a:ahLst/>
            <a:cxnLst/>
            <a:rect l="0" t="0" r="r" b="b"/>
            <a:pathLst>
              <a:path w="7674" h="1060">
                <a:moveTo>
                  <a:pt x="0" y="0"/>
                </a:moveTo>
                <a:lnTo>
                  <a:pt x="7674" y="0"/>
                </a:lnTo>
                <a:lnTo>
                  <a:pt x="7674" y="1060"/>
                </a:lnTo>
                <a:lnTo>
                  <a:pt x="0" y="106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1" name="Figura a mano libera: forma 1880"/>
          <p:cNvSpPr/>
          <p:nvPr/>
        </p:nvSpPr>
        <p:spPr>
          <a:xfrm>
            <a:off x="3743280" y="1971360"/>
            <a:ext cx="3867480" cy="381600"/>
          </a:xfrm>
          <a:custGeom>
            <a:avLst/>
            <a:gdLst/>
            <a:ahLst/>
            <a:cxnLst/>
            <a:rect l="0" t="0" r="r" b="b"/>
            <a:pathLst>
              <a:path w="10743" h="1060">
                <a:moveTo>
                  <a:pt x="0" y="0"/>
                </a:moveTo>
                <a:lnTo>
                  <a:pt x="10743" y="0"/>
                </a:lnTo>
                <a:lnTo>
                  <a:pt x="10743" y="1060"/>
                </a:lnTo>
                <a:lnTo>
                  <a:pt x="0" y="106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2" name="Figura a mano libera: forma 1881"/>
          <p:cNvSpPr/>
          <p:nvPr/>
        </p:nvSpPr>
        <p:spPr>
          <a:xfrm>
            <a:off x="981000" y="1971360"/>
            <a:ext cx="2762640" cy="381600"/>
          </a:xfrm>
          <a:custGeom>
            <a:avLst/>
            <a:gdLst/>
            <a:ahLst/>
            <a:cxnLst/>
            <a:rect l="0" t="0" r="r" b="b"/>
            <a:pathLst>
              <a:path w="7674" h="1060">
                <a:moveTo>
                  <a:pt x="0" y="0"/>
                </a:moveTo>
                <a:lnTo>
                  <a:pt x="7674" y="0"/>
                </a:lnTo>
                <a:lnTo>
                  <a:pt x="7674" y="1060"/>
                </a:lnTo>
                <a:lnTo>
                  <a:pt x="0" y="1060"/>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83" name="Figura a mano libera: forma 1882"/>
          <p:cNvSpPr/>
          <p:nvPr/>
        </p:nvSpPr>
        <p:spPr>
          <a:xfrm>
            <a:off x="3743280" y="1971360"/>
            <a:ext cx="3867480" cy="381600"/>
          </a:xfrm>
          <a:custGeom>
            <a:avLst/>
            <a:gdLst/>
            <a:ahLst/>
            <a:cxnLst/>
            <a:rect l="0" t="0" r="r" b="b"/>
            <a:pathLst>
              <a:path w="10743" h="1060">
                <a:moveTo>
                  <a:pt x="0" y="0"/>
                </a:moveTo>
                <a:lnTo>
                  <a:pt x="10743" y="0"/>
                </a:lnTo>
                <a:lnTo>
                  <a:pt x="10743" y="1060"/>
                </a:lnTo>
                <a:lnTo>
                  <a:pt x="0" y="1060"/>
                </a:lnTo>
                <a:lnTo>
                  <a:pt x="0"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884" name="Figura a mano libera: forma 1883"/>
          <p:cNvSpPr/>
          <p:nvPr/>
        </p:nvSpPr>
        <p:spPr>
          <a:xfrm>
            <a:off x="981000" y="2352600"/>
            <a:ext cx="2762640" cy="400320"/>
          </a:xfrm>
          <a:custGeom>
            <a:avLst/>
            <a:gdLst/>
            <a:ahLst/>
            <a:cxnLst/>
            <a:rect l="0" t="0" r="r" b="b"/>
            <a:pathLst>
              <a:path w="7674" h="1112">
                <a:moveTo>
                  <a:pt x="0" y="0"/>
                </a:moveTo>
                <a:lnTo>
                  <a:pt x="7674" y="0"/>
                </a:lnTo>
                <a:lnTo>
                  <a:pt x="7674"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5" name="Figura a mano libera: forma 1884"/>
          <p:cNvSpPr/>
          <p:nvPr/>
        </p:nvSpPr>
        <p:spPr>
          <a:xfrm>
            <a:off x="3743280" y="2352600"/>
            <a:ext cx="3867480" cy="400320"/>
          </a:xfrm>
          <a:custGeom>
            <a:avLst/>
            <a:gdLst/>
            <a:ahLst/>
            <a:cxnLst/>
            <a:rect l="0" t="0" r="r" b="b"/>
            <a:pathLst>
              <a:path w="10743" h="1112">
                <a:moveTo>
                  <a:pt x="0" y="0"/>
                </a:moveTo>
                <a:lnTo>
                  <a:pt x="10743" y="0"/>
                </a:lnTo>
                <a:lnTo>
                  <a:pt x="10743" y="1112"/>
                </a:lnTo>
                <a:lnTo>
                  <a:pt x="0" y="1112"/>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6" name="Figura a mano libera: forma 1885"/>
          <p:cNvSpPr/>
          <p:nvPr/>
        </p:nvSpPr>
        <p:spPr>
          <a:xfrm>
            <a:off x="981000" y="2752560"/>
            <a:ext cx="2762640" cy="400320"/>
          </a:xfrm>
          <a:custGeom>
            <a:avLst/>
            <a:gdLst/>
            <a:ahLst/>
            <a:cxnLst/>
            <a:rect l="0" t="0" r="r" b="b"/>
            <a:pathLst>
              <a:path w="7674" h="1112">
                <a:moveTo>
                  <a:pt x="0" y="0"/>
                </a:moveTo>
                <a:lnTo>
                  <a:pt x="7674" y="0"/>
                </a:lnTo>
                <a:lnTo>
                  <a:pt x="7674" y="1112"/>
                </a:lnTo>
                <a:lnTo>
                  <a:pt x="0" y="1112"/>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7" name="Figura a mano libera: forma 1886"/>
          <p:cNvSpPr/>
          <p:nvPr/>
        </p:nvSpPr>
        <p:spPr>
          <a:xfrm>
            <a:off x="3743280" y="2752560"/>
            <a:ext cx="3867480" cy="400320"/>
          </a:xfrm>
          <a:custGeom>
            <a:avLst/>
            <a:gdLst/>
            <a:ahLst/>
            <a:cxnLst/>
            <a:rect l="0" t="0" r="r" b="b"/>
            <a:pathLst>
              <a:path w="10743" h="1112">
                <a:moveTo>
                  <a:pt x="0" y="0"/>
                </a:moveTo>
                <a:lnTo>
                  <a:pt x="10743" y="0"/>
                </a:lnTo>
                <a:lnTo>
                  <a:pt x="10743" y="1112"/>
                </a:lnTo>
                <a:lnTo>
                  <a:pt x="0" y="1112"/>
                </a:lnTo>
                <a:lnTo>
                  <a:pt x="0" y="0"/>
                </a:lnTo>
                <a:close/>
              </a:path>
            </a:pathLst>
          </a:custGeom>
          <a:solidFill>
            <a:srgbClr val="F6F8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8" name="Figura a mano libera: forma 1887"/>
          <p:cNvSpPr/>
          <p:nvPr/>
        </p:nvSpPr>
        <p:spPr>
          <a:xfrm>
            <a:off x="981000" y="3152520"/>
            <a:ext cx="2762640" cy="400320"/>
          </a:xfrm>
          <a:custGeom>
            <a:avLst/>
            <a:gdLst/>
            <a:ahLst/>
            <a:cxnLst/>
            <a:rect l="0" t="0" r="r" b="b"/>
            <a:pathLst>
              <a:path w="7674" h="1112">
                <a:moveTo>
                  <a:pt x="0" y="1112"/>
                </a:moveTo>
                <a:lnTo>
                  <a:pt x="0" y="0"/>
                </a:lnTo>
                <a:lnTo>
                  <a:pt x="7674" y="0"/>
                </a:lnTo>
                <a:lnTo>
                  <a:pt x="7674"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89" name="Figura a mano libera: forma 1888"/>
          <p:cNvSpPr/>
          <p:nvPr/>
        </p:nvSpPr>
        <p:spPr>
          <a:xfrm>
            <a:off x="3743280" y="3152520"/>
            <a:ext cx="3867480" cy="400320"/>
          </a:xfrm>
          <a:custGeom>
            <a:avLst/>
            <a:gdLst/>
            <a:ahLst/>
            <a:cxnLst/>
            <a:rect l="0" t="0" r="r" b="b"/>
            <a:pathLst>
              <a:path w="10743" h="1112">
                <a:moveTo>
                  <a:pt x="0" y="1112"/>
                </a:moveTo>
                <a:lnTo>
                  <a:pt x="0" y="0"/>
                </a:lnTo>
                <a:lnTo>
                  <a:pt x="10743" y="0"/>
                </a:lnTo>
                <a:lnTo>
                  <a:pt x="10743" y="1112"/>
                </a:lnTo>
                <a:lnTo>
                  <a:pt x="0" y="1112"/>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0" name="Figura a mano libera: forma 1889"/>
          <p:cNvSpPr/>
          <p:nvPr/>
        </p:nvSpPr>
        <p:spPr>
          <a:xfrm>
            <a:off x="971280" y="197136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1" name="Figura a mano libera: forma 1890"/>
          <p:cNvSpPr/>
          <p:nvPr/>
        </p:nvSpPr>
        <p:spPr>
          <a:xfrm>
            <a:off x="971280" y="1971360"/>
            <a:ext cx="2772360" cy="10080"/>
          </a:xfrm>
          <a:custGeom>
            <a:avLst/>
            <a:gdLst/>
            <a:ahLst/>
            <a:cxnLst/>
            <a:rect l="0" t="0" r="r" b="b"/>
            <a:pathLst>
              <a:path w="7701" h="28">
                <a:moveTo>
                  <a:pt x="0" y="0"/>
                </a:moveTo>
                <a:lnTo>
                  <a:pt x="7701" y="0"/>
                </a:lnTo>
                <a:lnTo>
                  <a:pt x="770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2" name="Figura a mano libera: forma 1891"/>
          <p:cNvSpPr/>
          <p:nvPr/>
        </p:nvSpPr>
        <p:spPr>
          <a:xfrm>
            <a:off x="3733560" y="197136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3" name="Figura a mano libera: forma 1892"/>
          <p:cNvSpPr/>
          <p:nvPr/>
        </p:nvSpPr>
        <p:spPr>
          <a:xfrm>
            <a:off x="3743280" y="1971360"/>
            <a:ext cx="3867480" cy="10080"/>
          </a:xfrm>
          <a:custGeom>
            <a:avLst/>
            <a:gdLst/>
            <a:ahLst/>
            <a:cxnLst/>
            <a:rect l="0" t="0" r="r" b="b"/>
            <a:pathLst>
              <a:path w="10743" h="28">
                <a:moveTo>
                  <a:pt x="0" y="0"/>
                </a:moveTo>
                <a:lnTo>
                  <a:pt x="10743" y="0"/>
                </a:lnTo>
                <a:lnTo>
                  <a:pt x="10743"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4" name="Figura a mano libera: forma 1893"/>
          <p:cNvSpPr/>
          <p:nvPr/>
        </p:nvSpPr>
        <p:spPr>
          <a:xfrm>
            <a:off x="7600680" y="1971360"/>
            <a:ext cx="10080" cy="381600"/>
          </a:xfrm>
          <a:custGeom>
            <a:avLst/>
            <a:gdLst/>
            <a:ahLst/>
            <a:cxn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5" name="Figura a mano libera: forma 1894"/>
          <p:cNvSpPr/>
          <p:nvPr/>
        </p:nvSpPr>
        <p:spPr>
          <a:xfrm>
            <a:off x="971280" y="2342880"/>
            <a:ext cx="2772360" cy="10080"/>
          </a:xfrm>
          <a:custGeom>
            <a:avLst/>
            <a:gdLst/>
            <a:ahLst/>
            <a:cxnLst/>
            <a:rect l="0" t="0" r="r" b="b"/>
            <a:pathLst>
              <a:path w="7701" h="28">
                <a:moveTo>
                  <a:pt x="0" y="0"/>
                </a:moveTo>
                <a:lnTo>
                  <a:pt x="7701" y="0"/>
                </a:lnTo>
                <a:lnTo>
                  <a:pt x="770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6" name="Figura a mano libera: forma 1895"/>
          <p:cNvSpPr/>
          <p:nvPr/>
        </p:nvSpPr>
        <p:spPr>
          <a:xfrm>
            <a:off x="3743280" y="2342880"/>
            <a:ext cx="3867480" cy="10080"/>
          </a:xfrm>
          <a:custGeom>
            <a:avLst/>
            <a:gdLst/>
            <a:ahLst/>
            <a:cxnLst/>
            <a:rect l="0" t="0" r="r" b="b"/>
            <a:pathLst>
              <a:path w="10743" h="28">
                <a:moveTo>
                  <a:pt x="0" y="0"/>
                </a:moveTo>
                <a:lnTo>
                  <a:pt x="10743" y="0"/>
                </a:lnTo>
                <a:lnTo>
                  <a:pt x="10743"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7" name="Figura a mano libera: forma 1896"/>
          <p:cNvSpPr/>
          <p:nvPr/>
        </p:nvSpPr>
        <p:spPr>
          <a:xfrm>
            <a:off x="971280" y="2352600"/>
            <a:ext cx="10080" cy="400320"/>
          </a:xfrm>
          <a:custGeom>
            <a:avLst/>
            <a:gdLst/>
            <a:ahLst/>
            <a:cxnLst/>
            <a:rect l="0" t="0" r="r" b="b"/>
            <a:pathLst>
              <a:path w="28" h="1112">
                <a:moveTo>
                  <a:pt x="0" y="0"/>
                </a:moveTo>
                <a:lnTo>
                  <a:pt x="28" y="0"/>
                </a:lnTo>
                <a:lnTo>
                  <a:pt x="28"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8" name="Figura a mano libera: forma 1897"/>
          <p:cNvSpPr/>
          <p:nvPr/>
        </p:nvSpPr>
        <p:spPr>
          <a:xfrm>
            <a:off x="3733560" y="2352600"/>
            <a:ext cx="10080" cy="400320"/>
          </a:xfrm>
          <a:custGeom>
            <a:avLst/>
            <a:gdLst/>
            <a:ahLst/>
            <a:cxnLst/>
            <a:rect l="0" t="0" r="r" b="b"/>
            <a:pathLst>
              <a:path w="28" h="1112">
                <a:moveTo>
                  <a:pt x="0" y="0"/>
                </a:moveTo>
                <a:lnTo>
                  <a:pt x="28" y="0"/>
                </a:lnTo>
                <a:lnTo>
                  <a:pt x="28"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899" name="Figura a mano libera: forma 1898"/>
          <p:cNvSpPr/>
          <p:nvPr/>
        </p:nvSpPr>
        <p:spPr>
          <a:xfrm>
            <a:off x="7600680" y="2352600"/>
            <a:ext cx="10080" cy="400320"/>
          </a:xfrm>
          <a:custGeom>
            <a:avLst/>
            <a:gdLst/>
            <a:ahLst/>
            <a:cxnLst/>
            <a:rect l="0" t="0" r="r" b="b"/>
            <a:pathLst>
              <a:path w="28" h="1112">
                <a:moveTo>
                  <a:pt x="0" y="0"/>
                </a:moveTo>
                <a:lnTo>
                  <a:pt x="28" y="0"/>
                </a:lnTo>
                <a:lnTo>
                  <a:pt x="28" y="1112"/>
                </a:lnTo>
                <a:lnTo>
                  <a:pt x="0" y="1112"/>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0" name="Figura a mano libera: forma 1899"/>
          <p:cNvSpPr/>
          <p:nvPr/>
        </p:nvSpPr>
        <p:spPr>
          <a:xfrm>
            <a:off x="971280" y="2752560"/>
            <a:ext cx="10080" cy="410040"/>
          </a:xfrm>
          <a:custGeom>
            <a:avLst/>
            <a:gdLst/>
            <a:ahLst/>
            <a:cxnLst/>
            <a:rect l="0" t="0" r="r" b="b"/>
            <a:pathLst>
              <a:path w="28" h="1139">
                <a:moveTo>
                  <a:pt x="0" y="0"/>
                </a:moveTo>
                <a:lnTo>
                  <a:pt x="28" y="0"/>
                </a:lnTo>
                <a:lnTo>
                  <a:pt x="28"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1" name="Figura a mano libera: forma 1900"/>
          <p:cNvSpPr/>
          <p:nvPr/>
        </p:nvSpPr>
        <p:spPr>
          <a:xfrm>
            <a:off x="971280" y="2742840"/>
            <a:ext cx="2772360" cy="10080"/>
          </a:xfrm>
          <a:custGeom>
            <a:avLst/>
            <a:gdLst/>
            <a:ahLst/>
            <a:cxnLst/>
            <a:rect l="0" t="0" r="r" b="b"/>
            <a:pathLst>
              <a:path w="7701" h="28">
                <a:moveTo>
                  <a:pt x="0" y="0"/>
                </a:moveTo>
                <a:lnTo>
                  <a:pt x="7701" y="0"/>
                </a:lnTo>
                <a:lnTo>
                  <a:pt x="770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2" name="Figura a mano libera: forma 1901"/>
          <p:cNvSpPr/>
          <p:nvPr/>
        </p:nvSpPr>
        <p:spPr>
          <a:xfrm>
            <a:off x="3733560" y="2752560"/>
            <a:ext cx="10080" cy="410040"/>
          </a:xfrm>
          <a:custGeom>
            <a:avLst/>
            <a:gdLst/>
            <a:ahLst/>
            <a:cxnLst/>
            <a:rect l="0" t="0" r="r" b="b"/>
            <a:pathLst>
              <a:path w="28" h="1139">
                <a:moveTo>
                  <a:pt x="0" y="0"/>
                </a:moveTo>
                <a:lnTo>
                  <a:pt x="28" y="0"/>
                </a:lnTo>
                <a:lnTo>
                  <a:pt x="28"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3" name="Figura a mano libera: forma 1902"/>
          <p:cNvSpPr/>
          <p:nvPr/>
        </p:nvSpPr>
        <p:spPr>
          <a:xfrm>
            <a:off x="3743280" y="2742840"/>
            <a:ext cx="3867480" cy="10080"/>
          </a:xfrm>
          <a:custGeom>
            <a:avLst/>
            <a:gdLst/>
            <a:ahLst/>
            <a:cxnLst/>
            <a:rect l="0" t="0" r="r" b="b"/>
            <a:pathLst>
              <a:path w="10743" h="28">
                <a:moveTo>
                  <a:pt x="0" y="0"/>
                </a:moveTo>
                <a:lnTo>
                  <a:pt x="10743" y="0"/>
                </a:lnTo>
                <a:lnTo>
                  <a:pt x="10743"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4" name="Figura a mano libera: forma 1903"/>
          <p:cNvSpPr/>
          <p:nvPr/>
        </p:nvSpPr>
        <p:spPr>
          <a:xfrm>
            <a:off x="7600680" y="2752560"/>
            <a:ext cx="10080" cy="410040"/>
          </a:xfrm>
          <a:custGeom>
            <a:avLst/>
            <a:gdLst/>
            <a:ahLst/>
            <a:cxnLst/>
            <a:rect l="0" t="0" r="r" b="b"/>
            <a:pathLst>
              <a:path w="28" h="1139">
                <a:moveTo>
                  <a:pt x="0" y="0"/>
                </a:moveTo>
                <a:lnTo>
                  <a:pt x="28" y="0"/>
                </a:lnTo>
                <a:lnTo>
                  <a:pt x="28" y="1139"/>
                </a:lnTo>
                <a:lnTo>
                  <a:pt x="0" y="1139"/>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5" name="Figura a mano libera: forma 1904"/>
          <p:cNvSpPr/>
          <p:nvPr/>
        </p:nvSpPr>
        <p:spPr>
          <a:xfrm>
            <a:off x="971280" y="3162240"/>
            <a:ext cx="10080" cy="390600"/>
          </a:xfrm>
          <a:custGeom>
            <a:avLst/>
            <a:gdLst/>
            <a:ahLst/>
            <a:cxnLst/>
            <a:rect l="0" t="0" r="r" b="b"/>
            <a:pathLst>
              <a:path w="28" h="1085">
                <a:moveTo>
                  <a:pt x="0" y="1085"/>
                </a:moveTo>
                <a:lnTo>
                  <a:pt x="0" y="0"/>
                </a:lnTo>
                <a:lnTo>
                  <a:pt x="28" y="0"/>
                </a:lnTo>
                <a:lnTo>
                  <a:pt x="28"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6" name="Figura a mano libera: forma 1905"/>
          <p:cNvSpPr/>
          <p:nvPr/>
        </p:nvSpPr>
        <p:spPr>
          <a:xfrm>
            <a:off x="971280" y="3152520"/>
            <a:ext cx="2772360" cy="10080"/>
          </a:xfrm>
          <a:custGeom>
            <a:avLst/>
            <a:gdLst/>
            <a:ahLst/>
            <a:cxnLst/>
            <a:rect l="0" t="0" r="r" b="b"/>
            <a:pathLst>
              <a:path w="7701" h="28">
                <a:moveTo>
                  <a:pt x="0" y="0"/>
                </a:moveTo>
                <a:lnTo>
                  <a:pt x="7701" y="0"/>
                </a:lnTo>
                <a:lnTo>
                  <a:pt x="7701"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7" name="Figura a mano libera: forma 1906"/>
          <p:cNvSpPr/>
          <p:nvPr/>
        </p:nvSpPr>
        <p:spPr>
          <a:xfrm>
            <a:off x="3733560" y="3162240"/>
            <a:ext cx="10080" cy="390600"/>
          </a:xfrm>
          <a:custGeom>
            <a:avLst/>
            <a:gdLst/>
            <a:ahLst/>
            <a:cxnLst/>
            <a:rect l="0" t="0" r="r" b="b"/>
            <a:pathLst>
              <a:path w="28" h="1085">
                <a:moveTo>
                  <a:pt x="0" y="1085"/>
                </a:moveTo>
                <a:lnTo>
                  <a:pt x="0" y="0"/>
                </a:lnTo>
                <a:lnTo>
                  <a:pt x="28" y="0"/>
                </a:lnTo>
                <a:lnTo>
                  <a:pt x="28"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8" name="Figura a mano libera: forma 1907"/>
          <p:cNvSpPr/>
          <p:nvPr/>
        </p:nvSpPr>
        <p:spPr>
          <a:xfrm>
            <a:off x="3743280" y="3152520"/>
            <a:ext cx="3867480" cy="10080"/>
          </a:xfrm>
          <a:custGeom>
            <a:avLst/>
            <a:gdLst/>
            <a:ahLst/>
            <a:cxnLst/>
            <a:rect l="0" t="0" r="r" b="b"/>
            <a:pathLst>
              <a:path w="10743" h="28">
                <a:moveTo>
                  <a:pt x="0" y="0"/>
                </a:moveTo>
                <a:lnTo>
                  <a:pt x="10743" y="0"/>
                </a:lnTo>
                <a:lnTo>
                  <a:pt x="10743" y="28"/>
                </a:lnTo>
                <a:lnTo>
                  <a:pt x="0" y="28"/>
                </a:lnTo>
                <a:lnTo>
                  <a:pt x="0" y="0"/>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09" name="Figura a mano libera: forma 1908"/>
          <p:cNvSpPr/>
          <p:nvPr/>
        </p:nvSpPr>
        <p:spPr>
          <a:xfrm>
            <a:off x="7600680" y="3162240"/>
            <a:ext cx="10080" cy="390600"/>
          </a:xfrm>
          <a:custGeom>
            <a:avLst/>
            <a:gdLst/>
            <a:ahLst/>
            <a:cxnLst/>
            <a:rect l="0" t="0" r="r" b="b"/>
            <a:pathLst>
              <a:path w="28" h="1085">
                <a:moveTo>
                  <a:pt x="0" y="1085"/>
                </a:moveTo>
                <a:lnTo>
                  <a:pt x="0" y="0"/>
                </a:lnTo>
                <a:lnTo>
                  <a:pt x="28" y="0"/>
                </a:lnTo>
                <a:lnTo>
                  <a:pt x="28" y="1085"/>
                </a:lnTo>
                <a:lnTo>
                  <a:pt x="0" y="1085"/>
                </a:lnTo>
                <a:close/>
              </a:path>
            </a:pathLst>
          </a:custGeom>
          <a:solidFill>
            <a:srgbClr val="D1D9E0"/>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10" name="CasellaDiTesto 1909"/>
          <p:cNvSpPr txBox="1"/>
          <p:nvPr/>
        </p:nvSpPr>
        <p:spPr>
          <a:xfrm>
            <a:off x="971640" y="552600"/>
            <a:ext cx="101631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NUOVO APPARATO SANZIONATORIO AMMINISTRATIVO</a:t>
            </a:r>
            <a:endParaRPr lang="it-IT" sz="2850" b="0" u="none" strike="noStrike">
              <a:solidFill>
                <a:srgbClr val="000000"/>
              </a:solidFill>
              <a:effectLst/>
              <a:uFillTx/>
              <a:latin typeface="Times New Roman"/>
            </a:endParaRPr>
          </a:p>
        </p:txBody>
      </p:sp>
      <p:sp>
        <p:nvSpPr>
          <p:cNvPr id="1911" name="CasellaDiTesto 1910"/>
          <p:cNvSpPr txBox="1"/>
          <p:nvPr/>
        </p:nvSpPr>
        <p:spPr>
          <a:xfrm>
            <a:off x="971640" y="1277280"/>
            <a:ext cx="232056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Art. 13 D.Lgs. 471/1997</a:t>
            </a:r>
            <a:endParaRPr lang="it-IT" sz="1800" b="0" u="none" strike="noStrike">
              <a:solidFill>
                <a:srgbClr val="000000"/>
              </a:solidFill>
              <a:effectLst/>
              <a:uFillTx/>
              <a:latin typeface="Times New Roman"/>
            </a:endParaRPr>
          </a:p>
        </p:txBody>
      </p:sp>
      <p:sp>
        <p:nvSpPr>
          <p:cNvPr id="1912" name="CasellaDiTesto 1911"/>
          <p:cNvSpPr txBox="1"/>
          <p:nvPr/>
        </p:nvSpPr>
        <p:spPr>
          <a:xfrm>
            <a:off x="1104840" y="2054160"/>
            <a:ext cx="81288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Fattispecie</a:t>
            </a:r>
            <a:endParaRPr lang="it-IT" sz="1280" b="0" u="none" strike="noStrike">
              <a:solidFill>
                <a:srgbClr val="000000"/>
              </a:solidFill>
              <a:effectLst/>
              <a:uFillTx/>
              <a:latin typeface="Times New Roman"/>
            </a:endParaRPr>
          </a:p>
        </p:txBody>
      </p:sp>
      <p:sp>
        <p:nvSpPr>
          <p:cNvPr id="1913" name="CasellaDiTesto 1912"/>
          <p:cNvSpPr txBox="1"/>
          <p:nvPr/>
        </p:nvSpPr>
        <p:spPr>
          <a:xfrm>
            <a:off x="3869280" y="2054160"/>
            <a:ext cx="683280" cy="215280"/>
          </a:xfrm>
          <a:prstGeom prst="rect">
            <a:avLst/>
          </a:prstGeom>
          <a:noFill/>
          <a:ln w="0">
            <a:noFill/>
          </a:ln>
        </p:spPr>
        <p:txBody>
          <a:bodyPr wrap="none" lIns="0" tIns="0" rIns="0" bIns="0" anchor="t">
            <a:spAutoFit/>
          </a:bodyPr>
          <a:lstStyle/>
          <a:p>
            <a:r>
              <a:rPr lang="it-IT" sz="1280" b="1" u="none" strike="noStrike">
                <a:solidFill>
                  <a:srgbClr val="FFFFFF"/>
                </a:solidFill>
                <a:effectLst/>
                <a:uFillTx/>
                <a:latin typeface="SegoeUI"/>
                <a:ea typeface="SegoeUI"/>
              </a:rPr>
              <a:t>Sanzione</a:t>
            </a:r>
            <a:endParaRPr lang="it-IT" sz="1280" b="0" u="none" strike="noStrike">
              <a:solidFill>
                <a:srgbClr val="000000"/>
              </a:solidFill>
              <a:effectLst/>
              <a:uFillTx/>
              <a:latin typeface="Times New Roman"/>
            </a:endParaRPr>
          </a:p>
        </p:txBody>
      </p:sp>
      <p:sp>
        <p:nvSpPr>
          <p:cNvPr id="1914" name="CasellaDiTesto 1913"/>
          <p:cNvSpPr txBox="1"/>
          <p:nvPr/>
        </p:nvSpPr>
        <p:spPr>
          <a:xfrm>
            <a:off x="1104840" y="2424240"/>
            <a:ext cx="236304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Credito </a:t>
            </a:r>
            <a:r>
              <a:rPr lang="it-IT" sz="1430" b="1" u="none" strike="noStrike">
                <a:solidFill>
                  <a:srgbClr val="00509E"/>
                </a:solidFill>
                <a:effectLst/>
                <a:uFillTx/>
                <a:latin typeface="SegoeUI"/>
                <a:ea typeface="SegoeUI"/>
              </a:rPr>
              <a:t>non spettante</a:t>
            </a:r>
            <a:r>
              <a:rPr lang="it-IT" sz="1430" b="0" u="none" strike="noStrike">
                <a:solidFill>
                  <a:srgbClr val="212529"/>
                </a:solidFill>
                <a:effectLst/>
                <a:uFillTx/>
                <a:latin typeface="SegoeUI"/>
                <a:ea typeface="SegoeUI"/>
              </a:rPr>
              <a:t> (co. 4)</a:t>
            </a:r>
            <a:endParaRPr lang="it-IT" sz="1430" b="0" u="none" strike="noStrike">
              <a:solidFill>
                <a:srgbClr val="000000"/>
              </a:solidFill>
              <a:effectLst/>
              <a:uFillTx/>
              <a:latin typeface="Times New Roman"/>
            </a:endParaRPr>
          </a:p>
        </p:txBody>
      </p:sp>
      <p:sp>
        <p:nvSpPr>
          <p:cNvPr id="1915" name="CasellaDiTesto 1914"/>
          <p:cNvSpPr txBox="1"/>
          <p:nvPr/>
        </p:nvSpPr>
        <p:spPr>
          <a:xfrm>
            <a:off x="3869280" y="2424240"/>
            <a:ext cx="20408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25%</a:t>
            </a:r>
            <a:r>
              <a:rPr lang="it-IT" sz="1430" b="0" u="none" strike="noStrike">
                <a:solidFill>
                  <a:srgbClr val="212529"/>
                </a:solidFill>
                <a:effectLst/>
                <a:uFillTx/>
                <a:latin typeface="SegoeUI"/>
                <a:ea typeface="SegoeUI"/>
              </a:rPr>
              <a:t> del credito utilizzato</a:t>
            </a:r>
            <a:endParaRPr lang="it-IT" sz="1430" b="0" u="none" strike="noStrike">
              <a:solidFill>
                <a:srgbClr val="000000"/>
              </a:solidFill>
              <a:effectLst/>
              <a:uFillTx/>
              <a:latin typeface="Times New Roman"/>
            </a:endParaRPr>
          </a:p>
        </p:txBody>
      </p:sp>
      <p:sp>
        <p:nvSpPr>
          <p:cNvPr id="1916" name="CasellaDiTesto 1915"/>
          <p:cNvSpPr txBox="1"/>
          <p:nvPr/>
        </p:nvSpPr>
        <p:spPr>
          <a:xfrm>
            <a:off x="1104840" y="2824200"/>
            <a:ext cx="209268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Credito </a:t>
            </a:r>
            <a:r>
              <a:rPr lang="it-IT" sz="1430" b="1" u="none" strike="noStrike">
                <a:solidFill>
                  <a:srgbClr val="00509E"/>
                </a:solidFill>
                <a:effectLst/>
                <a:uFillTx/>
                <a:latin typeface="SegoeUI"/>
                <a:ea typeface="SegoeUI"/>
              </a:rPr>
              <a:t>inesistente</a:t>
            </a:r>
            <a:r>
              <a:rPr lang="it-IT" sz="1430" b="0" u="none" strike="noStrike">
                <a:solidFill>
                  <a:srgbClr val="212529"/>
                </a:solidFill>
                <a:effectLst/>
                <a:uFillTx/>
                <a:latin typeface="SegoeUI"/>
                <a:ea typeface="SegoeUI"/>
              </a:rPr>
              <a:t> (co. 5)</a:t>
            </a:r>
            <a:endParaRPr lang="it-IT" sz="1430" b="0" u="none" strike="noStrike">
              <a:solidFill>
                <a:srgbClr val="000000"/>
              </a:solidFill>
              <a:effectLst/>
              <a:uFillTx/>
              <a:latin typeface="Times New Roman"/>
            </a:endParaRPr>
          </a:p>
        </p:txBody>
      </p:sp>
      <p:sp>
        <p:nvSpPr>
          <p:cNvPr id="1917" name="CasellaDiTesto 1916"/>
          <p:cNvSpPr txBox="1"/>
          <p:nvPr/>
        </p:nvSpPr>
        <p:spPr>
          <a:xfrm>
            <a:off x="3869280" y="2824200"/>
            <a:ext cx="2040840" cy="241200"/>
          </a:xfrm>
          <a:prstGeom prst="rect">
            <a:avLst/>
          </a:prstGeom>
          <a:noFill/>
          <a:ln w="0">
            <a:noFill/>
          </a:ln>
        </p:spPr>
        <p:txBody>
          <a:bodyPr wrap="none" lIns="0" tIns="0" rIns="0" bIns="0" anchor="t">
            <a:spAutoFit/>
          </a:bodyPr>
          <a:lstStyle/>
          <a:p>
            <a:r>
              <a:rPr lang="it-IT" sz="1430" b="1" u="none" strike="noStrike">
                <a:solidFill>
                  <a:srgbClr val="00509E"/>
                </a:solidFill>
                <a:effectLst/>
                <a:uFillTx/>
                <a:latin typeface="SegoeUI"/>
                <a:ea typeface="SegoeUI"/>
              </a:rPr>
              <a:t>70%</a:t>
            </a:r>
            <a:r>
              <a:rPr lang="it-IT" sz="1430" b="0" u="none" strike="noStrike">
                <a:solidFill>
                  <a:srgbClr val="212529"/>
                </a:solidFill>
                <a:effectLst/>
                <a:uFillTx/>
                <a:latin typeface="SegoeUI"/>
                <a:ea typeface="SegoeUI"/>
              </a:rPr>
              <a:t> del credito utilizzato</a:t>
            </a:r>
            <a:endParaRPr lang="it-IT" sz="1430" b="0" u="none" strike="noStrike">
              <a:solidFill>
                <a:srgbClr val="000000"/>
              </a:solidFill>
              <a:effectLst/>
              <a:uFillTx/>
              <a:latin typeface="Times New Roman"/>
            </a:endParaRPr>
          </a:p>
        </p:txBody>
      </p:sp>
      <p:sp>
        <p:nvSpPr>
          <p:cNvPr id="1918" name="CasellaDiTesto 1917"/>
          <p:cNvSpPr txBox="1"/>
          <p:nvPr/>
        </p:nvSpPr>
        <p:spPr>
          <a:xfrm>
            <a:off x="1104840" y="3233880"/>
            <a:ext cx="25560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Credito inesistente </a:t>
            </a:r>
            <a:r>
              <a:rPr lang="it-IT" sz="1430" b="1" u="none" strike="noStrike">
                <a:solidFill>
                  <a:srgbClr val="00509E"/>
                </a:solidFill>
                <a:effectLst/>
                <a:uFillTx/>
                <a:latin typeface="SegoeUI"/>
                <a:ea typeface="SegoeUI"/>
              </a:rPr>
              <a:t>fraudolento</a:t>
            </a:r>
            <a:endParaRPr lang="it-IT" sz="1430" b="0" u="none" strike="noStrike">
              <a:solidFill>
                <a:srgbClr val="000000"/>
              </a:solidFill>
              <a:effectLst/>
              <a:uFillTx/>
              <a:latin typeface="Times New Roman"/>
            </a:endParaRPr>
          </a:p>
        </p:txBody>
      </p:sp>
      <p:sp>
        <p:nvSpPr>
          <p:cNvPr id="1919" name="Figura a mano libera: forma 1918"/>
          <p:cNvSpPr/>
          <p:nvPr/>
        </p:nvSpPr>
        <p:spPr>
          <a:xfrm>
            <a:off x="1028520" y="3838320"/>
            <a:ext cx="76680" cy="76680"/>
          </a:xfrm>
          <a:custGeom>
            <a:avLst/>
            <a:gdLst/>
            <a:ahLst/>
            <a:cxnLst/>
            <a:rect l="0" t="0" r="r" b="b"/>
            <a:pathLst>
              <a:path w="213" h="213">
                <a:moveTo>
                  <a:pt x="213" y="106"/>
                </a:moveTo>
                <a:cubicBezTo>
                  <a:pt x="213" y="120"/>
                  <a:pt x="210" y="134"/>
                  <a:pt x="205" y="147"/>
                </a:cubicBezTo>
                <a:cubicBezTo>
                  <a:pt x="198" y="160"/>
                  <a:pt x="191" y="171"/>
                  <a:pt x="181" y="181"/>
                </a:cubicBezTo>
                <a:cubicBezTo>
                  <a:pt x="171" y="191"/>
                  <a:pt x="159" y="198"/>
                  <a:pt x="146" y="204"/>
                </a:cubicBezTo>
                <a:cubicBezTo>
                  <a:pt x="133" y="210"/>
                  <a:pt x="120" y="213"/>
                  <a:pt x="106" y="213"/>
                </a:cubicBezTo>
                <a:cubicBezTo>
                  <a:pt x="92" y="213"/>
                  <a:pt x="78" y="210"/>
                  <a:pt x="65" y="204"/>
                </a:cubicBezTo>
                <a:cubicBezTo>
                  <a:pt x="52" y="198"/>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20" name="CasellaDiTesto 1919"/>
          <p:cNvSpPr txBox="1"/>
          <p:nvPr/>
        </p:nvSpPr>
        <p:spPr>
          <a:xfrm>
            <a:off x="3869280" y="3233880"/>
            <a:ext cx="3619800" cy="241200"/>
          </a:xfrm>
          <a:prstGeom prst="rect">
            <a:avLst/>
          </a:prstGeom>
          <a:noFill/>
          <a:ln w="0">
            <a:noFill/>
          </a:ln>
        </p:spPr>
        <p:txBody>
          <a:bodyPr wrap="none" lIns="0" tIns="0" rIns="0" bIns="0" anchor="t">
            <a:spAutoFit/>
          </a:bodyPr>
          <a:lstStyle/>
          <a:p>
            <a:r>
              <a:rPr lang="it-IT" sz="1430" b="0" u="none" strike="noStrike">
                <a:solidFill>
                  <a:srgbClr val="212529"/>
                </a:solidFill>
                <a:effectLst/>
                <a:uFillTx/>
                <a:latin typeface="SegoeUI"/>
                <a:ea typeface="SegoeUI"/>
              </a:rPr>
              <a:t>aumento </a:t>
            </a:r>
            <a:r>
              <a:rPr lang="it-IT" sz="1430" b="0" i="1" u="none" strike="noStrike">
                <a:solidFill>
                  <a:srgbClr val="495057"/>
                </a:solidFill>
                <a:effectLst/>
                <a:uFillTx/>
                <a:latin typeface="SegoeUI"/>
                <a:ea typeface="SegoeUI"/>
              </a:rPr>
              <a:t>dalla metà al doppio</a:t>
            </a:r>
            <a:r>
              <a:rPr lang="it-IT" sz="1430" b="0" u="none" strike="noStrike">
                <a:solidFill>
                  <a:srgbClr val="212529"/>
                </a:solidFill>
                <a:effectLst/>
                <a:uFillTx/>
                <a:latin typeface="SegoeUI"/>
                <a:ea typeface="SegoeUI"/>
              </a:rPr>
              <a:t> (105% – 140%)</a:t>
            </a:r>
            <a:endParaRPr lang="it-IT" sz="1430" b="0" u="none" strike="noStrike">
              <a:solidFill>
                <a:srgbClr val="000000"/>
              </a:solidFill>
              <a:effectLst/>
              <a:uFillTx/>
              <a:latin typeface="Times New Roman"/>
            </a:endParaRPr>
          </a:p>
        </p:txBody>
      </p:sp>
      <p:sp>
        <p:nvSpPr>
          <p:cNvPr id="1921" name="Figura a mano libera: forma 1920"/>
          <p:cNvSpPr/>
          <p:nvPr/>
        </p:nvSpPr>
        <p:spPr>
          <a:xfrm>
            <a:off x="1028520" y="4324320"/>
            <a:ext cx="76680" cy="76320"/>
          </a:xfrm>
          <a:custGeom>
            <a:avLst/>
            <a:gdLst/>
            <a:ahLst/>
            <a:cxnLst/>
            <a:rect l="0" t="0" r="r" b="b"/>
            <a:pathLst>
              <a:path w="213" h="212">
                <a:moveTo>
                  <a:pt x="213" y="105"/>
                </a:moveTo>
                <a:cubicBezTo>
                  <a:pt x="213" y="119"/>
                  <a:pt x="210" y="134"/>
                  <a:pt x="205"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19"/>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1"/>
                  <a:pt x="213" y="105"/>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22" name="CasellaDiTesto 1921"/>
          <p:cNvSpPr txBox="1"/>
          <p:nvPr/>
        </p:nvSpPr>
        <p:spPr>
          <a:xfrm>
            <a:off x="1238400" y="3727440"/>
            <a:ext cx="772488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Esimente</a:t>
            </a:r>
            <a:r>
              <a:rPr lang="it-IT" sz="1580" b="0" u="none" strike="noStrike">
                <a:solidFill>
                  <a:srgbClr val="343A40"/>
                </a:solidFill>
                <a:effectLst/>
                <a:uFillTx/>
                <a:latin typeface="SegoeUI"/>
                <a:ea typeface="SegoeUI"/>
              </a:rPr>
              <a:t>: causa di non punibilità per </a:t>
            </a:r>
            <a:r>
              <a:rPr lang="it-IT" sz="1580" b="1" u="none" strike="noStrike">
                <a:solidFill>
                  <a:srgbClr val="00509E"/>
                </a:solidFill>
                <a:effectLst/>
                <a:uFillTx/>
                <a:latin typeface="SegoeUI"/>
                <a:ea typeface="SegoeUI"/>
              </a:rPr>
              <a:t>obiettiva incertezza</a:t>
            </a:r>
            <a:r>
              <a:rPr lang="it-IT" sz="1580" b="0" u="none" strike="noStrike">
                <a:solidFill>
                  <a:srgbClr val="343A40"/>
                </a:solidFill>
                <a:effectLst/>
                <a:uFillTx/>
                <a:latin typeface="SegoeUI"/>
                <a:ea typeface="SegoeUI"/>
              </a:rPr>
              <a:t> (co. 4-</a:t>
            </a:r>
            <a:r>
              <a:rPr lang="it-IT" sz="1580" b="0" i="1" u="none" strike="noStrike">
                <a:solidFill>
                  <a:srgbClr val="495057"/>
                </a:solidFill>
                <a:effectLst/>
                <a:uFillTx/>
                <a:latin typeface="SegoeUI"/>
                <a:ea typeface="SegoeUI"/>
              </a:rPr>
              <a:t>bis</a:t>
            </a:r>
            <a:r>
              <a:rPr lang="it-IT" sz="1580" b="0" u="none" strike="noStrike">
                <a:solidFill>
                  <a:srgbClr val="343A40"/>
                </a:solidFill>
                <a:effectLst/>
                <a:uFillTx/>
                <a:latin typeface="SegoeUI"/>
                <a:ea typeface="SegoeUI"/>
              </a:rPr>
              <a:t> per i non spettanti).</a:t>
            </a:r>
            <a:endParaRPr lang="it-IT" sz="1580" b="0" u="none" strike="noStrike">
              <a:solidFill>
                <a:srgbClr val="000000"/>
              </a:solidFill>
              <a:effectLst/>
              <a:uFillTx/>
              <a:latin typeface="Times New Roman"/>
            </a:endParaRPr>
          </a:p>
        </p:txBody>
      </p:sp>
      <p:sp>
        <p:nvSpPr>
          <p:cNvPr id="1923" name="CasellaDiTesto 1922"/>
          <p:cNvSpPr txBox="1"/>
          <p:nvPr/>
        </p:nvSpPr>
        <p:spPr>
          <a:xfrm>
            <a:off x="1238400" y="4213440"/>
            <a:ext cx="96166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Il D.Lgs. 173/2024 (T.U. delle sanzioni, in vigore dal 1° gennaio 2026) </a:t>
            </a:r>
            <a:r>
              <a:rPr lang="it-IT" sz="1580" b="1" u="none" strike="noStrike">
                <a:solidFill>
                  <a:srgbClr val="00509E"/>
                </a:solidFill>
                <a:effectLst/>
                <a:uFillTx/>
                <a:latin typeface="SegoeUI"/>
                <a:ea typeface="SegoeUI"/>
              </a:rPr>
              <a:t>conferma</a:t>
            </a:r>
            <a:r>
              <a:rPr lang="it-IT" sz="1580" b="0" u="none" strike="noStrike">
                <a:solidFill>
                  <a:srgbClr val="343A40"/>
                </a:solidFill>
                <a:effectLst/>
                <a:uFillTx/>
                <a:latin typeface="SegoeUI"/>
                <a:ea typeface="SegoeUI"/>
              </a:rPr>
              <a:t> integralmente questo assetto.</a:t>
            </a:r>
            <a:endParaRPr lang="it-IT" sz="1580" b="0" u="none" strike="noStrike">
              <a:solidFill>
                <a:srgbClr val="000000"/>
              </a:solidFill>
              <a:effectLst/>
              <a:uFillTx/>
              <a:latin typeface="Times New Roman"/>
            </a:endParaRPr>
          </a:p>
        </p:txBody>
      </p:sp>
      <p:sp>
        <p:nvSpPr>
          <p:cNvPr id="1924" name="CasellaDiTesto 1923"/>
          <p:cNvSpPr txBox="1"/>
          <p:nvPr/>
        </p:nvSpPr>
        <p:spPr>
          <a:xfrm>
            <a:off x="971640" y="4711680"/>
            <a:ext cx="1988640" cy="252000"/>
          </a:xfrm>
          <a:prstGeom prst="rect">
            <a:avLst/>
          </a:prstGeom>
          <a:noFill/>
          <a:ln w="0">
            <a:noFill/>
          </a:ln>
        </p:spPr>
        <p:txBody>
          <a:bodyPr wrap="none" lIns="0" tIns="0" rIns="0" bIns="0" anchor="t">
            <a:spAutoFit/>
          </a:bodyPr>
          <a:lstStyle/>
          <a:p>
            <a:r>
              <a:rPr lang="it-IT" sz="1490" b="1" u="none" strike="noStrike">
                <a:solidFill>
                  <a:srgbClr val="59636E"/>
                </a:solidFill>
                <a:effectLst/>
                <a:uFillTx/>
                <a:latin typeface="SegoeUI"/>
                <a:ea typeface="SegoeUI"/>
              </a:rPr>
              <a:t>Profilo intertemporale</a:t>
            </a:r>
            <a:endParaRPr lang="it-IT" sz="1490" b="0" u="none" strike="noStrike">
              <a:solidFill>
                <a:srgbClr val="000000"/>
              </a:solidFill>
              <a:effectLst/>
              <a:uFillTx/>
              <a:latin typeface="Times New Roman"/>
            </a:endParaRPr>
          </a:p>
        </p:txBody>
      </p:sp>
      <p:sp>
        <p:nvSpPr>
          <p:cNvPr id="1925" name="Figura a mano libera: forma 1924"/>
          <p:cNvSpPr/>
          <p:nvPr/>
        </p:nvSpPr>
        <p:spPr>
          <a:xfrm>
            <a:off x="1028520" y="572436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9"/>
                  <a:pt x="8" y="66"/>
                </a:cubicBezTo>
                <a:cubicBezTo>
                  <a:pt x="13" y="53"/>
                  <a:pt x="21" y="42"/>
                  <a:pt x="31" y="32"/>
                </a:cubicBezTo>
                <a:cubicBezTo>
                  <a:pt x="41" y="21"/>
                  <a:pt x="52" y="13"/>
                  <a:pt x="65" y="8"/>
                </a:cubicBezTo>
                <a:cubicBezTo>
                  <a:pt x="78" y="3"/>
                  <a:pt x="92" y="0"/>
                  <a:pt x="106" y="0"/>
                </a:cubicBezTo>
                <a:cubicBezTo>
                  <a:pt x="120" y="0"/>
                  <a:pt x="133" y="3"/>
                  <a:pt x="146" y="8"/>
                </a:cubicBezTo>
                <a:cubicBezTo>
                  <a:pt x="159" y="13"/>
                  <a:pt x="171" y="21"/>
                  <a:pt x="181" y="32"/>
                </a:cubicBezTo>
                <a:cubicBezTo>
                  <a:pt x="191" y="42"/>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26" name="CasellaDiTesto 1925"/>
          <p:cNvSpPr txBox="1"/>
          <p:nvPr/>
        </p:nvSpPr>
        <p:spPr>
          <a:xfrm>
            <a:off x="971640" y="5136480"/>
            <a:ext cx="4127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Per le </a:t>
            </a:r>
            <a:r>
              <a:rPr lang="it-IT" sz="1650" b="1" u="none" strike="noStrike">
                <a:solidFill>
                  <a:srgbClr val="00509E"/>
                </a:solidFill>
                <a:effectLst/>
                <a:uFillTx/>
                <a:latin typeface="SegoeUI"/>
                <a:ea typeface="SegoeUI"/>
              </a:rPr>
              <a:t>violazioni amministrative</a:t>
            </a:r>
            <a:r>
              <a:rPr lang="it-IT" sz="1650" b="0" u="none" strike="noStrike">
                <a:solidFill>
                  <a:srgbClr val="212529"/>
                </a:solidFill>
                <a:effectLst/>
                <a:uFillTx/>
                <a:latin typeface="SegoeUI"/>
                <a:ea typeface="SegoeUI"/>
              </a:rPr>
              <a:t> commesse:</a:t>
            </a:r>
            <a:endParaRPr lang="it-IT" sz="1650" b="0" u="none" strike="noStrike">
              <a:solidFill>
                <a:srgbClr val="000000"/>
              </a:solidFill>
              <a:effectLst/>
              <a:uFillTx/>
              <a:latin typeface="Times New Roman"/>
            </a:endParaRPr>
          </a:p>
        </p:txBody>
      </p:sp>
      <p:sp>
        <p:nvSpPr>
          <p:cNvPr id="1927" name="CasellaDiTesto 1926"/>
          <p:cNvSpPr txBox="1"/>
          <p:nvPr/>
        </p:nvSpPr>
        <p:spPr>
          <a:xfrm>
            <a:off x="1238400" y="5613480"/>
            <a:ext cx="977040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fino al 31 agosto 2024</a:t>
            </a:r>
            <a:r>
              <a:rPr lang="it-IT" sz="1580" b="0" u="none" strike="noStrike">
                <a:solidFill>
                  <a:srgbClr val="343A40"/>
                </a:solidFill>
                <a:effectLst/>
                <a:uFillTx/>
                <a:latin typeface="SegoeUI"/>
                <a:ea typeface="SegoeUI"/>
              </a:rPr>
              <a:t> → si applicano le sanzioni </a:t>
            </a:r>
            <a:r>
              <a:rPr lang="it-IT" sz="1580" b="0" i="1" u="none" strike="noStrike">
                <a:solidFill>
                  <a:srgbClr val="495057"/>
                </a:solidFill>
                <a:effectLst/>
                <a:uFillTx/>
                <a:latin typeface="SegoeUI"/>
                <a:ea typeface="SegoeUI"/>
              </a:rPr>
              <a:t>ratione temporis</a:t>
            </a:r>
            <a:r>
              <a:rPr lang="it-IT" sz="1580" b="0" u="none" strike="noStrike">
                <a:solidFill>
                  <a:srgbClr val="343A40"/>
                </a:solidFill>
                <a:effectLst/>
                <a:uFillTx/>
                <a:latin typeface="SegoeUI"/>
                <a:ea typeface="SegoeUI"/>
              </a:rPr>
              <a:t> vigenti (30% per non spettanti; 100–200% per</a:t>
            </a:r>
            <a:endParaRPr lang="it-IT" sz="1580" b="0" u="none" strike="noStrike">
              <a:solidFill>
                <a:srgbClr val="000000"/>
              </a:solidFill>
              <a:effectLst/>
              <a:uFillTx/>
              <a:latin typeface="Times New Roman"/>
            </a:endParaRPr>
          </a:p>
        </p:txBody>
      </p:sp>
      <p:sp>
        <p:nvSpPr>
          <p:cNvPr id="1928" name="Figura a mano libera: forma 1927"/>
          <p:cNvSpPr/>
          <p:nvPr/>
        </p:nvSpPr>
        <p:spPr>
          <a:xfrm>
            <a:off x="1028520" y="6514920"/>
            <a:ext cx="76680" cy="76680"/>
          </a:xfrm>
          <a:custGeom>
            <a:avLst/>
            <a:gdLst/>
            <a:ahLst/>
            <a:cxnLst/>
            <a:rect l="0" t="0" r="r" b="b"/>
            <a:pathLst>
              <a:path w="213" h="213">
                <a:moveTo>
                  <a:pt x="213" y="106"/>
                </a:moveTo>
                <a:cubicBezTo>
                  <a:pt x="213" y="120"/>
                  <a:pt x="210" y="133"/>
                  <a:pt x="205" y="146"/>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29" name="CasellaDiTesto 1928"/>
          <p:cNvSpPr txBox="1"/>
          <p:nvPr/>
        </p:nvSpPr>
        <p:spPr>
          <a:xfrm>
            <a:off x="1238400" y="5927760"/>
            <a:ext cx="9889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inesistenti);</a:t>
            </a:r>
            <a:endParaRPr lang="it-IT" sz="1580" b="0" u="none" strike="noStrike">
              <a:solidFill>
                <a:srgbClr val="000000"/>
              </a:solidFill>
              <a:effectLst/>
              <a:uFillTx/>
              <a:latin typeface="Times New Roman"/>
            </a:endParaRPr>
          </a:p>
        </p:txBody>
      </p:sp>
      <p:sp>
        <p:nvSpPr>
          <p:cNvPr id="1930" name="Figura a mano libera: forma 192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31" name="CasellaDiTesto 1930"/>
          <p:cNvSpPr txBox="1"/>
          <p:nvPr/>
        </p:nvSpPr>
        <p:spPr>
          <a:xfrm>
            <a:off x="1238400" y="6404040"/>
            <a:ext cx="566352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dal 1° settembre 2024</a:t>
            </a:r>
            <a:r>
              <a:rPr lang="it-IT" sz="1580" b="0" u="none" strike="noStrike">
                <a:solidFill>
                  <a:srgbClr val="343A40"/>
                </a:solidFill>
                <a:effectLst/>
                <a:uFillTx/>
                <a:latin typeface="SegoeUI"/>
                <a:ea typeface="SegoeUI"/>
              </a:rPr>
              <a:t> → nuovo regime (25% / 70% / 105–140%).</a:t>
            </a:r>
            <a:endParaRPr lang="it-IT" sz="1580" b="0" u="none" strike="noStrike">
              <a:solidFill>
                <a:srgbClr val="000000"/>
              </a:solidFill>
              <a:effectLst/>
              <a:uFillTx/>
              <a:latin typeface="Times New Roman"/>
            </a:endParaRPr>
          </a:p>
        </p:txBody>
      </p:sp>
      <p:sp>
        <p:nvSpPr>
          <p:cNvPr id="1932" name="Figura a mano libera: forma 193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33" name="CasellaDiTesto 193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1934" name="CasellaDiTesto 193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63 / 73</a:t>
            </a:r>
            <a:endParaRPr lang="it-IT" sz="980" b="0" u="none" strike="noStrike">
              <a:solidFill>
                <a:srgbClr val="000000"/>
              </a:solidFill>
              <a:effectLst/>
              <a:uFillTx/>
              <a:latin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 name="Figura a mano libera: forma 193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36" name="Figura a mano libera: forma 193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37" name="Figura a mano libera: forma 1936"/>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38" name="Figura a mano libera: forma 1937"/>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39" name="Figura a mano libera: forma 1938"/>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40" name="Figura a mano libera: forma 1939"/>
          <p:cNvSpPr/>
          <p:nvPr/>
        </p:nvSpPr>
        <p:spPr>
          <a:xfrm>
            <a:off x="975960" y="4566960"/>
            <a:ext cx="10544760" cy="943560"/>
          </a:xfrm>
          <a:custGeom>
            <a:avLst/>
            <a:gdLst/>
            <a:ahLst/>
            <a:cxnLst/>
            <a:rect l="0" t="0" r="r" b="b"/>
            <a:pathLst>
              <a:path w="29291" h="2621">
                <a:moveTo>
                  <a:pt x="0" y="252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2528"/>
                </a:lnTo>
                <a:cubicBezTo>
                  <a:pt x="29291" y="2540"/>
                  <a:pt x="29288" y="2552"/>
                  <a:pt x="29284" y="2563"/>
                </a:cubicBezTo>
                <a:cubicBezTo>
                  <a:pt x="29279" y="2575"/>
                  <a:pt x="29272" y="2585"/>
                  <a:pt x="29264" y="2594"/>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4"/>
                </a:cubicBezTo>
                <a:cubicBezTo>
                  <a:pt x="19" y="2585"/>
                  <a:pt x="12" y="2575"/>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41" name="Figura a mano libera: forma 1940"/>
          <p:cNvSpPr/>
          <p:nvPr/>
        </p:nvSpPr>
        <p:spPr>
          <a:xfrm>
            <a:off x="975960" y="4566960"/>
            <a:ext cx="10544760" cy="943560"/>
          </a:xfrm>
          <a:custGeom>
            <a:avLst/>
            <a:gdLst/>
            <a:ahLst/>
            <a:cxnLst/>
            <a:rect l="0" t="0" r="r" b="b"/>
            <a:pathLst>
              <a:path w="29291" h="2621">
                <a:moveTo>
                  <a:pt x="0" y="2528"/>
                </a:moveTo>
                <a:lnTo>
                  <a:pt x="0" y="93"/>
                </a:lnTo>
                <a:cubicBezTo>
                  <a:pt x="0" y="81"/>
                  <a:pt x="3" y="69"/>
                  <a:pt x="8" y="57"/>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7"/>
                </a:cubicBezTo>
                <a:cubicBezTo>
                  <a:pt x="29288" y="69"/>
                  <a:pt x="29291" y="81"/>
                  <a:pt x="29291" y="93"/>
                </a:cubicBezTo>
                <a:lnTo>
                  <a:pt x="29291" y="2528"/>
                </a:lnTo>
                <a:cubicBezTo>
                  <a:pt x="29291" y="2540"/>
                  <a:pt x="29288" y="2552"/>
                  <a:pt x="29284" y="2563"/>
                </a:cubicBezTo>
                <a:cubicBezTo>
                  <a:pt x="29279" y="2575"/>
                  <a:pt x="29272" y="2585"/>
                  <a:pt x="29264" y="2594"/>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4"/>
                </a:cubicBezTo>
                <a:cubicBezTo>
                  <a:pt x="19" y="2585"/>
                  <a:pt x="12" y="2575"/>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1942" name="CasellaDiTesto 1941"/>
          <p:cNvSpPr txBox="1"/>
          <p:nvPr/>
        </p:nvSpPr>
        <p:spPr>
          <a:xfrm>
            <a:off x="971640" y="552600"/>
            <a:ext cx="4265591" cy="438582"/>
          </a:xfrm>
          <a:prstGeom prst="rect">
            <a:avLst/>
          </a:prstGeom>
          <a:noFill/>
          <a:ln w="0">
            <a:noFill/>
          </a:ln>
        </p:spPr>
        <p:txBody>
          <a:bodyPr wrap="none" lIns="0" tIns="0" rIns="0" bIns="0" anchor="t">
            <a:spAutoFit/>
          </a:bodyPr>
          <a:lstStyle/>
          <a:p>
            <a:r>
              <a:rPr lang="it-IT" sz="2850" b="1" u="none" strike="noStrike" dirty="0">
                <a:solidFill>
                  <a:srgbClr val="003366"/>
                </a:solidFill>
                <a:effectLst/>
                <a:uFillTx/>
                <a:latin typeface="SegoeUI"/>
                <a:ea typeface="SegoeUI"/>
              </a:rPr>
              <a:t>IL VERSANTE PENALE (1)</a:t>
            </a:r>
            <a:endParaRPr lang="it-IT" sz="2850" b="0" u="none" strike="noStrike" dirty="0">
              <a:solidFill>
                <a:srgbClr val="000000"/>
              </a:solidFill>
              <a:effectLst/>
              <a:uFillTx/>
              <a:latin typeface="Times New Roman"/>
            </a:endParaRPr>
          </a:p>
        </p:txBody>
      </p:sp>
      <p:sp>
        <p:nvSpPr>
          <p:cNvPr id="1943" name="CasellaDiTesto 1942"/>
          <p:cNvSpPr txBox="1"/>
          <p:nvPr/>
        </p:nvSpPr>
        <p:spPr>
          <a:xfrm>
            <a:off x="971640" y="1277280"/>
            <a:ext cx="293040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Art. 10-quater D.Lgs. 74/2000</a:t>
            </a:r>
            <a:endParaRPr lang="it-IT" sz="1800" b="0" u="none" strike="noStrike">
              <a:solidFill>
                <a:srgbClr val="000000"/>
              </a:solidFill>
              <a:effectLst/>
              <a:uFillTx/>
              <a:latin typeface="Times New Roman"/>
            </a:endParaRPr>
          </a:p>
        </p:txBody>
      </p:sp>
      <p:sp>
        <p:nvSpPr>
          <p:cNvPr id="1944" name="CasellaDiTesto 1943"/>
          <p:cNvSpPr txBox="1"/>
          <p:nvPr/>
        </p:nvSpPr>
        <p:spPr>
          <a:xfrm>
            <a:off x="971640" y="1993320"/>
            <a:ext cx="99514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Comma 1</a:t>
            </a:r>
            <a:r>
              <a:rPr lang="it-IT" sz="1650" b="0" u="none" strike="noStrike">
                <a:solidFill>
                  <a:srgbClr val="212529"/>
                </a:solidFill>
                <a:effectLst/>
                <a:uFillTx/>
                <a:latin typeface="SegoeUI"/>
                <a:ea typeface="SegoeUI"/>
              </a:rPr>
              <a:t> — chi utilizza in compensazione crediti </a:t>
            </a:r>
            <a:r>
              <a:rPr lang="it-IT" sz="1650" b="1" u="none" strike="noStrike">
                <a:solidFill>
                  <a:srgbClr val="00509E"/>
                </a:solidFill>
                <a:effectLst/>
                <a:uFillTx/>
                <a:latin typeface="SegoeUI"/>
                <a:ea typeface="SegoeUI"/>
              </a:rPr>
              <a:t>non spettanti</a:t>
            </a:r>
            <a:r>
              <a:rPr lang="it-IT" sz="1650" b="0" u="none" strike="noStrike">
                <a:solidFill>
                  <a:srgbClr val="212529"/>
                </a:solidFill>
                <a:effectLst/>
                <a:uFillTx/>
                <a:latin typeface="SegoeUI"/>
                <a:ea typeface="SegoeUI"/>
              </a:rPr>
              <a:t> per importo annuo superiore a </a:t>
            </a:r>
            <a:r>
              <a:rPr lang="it-IT" sz="1650" b="1" u="none" strike="noStrike">
                <a:solidFill>
                  <a:srgbClr val="00509E"/>
                </a:solidFill>
                <a:effectLst/>
                <a:uFillTx/>
                <a:latin typeface="SegoeUI"/>
                <a:ea typeface="SegoeUI"/>
              </a:rPr>
              <a:t>€ 50.000</a:t>
            </a:r>
            <a:r>
              <a:rPr lang="it-IT" sz="1650" b="0" u="none" strike="noStrike">
                <a:solidFill>
                  <a:srgbClr val="212529"/>
                </a:solidFill>
                <a:effectLst/>
                <a:uFillTx/>
                <a:latin typeface="SegoeUI"/>
                <a:ea typeface="SegoeUI"/>
              </a:rPr>
              <a:t> →</a:t>
            </a:r>
            <a:endParaRPr lang="it-IT" sz="1650" b="0" u="none" strike="noStrike">
              <a:solidFill>
                <a:srgbClr val="000000"/>
              </a:solidFill>
              <a:effectLst/>
              <a:uFillTx/>
              <a:latin typeface="Times New Roman"/>
            </a:endParaRPr>
          </a:p>
        </p:txBody>
      </p:sp>
      <p:sp>
        <p:nvSpPr>
          <p:cNvPr id="1945" name="CasellaDiTesto 1944"/>
          <p:cNvSpPr txBox="1"/>
          <p:nvPr/>
        </p:nvSpPr>
        <p:spPr>
          <a:xfrm>
            <a:off x="971640" y="2316960"/>
            <a:ext cx="28008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reclusione </a:t>
            </a:r>
            <a:r>
              <a:rPr lang="it-IT" sz="1650" b="1" u="none" strike="noStrike">
                <a:solidFill>
                  <a:srgbClr val="00509E"/>
                </a:solidFill>
                <a:effectLst/>
                <a:uFillTx/>
                <a:latin typeface="SegoeUI"/>
                <a:ea typeface="SegoeUI"/>
              </a:rPr>
              <a:t>da 6 mesi a 2 anni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946" name="CasellaDiTesto 1945"/>
          <p:cNvSpPr txBox="1"/>
          <p:nvPr/>
        </p:nvSpPr>
        <p:spPr>
          <a:xfrm>
            <a:off x="971640" y="2793240"/>
            <a:ext cx="1009080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Comma 2</a:t>
            </a:r>
            <a:r>
              <a:rPr lang="it-IT" sz="1650" b="0" u="none" strike="noStrike">
                <a:solidFill>
                  <a:srgbClr val="212529"/>
                </a:solidFill>
                <a:effectLst/>
                <a:uFillTx/>
                <a:latin typeface="SegoeUI"/>
                <a:ea typeface="SegoeUI"/>
              </a:rPr>
              <a:t> — chi utilizza crediti </a:t>
            </a:r>
            <a:r>
              <a:rPr lang="it-IT" sz="1650" b="1" u="none" strike="noStrike">
                <a:solidFill>
                  <a:srgbClr val="00509E"/>
                </a:solidFill>
                <a:effectLst/>
                <a:uFillTx/>
                <a:latin typeface="SegoeUI"/>
                <a:ea typeface="SegoeUI"/>
              </a:rPr>
              <a:t>inesistenti</a:t>
            </a:r>
            <a:r>
              <a:rPr lang="it-IT" sz="1650" b="0" u="none" strike="noStrike">
                <a:solidFill>
                  <a:srgbClr val="212529"/>
                </a:solidFill>
                <a:effectLst/>
                <a:uFillTx/>
                <a:latin typeface="SegoeUI"/>
                <a:ea typeface="SegoeUI"/>
              </a:rPr>
              <a:t> per importo &gt; € 50.000 → reclusione </a:t>
            </a:r>
            <a:r>
              <a:rPr lang="it-IT" sz="1650" b="1" u="none" strike="noStrike">
                <a:solidFill>
                  <a:srgbClr val="00509E"/>
                </a:solidFill>
                <a:effectLst/>
                <a:uFillTx/>
                <a:latin typeface="SegoeUI"/>
                <a:ea typeface="SegoeUI"/>
              </a:rPr>
              <a:t>da 1 anno e 6 mesi a 6 anni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947" name="CasellaDiTesto 1946"/>
          <p:cNvSpPr txBox="1"/>
          <p:nvPr/>
        </p:nvSpPr>
        <p:spPr>
          <a:xfrm>
            <a:off x="971640" y="3269520"/>
            <a:ext cx="10031016"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rPr>
              <a:t>Comma 2-bis</a:t>
            </a:r>
            <a:r>
              <a:rPr lang="it-IT" sz="1650" b="0" u="none" strike="noStrike" dirty="0">
                <a:solidFill>
                  <a:srgbClr val="212529"/>
                </a:solidFill>
                <a:effectLst/>
                <a:uFillTx/>
                <a:latin typeface="SegoeUI"/>
                <a:ea typeface="SegoeUI"/>
              </a:rPr>
              <a:t> </a:t>
            </a:r>
            <a:r>
              <a:rPr lang="it-IT" sz="1650" b="0" i="1" u="none" strike="noStrike" dirty="0">
                <a:solidFill>
                  <a:srgbClr val="495057"/>
                </a:solidFill>
                <a:effectLst/>
                <a:uFillTx/>
                <a:latin typeface="SegoeUI"/>
                <a:ea typeface="SegoeUI"/>
              </a:rPr>
              <a:t>(introdotto dal </a:t>
            </a:r>
            <a:r>
              <a:rPr lang="it-IT" sz="1650" b="0" i="1" u="none" strike="noStrike" dirty="0" err="1">
                <a:solidFill>
                  <a:srgbClr val="495057"/>
                </a:solidFill>
                <a:effectLst/>
                <a:uFillTx/>
                <a:latin typeface="SegoeUI"/>
                <a:ea typeface="SegoeUI"/>
              </a:rPr>
              <a:t>D.Lgs.</a:t>
            </a:r>
            <a:r>
              <a:rPr lang="it-IT" sz="1650" b="0" i="1" u="none" strike="noStrike" dirty="0">
                <a:solidFill>
                  <a:srgbClr val="495057"/>
                </a:solidFill>
                <a:effectLst/>
                <a:uFillTx/>
                <a:latin typeface="SegoeUI"/>
                <a:ea typeface="SegoeUI"/>
              </a:rPr>
              <a:t> 87/2024)</a:t>
            </a:r>
            <a:r>
              <a:rPr lang="it-IT" sz="1650" b="0" u="none" strike="noStrike" dirty="0">
                <a:solidFill>
                  <a:srgbClr val="212529"/>
                </a:solidFill>
                <a:effectLst/>
                <a:uFillTx/>
                <a:latin typeface="SegoeUI"/>
                <a:ea typeface="SegoeUI"/>
              </a:rPr>
              <a:t> — </a:t>
            </a:r>
            <a:r>
              <a:rPr lang="it-IT" sz="1650" b="0" i="1" u="none" strike="noStrike" dirty="0">
                <a:solidFill>
                  <a:srgbClr val="495057"/>
                </a:solidFill>
                <a:effectLst/>
                <a:uFillTx/>
                <a:latin typeface="SegoeUI"/>
                <a:ea typeface="SegoeUI"/>
              </a:rPr>
              <a:t>causa di non punibilità</a:t>
            </a:r>
            <a:r>
              <a:rPr lang="it-IT" sz="1650" b="0" u="none" strike="noStrike" dirty="0">
                <a:solidFill>
                  <a:srgbClr val="212529"/>
                </a:solidFill>
                <a:effectLst/>
                <a:uFillTx/>
                <a:latin typeface="SegoeUI"/>
                <a:ea typeface="SegoeUI"/>
              </a:rPr>
              <a:t> per i crediti non spettanti in caso di</a:t>
            </a:r>
            <a:endParaRPr lang="it-IT" sz="1650" b="0" u="none" strike="noStrike" dirty="0">
              <a:solidFill>
                <a:srgbClr val="000000"/>
              </a:solidFill>
              <a:effectLst/>
              <a:uFillTx/>
              <a:latin typeface="Times New Roman"/>
            </a:endParaRPr>
          </a:p>
        </p:txBody>
      </p:sp>
      <p:sp>
        <p:nvSpPr>
          <p:cNvPr id="1948" name="CasellaDiTesto 1947"/>
          <p:cNvSpPr txBox="1"/>
          <p:nvPr/>
        </p:nvSpPr>
        <p:spPr>
          <a:xfrm>
            <a:off x="971640" y="3593520"/>
            <a:ext cx="73648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obiettiva incertezza</a:t>
            </a:r>
            <a:r>
              <a:rPr lang="it-IT" sz="1650" b="0" u="none" strike="noStrike">
                <a:solidFill>
                  <a:srgbClr val="212529"/>
                </a:solidFill>
                <a:effectLst/>
                <a:uFillTx/>
                <a:latin typeface="SegoeUI"/>
                <a:ea typeface="SegoeUI"/>
              </a:rPr>
              <a:t> dovuta anche alla natura tecnica delle valutazioni richieste.</a:t>
            </a:r>
            <a:endParaRPr lang="it-IT" sz="1650" b="0" u="none" strike="noStrike">
              <a:solidFill>
                <a:srgbClr val="000000"/>
              </a:solidFill>
              <a:effectLst/>
              <a:uFillTx/>
              <a:latin typeface="Times New Roman"/>
            </a:endParaRPr>
          </a:p>
        </p:txBody>
      </p:sp>
      <p:sp>
        <p:nvSpPr>
          <p:cNvPr id="1949" name="CasellaDiTesto 1948"/>
          <p:cNvSpPr txBox="1"/>
          <p:nvPr/>
        </p:nvSpPr>
        <p:spPr>
          <a:xfrm>
            <a:off x="971640" y="4069800"/>
            <a:ext cx="49885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Consumazione del reato</a:t>
            </a:r>
            <a:r>
              <a:rPr lang="it-IT" sz="1650" b="0" u="none" strike="noStrike">
                <a:solidFill>
                  <a:srgbClr val="212529"/>
                </a:solidFill>
                <a:effectLst/>
                <a:uFillTx/>
                <a:latin typeface="SegoeUI"/>
                <a:ea typeface="SegoeUI"/>
              </a:rPr>
              <a:t> - orientamento consolidato:</a:t>
            </a:r>
            <a:endParaRPr lang="it-IT" sz="1650" b="0" u="none" strike="noStrike">
              <a:solidFill>
                <a:srgbClr val="000000"/>
              </a:solidFill>
              <a:effectLst/>
              <a:uFillTx/>
              <a:latin typeface="Times New Roman"/>
            </a:endParaRPr>
          </a:p>
        </p:txBody>
      </p:sp>
      <p:sp>
        <p:nvSpPr>
          <p:cNvPr id="1950" name="CasellaDiTesto 1949"/>
          <p:cNvSpPr txBox="1"/>
          <p:nvPr/>
        </p:nvSpPr>
        <p:spPr>
          <a:xfrm>
            <a:off x="1209600" y="4766400"/>
            <a:ext cx="958248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Il reato di indebita compensazione si consuma al momento della </a:t>
            </a:r>
            <a:r>
              <a:rPr lang="it-IT" sz="1500" b="1" u="none" strike="noStrike">
                <a:solidFill>
                  <a:srgbClr val="00509E"/>
                </a:solidFill>
                <a:effectLst/>
                <a:uFillTx/>
                <a:latin typeface="SegoeUI"/>
                <a:ea typeface="SegoeUI"/>
              </a:rPr>
              <a:t>presentazione dell'ultimo modello F24</a:t>
            </a:r>
            <a:r>
              <a:rPr lang="it-IT" sz="1500" b="0" u="none" strike="noStrike">
                <a:solidFill>
                  <a:srgbClr val="343A40"/>
                </a:solidFill>
                <a:effectLst/>
                <a:uFillTx/>
                <a:latin typeface="SegoeUI"/>
                <a:ea typeface="SegoeUI"/>
              </a:rPr>
              <a:t> relativo</a:t>
            </a:r>
            <a:endParaRPr lang="it-IT" sz="1500" b="0" u="none" strike="noStrike">
              <a:solidFill>
                <a:srgbClr val="000000"/>
              </a:solidFill>
              <a:effectLst/>
              <a:uFillTx/>
              <a:latin typeface="Times New Roman"/>
            </a:endParaRPr>
          </a:p>
        </p:txBody>
      </p:sp>
      <p:sp>
        <p:nvSpPr>
          <p:cNvPr id="1951" name="CasellaDiTesto 1950"/>
          <p:cNvSpPr txBox="1"/>
          <p:nvPr/>
        </p:nvSpPr>
        <p:spPr>
          <a:xfrm>
            <a:off x="1209600" y="5061600"/>
            <a:ext cx="653112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all'anno di imposta interessato (</a:t>
            </a:r>
            <a:r>
              <a:rPr lang="it-IT" sz="1500" b="0" i="1" u="none" strike="noStrike">
                <a:solidFill>
                  <a:srgbClr val="495057"/>
                </a:solidFill>
                <a:effectLst/>
                <a:uFillTx/>
                <a:latin typeface="SegoeUI"/>
                <a:ea typeface="SegoeUI"/>
              </a:rPr>
              <a:t>non</a:t>
            </a:r>
            <a:r>
              <a:rPr lang="it-IT" sz="1500" b="0" u="none" strike="noStrike">
                <a:solidFill>
                  <a:srgbClr val="343A40"/>
                </a:solidFill>
                <a:effectLst/>
                <a:uFillTx/>
                <a:latin typeface="SegoeUI"/>
                <a:ea typeface="SegoeUI"/>
              </a:rPr>
              <a:t> della successiva dichiarazione dei redditi).</a:t>
            </a:r>
            <a:endParaRPr lang="it-IT" sz="1500" b="0" u="none" strike="noStrike">
              <a:solidFill>
                <a:srgbClr val="000000"/>
              </a:solidFill>
              <a:effectLst/>
              <a:uFillTx/>
              <a:latin typeface="Times New Roman"/>
            </a:endParaRPr>
          </a:p>
        </p:txBody>
      </p:sp>
      <p:sp>
        <p:nvSpPr>
          <p:cNvPr id="1952" name="CasellaDiTesto 1951"/>
          <p:cNvSpPr txBox="1"/>
          <p:nvPr/>
        </p:nvSpPr>
        <p:spPr>
          <a:xfrm>
            <a:off x="971640" y="5689080"/>
            <a:ext cx="99450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Si tratta di </a:t>
            </a:r>
            <a:r>
              <a:rPr lang="it-IT" sz="1650" b="1" u="none" strike="noStrike">
                <a:solidFill>
                  <a:srgbClr val="00509E"/>
                </a:solidFill>
                <a:effectLst/>
                <a:uFillTx/>
                <a:latin typeface="SegoeUI"/>
                <a:ea typeface="SegoeUI"/>
              </a:rPr>
              <a:t>reato istantaneo</a:t>
            </a:r>
            <a:r>
              <a:rPr lang="it-IT" sz="1650" b="0" u="none" strike="noStrike">
                <a:solidFill>
                  <a:srgbClr val="212529"/>
                </a:solidFill>
                <a:effectLst/>
                <a:uFillTx/>
                <a:latin typeface="SegoeUI"/>
                <a:ea typeface="SegoeUI"/>
              </a:rPr>
              <a:t> a forma vincolata: il </a:t>
            </a:r>
            <a:r>
              <a:rPr lang="it-IT" sz="1650" b="0" i="1" u="none" strike="noStrike">
                <a:solidFill>
                  <a:srgbClr val="495057"/>
                </a:solidFill>
                <a:effectLst/>
                <a:uFillTx/>
                <a:latin typeface="SegoeUI"/>
                <a:ea typeface="SegoeUI"/>
              </a:rPr>
              <a:t>modello F24</a:t>
            </a:r>
            <a:r>
              <a:rPr lang="it-IT" sz="1650" b="0" u="none" strike="noStrike">
                <a:solidFill>
                  <a:srgbClr val="212529"/>
                </a:solidFill>
                <a:effectLst/>
                <a:uFillTx/>
                <a:latin typeface="SegoeUI"/>
                <a:ea typeface="SegoeUI"/>
              </a:rPr>
              <a:t> costituisce il documento </a:t>
            </a:r>
            <a:r>
              <a:rPr lang="it-IT" sz="1650" b="0" i="1" u="none" strike="noStrike">
                <a:solidFill>
                  <a:srgbClr val="495057"/>
                </a:solidFill>
                <a:effectLst/>
                <a:uFillTx/>
                <a:latin typeface="SegoeUI"/>
                <a:ea typeface="SegoeUI"/>
              </a:rPr>
              <a:t>ideologicamente falso</a:t>
            </a:r>
            <a:endParaRPr lang="it-IT" sz="1650" b="0" u="none" strike="noStrike">
              <a:solidFill>
                <a:srgbClr val="000000"/>
              </a:solidFill>
              <a:effectLst/>
              <a:uFillTx/>
              <a:latin typeface="Times New Roman"/>
            </a:endParaRPr>
          </a:p>
        </p:txBody>
      </p:sp>
      <p:sp>
        <p:nvSpPr>
          <p:cNvPr id="1953" name="CasellaDiTesto 1952"/>
          <p:cNvSpPr txBox="1"/>
          <p:nvPr/>
        </p:nvSpPr>
        <p:spPr>
          <a:xfrm>
            <a:off x="971640" y="6012720"/>
            <a:ext cx="9442393" cy="253916"/>
          </a:xfrm>
          <a:prstGeom prst="rect">
            <a:avLst/>
          </a:prstGeom>
          <a:noFill/>
          <a:ln w="0">
            <a:noFill/>
          </a:ln>
        </p:spPr>
        <p:txBody>
          <a:bodyPr wrap="none" lIns="0" tIns="0" rIns="0" bIns="0" anchor="t">
            <a:spAutoFit/>
          </a:bodyPr>
          <a:lstStyle/>
          <a:p>
            <a:r>
              <a:rPr lang="it-IT" sz="1650" b="0" u="none" strike="noStrike" dirty="0">
                <a:solidFill>
                  <a:srgbClr val="212529"/>
                </a:solidFill>
                <a:effectLst/>
                <a:uFillTx/>
                <a:latin typeface="SegoeUI"/>
                <a:ea typeface="SegoeUI"/>
              </a:rPr>
              <a:t>attraverso cui si realizza l'occultamento del credito inesistente o non spettante </a:t>
            </a:r>
            <a:r>
              <a:rPr lang="it-IT" sz="1650" b="0" u="none" strike="noStrike" dirty="0">
                <a:solidFill>
                  <a:srgbClr val="0969DA"/>
                </a:solidFill>
                <a:effectLst/>
                <a:uFillTx/>
                <a:latin typeface="SegoeUI"/>
                <a:ea typeface="SegoeUI"/>
                <a:hlinkClick r:id="rId2"/>
              </a:rPr>
              <a:t>Cass. </a:t>
            </a:r>
            <a:r>
              <a:rPr lang="it-IT" sz="1650" b="0" u="none" strike="noStrike" dirty="0" err="1">
                <a:solidFill>
                  <a:srgbClr val="0969DA"/>
                </a:solidFill>
                <a:effectLst/>
                <a:uFillTx/>
                <a:latin typeface="SegoeUI"/>
                <a:ea typeface="SegoeUI"/>
                <a:hlinkClick r:id="rId2"/>
              </a:rPr>
              <a:t>pen</a:t>
            </a:r>
            <a:r>
              <a:rPr lang="it-IT" sz="1650" b="0" u="none" strike="noStrike" dirty="0">
                <a:solidFill>
                  <a:srgbClr val="0969DA"/>
                </a:solidFill>
                <a:effectLst/>
                <a:uFillTx/>
                <a:latin typeface="SegoeUI"/>
                <a:ea typeface="SegoeUI"/>
                <a:hlinkClick r:id="rId2"/>
              </a:rPr>
              <a:t>., 29949/2025,</a:t>
            </a:r>
            <a:endParaRPr lang="it-IT" sz="1650" b="0" u="none" strike="noStrike" dirty="0">
              <a:solidFill>
                <a:srgbClr val="000000"/>
              </a:solidFill>
              <a:effectLst/>
              <a:uFillTx/>
              <a:latin typeface="Times New Roman"/>
            </a:endParaRPr>
          </a:p>
        </p:txBody>
      </p:sp>
      <p:sp>
        <p:nvSpPr>
          <p:cNvPr id="1954" name="Figura a mano libera: forma 1953"/>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55" name="CasellaDiTesto 1954"/>
          <p:cNvSpPr txBox="1"/>
          <p:nvPr/>
        </p:nvSpPr>
        <p:spPr>
          <a:xfrm>
            <a:off x="971640" y="6336720"/>
            <a:ext cx="5650586" cy="253916"/>
          </a:xfrm>
          <a:prstGeom prst="rect">
            <a:avLst/>
          </a:prstGeom>
          <a:noFill/>
          <a:ln w="0">
            <a:noFill/>
          </a:ln>
        </p:spPr>
        <p:txBody>
          <a:bodyPr wrap="none" lIns="0" tIns="0" rIns="0" bIns="0" anchor="t">
            <a:spAutoFit/>
          </a:bodyPr>
          <a:lstStyle/>
          <a:p>
            <a:r>
              <a:rPr lang="it-IT" sz="1650" b="0" u="none" strike="noStrike" dirty="0">
                <a:solidFill>
                  <a:srgbClr val="0969DA"/>
                </a:solidFill>
                <a:effectLst/>
                <a:uFillTx/>
                <a:latin typeface="SegoeUI"/>
                <a:ea typeface="SegoeUI"/>
                <a:hlinkClick r:id="rId3"/>
              </a:rPr>
              <a:t>Corte cost., </a:t>
            </a:r>
            <a:r>
              <a:rPr lang="it-IT" sz="1650" b="0" u="none" strike="noStrike" dirty="0" err="1">
                <a:solidFill>
                  <a:srgbClr val="0969DA"/>
                </a:solidFill>
                <a:effectLst/>
                <a:uFillTx/>
                <a:latin typeface="SegoeUI"/>
                <a:ea typeface="SegoeUI"/>
                <a:hlinkClick r:id="rId3"/>
              </a:rPr>
              <a:t>sent</a:t>
            </a:r>
            <a:r>
              <a:rPr lang="it-IT" sz="1650" b="0" u="none" strike="noStrike" dirty="0">
                <a:solidFill>
                  <a:srgbClr val="0969DA"/>
                </a:solidFill>
                <a:effectLst/>
                <a:uFillTx/>
                <a:latin typeface="SegoeUI"/>
                <a:ea typeface="SegoeUI"/>
                <a:hlinkClick r:id="rId3"/>
              </a:rPr>
              <a:t>. 6 dicembre 2017 - 21 febbraio 2018, n. 35</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1956" name="Figura a mano libera: forma 1955"/>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58" name="CasellaDiTesto 1957"/>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64 / 73</a:t>
            </a:r>
            <a:endParaRPr lang="it-IT" sz="980" b="0" u="none" strike="noStrike">
              <a:solidFill>
                <a:srgbClr val="000000"/>
              </a:solidFill>
              <a:effectLst/>
              <a:uFillTx/>
              <a:latin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837B9-06D3-6B00-AC1A-5F0B7475FB9A}"/>
            </a:ext>
          </a:extLst>
        </p:cNvPr>
        <p:cNvGrpSpPr/>
        <p:nvPr/>
      </p:nvGrpSpPr>
      <p:grpSpPr>
        <a:xfrm>
          <a:off x="0" y="0"/>
          <a:ext cx="0" cy="0"/>
          <a:chOff x="0" y="0"/>
          <a:chExt cx="0" cy="0"/>
        </a:xfrm>
      </p:grpSpPr>
      <p:sp>
        <p:nvSpPr>
          <p:cNvPr id="1935" name="Figura a mano libera: forma 1934">
            <a:extLst>
              <a:ext uri="{FF2B5EF4-FFF2-40B4-BE49-F238E27FC236}">
                <a16:creationId xmlns:a16="http://schemas.microsoft.com/office/drawing/2014/main" id="{A5842113-846A-D596-17BA-CAB3E9A0B9C3}"/>
              </a:ext>
            </a:extLst>
          </p:cNvPr>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36" name="Figura a mano libera: forma 1935">
            <a:extLst>
              <a:ext uri="{FF2B5EF4-FFF2-40B4-BE49-F238E27FC236}">
                <a16:creationId xmlns:a16="http://schemas.microsoft.com/office/drawing/2014/main" id="{31550D07-95CD-842F-496C-AA0CD2046B81}"/>
              </a:ext>
            </a:extLst>
          </p:cNvPr>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37" name="Figura a mano libera: forma 1936">
            <a:extLst>
              <a:ext uri="{FF2B5EF4-FFF2-40B4-BE49-F238E27FC236}">
                <a16:creationId xmlns:a16="http://schemas.microsoft.com/office/drawing/2014/main" id="{28F5D1AE-4D38-0C37-410A-7036EC803E7E}"/>
              </a:ext>
            </a:extLst>
          </p:cNvPr>
          <p:cNvSpPr/>
          <p:nvPr/>
        </p:nvSpPr>
        <p:spPr>
          <a:xfrm>
            <a:off x="1085760" y="1870494"/>
            <a:ext cx="10439640" cy="4434906"/>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r>
              <a:rPr lang="it-IT" b="1" dirty="0"/>
              <a:t>Compensazione orizzontale </a:t>
            </a:r>
            <a:r>
              <a:rPr lang="it-IT" i="1" dirty="0"/>
              <a:t>vs</a:t>
            </a:r>
            <a:r>
              <a:rPr lang="it-IT" b="1" dirty="0"/>
              <a:t> verticale</a:t>
            </a:r>
            <a:r>
              <a:rPr lang="it-IT" dirty="0"/>
              <a:t> </a:t>
            </a:r>
            <a:r>
              <a:rPr lang="it-IT" i="1" dirty="0"/>
              <a:t>(</a:t>
            </a:r>
            <a:r>
              <a:rPr lang="it-IT" i="1" dirty="0">
                <a:hlinkClick r:id="rId2"/>
              </a:rPr>
              <a:t>Cass. </a:t>
            </a:r>
            <a:r>
              <a:rPr lang="it-IT" i="1" dirty="0" err="1">
                <a:hlinkClick r:id="rId2"/>
              </a:rPr>
              <a:t>pen</a:t>
            </a:r>
            <a:r>
              <a:rPr lang="it-IT" i="1" dirty="0">
                <a:hlinkClick r:id="rId2"/>
              </a:rPr>
              <a:t>., sez. III, 28 gennaio 2025, n. 3374</a:t>
            </a:r>
            <a:r>
              <a:rPr lang="it-IT" i="1" dirty="0"/>
              <a:t>)</a:t>
            </a:r>
            <a:endParaRPr lang="it-IT" dirty="0"/>
          </a:p>
          <a:p>
            <a:endParaRPr lang="it-IT" dirty="0"/>
          </a:p>
          <a:p>
            <a:r>
              <a:rPr lang="it-IT" dirty="0"/>
              <a:t>«</a:t>
            </a:r>
            <a:r>
              <a:rPr lang="it-IT" i="1" dirty="0"/>
              <a:t>Il reato ex art. 10-quater </a:t>
            </a:r>
            <a:r>
              <a:rPr lang="it-IT" i="1" dirty="0" err="1"/>
              <a:t>D.Lgs.</a:t>
            </a:r>
            <a:r>
              <a:rPr lang="it-IT" i="1" dirty="0"/>
              <a:t> 74/2000 si configura </a:t>
            </a:r>
            <a:r>
              <a:rPr lang="it-IT" b="1" i="1" dirty="0"/>
              <a:t>sia</a:t>
            </a:r>
            <a:r>
              <a:rPr lang="it-IT" i="1" dirty="0"/>
              <a:t> in caso di compensazione orizzontale (crediti e debiti d'imposta di </a:t>
            </a:r>
            <a:r>
              <a:rPr lang="it-IT" b="1" i="1" dirty="0"/>
              <a:t>natura diversa</a:t>
            </a:r>
            <a:r>
              <a:rPr lang="it-IT" i="1" dirty="0"/>
              <a:t>) </a:t>
            </a:r>
            <a:r>
              <a:rPr lang="it-IT" b="1" i="1" dirty="0"/>
              <a:t>sia</a:t>
            </a:r>
            <a:r>
              <a:rPr lang="it-IT" i="1" dirty="0"/>
              <a:t> in caso di compensazione verticale (crediti e debiti per tributi </a:t>
            </a:r>
            <a:r>
              <a:rPr lang="it-IT" b="1" i="1" dirty="0"/>
              <a:t>omogenei</a:t>
            </a:r>
            <a:r>
              <a:rPr lang="it-IT" i="1" dirty="0"/>
              <a:t>)</a:t>
            </a:r>
            <a:r>
              <a:rPr lang="it-IT" dirty="0"/>
              <a:t>».</a:t>
            </a:r>
          </a:p>
          <a:p>
            <a:br>
              <a:rPr lang="it-IT" dirty="0"/>
            </a:br>
            <a:r>
              <a:rPr lang="it-IT" b="1" dirty="0"/>
              <a:t>Estensione ai contributi previdenziali</a:t>
            </a:r>
            <a:r>
              <a:rPr lang="it-IT" dirty="0"/>
              <a:t>: </a:t>
            </a:r>
            <a:r>
              <a:rPr lang="it-IT" dirty="0">
                <a:hlinkClick r:id="rId3"/>
              </a:rPr>
              <a:t>Cass. </a:t>
            </a:r>
            <a:r>
              <a:rPr lang="it-IT" dirty="0" err="1">
                <a:hlinkClick r:id="rId3"/>
              </a:rPr>
              <a:t>pen</a:t>
            </a:r>
            <a:r>
              <a:rPr lang="it-IT" dirty="0">
                <a:hlinkClick r:id="rId3"/>
              </a:rPr>
              <a:t>. n. 30092/2024</a:t>
            </a:r>
            <a:r>
              <a:rPr lang="it-IT" dirty="0"/>
              <a:t>; orientamento consolidato.</a:t>
            </a:r>
          </a:p>
          <a:p>
            <a:br>
              <a:rPr lang="it-IT" dirty="0"/>
            </a:br>
            <a:r>
              <a:rPr lang="it-IT" b="1" dirty="0"/>
              <a:t>Continuità normativa: </a:t>
            </a:r>
            <a:r>
              <a:rPr lang="it-IT" dirty="0">
                <a:hlinkClick r:id="rId4"/>
              </a:rPr>
              <a:t>Cass. </a:t>
            </a:r>
            <a:r>
              <a:rPr lang="it-IT" dirty="0" err="1">
                <a:hlinkClick r:id="rId4"/>
              </a:rPr>
              <a:t>pen</a:t>
            </a:r>
            <a:r>
              <a:rPr lang="it-IT" dirty="0">
                <a:hlinkClick r:id="rId4"/>
              </a:rPr>
              <a:t>., sez. III, 15 gennaio 2025, n. 1757</a:t>
            </a:r>
            <a:endParaRPr lang="it-IT" dirty="0"/>
          </a:p>
          <a:p>
            <a:endParaRPr lang="it-IT" dirty="0"/>
          </a:p>
          <a:p>
            <a:r>
              <a:rPr lang="it-IT" dirty="0"/>
              <a:t>«</a:t>
            </a:r>
            <a:r>
              <a:rPr lang="it-IT" i="1" dirty="0"/>
              <a:t>La qualificazione in termini di inesistenza dei crediti opposti in compensazione </a:t>
            </a:r>
            <a:r>
              <a:rPr lang="it-IT" b="1" i="1" dirty="0"/>
              <a:t>non trova ostacolo</a:t>
            </a:r>
            <a:r>
              <a:rPr lang="it-IT" i="1" dirty="0"/>
              <a:t> nella previsione dell'art. 1, co. 1, lett. g-quater, </a:t>
            </a:r>
            <a:r>
              <a:rPr lang="it-IT" i="1" dirty="0" err="1"/>
              <a:t>D.Lgs.</a:t>
            </a:r>
            <a:r>
              <a:rPr lang="it-IT" i="1" dirty="0"/>
              <a:t> 74/2000, introdotto dal </a:t>
            </a:r>
            <a:r>
              <a:rPr lang="it-IT" i="1" dirty="0" err="1"/>
              <a:t>D.Lgs.</a:t>
            </a:r>
            <a:r>
              <a:rPr lang="it-IT" i="1" dirty="0"/>
              <a:t> 87/2024, </a:t>
            </a:r>
            <a:r>
              <a:rPr lang="it-IT" b="1" i="1" dirty="0"/>
              <a:t>continuando la norma ad ancorare la nozione di credito inesistente all'insussistenza dei presupposti costitutivi</a:t>
            </a:r>
            <a:r>
              <a:rPr lang="it-IT" dirty="0"/>
              <a:t>».</a:t>
            </a:r>
          </a:p>
        </p:txBody>
      </p:sp>
      <p:sp>
        <p:nvSpPr>
          <p:cNvPr id="1938" name="Figura a mano libera: forma 1937">
            <a:extLst>
              <a:ext uri="{FF2B5EF4-FFF2-40B4-BE49-F238E27FC236}">
                <a16:creationId xmlns:a16="http://schemas.microsoft.com/office/drawing/2014/main" id="{33484C17-AD11-31F2-DE23-EDE30DA6DD91}"/>
              </a:ext>
            </a:extLst>
          </p:cNvPr>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39" name="Figura a mano libera: forma 1938">
            <a:extLst>
              <a:ext uri="{FF2B5EF4-FFF2-40B4-BE49-F238E27FC236}">
                <a16:creationId xmlns:a16="http://schemas.microsoft.com/office/drawing/2014/main" id="{98268638-43A7-2F75-9BEC-F97F6B29DA83}"/>
              </a:ext>
            </a:extLst>
          </p:cNvPr>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42" name="CasellaDiTesto 1941">
            <a:extLst>
              <a:ext uri="{FF2B5EF4-FFF2-40B4-BE49-F238E27FC236}">
                <a16:creationId xmlns:a16="http://schemas.microsoft.com/office/drawing/2014/main" id="{EE89EB9E-A8C6-372E-6295-B84B2F42695D}"/>
              </a:ext>
            </a:extLst>
          </p:cNvPr>
          <p:cNvSpPr txBox="1"/>
          <p:nvPr/>
        </p:nvSpPr>
        <p:spPr>
          <a:xfrm>
            <a:off x="971640" y="552600"/>
            <a:ext cx="4265591" cy="438582"/>
          </a:xfrm>
          <a:prstGeom prst="rect">
            <a:avLst/>
          </a:prstGeom>
          <a:noFill/>
          <a:ln w="0">
            <a:noFill/>
          </a:ln>
        </p:spPr>
        <p:txBody>
          <a:bodyPr wrap="none" lIns="0" tIns="0" rIns="0" bIns="0" anchor="t">
            <a:spAutoFit/>
          </a:bodyPr>
          <a:lstStyle/>
          <a:p>
            <a:r>
              <a:rPr lang="it-IT" sz="2850" b="1" u="none" strike="noStrike" dirty="0">
                <a:solidFill>
                  <a:srgbClr val="003366"/>
                </a:solidFill>
                <a:effectLst/>
                <a:uFillTx/>
                <a:latin typeface="SegoeUI"/>
                <a:ea typeface="SegoeUI"/>
              </a:rPr>
              <a:t>IL VERSANTE PENALE (2)</a:t>
            </a:r>
            <a:endParaRPr lang="it-IT" sz="2850" b="0" u="none" strike="noStrike" dirty="0">
              <a:solidFill>
                <a:srgbClr val="000000"/>
              </a:solidFill>
              <a:effectLst/>
              <a:uFillTx/>
              <a:latin typeface="Times New Roman"/>
            </a:endParaRPr>
          </a:p>
        </p:txBody>
      </p:sp>
      <p:sp>
        <p:nvSpPr>
          <p:cNvPr id="1943" name="CasellaDiTesto 1942">
            <a:extLst>
              <a:ext uri="{FF2B5EF4-FFF2-40B4-BE49-F238E27FC236}">
                <a16:creationId xmlns:a16="http://schemas.microsoft.com/office/drawing/2014/main" id="{D5B78B20-6E2C-E287-DFF3-B87BE037AC00}"/>
              </a:ext>
            </a:extLst>
          </p:cNvPr>
          <p:cNvSpPr txBox="1"/>
          <p:nvPr/>
        </p:nvSpPr>
        <p:spPr>
          <a:xfrm>
            <a:off x="971640" y="1277280"/>
            <a:ext cx="2930400" cy="305280"/>
          </a:xfrm>
          <a:prstGeom prst="rect">
            <a:avLst/>
          </a:prstGeom>
          <a:noFill/>
          <a:ln w="0">
            <a:noFill/>
          </a:ln>
        </p:spPr>
        <p:txBody>
          <a:bodyPr wrap="none" lIns="0" tIns="0" rIns="0" bIns="0" anchor="t">
            <a:spAutoFit/>
          </a:bodyPr>
          <a:lstStyle/>
          <a:p>
            <a:r>
              <a:rPr lang="it-IT" sz="1800" b="0" i="1" u="none" strike="noStrike">
                <a:solidFill>
                  <a:srgbClr val="495057"/>
                </a:solidFill>
                <a:effectLst/>
                <a:uFillTx/>
                <a:latin typeface="SegoeUI"/>
                <a:ea typeface="SegoeUI"/>
              </a:rPr>
              <a:t>Art. 10-quater D.Lgs. 74/2000</a:t>
            </a:r>
            <a:endParaRPr lang="it-IT"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4432724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9" name="Figura a mano libera: forma 195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60" name="Figura a mano libera: forma 195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61" name="Figura a mano libera: forma 1960"/>
          <p:cNvSpPr/>
          <p:nvPr/>
        </p:nvSpPr>
        <p:spPr>
          <a:xfrm>
            <a:off x="971280" y="1465004"/>
            <a:ext cx="10965795" cy="5462116"/>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r>
              <a:rPr lang="it-IT" sz="1600" b="1" dirty="0">
                <a:latin typeface="Segoe UI" panose="020B0502040204020203" pitchFamily="34" charset="0"/>
                <a:cs typeface="Segoe UI" panose="020B0502040204020203" pitchFamily="34" charset="0"/>
                <a:hlinkClick r:id="rId2"/>
              </a:rPr>
              <a:t>Cass. 24822/2025</a:t>
            </a:r>
            <a:r>
              <a:rPr lang="it-IT" sz="1600" dirty="0">
                <a:latin typeface="Segoe UI" panose="020B0502040204020203" pitchFamily="34" charset="0"/>
                <a:cs typeface="Segoe UI" panose="020B0502040204020203" pitchFamily="34" charset="0"/>
              </a:rPr>
              <a:t> </a:t>
            </a:r>
          </a:p>
          <a:p>
            <a:r>
              <a:rPr lang="it-IT" sz="1600" i="1" dirty="0">
                <a:latin typeface="Segoe UI" panose="020B0502040204020203" pitchFamily="34" charset="0"/>
                <a:cs typeface="Segoe UI" panose="020B0502040204020203" pitchFamily="34" charset="0"/>
              </a:rPr>
              <a:t>Fattispecie</a:t>
            </a:r>
            <a:r>
              <a:rPr lang="it-IT" sz="1600" dirty="0">
                <a:latin typeface="Segoe UI" panose="020B0502040204020203" pitchFamily="34" charset="0"/>
                <a:cs typeface="Segoe UI" panose="020B0502040204020203" pitchFamily="34" charset="0"/>
              </a:rPr>
              <a:t>: credito d'imposta compensato per importo </a:t>
            </a:r>
            <a:r>
              <a:rPr lang="it-IT" sz="1600" b="1" dirty="0">
                <a:latin typeface="Segoe UI" panose="020B0502040204020203" pitchFamily="34" charset="0"/>
                <a:cs typeface="Segoe UI" panose="020B0502040204020203" pitchFamily="34" charset="0"/>
              </a:rPr>
              <a:t>eccedente</a:t>
            </a:r>
            <a:r>
              <a:rPr lang="it-IT" sz="1600" dirty="0">
                <a:latin typeface="Segoe UI" panose="020B0502040204020203" pitchFamily="34" charset="0"/>
                <a:cs typeface="Segoe UI" panose="020B0502040204020203" pitchFamily="34" charset="0"/>
              </a:rPr>
              <a:t> quello effettivamente contabilizzato.</a:t>
            </a:r>
          </a:p>
          <a:p>
            <a:r>
              <a:rPr lang="it-IT" sz="1600" i="1" dirty="0">
                <a:latin typeface="Segoe UI" panose="020B0502040204020203" pitchFamily="34" charset="0"/>
                <a:cs typeface="Segoe UI" panose="020B0502040204020203" pitchFamily="34" charset="0"/>
              </a:rPr>
              <a:t>Principio</a:t>
            </a:r>
            <a:r>
              <a:rPr lang="it-IT" sz="1600" dirty="0">
                <a:latin typeface="Segoe UI" panose="020B0502040204020203" pitchFamily="34" charset="0"/>
                <a:cs typeface="Segoe UI" panose="020B0502040204020203" pitchFamily="34" charset="0"/>
              </a:rPr>
              <a:t>: la significativa differenza tra il credito dichiarato/contabilizzato e l'importo superiore effettivamente utilizzato configura un </a:t>
            </a:r>
            <a:r>
              <a:rPr lang="it-IT" sz="1600" b="1" dirty="0">
                <a:latin typeface="Segoe UI" panose="020B0502040204020203" pitchFamily="34" charset="0"/>
                <a:cs typeface="Segoe UI" panose="020B0502040204020203" pitchFamily="34" charset="0"/>
              </a:rPr>
              <a:t>artificioso aumento del credito</a:t>
            </a:r>
            <a:r>
              <a:rPr lang="it-IT" sz="1600" dirty="0">
                <a:latin typeface="Segoe UI" panose="020B0502040204020203" pitchFamily="34" charset="0"/>
                <a:cs typeface="Segoe UI" panose="020B0502040204020203" pitchFamily="34" charset="0"/>
              </a:rPr>
              <a:t> — sussumibile nella nozione di credito </a:t>
            </a:r>
            <a:r>
              <a:rPr lang="it-IT" sz="1600" i="1" dirty="0">
                <a:latin typeface="Segoe UI" panose="020B0502040204020203" pitchFamily="34" charset="0"/>
                <a:cs typeface="Segoe UI" panose="020B0502040204020203" pitchFamily="34" charset="0"/>
              </a:rPr>
              <a:t>inesistente</a:t>
            </a:r>
            <a:r>
              <a:rPr lang="it-IT" sz="1600" dirty="0">
                <a:latin typeface="Segoe UI" panose="020B0502040204020203" pitchFamily="34" charset="0"/>
                <a:cs typeface="Segoe UI" panose="020B0502040204020203" pitchFamily="34" charset="0"/>
              </a:rPr>
              <a:t> (lett. a, prima parte, criterio SS.UU. 34419/2023).</a:t>
            </a:r>
          </a:p>
          <a:p>
            <a:r>
              <a:rPr lang="it-IT" sz="1600" dirty="0">
                <a:latin typeface="Segoe UI" panose="020B0502040204020203" pitchFamily="34" charset="0"/>
                <a:cs typeface="Segoe UI" panose="020B0502040204020203" pitchFamily="34" charset="0"/>
              </a:rPr>
              <a:t>⇒ </a:t>
            </a:r>
            <a:r>
              <a:rPr lang="it-IT" sz="1600" b="1" dirty="0">
                <a:latin typeface="Segoe UI" panose="020B0502040204020203" pitchFamily="34" charset="0"/>
                <a:cs typeface="Segoe UI" panose="020B0502040204020203" pitchFamily="34" charset="0"/>
              </a:rPr>
              <a:t>Non rilevano</a:t>
            </a:r>
            <a:r>
              <a:rPr lang="it-IT" sz="1600" dirty="0">
                <a:latin typeface="Segoe UI" panose="020B0502040204020203" pitchFamily="34" charset="0"/>
                <a:cs typeface="Segoe UI" panose="020B0502040204020203" pitchFamily="34" charset="0"/>
              </a:rPr>
              <a:t>, ai fini della qualificazione, né la mancata denuncia penale né la mancata contestazione di reati tributari specifici.</a:t>
            </a:r>
          </a:p>
          <a:p>
            <a:br>
              <a:rPr lang="it-IT" sz="1600" dirty="0">
                <a:latin typeface="Segoe UI" panose="020B0502040204020203" pitchFamily="34" charset="0"/>
                <a:cs typeface="Segoe UI" panose="020B0502040204020203" pitchFamily="34" charset="0"/>
              </a:rPr>
            </a:br>
            <a:r>
              <a:rPr lang="it-IT" sz="1600" b="1" dirty="0">
                <a:latin typeface="Segoe UI" panose="020B0502040204020203" pitchFamily="34" charset="0"/>
                <a:cs typeface="Segoe UI" panose="020B0502040204020203" pitchFamily="34" charset="0"/>
                <a:hlinkClick r:id="rId3"/>
              </a:rPr>
              <a:t>Cass. 34421/2023</a:t>
            </a:r>
            <a:r>
              <a:rPr lang="it-IT" sz="1600" b="1" dirty="0">
                <a:latin typeface="Segoe UI" panose="020B0502040204020203" pitchFamily="34" charset="0"/>
                <a:cs typeface="Segoe UI" panose="020B0502040204020203" pitchFamily="34" charset="0"/>
              </a:rPr>
              <a:t> </a:t>
            </a:r>
          </a:p>
          <a:p>
            <a:r>
              <a:rPr lang="it-IT" sz="1600" i="1" dirty="0">
                <a:latin typeface="Segoe UI" panose="020B0502040204020203" pitchFamily="34" charset="0"/>
                <a:cs typeface="Segoe UI" panose="020B0502040204020203" pitchFamily="34" charset="0"/>
              </a:rPr>
              <a:t>Profilo</a:t>
            </a:r>
            <a:r>
              <a:rPr lang="it-IT" sz="1600" dirty="0">
                <a:latin typeface="Segoe UI" panose="020B0502040204020203" pitchFamily="34" charset="0"/>
                <a:cs typeface="Segoe UI" panose="020B0502040204020203" pitchFamily="34" charset="0"/>
              </a:rPr>
              <a:t>: rapporti tra </a:t>
            </a:r>
            <a:r>
              <a:rPr lang="it-IT" sz="1600" b="1" dirty="0">
                <a:latin typeface="Segoe UI" panose="020B0502040204020203" pitchFamily="34" charset="0"/>
                <a:cs typeface="Segoe UI" panose="020B0502040204020203" pitchFamily="34" charset="0"/>
              </a:rPr>
              <a:t>fermo amministrativo</a:t>
            </a:r>
            <a:r>
              <a:rPr lang="it-IT" sz="1600" dirty="0">
                <a:latin typeface="Segoe UI" panose="020B0502040204020203" pitchFamily="34" charset="0"/>
                <a:cs typeface="Segoe UI" panose="020B0502040204020203" pitchFamily="34" charset="0"/>
              </a:rPr>
              <a:t> </a:t>
            </a:r>
            <a:r>
              <a:rPr lang="it-IT" sz="1600" i="1" dirty="0">
                <a:latin typeface="Segoe UI" panose="020B0502040204020203" pitchFamily="34" charset="0"/>
                <a:cs typeface="Segoe UI" panose="020B0502040204020203" pitchFamily="34" charset="0"/>
              </a:rPr>
              <a:t>ex</a:t>
            </a:r>
            <a:r>
              <a:rPr lang="it-IT" sz="1600" dirty="0">
                <a:latin typeface="Segoe UI" panose="020B0502040204020203" pitchFamily="34" charset="0"/>
                <a:cs typeface="Segoe UI" panose="020B0502040204020203" pitchFamily="34" charset="0"/>
              </a:rPr>
              <a:t> art. 69 R.D. 2440/1923 e </a:t>
            </a:r>
            <a:r>
              <a:rPr lang="it-IT" sz="1600" b="1" dirty="0">
                <a:latin typeface="Segoe UI" panose="020B0502040204020203" pitchFamily="34" charset="0"/>
                <a:cs typeface="Segoe UI" panose="020B0502040204020203" pitchFamily="34" charset="0"/>
              </a:rPr>
              <a:t>compensazione</a:t>
            </a:r>
            <a:r>
              <a:rPr lang="it-IT" sz="1600" dirty="0">
                <a:latin typeface="Segoe UI" panose="020B0502040204020203" pitchFamily="34" charset="0"/>
                <a:cs typeface="Segoe UI" panose="020B0502040204020203" pitchFamily="34" charset="0"/>
              </a:rPr>
              <a:t> in sede di procedura concorsuale.</a:t>
            </a:r>
          </a:p>
          <a:p>
            <a:r>
              <a:rPr lang="it-IT" sz="1600" i="1" dirty="0">
                <a:latin typeface="Segoe UI" panose="020B0502040204020203" pitchFamily="34" charset="0"/>
                <a:cs typeface="Segoe UI" panose="020B0502040204020203" pitchFamily="34" charset="0"/>
              </a:rPr>
              <a:t>Principio</a:t>
            </a:r>
            <a:r>
              <a:rPr lang="it-IT" sz="1600" dirty="0">
                <a:latin typeface="Segoe UI" panose="020B0502040204020203" pitchFamily="34" charset="0"/>
                <a:cs typeface="Segoe UI" panose="020B0502040204020203" pitchFamily="34" charset="0"/>
              </a:rPr>
              <a:t>: il fermo è opponibile anche dalla curatela; il rigetto dell'istanza di compensazione parziale è </a:t>
            </a:r>
            <a:r>
              <a:rPr lang="it-IT" sz="1600" b="1" dirty="0">
                <a:latin typeface="Segoe UI" panose="020B0502040204020203" pitchFamily="34" charset="0"/>
                <a:cs typeface="Segoe UI" panose="020B0502040204020203" pitchFamily="34" charset="0"/>
              </a:rPr>
              <a:t>irrilevante</a:t>
            </a:r>
            <a:r>
              <a:rPr lang="it-IT" sz="1600" dirty="0">
                <a:latin typeface="Segoe UI" panose="020B0502040204020203" pitchFamily="34" charset="0"/>
                <a:cs typeface="Segoe UI" panose="020B0502040204020203" pitchFamily="34" charset="0"/>
              </a:rPr>
              <a:t> ai fini della tutela cautelare erariale.</a:t>
            </a:r>
          </a:p>
          <a:p>
            <a:r>
              <a:rPr lang="it-IT" sz="1600" dirty="0">
                <a:latin typeface="Segoe UI" panose="020B0502040204020203" pitchFamily="34" charset="0"/>
                <a:cs typeface="Segoe UI" panose="020B0502040204020203" pitchFamily="34" charset="0"/>
              </a:rPr>
              <a:t>Pronuncia coeva alle SS.UU. — completa il quadro sistematico dei </a:t>
            </a:r>
            <a:r>
              <a:rPr lang="it-IT" sz="1600" i="1" dirty="0">
                <a:latin typeface="Segoe UI" panose="020B0502040204020203" pitchFamily="34" charset="0"/>
                <a:cs typeface="Segoe UI" panose="020B0502040204020203" pitchFamily="34" charset="0"/>
              </a:rPr>
              <a:t>modi anomali</a:t>
            </a:r>
            <a:r>
              <a:rPr lang="it-IT" sz="1600" dirty="0">
                <a:latin typeface="Segoe UI" panose="020B0502040204020203" pitchFamily="34" charset="0"/>
                <a:cs typeface="Segoe UI" panose="020B0502040204020203" pitchFamily="34" charset="0"/>
              </a:rPr>
              <a:t> di estinzione dell'obbligazione tributaria.</a:t>
            </a:r>
          </a:p>
          <a:p>
            <a:endParaRPr lang="it-IT" sz="1600" dirty="0">
              <a:latin typeface="Segoe UI" panose="020B0502040204020203" pitchFamily="34" charset="0"/>
              <a:cs typeface="Segoe UI" panose="020B0502040204020203" pitchFamily="34" charset="0"/>
            </a:endParaRPr>
          </a:p>
          <a:p>
            <a:r>
              <a:rPr lang="it-IT" sz="1600" b="1" dirty="0">
                <a:latin typeface="Segoe UI" panose="020B0502040204020203" pitchFamily="34" charset="0"/>
                <a:cs typeface="Segoe UI" panose="020B0502040204020203" pitchFamily="34" charset="0"/>
                <a:hlinkClick r:id="rId4"/>
              </a:rPr>
              <a:t>Cass. 31865/2025</a:t>
            </a:r>
            <a:endParaRPr lang="it-IT" sz="1600" dirty="0">
              <a:latin typeface="Segoe UI" panose="020B0502040204020203" pitchFamily="34" charset="0"/>
              <a:cs typeface="Segoe UI" panose="020B0502040204020203" pitchFamily="34" charset="0"/>
            </a:endParaRPr>
          </a:p>
          <a:p>
            <a:r>
              <a:rPr lang="it-IT" sz="1600" i="1" dirty="0">
                <a:latin typeface="Segoe UI" panose="020B0502040204020203" pitchFamily="34" charset="0"/>
                <a:cs typeface="Segoe UI" panose="020B0502040204020203" pitchFamily="34" charset="0"/>
              </a:rPr>
              <a:t>Fattispecie</a:t>
            </a:r>
            <a:r>
              <a:rPr lang="it-IT" sz="1600" dirty="0">
                <a:latin typeface="Segoe UI" panose="020B0502040204020203" pitchFamily="34" charset="0"/>
                <a:cs typeface="Segoe UI" panose="020B0502040204020203" pitchFamily="34" charset="0"/>
              </a:rPr>
              <a:t>: utilizzo del credito in compensazione da parte di </a:t>
            </a:r>
            <a:r>
              <a:rPr lang="it-IT" sz="1600" b="1" dirty="0">
                <a:latin typeface="Segoe UI" panose="020B0502040204020203" pitchFamily="34" charset="0"/>
                <a:cs typeface="Segoe UI" panose="020B0502040204020203" pitchFamily="34" charset="0"/>
              </a:rPr>
              <a:t>soggetto diverso dal titolare</a:t>
            </a:r>
            <a:r>
              <a:rPr lang="it-IT" sz="1600" dirty="0">
                <a:latin typeface="Segoe UI" panose="020B0502040204020203" pitchFamily="34" charset="0"/>
                <a:cs typeface="Segoe UI" panose="020B0502040204020203" pitchFamily="34" charset="0"/>
              </a:rPr>
              <a:t>.</a:t>
            </a:r>
          </a:p>
          <a:p>
            <a:r>
              <a:rPr lang="it-IT" sz="1600" i="1" dirty="0">
                <a:latin typeface="Segoe UI" panose="020B0502040204020203" pitchFamily="34" charset="0"/>
                <a:cs typeface="Segoe UI" panose="020B0502040204020203" pitchFamily="34" charset="0"/>
              </a:rPr>
              <a:t>Principio</a:t>
            </a:r>
            <a:r>
              <a:rPr lang="it-IT" sz="1600" dirty="0">
                <a:latin typeface="Segoe UI" panose="020B0502040204020203" pitchFamily="34" charset="0"/>
                <a:cs typeface="Segoe UI" panose="020B0502040204020203" pitchFamily="34" charset="0"/>
              </a:rPr>
              <a:t>: il credito è </a:t>
            </a:r>
            <a:r>
              <a:rPr lang="it-IT" sz="1600" b="1" dirty="0">
                <a:latin typeface="Segoe UI" panose="020B0502040204020203" pitchFamily="34" charset="0"/>
                <a:cs typeface="Segoe UI" panose="020B0502040204020203" pitchFamily="34" charset="0"/>
              </a:rPr>
              <a:t>inesistente</a:t>
            </a:r>
            <a:r>
              <a:rPr lang="it-IT" sz="1600" dirty="0">
                <a:latin typeface="Segoe UI" panose="020B0502040204020203" pitchFamily="34" charset="0"/>
                <a:cs typeface="Segoe UI" panose="020B0502040204020203" pitchFamily="34" charset="0"/>
              </a:rPr>
              <a:t> non solo quando manca dei presupposti costitutivi, ma anche quando viene utilizzato da soggetto privo del requisito di </a:t>
            </a:r>
            <a:r>
              <a:rPr lang="it-IT" sz="1600" b="1" dirty="0">
                <a:latin typeface="Segoe UI" panose="020B0502040204020203" pitchFamily="34" charset="0"/>
                <a:cs typeface="Segoe UI" panose="020B0502040204020203" pitchFamily="34" charset="0"/>
              </a:rPr>
              <a:t>coincidenza soggettiva</a:t>
            </a:r>
            <a:r>
              <a:rPr lang="it-IT" sz="1600" dirty="0">
                <a:latin typeface="Segoe UI" panose="020B0502040204020203" pitchFamily="34" charset="0"/>
                <a:cs typeface="Segoe UI" panose="020B0502040204020203" pitchFamily="34" charset="0"/>
              </a:rPr>
              <a:t> con il titolare originario.</a:t>
            </a:r>
          </a:p>
          <a:p>
            <a:r>
              <a:rPr lang="it-IT" sz="1600" dirty="0">
                <a:latin typeface="Segoe UI" panose="020B0502040204020203" pitchFamily="34" charset="0"/>
                <a:cs typeface="Segoe UI" panose="020B0502040204020203" pitchFamily="34" charset="0"/>
              </a:rPr>
              <a:t>⇒ Ulteriore </a:t>
            </a:r>
            <a:r>
              <a:rPr lang="it-IT" sz="1600" b="1" dirty="0">
                <a:latin typeface="Segoe UI" panose="020B0502040204020203" pitchFamily="34" charset="0"/>
                <a:cs typeface="Segoe UI" panose="020B0502040204020203" pitchFamily="34" charset="0"/>
              </a:rPr>
              <a:t>estensione applicativa</a:t>
            </a:r>
            <a:r>
              <a:rPr lang="it-IT" sz="1600" dirty="0">
                <a:latin typeface="Segoe UI" panose="020B0502040204020203" pitchFamily="34" charset="0"/>
                <a:cs typeface="Segoe UI" panose="020B0502040204020203" pitchFamily="34" charset="0"/>
              </a:rPr>
              <a:t> della categoria dell'inesistenza, che si conferma — al di là del nucleo definitorio del </a:t>
            </a:r>
            <a:r>
              <a:rPr lang="it-IT" sz="1600" dirty="0" err="1">
                <a:latin typeface="Segoe UI" panose="020B0502040204020203" pitchFamily="34" charset="0"/>
                <a:cs typeface="Segoe UI" panose="020B0502040204020203" pitchFamily="34" charset="0"/>
              </a:rPr>
              <a:t>D.Lgs.</a:t>
            </a:r>
            <a:r>
              <a:rPr lang="it-IT" sz="1600" dirty="0">
                <a:latin typeface="Segoe UI" panose="020B0502040204020203" pitchFamily="34" charset="0"/>
                <a:cs typeface="Segoe UI" panose="020B0502040204020203" pitchFamily="34" charset="0"/>
              </a:rPr>
              <a:t> 87/2024 — </a:t>
            </a:r>
            <a:r>
              <a:rPr lang="it-IT" sz="1600" i="1" dirty="0">
                <a:latin typeface="Segoe UI" panose="020B0502040204020203" pitchFamily="34" charset="0"/>
                <a:cs typeface="Segoe UI" panose="020B0502040204020203" pitchFamily="34" charset="0"/>
              </a:rPr>
              <a:t>categoria aperta</a:t>
            </a:r>
            <a:r>
              <a:rPr lang="it-IT" sz="1600" dirty="0">
                <a:latin typeface="Segoe UI" panose="020B0502040204020203" pitchFamily="34" charset="0"/>
                <a:cs typeface="Segoe UI" panose="020B0502040204020203" pitchFamily="34" charset="0"/>
              </a:rPr>
              <a:t>.</a:t>
            </a:r>
          </a:p>
        </p:txBody>
      </p:sp>
      <p:sp>
        <p:nvSpPr>
          <p:cNvPr id="1962" name="Figura a mano libera: forma 1961"/>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63" name="Figura a mano libera: forma 1962"/>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66" name="CasellaDiTesto 1965"/>
          <p:cNvSpPr txBox="1"/>
          <p:nvPr/>
        </p:nvSpPr>
        <p:spPr>
          <a:xfrm>
            <a:off x="971640" y="552600"/>
            <a:ext cx="61437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CASISTICA APPLICATIVA 2024–2025</a:t>
            </a:r>
            <a:endParaRPr lang="it-IT" sz="2850" b="0" u="none" strike="noStrike">
              <a:solidFill>
                <a:srgbClr val="000000"/>
              </a:solidFill>
              <a:effectLst/>
              <a:uFillTx/>
              <a:latin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7" name="Figura a mano libera: forma 198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88" name="Figura a mano libera: forma 198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89" name="Figura a mano libera: forma 1988"/>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90" name="Figura a mano libera: forma 1989"/>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91" name="Figura a mano libera: forma 1990"/>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1992" name="CasellaDiTesto 1991"/>
          <p:cNvSpPr txBox="1"/>
          <p:nvPr/>
        </p:nvSpPr>
        <p:spPr>
          <a:xfrm>
            <a:off x="971640" y="552600"/>
            <a:ext cx="74127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IL CASO DEL CREDITO RICERCA E SVILUPPO</a:t>
            </a:r>
            <a:endParaRPr lang="it-IT" sz="2850" b="0" u="none" strike="noStrike">
              <a:solidFill>
                <a:srgbClr val="000000"/>
              </a:solidFill>
              <a:effectLst/>
              <a:uFillTx/>
              <a:latin typeface="Times New Roman"/>
            </a:endParaRPr>
          </a:p>
        </p:txBody>
      </p:sp>
      <p:sp>
        <p:nvSpPr>
          <p:cNvPr id="1993" name="CasellaDiTesto 1992"/>
          <p:cNvSpPr txBox="1"/>
          <p:nvPr/>
        </p:nvSpPr>
        <p:spPr>
          <a:xfrm>
            <a:off x="971640" y="1307520"/>
            <a:ext cx="10438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Secondo la dottrina, la riforma del D.Lgs. 87/2024 produrrà un </a:t>
            </a:r>
            <a:r>
              <a:rPr lang="it-IT" sz="1650" b="1" u="none" strike="noStrike">
                <a:solidFill>
                  <a:srgbClr val="00509E"/>
                </a:solidFill>
                <a:effectLst/>
                <a:uFillTx/>
                <a:latin typeface="SegoeUI"/>
                <a:ea typeface="SegoeUI"/>
              </a:rPr>
              <a:t>picco applicativo</a:t>
            </a:r>
            <a:r>
              <a:rPr lang="it-IT" sz="1650" b="0" u="none" strike="noStrike">
                <a:solidFill>
                  <a:srgbClr val="212529"/>
                </a:solidFill>
                <a:effectLst/>
                <a:uFillTx/>
                <a:latin typeface="SegoeUI"/>
                <a:ea typeface="SegoeUI"/>
              </a:rPr>
              <a:t> dell'art. 10-</a:t>
            </a:r>
            <a:r>
              <a:rPr lang="it-IT" sz="1650" b="0" i="1" u="none" strike="noStrike">
                <a:solidFill>
                  <a:srgbClr val="495057"/>
                </a:solidFill>
                <a:effectLst/>
                <a:uFillTx/>
                <a:latin typeface="SegoeUI"/>
                <a:ea typeface="SegoeUI"/>
              </a:rPr>
              <a:t>quater</a:t>
            </a:r>
            <a:r>
              <a:rPr lang="it-IT" sz="1650" b="0" u="none" strike="noStrike">
                <a:solidFill>
                  <a:srgbClr val="212529"/>
                </a:solidFill>
                <a:effectLst/>
                <a:uFillTx/>
                <a:latin typeface="SegoeUI"/>
                <a:ea typeface="SegoeUI"/>
              </a:rPr>
              <a:t>, co. 2, proprio</a:t>
            </a:r>
            <a:endParaRPr lang="it-IT" sz="1650" b="0" u="none" strike="noStrike">
              <a:solidFill>
                <a:srgbClr val="000000"/>
              </a:solidFill>
              <a:effectLst/>
              <a:uFillTx/>
              <a:latin typeface="Times New Roman"/>
            </a:endParaRPr>
          </a:p>
        </p:txBody>
      </p:sp>
      <p:sp>
        <p:nvSpPr>
          <p:cNvPr id="1994" name="Figura a mano libera: forma 1993"/>
          <p:cNvSpPr/>
          <p:nvPr/>
        </p:nvSpPr>
        <p:spPr>
          <a:xfrm>
            <a:off x="1028520" y="221904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95" name="CasellaDiTesto 1994"/>
          <p:cNvSpPr txBox="1"/>
          <p:nvPr/>
        </p:nvSpPr>
        <p:spPr>
          <a:xfrm>
            <a:off x="971640" y="1631160"/>
            <a:ext cx="23184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sul credito R&amp;S. </a:t>
            </a:r>
            <a:r>
              <a:rPr lang="it-IT" sz="1650" b="1" u="none" strike="noStrike">
                <a:solidFill>
                  <a:srgbClr val="00509E"/>
                </a:solidFill>
                <a:effectLst/>
                <a:uFillTx/>
                <a:latin typeface="SegoeUI"/>
                <a:ea typeface="SegoeUI"/>
              </a:rPr>
              <a:t>Ragioni</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1996" name="CasellaDiTesto 1995"/>
          <p:cNvSpPr txBox="1"/>
          <p:nvPr/>
        </p:nvSpPr>
        <p:spPr>
          <a:xfrm>
            <a:off x="1238400" y="2108160"/>
            <a:ext cx="9811080" cy="265680"/>
          </a:xfrm>
          <a:prstGeom prst="rect">
            <a:avLst/>
          </a:prstGeom>
          <a:noFill/>
          <a:ln w="0">
            <a:noFill/>
          </a:ln>
        </p:spPr>
        <p:txBody>
          <a:bodyPr wrap="none" lIns="0" tIns="0" rIns="0" bIns="0" anchor="t">
            <a:spAutoFit/>
          </a:bodyPr>
          <a:lstStyle/>
          <a:p>
            <a:r>
              <a:rPr lang="it-IT" sz="1580" b="0" u="none" strike="noStrike" dirty="0">
                <a:solidFill>
                  <a:srgbClr val="343A40"/>
                </a:solidFill>
                <a:effectLst/>
                <a:uFillTx/>
                <a:latin typeface="SegoeUI"/>
                <a:ea typeface="SegoeUI"/>
              </a:rPr>
              <a:t>elevato livello qualitativo dei requisiti (</a:t>
            </a:r>
            <a:r>
              <a:rPr lang="it-IT" sz="1580" b="0" i="1" u="none" strike="noStrike" dirty="0">
                <a:solidFill>
                  <a:srgbClr val="495057"/>
                </a:solidFill>
                <a:effectLst/>
                <a:uFillTx/>
                <a:latin typeface="SegoeUI"/>
                <a:ea typeface="SegoeUI"/>
              </a:rPr>
              <a:t>Manuale di Frascati</a:t>
            </a:r>
            <a:r>
              <a:rPr lang="it-IT" sz="1580" b="0" u="none" strike="noStrike" dirty="0">
                <a:solidFill>
                  <a:srgbClr val="343A40"/>
                </a:solidFill>
                <a:effectLst/>
                <a:uFillTx/>
                <a:latin typeface="SegoeUI"/>
                <a:ea typeface="SegoeUI"/>
              </a:rPr>
              <a:t>, OECD; </a:t>
            </a:r>
            <a:r>
              <a:rPr lang="it-IT" sz="1580" b="0" i="1" u="none" strike="noStrike" dirty="0">
                <a:solidFill>
                  <a:srgbClr val="495057"/>
                </a:solidFill>
                <a:effectLst/>
                <a:uFillTx/>
                <a:latin typeface="SegoeUI"/>
                <a:ea typeface="SegoeUI"/>
              </a:rPr>
              <a:t>Manuale di Oslo</a:t>
            </a:r>
            <a:r>
              <a:rPr lang="it-IT" sz="1580" b="0" u="none" strike="noStrike" dirty="0">
                <a:solidFill>
                  <a:srgbClr val="343A40"/>
                </a:solidFill>
                <a:effectLst/>
                <a:uFillTx/>
                <a:latin typeface="SegoeUI"/>
                <a:ea typeface="SegoeUI"/>
              </a:rPr>
              <a:t>): novità, creatività, incertezza,</a:t>
            </a:r>
            <a:endParaRPr lang="it-IT" sz="1580" b="0" u="none" strike="noStrike" dirty="0">
              <a:solidFill>
                <a:srgbClr val="000000"/>
              </a:solidFill>
              <a:effectLst/>
              <a:uFillTx/>
              <a:latin typeface="Times New Roman"/>
            </a:endParaRPr>
          </a:p>
        </p:txBody>
      </p:sp>
      <p:sp>
        <p:nvSpPr>
          <p:cNvPr id="1997" name="Figura a mano libera: forma 1996"/>
          <p:cNvSpPr/>
          <p:nvPr/>
        </p:nvSpPr>
        <p:spPr>
          <a:xfrm>
            <a:off x="1028520" y="3009600"/>
            <a:ext cx="76680" cy="76680"/>
          </a:xfrm>
          <a:custGeom>
            <a:avLst/>
            <a:gdLst/>
            <a:ahLst/>
            <a:cxnLst/>
            <a:rect l="0" t="0" r="r" b="b"/>
            <a:pathLst>
              <a:path w="213" h="213">
                <a:moveTo>
                  <a:pt x="213" y="106"/>
                </a:moveTo>
                <a:cubicBezTo>
                  <a:pt x="213" y="120"/>
                  <a:pt x="210" y="134"/>
                  <a:pt x="205" y="147"/>
                </a:cubicBezTo>
                <a:cubicBezTo>
                  <a:pt x="198" y="160"/>
                  <a:pt x="191" y="171"/>
                  <a:pt x="181" y="181"/>
                </a:cubicBezTo>
                <a:cubicBezTo>
                  <a:pt x="171" y="192"/>
                  <a:pt x="159" y="200"/>
                  <a:pt x="146" y="205"/>
                </a:cubicBezTo>
                <a:cubicBezTo>
                  <a:pt x="133" y="210"/>
                  <a:pt x="120" y="213"/>
                  <a:pt x="106" y="213"/>
                </a:cubicBezTo>
                <a:cubicBezTo>
                  <a:pt x="92" y="213"/>
                  <a:pt x="78" y="210"/>
                  <a:pt x="65" y="205"/>
                </a:cubicBezTo>
                <a:cubicBezTo>
                  <a:pt x="52" y="200"/>
                  <a:pt x="41" y="192"/>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1998" name="CasellaDiTesto 1997"/>
          <p:cNvSpPr txBox="1"/>
          <p:nvPr/>
        </p:nvSpPr>
        <p:spPr>
          <a:xfrm>
            <a:off x="1238400" y="2413080"/>
            <a:ext cx="22708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sistematicità, trasferibilità;</a:t>
            </a:r>
            <a:endParaRPr lang="it-IT" sz="1580" b="0" u="none" strike="noStrike">
              <a:solidFill>
                <a:srgbClr val="000000"/>
              </a:solidFill>
              <a:effectLst/>
              <a:uFillTx/>
              <a:latin typeface="Times New Roman"/>
            </a:endParaRPr>
          </a:p>
        </p:txBody>
      </p:sp>
      <p:sp>
        <p:nvSpPr>
          <p:cNvPr id="1999" name="Figura a mano libera: forma 1998"/>
          <p:cNvSpPr/>
          <p:nvPr/>
        </p:nvSpPr>
        <p:spPr>
          <a:xfrm>
            <a:off x="1028520" y="3485880"/>
            <a:ext cx="76680" cy="76680"/>
          </a:xfrm>
          <a:custGeom>
            <a:avLst/>
            <a:gdLst/>
            <a:ahLst/>
            <a:cxnLst/>
            <a:rect l="0" t="0" r="r" b="b"/>
            <a:pathLst>
              <a:path w="213" h="213">
                <a:moveTo>
                  <a:pt x="213" y="106"/>
                </a:moveTo>
                <a:cubicBezTo>
                  <a:pt x="213" y="120"/>
                  <a:pt x="210" y="135"/>
                  <a:pt x="205" y="148"/>
                </a:cubicBezTo>
                <a:cubicBezTo>
                  <a:pt x="198" y="161"/>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1"/>
                  <a:pt x="8" y="148"/>
                </a:cubicBezTo>
                <a:cubicBezTo>
                  <a:pt x="3" y="135"/>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5" y="66"/>
                </a:cubicBezTo>
                <a:cubicBezTo>
                  <a:pt x="210" y="79"/>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00" name="CasellaDiTesto 1999"/>
          <p:cNvSpPr txBox="1"/>
          <p:nvPr/>
        </p:nvSpPr>
        <p:spPr>
          <a:xfrm>
            <a:off x="1238400" y="2898720"/>
            <a:ext cx="84358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frequente </a:t>
            </a:r>
            <a:r>
              <a:rPr lang="it-IT" sz="1580" b="0" i="1" u="none" strike="noStrike">
                <a:solidFill>
                  <a:srgbClr val="495057"/>
                </a:solidFill>
                <a:effectLst/>
                <a:uFillTx/>
                <a:latin typeface="SegoeUI"/>
                <a:ea typeface="SegoeUI"/>
              </a:rPr>
              <a:t>overlap</a:t>
            </a:r>
            <a:r>
              <a:rPr lang="it-IT" sz="1580" b="0" u="none" strike="noStrike">
                <a:solidFill>
                  <a:srgbClr val="343A40"/>
                </a:solidFill>
                <a:effectLst/>
                <a:uFillTx/>
                <a:latin typeface="SegoeUI"/>
                <a:ea typeface="SegoeUI"/>
              </a:rPr>
              <a:t> con la mera innovazione di processo/prodotto, </a:t>
            </a:r>
            <a:r>
              <a:rPr lang="it-IT" sz="1580" b="1" u="none" strike="noStrike">
                <a:solidFill>
                  <a:srgbClr val="00509E"/>
                </a:solidFill>
                <a:effectLst/>
                <a:uFillTx/>
                <a:latin typeface="SegoeUI"/>
                <a:ea typeface="SegoeUI"/>
              </a:rPr>
              <a:t>che non dà diritto al credito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2001" name="CasellaDiTesto 2000"/>
          <p:cNvSpPr txBox="1"/>
          <p:nvPr/>
        </p:nvSpPr>
        <p:spPr>
          <a:xfrm>
            <a:off x="1238400" y="3375000"/>
            <a:ext cx="97959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difficile, </a:t>
            </a:r>
            <a:r>
              <a:rPr lang="it-IT" sz="1580" b="0" i="1" u="none" strike="noStrike">
                <a:solidFill>
                  <a:srgbClr val="495057"/>
                </a:solidFill>
                <a:effectLst/>
                <a:uFillTx/>
                <a:latin typeface="SegoeUI"/>
                <a:ea typeface="SegoeUI"/>
              </a:rPr>
              <a:t>al di fuori delle fattispecie fraudolente</a:t>
            </a:r>
            <a:r>
              <a:rPr lang="it-IT" sz="1580" b="0" u="none" strike="noStrike">
                <a:solidFill>
                  <a:srgbClr val="343A40"/>
                </a:solidFill>
                <a:effectLst/>
                <a:uFillTx/>
                <a:latin typeface="SegoeUI"/>
                <a:ea typeface="SegoeUI"/>
              </a:rPr>
              <a:t>, distinguere la mera </a:t>
            </a:r>
            <a:r>
              <a:rPr lang="it-IT" sz="1580" b="0" i="1" u="none" strike="noStrike">
                <a:solidFill>
                  <a:srgbClr val="495057"/>
                </a:solidFill>
                <a:effectLst/>
                <a:uFillTx/>
                <a:latin typeface="SegoeUI"/>
                <a:ea typeface="SegoeUI"/>
              </a:rPr>
              <a:t>non spettanza</a:t>
            </a:r>
            <a:r>
              <a:rPr lang="it-IT" sz="1580" b="0" u="none" strike="noStrike">
                <a:solidFill>
                  <a:srgbClr val="343A40"/>
                </a:solidFill>
                <a:effectLst/>
                <a:uFillTx/>
                <a:latin typeface="SegoeUI"/>
                <a:ea typeface="SegoeUI"/>
              </a:rPr>
              <a:t> dalla </a:t>
            </a:r>
            <a:r>
              <a:rPr lang="it-IT" sz="1580" b="0" i="1" u="none" strike="noStrike">
                <a:solidFill>
                  <a:srgbClr val="495057"/>
                </a:solidFill>
                <a:effectLst/>
                <a:uFillTx/>
                <a:latin typeface="SegoeUI"/>
                <a:ea typeface="SegoeUI"/>
              </a:rPr>
              <a:t>inesistenza per carenza di</a:t>
            </a:r>
            <a:endParaRPr lang="it-IT" sz="1580" b="0" u="none" strike="noStrike">
              <a:solidFill>
                <a:srgbClr val="000000"/>
              </a:solidFill>
              <a:effectLst/>
              <a:uFillTx/>
              <a:latin typeface="Times New Roman"/>
            </a:endParaRPr>
          </a:p>
        </p:txBody>
      </p:sp>
      <p:sp>
        <p:nvSpPr>
          <p:cNvPr id="2002" name="CasellaDiTesto 2001"/>
          <p:cNvSpPr txBox="1"/>
          <p:nvPr/>
        </p:nvSpPr>
        <p:spPr>
          <a:xfrm>
            <a:off x="1238400" y="3689280"/>
            <a:ext cx="202140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presupposto costitutivo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2003" name="CasellaDiTesto 2002"/>
          <p:cNvSpPr txBox="1"/>
          <p:nvPr/>
        </p:nvSpPr>
        <p:spPr>
          <a:xfrm>
            <a:off x="971640" y="4164840"/>
            <a:ext cx="100843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L'Agenzia delle Entrate (cfr. Circ. 5/E/2016 e successive prassi) ha tradizionalmente assimilato chi </a:t>
            </a:r>
            <a:r>
              <a:rPr lang="it-IT" sz="1650" b="0" i="1" u="none" strike="noStrike">
                <a:solidFill>
                  <a:srgbClr val="495057"/>
                </a:solidFill>
                <a:effectLst/>
                <a:uFillTx/>
                <a:latin typeface="SegoeUI"/>
                <a:ea typeface="SegoeUI"/>
              </a:rPr>
              <a:t>commette un</a:t>
            </a:r>
            <a:endParaRPr lang="it-IT" sz="1650" b="0" u="none" strike="noStrike">
              <a:solidFill>
                <a:srgbClr val="000000"/>
              </a:solidFill>
              <a:effectLst/>
              <a:uFillTx/>
              <a:latin typeface="Times New Roman"/>
            </a:endParaRPr>
          </a:p>
        </p:txBody>
      </p:sp>
      <p:sp>
        <p:nvSpPr>
          <p:cNvPr id="2004" name="CasellaDiTesto 2003"/>
          <p:cNvSpPr txBox="1"/>
          <p:nvPr/>
        </p:nvSpPr>
        <p:spPr>
          <a:xfrm>
            <a:off x="971640" y="4498200"/>
            <a:ext cx="1039032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errore qualificativo</a:t>
            </a:r>
            <a:r>
              <a:rPr lang="it-IT" sz="1650" b="0" u="none" strike="noStrike">
                <a:solidFill>
                  <a:srgbClr val="212529"/>
                </a:solidFill>
                <a:effectLst/>
                <a:uFillTx/>
                <a:latin typeface="SegoeUI"/>
                <a:ea typeface="SegoeUI"/>
              </a:rPr>
              <a:t> a chi </a:t>
            </a:r>
            <a:r>
              <a:rPr lang="it-IT" sz="1650" b="0" i="1" u="none" strike="noStrike">
                <a:solidFill>
                  <a:srgbClr val="495057"/>
                </a:solidFill>
                <a:effectLst/>
                <a:uFillTx/>
                <a:latin typeface="SegoeUI"/>
                <a:ea typeface="SegoeUI"/>
              </a:rPr>
              <a:t>inventa un credito</a:t>
            </a:r>
            <a:r>
              <a:rPr lang="it-IT" sz="1650" b="0" u="none" strike="noStrike">
                <a:solidFill>
                  <a:srgbClr val="212529"/>
                </a:solidFill>
                <a:effectLst/>
                <a:uFillTx/>
                <a:latin typeface="SegoeUI"/>
                <a:ea typeface="SegoeUI"/>
              </a:rPr>
              <a:t>. </a:t>
            </a:r>
            <a:r>
              <a:rPr lang="it-IT" sz="1650" b="1" u="none" strike="noStrike">
                <a:solidFill>
                  <a:srgbClr val="00509E"/>
                </a:solidFill>
                <a:effectLst/>
                <a:uFillTx/>
                <a:latin typeface="SegoeUI"/>
                <a:ea typeface="SegoeUI"/>
              </a:rPr>
              <a:t>Punto critico</a:t>
            </a:r>
            <a:r>
              <a:rPr lang="it-IT" sz="1650" b="0" u="none" strike="noStrike">
                <a:solidFill>
                  <a:srgbClr val="212529"/>
                </a:solidFill>
                <a:effectLst/>
                <a:uFillTx/>
                <a:latin typeface="SegoeUI"/>
                <a:ea typeface="SegoeUI"/>
              </a:rPr>
              <a:t>: l'assenza della "novità assoluta" ai sensi del Manuale di</a:t>
            </a:r>
            <a:endParaRPr lang="it-IT" sz="1650" b="0" u="none" strike="noStrike">
              <a:solidFill>
                <a:srgbClr val="000000"/>
              </a:solidFill>
              <a:effectLst/>
              <a:uFillTx/>
              <a:latin typeface="Times New Roman"/>
            </a:endParaRPr>
          </a:p>
        </p:txBody>
      </p:sp>
      <p:sp>
        <p:nvSpPr>
          <p:cNvPr id="2005" name="CasellaDiTesto 2004"/>
          <p:cNvSpPr txBox="1"/>
          <p:nvPr/>
        </p:nvSpPr>
        <p:spPr>
          <a:xfrm>
            <a:off x="971640" y="4822200"/>
            <a:ext cx="65498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Frascati può davvero integrare la mancanza del </a:t>
            </a:r>
            <a:r>
              <a:rPr lang="it-IT" sz="1650" b="0" i="1" u="none" strike="noStrike">
                <a:solidFill>
                  <a:srgbClr val="495057"/>
                </a:solidFill>
                <a:effectLst/>
                <a:uFillTx/>
                <a:latin typeface="SegoeUI"/>
                <a:ea typeface="SegoeUI"/>
              </a:rPr>
              <a:t>presupposto costitutivo</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2006" name="CasellaDiTesto 2005"/>
          <p:cNvSpPr txBox="1"/>
          <p:nvPr/>
        </p:nvSpPr>
        <p:spPr>
          <a:xfrm>
            <a:off x="971640" y="5298480"/>
            <a:ext cx="9871357" cy="253916"/>
          </a:xfrm>
          <a:prstGeom prst="rect">
            <a:avLst/>
          </a:prstGeom>
          <a:noFill/>
          <a:ln w="0">
            <a:noFill/>
          </a:ln>
        </p:spPr>
        <p:txBody>
          <a:bodyPr wrap="none" lIns="0" tIns="0" rIns="0" bIns="0" anchor="t">
            <a:spAutoFit/>
          </a:bodyPr>
          <a:lstStyle/>
          <a:p>
            <a:r>
              <a:rPr lang="it-IT" sz="1650" b="0" i="1" u="none" strike="noStrike" dirty="0">
                <a:solidFill>
                  <a:srgbClr val="0969DA"/>
                </a:solidFill>
                <a:effectLst/>
                <a:uFillTx/>
                <a:latin typeface="SegoeUI"/>
                <a:ea typeface="SegoeUI"/>
                <a:hlinkClick r:id="rId2"/>
              </a:rPr>
              <a:t>Atto di indirizzo MEF n. 18 del 1° luglio 2025</a:t>
            </a:r>
            <a:r>
              <a:rPr lang="it-IT" sz="1650" b="0" u="none" strike="noStrike" dirty="0">
                <a:solidFill>
                  <a:srgbClr val="212529"/>
                </a:solidFill>
                <a:effectLst/>
                <a:uFillTx/>
                <a:latin typeface="SegoeUI"/>
                <a:ea typeface="SegoeUI"/>
              </a:rPr>
              <a:t>: i requisiti possono derivare anche da fonti secondarie </a:t>
            </a:r>
            <a:r>
              <a:rPr lang="it-IT" sz="1650" b="1" u="none" strike="noStrike" dirty="0">
                <a:solidFill>
                  <a:srgbClr val="00509E"/>
                </a:solidFill>
                <a:effectLst/>
                <a:uFillTx/>
                <a:latin typeface="SegoeUI"/>
                <a:ea typeface="SegoeUI"/>
              </a:rPr>
              <a:t>solo se</a:t>
            </a:r>
            <a:endParaRPr lang="it-IT" sz="1650" b="0" u="none" strike="noStrike" dirty="0">
              <a:solidFill>
                <a:srgbClr val="000000"/>
              </a:solidFill>
              <a:effectLst/>
              <a:uFillTx/>
              <a:latin typeface="Times New Roman"/>
            </a:endParaRPr>
          </a:p>
        </p:txBody>
      </p:sp>
      <p:sp>
        <p:nvSpPr>
          <p:cNvPr id="2007" name="CasellaDiTesto 2006"/>
          <p:cNvSpPr txBox="1"/>
          <p:nvPr/>
        </p:nvSpPr>
        <p:spPr>
          <a:xfrm>
            <a:off x="971640" y="5622120"/>
            <a:ext cx="97048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espressamente richiamate</a:t>
            </a:r>
            <a:r>
              <a:rPr lang="it-IT" sz="1650" b="0" u="none" strike="noStrike">
                <a:solidFill>
                  <a:srgbClr val="212529"/>
                </a:solidFill>
                <a:effectLst/>
                <a:uFillTx/>
                <a:latin typeface="SegoeUI"/>
                <a:ea typeface="SegoeUI"/>
              </a:rPr>
              <a:t> dalla legge istitutiva. </a:t>
            </a:r>
            <a:r>
              <a:rPr lang="it-IT" sz="1650" b="1" u="none" strike="noStrike">
                <a:solidFill>
                  <a:srgbClr val="00509E"/>
                </a:solidFill>
                <a:effectLst/>
                <a:uFillTx/>
                <a:latin typeface="SegoeUI"/>
                <a:ea typeface="SegoeUI"/>
              </a:rPr>
              <a:t>Esclusa autonoma valenza</a:t>
            </a:r>
            <a:r>
              <a:rPr lang="it-IT" sz="1650" b="0" u="none" strike="noStrike">
                <a:solidFill>
                  <a:srgbClr val="212529"/>
                </a:solidFill>
                <a:effectLst/>
                <a:uFillTx/>
                <a:latin typeface="SegoeUI"/>
                <a:ea typeface="SegoeUI"/>
              </a:rPr>
              <a:t> a manuali e linee guida non</a:t>
            </a:r>
            <a:endParaRPr lang="it-IT" sz="1650" b="0" u="none" strike="noStrike">
              <a:solidFill>
                <a:srgbClr val="000000"/>
              </a:solidFill>
              <a:effectLst/>
              <a:uFillTx/>
              <a:latin typeface="Times New Roman"/>
            </a:endParaRPr>
          </a:p>
        </p:txBody>
      </p:sp>
      <p:sp>
        <p:nvSpPr>
          <p:cNvPr id="2008" name="CasellaDiTesto 2007"/>
          <p:cNvSpPr txBox="1"/>
          <p:nvPr/>
        </p:nvSpPr>
        <p:spPr>
          <a:xfrm>
            <a:off x="971640" y="5946120"/>
            <a:ext cx="10051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richiamati. </a:t>
            </a:r>
            <a:endParaRPr lang="it-IT" sz="1650" b="0" u="none" strike="noStrike">
              <a:solidFill>
                <a:srgbClr val="000000"/>
              </a:solidFill>
              <a:effectLst/>
              <a:uFillTx/>
              <a:latin typeface="Times New Roman"/>
            </a:endParaRPr>
          </a:p>
        </p:txBody>
      </p:sp>
      <p:sp>
        <p:nvSpPr>
          <p:cNvPr id="2009" name="CasellaDiTesto 2008"/>
          <p:cNvSpPr txBox="1"/>
          <p:nvPr/>
        </p:nvSpPr>
        <p:spPr>
          <a:xfrm>
            <a:off x="1979640" y="6009120"/>
            <a:ext cx="209160" cy="20916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CambriaMath"/>
                <a:ea typeface="CambriaMath"/>
              </a:rPr>
              <a:t>⇒</a:t>
            </a:r>
            <a:endParaRPr lang="it-IT" sz="1650" b="0" u="none" strike="noStrike">
              <a:solidFill>
                <a:srgbClr val="000000"/>
              </a:solidFill>
              <a:effectLst/>
              <a:uFillTx/>
              <a:latin typeface="Times New Roman"/>
            </a:endParaRPr>
          </a:p>
        </p:txBody>
      </p:sp>
      <p:sp>
        <p:nvSpPr>
          <p:cNvPr id="2010" name="CasellaDiTesto 2009"/>
          <p:cNvSpPr txBox="1"/>
          <p:nvPr/>
        </p:nvSpPr>
        <p:spPr>
          <a:xfrm>
            <a:off x="2161080" y="5946120"/>
            <a:ext cx="898488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 Chiarimento di rilievo: il rinvio "implicito" a manuali OECD non basta a configurare il presupposto</a:t>
            </a:r>
            <a:endParaRPr lang="it-IT" sz="1650" b="0" u="none" strike="noStrike">
              <a:solidFill>
                <a:srgbClr val="000000"/>
              </a:solidFill>
              <a:effectLst/>
              <a:uFillTx/>
              <a:latin typeface="Times New Roman"/>
            </a:endParaRPr>
          </a:p>
        </p:txBody>
      </p:sp>
      <p:sp>
        <p:nvSpPr>
          <p:cNvPr id="2011" name="CasellaDiTesto 2010"/>
          <p:cNvSpPr txBox="1"/>
          <p:nvPr/>
        </p:nvSpPr>
        <p:spPr>
          <a:xfrm>
            <a:off x="971640" y="6270120"/>
            <a:ext cx="33458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costitutivo della cui assenza si tratta.</a:t>
            </a:r>
            <a:endParaRPr lang="it-IT" sz="1650" b="0" u="none" strike="noStrike">
              <a:solidFill>
                <a:srgbClr val="000000"/>
              </a:solidFill>
              <a:effectLst/>
              <a:uFillTx/>
              <a:latin typeface="Times New Roman"/>
            </a:endParaRPr>
          </a:p>
        </p:txBody>
      </p:sp>
      <p:sp>
        <p:nvSpPr>
          <p:cNvPr id="2025" name="Figura a mano libera: forma 2024"/>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27" name="CasellaDiTesto 2026"/>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66 / 73</a:t>
            </a:r>
            <a:endParaRPr lang="it-IT" sz="980" b="0" u="none" strike="noStrike">
              <a:solidFill>
                <a:srgbClr val="000000"/>
              </a:solidFill>
              <a:effectLst/>
              <a:uFillTx/>
              <a:latin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8" name="Figura a mano libera: forma 202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29" name="Figura a mano libera: forma 202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30" name="Figura a mano libera: forma 2029"/>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31" name="Figura a mano libera: forma 2030"/>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32" name="Figura a mano libera: forma 2031"/>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33" name="CasellaDiTesto 2032"/>
          <p:cNvSpPr txBox="1"/>
          <p:nvPr/>
        </p:nvSpPr>
        <p:spPr>
          <a:xfrm>
            <a:off x="971640" y="552600"/>
            <a:ext cx="33375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QUESTIONI APERTE</a:t>
            </a:r>
            <a:endParaRPr lang="it-IT" sz="2850" b="0" u="none" strike="noStrike">
              <a:solidFill>
                <a:srgbClr val="000000"/>
              </a:solidFill>
              <a:effectLst/>
              <a:uFillTx/>
              <a:latin typeface="Times New Roman"/>
            </a:endParaRPr>
          </a:p>
        </p:txBody>
      </p:sp>
      <p:sp>
        <p:nvSpPr>
          <p:cNvPr id="2034" name="CasellaDiTesto 2033"/>
          <p:cNvSpPr txBox="1"/>
          <p:nvPr/>
        </p:nvSpPr>
        <p:spPr>
          <a:xfrm>
            <a:off x="971640" y="1307520"/>
            <a:ext cx="153468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Profili sistematici</a:t>
            </a:r>
            <a:endParaRPr lang="it-IT" sz="1650" b="0" u="none" strike="noStrike">
              <a:solidFill>
                <a:srgbClr val="000000"/>
              </a:solidFill>
              <a:effectLst/>
              <a:uFillTx/>
              <a:latin typeface="Times New Roman"/>
            </a:endParaRPr>
          </a:p>
        </p:txBody>
      </p:sp>
      <p:sp>
        <p:nvSpPr>
          <p:cNvPr id="2035" name="CasellaDiTesto 2034"/>
          <p:cNvSpPr txBox="1"/>
          <p:nvPr/>
        </p:nvSpPr>
        <p:spPr>
          <a:xfrm>
            <a:off x="1184400" y="1784520"/>
            <a:ext cx="101469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1. </a:t>
            </a:r>
            <a:r>
              <a:rPr lang="it-IT" sz="1580" b="1" u="none" strike="noStrike">
                <a:solidFill>
                  <a:srgbClr val="00509E"/>
                </a:solidFill>
                <a:effectLst/>
                <a:uFillTx/>
                <a:latin typeface="SegoeUI"/>
                <a:ea typeface="SegoeUI"/>
              </a:rPr>
              <a:t>Frizione tra g-quater punto 1) e g-quinquies punto b)</a:t>
            </a:r>
            <a:r>
              <a:rPr lang="it-IT" sz="1580" b="0" u="none" strike="noStrike">
                <a:solidFill>
                  <a:srgbClr val="343A40"/>
                </a:solidFill>
                <a:effectLst/>
                <a:uFillTx/>
                <a:latin typeface="SegoeUI"/>
                <a:ea typeface="SegoeUI"/>
              </a:rPr>
              <a:t>: quando la "carenza di requisiti oggettivi e soggettivi" è</a:t>
            </a:r>
            <a:endParaRPr lang="it-IT" sz="1580" b="0" u="none" strike="noStrike">
              <a:solidFill>
                <a:srgbClr val="000000"/>
              </a:solidFill>
              <a:effectLst/>
              <a:uFillTx/>
              <a:latin typeface="Times New Roman"/>
            </a:endParaRPr>
          </a:p>
        </p:txBody>
      </p:sp>
      <p:sp>
        <p:nvSpPr>
          <p:cNvPr id="2036" name="CasellaDiTesto 2035"/>
          <p:cNvSpPr txBox="1"/>
          <p:nvPr/>
        </p:nvSpPr>
        <p:spPr>
          <a:xfrm>
            <a:off x="1390680" y="2089080"/>
            <a:ext cx="60217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inesistenza, e quando "difetto di ulteriori elementi" è non spettanza?</a:t>
            </a:r>
            <a:endParaRPr lang="it-IT" sz="1580" b="0" u="none" strike="noStrike">
              <a:solidFill>
                <a:srgbClr val="000000"/>
              </a:solidFill>
              <a:effectLst/>
              <a:uFillTx/>
              <a:latin typeface="Times New Roman"/>
            </a:endParaRPr>
          </a:p>
        </p:txBody>
      </p:sp>
      <p:sp>
        <p:nvSpPr>
          <p:cNvPr id="2037" name="CasellaDiTesto 2036"/>
          <p:cNvSpPr txBox="1"/>
          <p:nvPr/>
        </p:nvSpPr>
        <p:spPr>
          <a:xfrm>
            <a:off x="1184400" y="2575080"/>
            <a:ext cx="104450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2. </a:t>
            </a:r>
            <a:r>
              <a:rPr lang="it-IT" sz="1580" b="1" u="none" strike="noStrike">
                <a:solidFill>
                  <a:srgbClr val="00509E"/>
                </a:solidFill>
                <a:effectLst/>
                <a:uFillTx/>
                <a:latin typeface="SegoeUI"/>
                <a:ea typeface="SegoeUI"/>
              </a:rPr>
              <a:t>Sopravvivenza del criterio sub b) SS.UU.</a:t>
            </a:r>
            <a:r>
              <a:rPr lang="it-IT" sz="1580" b="0" u="none" strike="noStrike">
                <a:solidFill>
                  <a:srgbClr val="343A40"/>
                </a:solidFill>
                <a:effectLst/>
                <a:uFillTx/>
                <a:latin typeface="SegoeUI"/>
                <a:ea typeface="SegoeUI"/>
              </a:rPr>
              <a:t> (non riscontrabilità con controlli automatizzati): dopo il D.Lgs. 87/2024 —</a:t>
            </a:r>
            <a:endParaRPr lang="it-IT" sz="1580" b="0" u="none" strike="noStrike">
              <a:solidFill>
                <a:srgbClr val="000000"/>
              </a:solidFill>
              <a:effectLst/>
              <a:uFillTx/>
              <a:latin typeface="Times New Roman"/>
            </a:endParaRPr>
          </a:p>
        </p:txBody>
      </p:sp>
      <p:sp>
        <p:nvSpPr>
          <p:cNvPr id="2038" name="CasellaDiTesto 2037"/>
          <p:cNvSpPr txBox="1"/>
          <p:nvPr/>
        </p:nvSpPr>
        <p:spPr>
          <a:xfrm>
            <a:off x="1390680" y="2879640"/>
            <a:ext cx="62229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che non lo riproduce — è ancora elemento costitutivo dell'inesistenza?</a:t>
            </a:r>
            <a:endParaRPr lang="it-IT" sz="1580" b="0" u="none" strike="noStrike">
              <a:solidFill>
                <a:srgbClr val="000000"/>
              </a:solidFill>
              <a:effectLst/>
              <a:uFillTx/>
              <a:latin typeface="Times New Roman"/>
            </a:endParaRPr>
          </a:p>
        </p:txBody>
      </p:sp>
      <p:sp>
        <p:nvSpPr>
          <p:cNvPr id="2039" name="CasellaDiTesto 2038"/>
          <p:cNvSpPr txBox="1"/>
          <p:nvPr/>
        </p:nvSpPr>
        <p:spPr>
          <a:xfrm>
            <a:off x="1184400" y="3365640"/>
            <a:ext cx="104594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3. </a:t>
            </a:r>
            <a:r>
              <a:rPr lang="it-IT" sz="1580" b="1" u="none" strike="noStrike">
                <a:solidFill>
                  <a:srgbClr val="00509E"/>
                </a:solidFill>
                <a:effectLst/>
                <a:uFillTx/>
                <a:latin typeface="SegoeUI"/>
                <a:ea typeface="SegoeUI"/>
              </a:rPr>
              <a:t>Rapporto tra art. 10-quater co. 2-bis e art. 6, co. 2, D.Lgs. 472/1997</a:t>
            </a:r>
            <a:r>
              <a:rPr lang="it-IT" sz="1580" b="0" u="none" strike="noStrike">
                <a:solidFill>
                  <a:srgbClr val="343A40"/>
                </a:solidFill>
                <a:effectLst/>
                <a:uFillTx/>
                <a:latin typeface="SegoeUI"/>
                <a:ea typeface="SegoeUI"/>
              </a:rPr>
              <a:t>: l'obiettiva incertezza penale è la stessa della</a:t>
            </a:r>
            <a:endParaRPr lang="it-IT" sz="1580" b="0" u="none" strike="noStrike">
              <a:solidFill>
                <a:srgbClr val="000000"/>
              </a:solidFill>
              <a:effectLst/>
              <a:uFillTx/>
              <a:latin typeface="Times New Roman"/>
            </a:endParaRPr>
          </a:p>
        </p:txBody>
      </p:sp>
      <p:sp>
        <p:nvSpPr>
          <p:cNvPr id="2040" name="CasellaDiTesto 2039"/>
          <p:cNvSpPr txBox="1"/>
          <p:nvPr/>
        </p:nvSpPr>
        <p:spPr>
          <a:xfrm>
            <a:off x="1390680" y="3670200"/>
            <a:ext cx="43740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esimente amministrativa, o ha portata autonoma?</a:t>
            </a:r>
            <a:endParaRPr lang="it-IT" sz="1580" b="0" u="none" strike="noStrike">
              <a:solidFill>
                <a:srgbClr val="000000"/>
              </a:solidFill>
              <a:effectLst/>
              <a:uFillTx/>
              <a:latin typeface="Times New Roman"/>
            </a:endParaRPr>
          </a:p>
        </p:txBody>
      </p:sp>
      <p:sp>
        <p:nvSpPr>
          <p:cNvPr id="2041" name="CasellaDiTesto 2040"/>
          <p:cNvSpPr txBox="1"/>
          <p:nvPr/>
        </p:nvSpPr>
        <p:spPr>
          <a:xfrm>
            <a:off x="1184400" y="4156200"/>
            <a:ext cx="102222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4. </a:t>
            </a:r>
            <a:r>
              <a:rPr lang="it-IT" sz="1580" b="1" u="none" strike="noStrike">
                <a:solidFill>
                  <a:srgbClr val="00509E"/>
                </a:solidFill>
                <a:effectLst/>
                <a:uFillTx/>
                <a:latin typeface="SegoeUI"/>
                <a:ea typeface="SegoeUI"/>
              </a:rPr>
              <a:t>Coincidenza soggettiva nelle catene di cessione del credito</a:t>
            </a:r>
            <a:r>
              <a:rPr lang="it-IT" sz="1580" b="0" u="none" strike="noStrike">
                <a:solidFill>
                  <a:srgbClr val="343A40"/>
                </a:solidFill>
                <a:effectLst/>
                <a:uFillTx/>
                <a:latin typeface="SegoeUI"/>
                <a:ea typeface="SegoeUI"/>
              </a:rPr>
              <a:t> (</a:t>
            </a:r>
            <a:r>
              <a:rPr lang="it-IT" sz="1580" b="0" i="1" u="none" strike="noStrike">
                <a:solidFill>
                  <a:srgbClr val="495057"/>
                </a:solidFill>
                <a:effectLst/>
                <a:uFillTx/>
                <a:latin typeface="SegoeUI"/>
                <a:ea typeface="SegoeUI"/>
              </a:rPr>
              <a:t>cfr.</a:t>
            </a:r>
            <a:r>
              <a:rPr lang="it-IT" sz="1580" b="0" u="none" strike="noStrike">
                <a:solidFill>
                  <a:srgbClr val="343A40"/>
                </a:solidFill>
                <a:effectLst/>
                <a:uFillTx/>
                <a:latin typeface="SegoeUI"/>
                <a:ea typeface="SegoeUI"/>
              </a:rPr>
              <a:t> Superbonus): chi è il "titolare" rispetto al quale</a:t>
            </a:r>
            <a:endParaRPr lang="it-IT" sz="1580" b="0" u="none" strike="noStrike">
              <a:solidFill>
                <a:srgbClr val="000000"/>
              </a:solidFill>
              <a:effectLst/>
              <a:uFillTx/>
              <a:latin typeface="Times New Roman"/>
            </a:endParaRPr>
          </a:p>
        </p:txBody>
      </p:sp>
      <p:sp>
        <p:nvSpPr>
          <p:cNvPr id="2042" name="CasellaDiTesto 2041"/>
          <p:cNvSpPr txBox="1"/>
          <p:nvPr/>
        </p:nvSpPr>
        <p:spPr>
          <a:xfrm>
            <a:off x="1390680" y="4461120"/>
            <a:ext cx="196236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misurare l'inesistenza?</a:t>
            </a:r>
            <a:endParaRPr lang="it-IT" sz="1580" b="0" u="none" strike="noStrike">
              <a:solidFill>
                <a:srgbClr val="000000"/>
              </a:solidFill>
              <a:effectLst/>
              <a:uFillTx/>
              <a:latin typeface="Times New Roman"/>
            </a:endParaRPr>
          </a:p>
        </p:txBody>
      </p:sp>
      <p:sp>
        <p:nvSpPr>
          <p:cNvPr id="2043" name="Figura a mano libera: forma 2042"/>
          <p:cNvSpPr/>
          <p:nvPr/>
        </p:nvSpPr>
        <p:spPr>
          <a:xfrm>
            <a:off x="1028520" y="5533920"/>
            <a:ext cx="76680" cy="76320"/>
          </a:xfrm>
          <a:custGeom>
            <a:avLst/>
            <a:gdLst/>
            <a:ahLst/>
            <a:cxnLst/>
            <a:rect l="0" t="0" r="r" b="b"/>
            <a:pathLst>
              <a:path w="213" h="212">
                <a:moveTo>
                  <a:pt x="213" y="106"/>
                </a:moveTo>
                <a:cubicBezTo>
                  <a:pt x="213" y="120"/>
                  <a:pt x="210" y="133"/>
                  <a:pt x="205" y="147"/>
                </a:cubicBezTo>
                <a:cubicBezTo>
                  <a:pt x="198" y="160"/>
                  <a:pt x="191" y="172"/>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44" name="CasellaDiTesto 2043"/>
          <p:cNvSpPr txBox="1"/>
          <p:nvPr/>
        </p:nvSpPr>
        <p:spPr>
          <a:xfrm>
            <a:off x="971640" y="4946040"/>
            <a:ext cx="211824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Osservazioni conclusive</a:t>
            </a:r>
            <a:endParaRPr lang="it-IT" sz="1650" b="0" u="none" strike="noStrike">
              <a:solidFill>
                <a:srgbClr val="000000"/>
              </a:solidFill>
              <a:effectLst/>
              <a:uFillTx/>
              <a:latin typeface="Times New Roman"/>
            </a:endParaRPr>
          </a:p>
        </p:txBody>
      </p:sp>
      <p:sp>
        <p:nvSpPr>
          <p:cNvPr id="2045" name="CasellaDiTesto 2044"/>
          <p:cNvSpPr txBox="1"/>
          <p:nvPr/>
        </p:nvSpPr>
        <p:spPr>
          <a:xfrm>
            <a:off x="1238400" y="5423040"/>
            <a:ext cx="1015272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Le SS.UU. del 2023 hanno operato un </a:t>
            </a:r>
            <a:r>
              <a:rPr lang="it-IT" sz="1580" b="1" u="none" strike="noStrike">
                <a:solidFill>
                  <a:srgbClr val="00509E"/>
                </a:solidFill>
                <a:effectLst/>
                <a:uFillTx/>
                <a:latin typeface="SegoeUI"/>
                <a:ea typeface="SegoeUI"/>
              </a:rPr>
              <a:t>chiarimento ermeneutico decisivo</a:t>
            </a:r>
            <a:r>
              <a:rPr lang="it-IT" sz="1580" b="0" u="none" strike="noStrike">
                <a:solidFill>
                  <a:srgbClr val="343A40"/>
                </a:solidFill>
                <a:effectLst/>
                <a:uFillTx/>
                <a:latin typeface="SegoeUI"/>
                <a:ea typeface="SegoeUI"/>
              </a:rPr>
              <a:t>, ma la successiva codificazione del D.Lgs.</a:t>
            </a:r>
            <a:endParaRPr lang="it-IT" sz="1580" b="0" u="none" strike="noStrike">
              <a:solidFill>
                <a:srgbClr val="000000"/>
              </a:solidFill>
              <a:effectLst/>
              <a:uFillTx/>
              <a:latin typeface="Times New Roman"/>
            </a:endParaRPr>
          </a:p>
        </p:txBody>
      </p:sp>
      <p:sp>
        <p:nvSpPr>
          <p:cNvPr id="2046" name="Figura a mano libera: forma 2045"/>
          <p:cNvSpPr/>
          <p:nvPr/>
        </p:nvSpPr>
        <p:spPr>
          <a:xfrm>
            <a:off x="1028520" y="6324480"/>
            <a:ext cx="76680" cy="76320"/>
          </a:xfrm>
          <a:custGeom>
            <a:avLst/>
            <a:gdLst/>
            <a:ahLst/>
            <a:cxnLst/>
            <a:rect l="0" t="0" r="r" b="b"/>
            <a:pathLst>
              <a:path w="213" h="212">
                <a:moveTo>
                  <a:pt x="213" y="107"/>
                </a:moveTo>
                <a:cubicBezTo>
                  <a:pt x="213" y="121"/>
                  <a:pt x="210" y="134"/>
                  <a:pt x="205" y="147"/>
                </a:cubicBezTo>
                <a:cubicBezTo>
                  <a:pt x="198" y="160"/>
                  <a:pt x="191" y="172"/>
                  <a:pt x="181" y="182"/>
                </a:cubicBezTo>
                <a:cubicBezTo>
                  <a:pt x="171" y="191"/>
                  <a:pt x="159" y="199"/>
                  <a:pt x="146" y="204"/>
                </a:cubicBezTo>
                <a:cubicBezTo>
                  <a:pt x="133" y="210"/>
                  <a:pt x="120" y="212"/>
                  <a:pt x="106" y="212"/>
                </a:cubicBezTo>
                <a:cubicBezTo>
                  <a:pt x="92" y="212"/>
                  <a:pt x="78" y="210"/>
                  <a:pt x="65" y="204"/>
                </a:cubicBezTo>
                <a:cubicBezTo>
                  <a:pt x="52" y="199"/>
                  <a:pt x="41" y="191"/>
                  <a:pt x="31" y="182"/>
                </a:cubicBezTo>
                <a:cubicBezTo>
                  <a:pt x="21" y="172"/>
                  <a:pt x="13" y="160"/>
                  <a:pt x="8" y="147"/>
                </a:cubicBezTo>
                <a:cubicBezTo>
                  <a:pt x="3" y="134"/>
                  <a:pt x="0" y="121"/>
                  <a:pt x="0" y="107"/>
                </a:cubicBezTo>
                <a:cubicBezTo>
                  <a:pt x="0" y="93"/>
                  <a:pt x="3" y="79"/>
                  <a:pt x="8" y="66"/>
                </a:cubicBezTo>
                <a:cubicBezTo>
                  <a:pt x="13" y="53"/>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3"/>
                  <a:pt x="205" y="66"/>
                </a:cubicBezTo>
                <a:cubicBezTo>
                  <a:pt x="210" y="79"/>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47" name="CasellaDiTesto 2046"/>
          <p:cNvSpPr txBox="1"/>
          <p:nvPr/>
        </p:nvSpPr>
        <p:spPr>
          <a:xfrm>
            <a:off x="1238400" y="5737320"/>
            <a:ext cx="1021824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87/2024 ha </a:t>
            </a:r>
            <a:r>
              <a:rPr lang="it-IT" sz="1580" b="0" i="1" u="none" strike="noStrike">
                <a:solidFill>
                  <a:srgbClr val="495057"/>
                </a:solidFill>
                <a:effectLst/>
                <a:uFillTx/>
                <a:latin typeface="SegoeUI"/>
                <a:ea typeface="SegoeUI"/>
              </a:rPr>
              <a:t>parzialmente</a:t>
            </a:r>
            <a:r>
              <a:rPr lang="it-IT" sz="1580" b="0" u="none" strike="noStrike">
                <a:solidFill>
                  <a:srgbClr val="343A40"/>
                </a:solidFill>
                <a:effectLst/>
                <a:uFillTx/>
                <a:latin typeface="SegoeUI"/>
                <a:ea typeface="SegoeUI"/>
              </a:rPr>
              <a:t> alterato il quadro, eliminando il criterio della non riscontrabilità con controlli automatizzati.</a:t>
            </a:r>
            <a:endParaRPr lang="it-IT" sz="1580" b="0" u="none" strike="noStrike">
              <a:solidFill>
                <a:srgbClr val="000000"/>
              </a:solidFill>
              <a:effectLst/>
              <a:uFillTx/>
              <a:latin typeface="Times New Roman"/>
            </a:endParaRPr>
          </a:p>
        </p:txBody>
      </p:sp>
      <p:sp>
        <p:nvSpPr>
          <p:cNvPr id="2048" name="CasellaDiTesto 2047"/>
          <p:cNvSpPr txBox="1"/>
          <p:nvPr/>
        </p:nvSpPr>
        <p:spPr>
          <a:xfrm>
            <a:off x="1238400" y="6213600"/>
            <a:ext cx="9903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 giurisprudenza di legittimità 2024–2025 afferma una </a:t>
            </a:r>
            <a:r>
              <a:rPr lang="it-IT" sz="1580" b="1" u="none" strike="noStrike">
                <a:solidFill>
                  <a:srgbClr val="00509E"/>
                </a:solidFill>
                <a:effectLst/>
                <a:uFillTx/>
                <a:latin typeface="SegoeUI"/>
                <a:ea typeface="SegoeUI"/>
              </a:rPr>
              <a:t>continuità normativa</a:t>
            </a:r>
            <a:r>
              <a:rPr lang="it-IT" sz="1580" b="0" u="none" strike="noStrike">
                <a:solidFill>
                  <a:srgbClr val="343A40"/>
                </a:solidFill>
                <a:effectLst/>
                <a:uFillTx/>
                <a:latin typeface="SegoeUI"/>
                <a:ea typeface="SegoeUI"/>
              </a:rPr>
              <a:t>, ma a costo di una </a:t>
            </a:r>
            <a:r>
              <a:rPr lang="it-IT" sz="1580" b="0" i="1" u="none" strike="noStrike">
                <a:solidFill>
                  <a:srgbClr val="495057"/>
                </a:solidFill>
                <a:effectLst/>
                <a:uFillTx/>
                <a:latin typeface="SegoeUI"/>
                <a:ea typeface="SegoeUI"/>
              </a:rPr>
              <a:t>interpretazione</a:t>
            </a:r>
            <a:endParaRPr lang="it-IT" sz="1580" b="0" u="none" strike="noStrike">
              <a:solidFill>
                <a:srgbClr val="000000"/>
              </a:solidFill>
              <a:effectLst/>
              <a:uFillTx/>
              <a:latin typeface="Times New Roman"/>
            </a:endParaRPr>
          </a:p>
        </p:txBody>
      </p:sp>
      <p:sp>
        <p:nvSpPr>
          <p:cNvPr id="2049" name="Figura a mano libera: forma 2048"/>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50" name="CasellaDiTesto 2049"/>
          <p:cNvSpPr txBox="1"/>
          <p:nvPr/>
        </p:nvSpPr>
        <p:spPr>
          <a:xfrm>
            <a:off x="1238400" y="6527880"/>
            <a:ext cx="4627440" cy="265680"/>
          </a:xfrm>
          <a:prstGeom prst="rect">
            <a:avLst/>
          </a:prstGeom>
          <a:noFill/>
          <a:ln w="0">
            <a:noFill/>
          </a:ln>
        </p:spPr>
        <p:txBody>
          <a:bodyPr wrap="none" lIns="0" tIns="0" rIns="0" bIns="0" anchor="t">
            <a:spAutoFit/>
          </a:bodyPr>
          <a:lstStyle/>
          <a:p>
            <a:r>
              <a:rPr lang="it-IT" sz="1580" b="0" i="1" u="none" strike="noStrike">
                <a:solidFill>
                  <a:srgbClr val="495057"/>
                </a:solidFill>
                <a:effectLst/>
                <a:uFillTx/>
                <a:latin typeface="SegoeUI"/>
                <a:ea typeface="SegoeUI"/>
              </a:rPr>
              <a:t>conforme</a:t>
            </a:r>
            <a:r>
              <a:rPr lang="it-IT" sz="1580" b="0" u="none" strike="noStrike">
                <a:solidFill>
                  <a:srgbClr val="343A40"/>
                </a:solidFill>
                <a:effectLst/>
                <a:uFillTx/>
                <a:latin typeface="SegoeUI"/>
                <a:ea typeface="SegoeUI"/>
              </a:rPr>
              <a:t> che lascia margini di incertezza applicativa.</a:t>
            </a:r>
            <a:endParaRPr lang="it-IT" sz="1580" b="0" u="none" strike="noStrike">
              <a:solidFill>
                <a:srgbClr val="000000"/>
              </a:solidFill>
              <a:effectLst/>
              <a:uFillTx/>
              <a:latin typeface="Times New Roman"/>
            </a:endParaRPr>
          </a:p>
        </p:txBody>
      </p:sp>
      <p:sp>
        <p:nvSpPr>
          <p:cNvPr id="2051" name="Figura a mano libera: forma 2050"/>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53" name="CasellaDiTesto 2052"/>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67 / 73</a:t>
            </a:r>
            <a:endParaRPr lang="it-IT" sz="980" b="0" u="none" strike="noStrike">
              <a:solidFill>
                <a:srgbClr val="000000"/>
              </a:solidFill>
              <a:effectLst/>
              <a:uFillTx/>
              <a:latin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Figura a mano libera: forma 205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55" name="Figura a mano libera: forma 205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56" name="Figura a mano libera: forma 2055"/>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57" name="Figura a mano libera: forma 2056"/>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58" name="Figura a mano libera: forma 2057"/>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59" name="CasellaDiTesto 2058"/>
          <p:cNvSpPr txBox="1"/>
          <p:nvPr/>
        </p:nvSpPr>
        <p:spPr>
          <a:xfrm>
            <a:off x="3558600" y="2964240"/>
            <a:ext cx="5247000" cy="608760"/>
          </a:xfrm>
          <a:prstGeom prst="rect">
            <a:avLst/>
          </a:prstGeom>
          <a:noFill/>
          <a:ln w="0">
            <a:noFill/>
          </a:ln>
        </p:spPr>
        <p:txBody>
          <a:bodyPr wrap="none" lIns="0" tIns="0" rIns="0" bIns="0" anchor="t">
            <a:spAutoFit/>
          </a:bodyPr>
          <a:lstStyle/>
          <a:p>
            <a:r>
              <a:rPr lang="it-IT" sz="3600" b="1" u="none" strike="noStrike">
                <a:solidFill>
                  <a:srgbClr val="003366"/>
                </a:solidFill>
                <a:effectLst/>
                <a:uFillTx/>
                <a:latin typeface="SegoeUI"/>
                <a:ea typeface="SegoeUI"/>
              </a:rPr>
              <a:t>ALCUNI CASI ULTERIORI</a:t>
            </a:r>
            <a:endParaRPr lang="it-IT" sz="3600" b="0" u="none" strike="noStrike">
              <a:solidFill>
                <a:srgbClr val="000000"/>
              </a:solidFill>
              <a:effectLst/>
              <a:uFillTx/>
              <a:latin typeface="Times New Roman"/>
            </a:endParaRPr>
          </a:p>
        </p:txBody>
      </p:sp>
      <p:sp>
        <p:nvSpPr>
          <p:cNvPr id="2060" name="Figura a mano libera: forma 2059"/>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61" name="CasellaDiTesto 2060"/>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062" name="CasellaDiTesto 2061"/>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68 / 73</a:t>
            </a:r>
            <a:endParaRPr lang="it-IT" sz="980" b="0" u="none" strike="noStrike">
              <a:solidFill>
                <a:srgbClr val="000000"/>
              </a:solidFill>
              <a:effectLst/>
              <a:uFillTx/>
              <a:latin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3" name="Figura a mano libera: forma 2062"/>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64" name="Figura a mano libera: forma 206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65" name="Figura a mano libera: forma 2064"/>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66" name="Figura a mano libera: forma 2065"/>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67" name="Figura a mano libera: forma 2066"/>
          <p:cNvSpPr/>
          <p:nvPr/>
        </p:nvSpPr>
        <p:spPr>
          <a:xfrm>
            <a:off x="971280" y="22096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68" name="CasellaDiTesto 2067"/>
          <p:cNvSpPr txBox="1"/>
          <p:nvPr/>
        </p:nvSpPr>
        <p:spPr>
          <a:xfrm>
            <a:off x="971640" y="1590480"/>
            <a:ext cx="337356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L'ACCOLLO FISCALE</a:t>
            </a:r>
            <a:endParaRPr lang="it-IT" sz="2850" b="0" u="none" strike="noStrike">
              <a:solidFill>
                <a:srgbClr val="000000"/>
              </a:solidFill>
              <a:effectLst/>
              <a:uFillTx/>
              <a:latin typeface="Times New Roman"/>
            </a:endParaRPr>
          </a:p>
        </p:txBody>
      </p:sp>
      <p:sp>
        <p:nvSpPr>
          <p:cNvPr id="2069" name="CasellaDiTesto 2068"/>
          <p:cNvSpPr txBox="1"/>
          <p:nvPr/>
        </p:nvSpPr>
        <p:spPr>
          <a:xfrm>
            <a:off x="971640" y="2345760"/>
            <a:ext cx="101865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Art. 8, co. 2, L. 212/2000</a:t>
            </a:r>
            <a:r>
              <a:rPr lang="it-IT" sz="1650" b="0" u="none" strike="noStrike">
                <a:solidFill>
                  <a:srgbClr val="212529"/>
                </a:solidFill>
                <a:effectLst/>
                <a:uFillTx/>
                <a:latin typeface="SegoeUI"/>
                <a:ea typeface="SegoeUI"/>
              </a:rPr>
              <a:t>: «È ammesso l'accollo del debito d'imposta altrui, senza liberazione del contribuente</a:t>
            </a:r>
            <a:endParaRPr lang="it-IT" sz="1650" b="0" u="none" strike="noStrike">
              <a:solidFill>
                <a:srgbClr val="000000"/>
              </a:solidFill>
              <a:effectLst/>
              <a:uFillTx/>
              <a:latin typeface="Times New Roman"/>
            </a:endParaRPr>
          </a:p>
        </p:txBody>
      </p:sp>
      <p:sp>
        <p:nvSpPr>
          <p:cNvPr id="2070" name="CasellaDiTesto 2069"/>
          <p:cNvSpPr txBox="1"/>
          <p:nvPr/>
        </p:nvSpPr>
        <p:spPr>
          <a:xfrm>
            <a:off x="971640" y="2669400"/>
            <a:ext cx="10404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originario».</a:t>
            </a:r>
            <a:endParaRPr lang="it-IT" sz="1650" b="0" u="none" strike="noStrike">
              <a:solidFill>
                <a:srgbClr val="000000"/>
              </a:solidFill>
              <a:effectLst/>
              <a:uFillTx/>
              <a:latin typeface="Times New Roman"/>
            </a:endParaRPr>
          </a:p>
        </p:txBody>
      </p:sp>
      <p:sp>
        <p:nvSpPr>
          <p:cNvPr id="2071" name="CasellaDiTesto 2070"/>
          <p:cNvSpPr txBox="1"/>
          <p:nvPr/>
        </p:nvSpPr>
        <p:spPr>
          <a:xfrm>
            <a:off x="971640" y="3145680"/>
            <a:ext cx="106149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Prassi fino al 2019</a:t>
            </a:r>
            <a:r>
              <a:rPr lang="it-IT" sz="1650" b="0" u="none" strike="noStrike">
                <a:solidFill>
                  <a:srgbClr val="212529"/>
                </a:solidFill>
                <a:effectLst/>
                <a:uFillTx/>
                <a:latin typeface="SegoeUI"/>
                <a:ea typeface="SegoeUI"/>
              </a:rPr>
              <a:t>: diffusione di schemi di accollo + compensazione (accollante con crediti d'imposta → </a:t>
            </a:r>
            <a:r>
              <a:rPr lang="it-IT" sz="1650" b="0" i="1" u="none" strike="noStrike">
                <a:solidFill>
                  <a:srgbClr val="495057"/>
                </a:solidFill>
                <a:effectLst/>
                <a:uFillTx/>
                <a:latin typeface="SegoeUI"/>
                <a:ea typeface="SegoeUI"/>
              </a:rPr>
              <a:t>sconto</a:t>
            </a:r>
            <a:r>
              <a:rPr lang="it-IT" sz="1650" b="0" u="none" strike="noStrike">
                <a:solidFill>
                  <a:srgbClr val="212529"/>
                </a:solidFill>
                <a:effectLst/>
                <a:uFillTx/>
                <a:latin typeface="SegoeUI"/>
                <a:ea typeface="SegoeUI"/>
              </a:rPr>
              <a:t> del</a:t>
            </a:r>
            <a:endParaRPr lang="it-IT" sz="1650" b="0" u="none" strike="noStrike">
              <a:solidFill>
                <a:srgbClr val="000000"/>
              </a:solidFill>
              <a:effectLst/>
              <a:uFillTx/>
              <a:latin typeface="Times New Roman"/>
            </a:endParaRPr>
          </a:p>
        </p:txBody>
      </p:sp>
      <p:sp>
        <p:nvSpPr>
          <p:cNvPr id="2072" name="CasellaDiTesto 2071"/>
          <p:cNvSpPr txBox="1"/>
          <p:nvPr/>
        </p:nvSpPr>
        <p:spPr>
          <a:xfrm>
            <a:off x="971640" y="3469680"/>
            <a:ext cx="19872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~20% per l'accollato).</a:t>
            </a:r>
            <a:endParaRPr lang="it-IT" sz="1650" b="0" u="none" strike="noStrike">
              <a:solidFill>
                <a:srgbClr val="000000"/>
              </a:solidFill>
              <a:effectLst/>
              <a:uFillTx/>
              <a:latin typeface="Times New Roman"/>
            </a:endParaRPr>
          </a:p>
        </p:txBody>
      </p:sp>
      <p:sp>
        <p:nvSpPr>
          <p:cNvPr id="2073" name="CasellaDiTesto 2072"/>
          <p:cNvSpPr txBox="1"/>
          <p:nvPr/>
        </p:nvSpPr>
        <p:spPr>
          <a:xfrm>
            <a:off x="971640" y="3945960"/>
            <a:ext cx="73846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Ris. AE 140/E/2017</a:t>
            </a:r>
            <a:r>
              <a:rPr lang="it-IT" sz="1650" b="0" u="none" strike="noStrike">
                <a:solidFill>
                  <a:srgbClr val="212529"/>
                </a:solidFill>
                <a:effectLst/>
                <a:uFillTx/>
                <a:latin typeface="SegoeUI"/>
                <a:ea typeface="SegoeUI"/>
              </a:rPr>
              <a:t>: negata la compensazione per difetto di identità soggettiva.</a:t>
            </a:r>
            <a:endParaRPr lang="it-IT" sz="1650" b="0" u="none" strike="noStrike">
              <a:solidFill>
                <a:srgbClr val="000000"/>
              </a:solidFill>
              <a:effectLst/>
              <a:uFillTx/>
              <a:latin typeface="Times New Roman"/>
            </a:endParaRPr>
          </a:p>
        </p:txBody>
      </p:sp>
      <p:sp>
        <p:nvSpPr>
          <p:cNvPr id="2074" name="CasellaDiTesto 2073"/>
          <p:cNvSpPr txBox="1"/>
          <p:nvPr/>
        </p:nvSpPr>
        <p:spPr>
          <a:xfrm>
            <a:off x="971640" y="4422240"/>
            <a:ext cx="1071072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Art. 1 D.L. 124/2019</a:t>
            </a:r>
            <a:r>
              <a:rPr lang="it-IT" sz="1650" b="0" u="none" strike="noStrike">
                <a:solidFill>
                  <a:srgbClr val="212529"/>
                </a:solidFill>
                <a:effectLst/>
                <a:uFillTx/>
                <a:latin typeface="SegoeUI"/>
                <a:ea typeface="SegoeUI"/>
              </a:rPr>
              <a:t> (conv. L. 157/2019): </a:t>
            </a:r>
            <a:r>
              <a:rPr lang="it-IT" sz="1650" b="1" u="none" strike="noStrike">
                <a:solidFill>
                  <a:srgbClr val="00509E"/>
                </a:solidFill>
                <a:effectLst/>
                <a:uFillTx/>
                <a:latin typeface="SegoeUI"/>
                <a:ea typeface="SegoeUI"/>
              </a:rPr>
              <a:t>divieto espresso</a:t>
            </a:r>
            <a:r>
              <a:rPr lang="it-IT" sz="1650" b="0" u="none" strike="noStrike">
                <a:solidFill>
                  <a:srgbClr val="212529"/>
                </a:solidFill>
                <a:effectLst/>
                <a:uFillTx/>
                <a:latin typeface="SegoeUI"/>
                <a:ea typeface="SegoeUI"/>
              </a:rPr>
              <a:t> di pagare l'imposta accollata mediante compensazione. I</a:t>
            </a:r>
            <a:endParaRPr lang="it-IT" sz="1650" b="0" u="none" strike="noStrike">
              <a:solidFill>
                <a:srgbClr val="000000"/>
              </a:solidFill>
              <a:effectLst/>
              <a:uFillTx/>
              <a:latin typeface="Times New Roman"/>
            </a:endParaRPr>
          </a:p>
        </p:txBody>
      </p:sp>
      <p:sp>
        <p:nvSpPr>
          <p:cNvPr id="2075" name="Figura a mano libera: forma 2074"/>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76" name="CasellaDiTesto 2075"/>
          <p:cNvSpPr txBox="1"/>
          <p:nvPr/>
        </p:nvSpPr>
        <p:spPr>
          <a:xfrm>
            <a:off x="971640" y="4745880"/>
            <a:ext cx="6980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versamenti si considerano </a:t>
            </a:r>
            <a:r>
              <a:rPr lang="it-IT" sz="1650" b="1" u="none" strike="noStrike">
                <a:solidFill>
                  <a:srgbClr val="00509E"/>
                </a:solidFill>
                <a:effectLst/>
                <a:uFillTx/>
                <a:latin typeface="SegoeUI"/>
                <a:ea typeface="SegoeUI"/>
              </a:rPr>
              <a:t>non avvenuti</a:t>
            </a:r>
            <a:r>
              <a:rPr lang="it-IT" sz="1650" b="0" u="none" strike="noStrike">
                <a:solidFill>
                  <a:srgbClr val="212529"/>
                </a:solidFill>
                <a:effectLst/>
                <a:uFillTx/>
                <a:latin typeface="SegoeUI"/>
                <a:ea typeface="SegoeUI"/>
              </a:rPr>
              <a:t> → sanzioni art. 13 D.Lgs. 471/1997.</a:t>
            </a:r>
            <a:endParaRPr lang="it-IT" sz="1650" b="0" u="none" strike="noStrike">
              <a:solidFill>
                <a:srgbClr val="000000"/>
              </a:solidFill>
              <a:effectLst/>
              <a:uFillTx/>
              <a:latin typeface="Times New Roman"/>
            </a:endParaRPr>
          </a:p>
        </p:txBody>
      </p:sp>
      <p:sp>
        <p:nvSpPr>
          <p:cNvPr id="2077" name="Figura a mano libera: forma 2076"/>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78" name="CasellaDiTesto 2077"/>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079" name="CasellaDiTesto 2078"/>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69 / 73</a:t>
            </a:r>
            <a:endParaRPr lang="it-IT" sz="980" b="0" u="none" strike="noStrike">
              <a:solidFill>
                <a:srgbClr val="000000"/>
              </a:solidFill>
              <a:effectLst/>
              <a:uFillTx/>
              <a:latin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0" name="Figura a mano libera: forma 2079"/>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81" name="Figura a mano libera: forma 208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82" name="Figura a mano libera: forma 2081"/>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83" name="Figura a mano libera: forma 2082"/>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84" name="Figura a mano libera: forma 2083"/>
          <p:cNvSpPr/>
          <p:nvPr/>
        </p:nvSpPr>
        <p:spPr>
          <a:xfrm>
            <a:off x="971280" y="191448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85" name="Figura a mano libera: forma 2084"/>
          <p:cNvSpPr/>
          <p:nvPr/>
        </p:nvSpPr>
        <p:spPr>
          <a:xfrm>
            <a:off x="975960" y="2547720"/>
            <a:ext cx="10544760" cy="2314800"/>
          </a:xfrm>
          <a:custGeom>
            <a:avLst/>
            <a:gdLst/>
            <a:ahLst/>
            <a:cxnLst/>
            <a:rect l="0" t="0" r="r" b="b"/>
            <a:pathLst>
              <a:path w="29291" h="6430">
                <a:moveTo>
                  <a:pt x="0" y="633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6338"/>
                </a:lnTo>
                <a:cubicBezTo>
                  <a:pt x="29291" y="6350"/>
                  <a:pt x="29288" y="6362"/>
                  <a:pt x="29284" y="6373"/>
                </a:cubicBezTo>
                <a:cubicBezTo>
                  <a:pt x="29279" y="6385"/>
                  <a:pt x="29272" y="6395"/>
                  <a:pt x="29264" y="6403"/>
                </a:cubicBezTo>
                <a:cubicBezTo>
                  <a:pt x="29255" y="6412"/>
                  <a:pt x="29245" y="6419"/>
                  <a:pt x="29234" y="6423"/>
                </a:cubicBezTo>
                <a:cubicBezTo>
                  <a:pt x="29222" y="6428"/>
                  <a:pt x="29211" y="6430"/>
                  <a:pt x="29198" y="6430"/>
                </a:cubicBezTo>
                <a:lnTo>
                  <a:pt x="93" y="6430"/>
                </a:lnTo>
                <a:cubicBezTo>
                  <a:pt x="81" y="6430"/>
                  <a:pt x="69" y="6428"/>
                  <a:pt x="58" y="6423"/>
                </a:cubicBezTo>
                <a:cubicBezTo>
                  <a:pt x="46" y="6419"/>
                  <a:pt x="36" y="6412"/>
                  <a:pt x="28" y="6403"/>
                </a:cubicBezTo>
                <a:cubicBezTo>
                  <a:pt x="19" y="6395"/>
                  <a:pt x="12" y="6385"/>
                  <a:pt x="8" y="6373"/>
                </a:cubicBezTo>
                <a:cubicBezTo>
                  <a:pt x="3" y="6362"/>
                  <a:pt x="0" y="6350"/>
                  <a:pt x="0" y="633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86" name="Figura a mano libera: forma 2085"/>
          <p:cNvSpPr/>
          <p:nvPr/>
        </p:nvSpPr>
        <p:spPr>
          <a:xfrm>
            <a:off x="975960" y="2547720"/>
            <a:ext cx="10544760" cy="2314800"/>
          </a:xfrm>
          <a:custGeom>
            <a:avLst/>
            <a:gdLst/>
            <a:ahLst/>
            <a:cxnLst/>
            <a:rect l="0" t="0" r="r" b="b"/>
            <a:pathLst>
              <a:path w="29291" h="6430">
                <a:moveTo>
                  <a:pt x="0" y="633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6338"/>
                </a:lnTo>
                <a:cubicBezTo>
                  <a:pt x="29291" y="6350"/>
                  <a:pt x="29288" y="6362"/>
                  <a:pt x="29284" y="6373"/>
                </a:cubicBezTo>
                <a:cubicBezTo>
                  <a:pt x="29279" y="6385"/>
                  <a:pt x="29272" y="6395"/>
                  <a:pt x="29264" y="6403"/>
                </a:cubicBezTo>
                <a:cubicBezTo>
                  <a:pt x="29255" y="6412"/>
                  <a:pt x="29245" y="6419"/>
                  <a:pt x="29234" y="6423"/>
                </a:cubicBezTo>
                <a:cubicBezTo>
                  <a:pt x="29222" y="6428"/>
                  <a:pt x="29211" y="6430"/>
                  <a:pt x="29198" y="6430"/>
                </a:cubicBezTo>
                <a:lnTo>
                  <a:pt x="93" y="6430"/>
                </a:lnTo>
                <a:cubicBezTo>
                  <a:pt x="81" y="6430"/>
                  <a:pt x="69" y="6428"/>
                  <a:pt x="58" y="6423"/>
                </a:cubicBezTo>
                <a:cubicBezTo>
                  <a:pt x="46" y="6419"/>
                  <a:pt x="36" y="6412"/>
                  <a:pt x="28" y="6403"/>
                </a:cubicBezTo>
                <a:cubicBezTo>
                  <a:pt x="19" y="6395"/>
                  <a:pt x="12" y="6385"/>
                  <a:pt x="8" y="6373"/>
                </a:cubicBezTo>
                <a:cubicBezTo>
                  <a:pt x="3" y="6362"/>
                  <a:pt x="0" y="6350"/>
                  <a:pt x="0" y="633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2087" name="CasellaDiTesto 2086"/>
          <p:cNvSpPr txBox="1"/>
          <p:nvPr/>
        </p:nvSpPr>
        <p:spPr>
          <a:xfrm>
            <a:off x="971640" y="1305000"/>
            <a:ext cx="510012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ACCOLLO E COMPENSAZIONE</a:t>
            </a:r>
            <a:endParaRPr lang="it-IT" sz="2850" b="0" u="none" strike="noStrike">
              <a:solidFill>
                <a:srgbClr val="000000"/>
              </a:solidFill>
              <a:effectLst/>
              <a:uFillTx/>
              <a:latin typeface="Times New Roman"/>
            </a:endParaRPr>
          </a:p>
        </p:txBody>
      </p:sp>
      <p:sp>
        <p:nvSpPr>
          <p:cNvPr id="2088" name="CasellaDiTesto 2087"/>
          <p:cNvSpPr txBox="1"/>
          <p:nvPr/>
        </p:nvSpPr>
        <p:spPr>
          <a:xfrm>
            <a:off x="971640" y="2050200"/>
            <a:ext cx="3594702" cy="253916"/>
          </a:xfrm>
          <a:prstGeom prst="rect">
            <a:avLst/>
          </a:prstGeom>
          <a:noFill/>
          <a:ln w="0">
            <a:noFill/>
          </a:ln>
        </p:spPr>
        <p:txBody>
          <a:bodyPr wrap="none" lIns="0" tIns="0" rIns="0" bIns="0" anchor="t">
            <a:spAutoFit/>
          </a:bodyPr>
          <a:lstStyle/>
          <a:p>
            <a:r>
              <a:rPr lang="it-IT" sz="1650" b="1" u="none" strike="noStrike" dirty="0">
                <a:solidFill>
                  <a:srgbClr val="0969DA"/>
                </a:solidFill>
                <a:effectLst/>
                <a:uFillTx/>
                <a:latin typeface="SegoeUI"/>
                <a:ea typeface="SegoeUI"/>
                <a:hlinkClick r:id="rId2"/>
              </a:rPr>
              <a:t>Cass. </a:t>
            </a:r>
            <a:r>
              <a:rPr lang="it-IT" sz="1650" b="1" u="none" strike="noStrike" dirty="0" err="1">
                <a:solidFill>
                  <a:srgbClr val="0969DA"/>
                </a:solidFill>
                <a:effectLst/>
                <a:uFillTx/>
                <a:latin typeface="SegoeUI"/>
                <a:ea typeface="SegoeUI"/>
                <a:hlinkClick r:id="rId2"/>
              </a:rPr>
              <a:t>ord</a:t>
            </a:r>
            <a:r>
              <a:rPr lang="it-IT" sz="1650" b="1" u="none" strike="noStrike" dirty="0">
                <a:solidFill>
                  <a:srgbClr val="0969DA"/>
                </a:solidFill>
                <a:effectLst/>
                <a:uFillTx/>
                <a:latin typeface="SegoeUI"/>
                <a:ea typeface="SegoeUI"/>
                <a:hlinkClick r:id="rId2"/>
              </a:rPr>
              <a:t>. 16 febbraio 2025, n. 3930</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2089" name="CasellaDiTesto 2088"/>
          <p:cNvSpPr txBox="1"/>
          <p:nvPr/>
        </p:nvSpPr>
        <p:spPr>
          <a:xfrm>
            <a:off x="1209600" y="2747160"/>
            <a:ext cx="975240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L'accollo di debiti erariali assume solo </a:t>
            </a:r>
            <a:r>
              <a:rPr lang="it-IT" sz="1500" b="1" u="none" strike="noStrike">
                <a:solidFill>
                  <a:srgbClr val="00509E"/>
                </a:solidFill>
                <a:effectLst/>
                <a:uFillTx/>
                <a:latin typeface="SegoeUI"/>
                <a:ea typeface="SegoeUI"/>
              </a:rPr>
              <a:t>efficacia di accollo interno</a:t>
            </a:r>
            <a:r>
              <a:rPr lang="it-IT" sz="1500" b="0" u="none" strike="noStrike">
                <a:solidFill>
                  <a:srgbClr val="343A40"/>
                </a:solidFill>
                <a:effectLst/>
                <a:uFillTx/>
                <a:latin typeface="SegoeUI"/>
                <a:ea typeface="SegoeUI"/>
              </a:rPr>
              <a:t> nei confronti dell'Amministrazione finanziaria. Ne</a:t>
            </a:r>
            <a:endParaRPr lang="it-IT" sz="1500" b="0" u="none" strike="noStrike">
              <a:solidFill>
                <a:srgbClr val="000000"/>
              </a:solidFill>
              <a:effectLst/>
              <a:uFillTx/>
              <a:latin typeface="Times New Roman"/>
            </a:endParaRPr>
          </a:p>
        </p:txBody>
      </p:sp>
      <p:sp>
        <p:nvSpPr>
          <p:cNvPr id="2090" name="Figura a mano libera: forma 2089"/>
          <p:cNvSpPr/>
          <p:nvPr/>
        </p:nvSpPr>
        <p:spPr>
          <a:xfrm>
            <a:off x="1266480" y="3543120"/>
            <a:ext cx="76680" cy="76680"/>
          </a:xfrm>
          <a:custGeom>
            <a:avLst/>
            <a:gdLst/>
            <a:ahLst/>
            <a:cxnLst/>
            <a:rect l="0" t="0" r="r" b="b"/>
            <a:pathLst>
              <a:path w="213" h="213">
                <a:moveTo>
                  <a:pt x="213" y="106"/>
                </a:moveTo>
                <a:cubicBezTo>
                  <a:pt x="213" y="120"/>
                  <a:pt x="210" y="133"/>
                  <a:pt x="205" y="146"/>
                </a:cubicBezTo>
                <a:cubicBezTo>
                  <a:pt x="200" y="159"/>
                  <a:pt x="192" y="171"/>
                  <a:pt x="182" y="182"/>
                </a:cubicBezTo>
                <a:cubicBezTo>
                  <a:pt x="171" y="192"/>
                  <a:pt x="160" y="199"/>
                  <a:pt x="147" y="205"/>
                </a:cubicBezTo>
                <a:cubicBezTo>
                  <a:pt x="134" y="210"/>
                  <a:pt x="120" y="213"/>
                  <a:pt x="106" y="213"/>
                </a:cubicBezTo>
                <a:cubicBezTo>
                  <a:pt x="92" y="213"/>
                  <a:pt x="79" y="210"/>
                  <a:pt x="66" y="205"/>
                </a:cubicBezTo>
                <a:cubicBezTo>
                  <a:pt x="53" y="199"/>
                  <a:pt x="41" y="192"/>
                  <a:pt x="31" y="182"/>
                </a:cubicBezTo>
                <a:cubicBezTo>
                  <a:pt x="22" y="171"/>
                  <a:pt x="14" y="159"/>
                  <a:pt x="9" y="146"/>
                </a:cubicBezTo>
                <a:cubicBezTo>
                  <a:pt x="3" y="133"/>
                  <a:pt x="0" y="120"/>
                  <a:pt x="0" y="106"/>
                </a:cubicBezTo>
                <a:cubicBezTo>
                  <a:pt x="0" y="92"/>
                  <a:pt x="3" y="78"/>
                  <a:pt x="9" y="65"/>
                </a:cubicBezTo>
                <a:cubicBezTo>
                  <a:pt x="14" y="52"/>
                  <a:pt x="22" y="41"/>
                  <a:pt x="31" y="31"/>
                </a:cubicBezTo>
                <a:cubicBezTo>
                  <a:pt x="41" y="21"/>
                  <a:pt x="53" y="13"/>
                  <a:pt x="66" y="8"/>
                </a:cubicBezTo>
                <a:cubicBezTo>
                  <a:pt x="79" y="3"/>
                  <a:pt x="92" y="0"/>
                  <a:pt x="106" y="0"/>
                </a:cubicBezTo>
                <a:cubicBezTo>
                  <a:pt x="120" y="0"/>
                  <a:pt x="134" y="3"/>
                  <a:pt x="147" y="8"/>
                </a:cubicBezTo>
                <a:cubicBezTo>
                  <a:pt x="160" y="13"/>
                  <a:pt x="171" y="21"/>
                  <a:pt x="182" y="31"/>
                </a:cubicBezTo>
                <a:cubicBezTo>
                  <a:pt x="192" y="41"/>
                  <a:pt x="200"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91" name="CasellaDiTesto 2090"/>
          <p:cNvSpPr txBox="1"/>
          <p:nvPr/>
        </p:nvSpPr>
        <p:spPr>
          <a:xfrm>
            <a:off x="1209600" y="3042360"/>
            <a:ext cx="229896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derivano due conseguenze:</a:t>
            </a:r>
            <a:endParaRPr lang="it-IT" sz="1500" b="0" u="none" strike="noStrike">
              <a:solidFill>
                <a:srgbClr val="000000"/>
              </a:solidFill>
              <a:effectLst/>
              <a:uFillTx/>
              <a:latin typeface="Times New Roman"/>
            </a:endParaRPr>
          </a:p>
        </p:txBody>
      </p:sp>
      <p:sp>
        <p:nvSpPr>
          <p:cNvPr id="2092" name="Figura a mano libera: forma 2091"/>
          <p:cNvSpPr/>
          <p:nvPr/>
        </p:nvSpPr>
        <p:spPr>
          <a:xfrm>
            <a:off x="1266480" y="4028760"/>
            <a:ext cx="76680" cy="76680"/>
          </a:xfrm>
          <a:custGeom>
            <a:avLst/>
            <a:gdLst/>
            <a:ahLst/>
            <a:cxnLst/>
            <a:rect l="0" t="0" r="r" b="b"/>
            <a:pathLst>
              <a:path w="213" h="213">
                <a:moveTo>
                  <a:pt x="213" y="107"/>
                </a:moveTo>
                <a:cubicBezTo>
                  <a:pt x="213" y="121"/>
                  <a:pt x="210" y="135"/>
                  <a:pt x="205" y="148"/>
                </a:cubicBezTo>
                <a:cubicBezTo>
                  <a:pt x="200" y="161"/>
                  <a:pt x="192" y="172"/>
                  <a:pt x="182" y="182"/>
                </a:cubicBezTo>
                <a:cubicBezTo>
                  <a:pt x="171" y="192"/>
                  <a:pt x="160" y="200"/>
                  <a:pt x="147" y="205"/>
                </a:cubicBezTo>
                <a:cubicBezTo>
                  <a:pt x="134" y="210"/>
                  <a:pt x="120" y="213"/>
                  <a:pt x="106" y="213"/>
                </a:cubicBezTo>
                <a:cubicBezTo>
                  <a:pt x="92" y="213"/>
                  <a:pt x="79" y="210"/>
                  <a:pt x="66" y="205"/>
                </a:cubicBezTo>
                <a:cubicBezTo>
                  <a:pt x="53" y="200"/>
                  <a:pt x="41" y="192"/>
                  <a:pt x="31" y="182"/>
                </a:cubicBezTo>
                <a:cubicBezTo>
                  <a:pt x="22" y="172"/>
                  <a:pt x="14" y="161"/>
                  <a:pt x="9" y="148"/>
                </a:cubicBezTo>
                <a:cubicBezTo>
                  <a:pt x="3" y="135"/>
                  <a:pt x="0" y="121"/>
                  <a:pt x="0" y="107"/>
                </a:cubicBezTo>
                <a:cubicBezTo>
                  <a:pt x="0" y="92"/>
                  <a:pt x="3" y="79"/>
                  <a:pt x="9" y="66"/>
                </a:cubicBezTo>
                <a:cubicBezTo>
                  <a:pt x="14" y="53"/>
                  <a:pt x="22" y="41"/>
                  <a:pt x="31" y="31"/>
                </a:cubicBezTo>
                <a:cubicBezTo>
                  <a:pt x="41" y="21"/>
                  <a:pt x="53" y="14"/>
                  <a:pt x="66" y="8"/>
                </a:cubicBezTo>
                <a:cubicBezTo>
                  <a:pt x="79" y="3"/>
                  <a:pt x="92" y="0"/>
                  <a:pt x="106" y="0"/>
                </a:cubicBezTo>
                <a:cubicBezTo>
                  <a:pt x="120" y="0"/>
                  <a:pt x="134" y="3"/>
                  <a:pt x="147" y="8"/>
                </a:cubicBezTo>
                <a:cubicBezTo>
                  <a:pt x="160" y="14"/>
                  <a:pt x="171" y="21"/>
                  <a:pt x="182" y="31"/>
                </a:cubicBezTo>
                <a:cubicBezTo>
                  <a:pt x="192" y="41"/>
                  <a:pt x="200" y="53"/>
                  <a:pt x="205" y="66"/>
                </a:cubicBezTo>
                <a:cubicBezTo>
                  <a:pt x="210" y="79"/>
                  <a:pt x="213" y="92"/>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093" name="CasellaDiTesto 2092"/>
          <p:cNvSpPr txBox="1"/>
          <p:nvPr/>
        </p:nvSpPr>
        <p:spPr>
          <a:xfrm>
            <a:off x="1476360" y="3432240"/>
            <a:ext cx="47476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soggetto debitore dell'erario resta sempre l'</a:t>
            </a:r>
            <a:r>
              <a:rPr lang="it-IT" sz="1580" b="1" u="none" strike="noStrike">
                <a:solidFill>
                  <a:srgbClr val="00509E"/>
                </a:solidFill>
                <a:effectLst/>
                <a:uFillTx/>
                <a:latin typeface="SegoeUI"/>
                <a:ea typeface="SegoeUI"/>
              </a:rPr>
              <a:t>accollato</a:t>
            </a:r>
            <a:r>
              <a:rPr lang="it-IT" sz="1580" b="0" u="none" strike="noStrike">
                <a:solidFill>
                  <a:srgbClr val="343A40"/>
                </a:solidFill>
                <a:effectLst/>
                <a:uFillTx/>
                <a:latin typeface="SegoeUI"/>
                <a:ea typeface="SegoeUI"/>
              </a:rPr>
              <a:t>;</a:t>
            </a:r>
            <a:endParaRPr lang="it-IT" sz="1580" b="0" u="none" strike="noStrike">
              <a:solidFill>
                <a:srgbClr val="000000"/>
              </a:solidFill>
              <a:effectLst/>
              <a:uFillTx/>
              <a:latin typeface="Times New Roman"/>
            </a:endParaRPr>
          </a:p>
        </p:txBody>
      </p:sp>
      <p:sp>
        <p:nvSpPr>
          <p:cNvPr id="2094" name="CasellaDiTesto 2093"/>
          <p:cNvSpPr txBox="1"/>
          <p:nvPr/>
        </p:nvSpPr>
        <p:spPr>
          <a:xfrm>
            <a:off x="1476360" y="3917880"/>
            <a:ext cx="90352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l'assenza di identità soggettiva (già richiesta dall'art. 17 D.Lgs. 241/1997) implica il divieto </a:t>
            </a:r>
            <a:r>
              <a:rPr lang="it-IT" sz="1580" b="1" u="none" strike="noStrike">
                <a:solidFill>
                  <a:srgbClr val="00509E"/>
                </a:solidFill>
                <a:effectLst/>
                <a:uFillTx/>
                <a:latin typeface="SegoeUI"/>
                <a:ea typeface="SegoeUI"/>
              </a:rPr>
              <a:t>anche per le</a:t>
            </a:r>
            <a:endParaRPr lang="it-IT" sz="1580" b="0" u="none" strike="noStrike">
              <a:solidFill>
                <a:srgbClr val="000000"/>
              </a:solidFill>
              <a:effectLst/>
              <a:uFillTx/>
              <a:latin typeface="Times New Roman"/>
            </a:endParaRPr>
          </a:p>
        </p:txBody>
      </p:sp>
      <p:sp>
        <p:nvSpPr>
          <p:cNvPr id="2095" name="CasellaDiTesto 2094"/>
          <p:cNvSpPr txBox="1"/>
          <p:nvPr/>
        </p:nvSpPr>
        <p:spPr>
          <a:xfrm>
            <a:off x="1476360" y="4232520"/>
            <a:ext cx="5848560" cy="265680"/>
          </a:xfrm>
          <a:prstGeom prst="rect">
            <a:avLst/>
          </a:prstGeom>
          <a:noFill/>
          <a:ln w="0">
            <a:noFill/>
          </a:ln>
        </p:spPr>
        <p:txBody>
          <a:bodyPr wrap="none" lIns="0" tIns="0" rIns="0" bIns="0" anchor="t">
            <a:spAutoFit/>
          </a:bodyPr>
          <a:lstStyle/>
          <a:p>
            <a:r>
              <a:rPr lang="it-IT" sz="1580" b="1" u="none" strike="noStrike">
                <a:solidFill>
                  <a:srgbClr val="00509E"/>
                </a:solidFill>
                <a:effectLst/>
                <a:uFillTx/>
                <a:latin typeface="SegoeUI"/>
                <a:ea typeface="SegoeUI"/>
              </a:rPr>
              <a:t>annualità precedenti</a:t>
            </a:r>
            <a:r>
              <a:rPr lang="it-IT" sz="1580" b="0" u="none" strike="noStrike">
                <a:solidFill>
                  <a:srgbClr val="343A40"/>
                </a:solidFill>
                <a:effectLst/>
                <a:uFillTx/>
                <a:latin typeface="SegoeUI"/>
                <a:ea typeface="SegoeUI"/>
              </a:rPr>
              <a:t> all'entrata in vigore dell'art. 1 D.L. 124/2019.</a:t>
            </a:r>
            <a:endParaRPr lang="it-IT" sz="1580" b="0" u="none" strike="noStrike">
              <a:solidFill>
                <a:srgbClr val="000000"/>
              </a:solidFill>
              <a:effectLst/>
              <a:uFillTx/>
              <a:latin typeface="Times New Roman"/>
            </a:endParaRPr>
          </a:p>
        </p:txBody>
      </p:sp>
      <p:sp>
        <p:nvSpPr>
          <p:cNvPr id="2096" name="Figura a mano libera: forma 2095"/>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97" name="CasellaDiTesto 2096"/>
          <p:cNvSpPr txBox="1"/>
          <p:nvPr/>
        </p:nvSpPr>
        <p:spPr>
          <a:xfrm>
            <a:off x="971640" y="5041080"/>
            <a:ext cx="76521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Il divieto era dunque </a:t>
            </a:r>
            <a:r>
              <a:rPr lang="it-IT" sz="1650" b="0" i="1" u="none" strike="noStrike">
                <a:solidFill>
                  <a:srgbClr val="495057"/>
                </a:solidFill>
                <a:effectLst/>
                <a:uFillTx/>
                <a:latin typeface="SegoeUI"/>
                <a:ea typeface="SegoeUI"/>
              </a:rPr>
              <a:t>già insito</a:t>
            </a:r>
            <a:r>
              <a:rPr lang="it-IT" sz="1650" b="0" u="none" strike="noStrike">
                <a:solidFill>
                  <a:srgbClr val="212529"/>
                </a:solidFill>
                <a:effectLst/>
                <a:uFillTx/>
                <a:latin typeface="SegoeUI"/>
                <a:ea typeface="SegoeUI"/>
              </a:rPr>
              <a:t> nel sistema: la norma del 2019 si limita a esplicitarlo.</a:t>
            </a:r>
            <a:endParaRPr lang="it-IT" sz="1650" b="0" u="none" strike="noStrike">
              <a:solidFill>
                <a:srgbClr val="000000"/>
              </a:solidFill>
              <a:effectLst/>
              <a:uFillTx/>
              <a:latin typeface="Times New Roman"/>
            </a:endParaRPr>
          </a:p>
        </p:txBody>
      </p:sp>
      <p:sp>
        <p:nvSpPr>
          <p:cNvPr id="2098" name="Figura a mano libera: forma 2097"/>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099" name="CasellaDiTesto 2098"/>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100" name="CasellaDiTesto 2099"/>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70 / 73</a:t>
            </a:r>
            <a:endParaRPr lang="it-IT" sz="980" b="0" u="none" strike="noStrike">
              <a:solidFill>
                <a:srgbClr val="000000"/>
              </a:solidFill>
              <a:effectLst/>
              <a:uFillTx/>
              <a:latin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1" name="Figura a mano libera: forma 2100"/>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02" name="Figura a mano libera: forma 2101"/>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03" name="Figura a mano libera: forma 2102"/>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04" name="Figura a mano libera: forma 2103"/>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105" name="Figura a mano libera: forma 2104"/>
          <p:cNvSpPr/>
          <p:nvPr/>
        </p:nvSpPr>
        <p:spPr>
          <a:xfrm>
            <a:off x="971280" y="140940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06" name="CasellaDiTesto 2105"/>
          <p:cNvSpPr txBox="1"/>
          <p:nvPr/>
        </p:nvSpPr>
        <p:spPr>
          <a:xfrm>
            <a:off x="971640" y="799920"/>
            <a:ext cx="8286307" cy="438582"/>
          </a:xfrm>
          <a:prstGeom prst="rect">
            <a:avLst/>
          </a:prstGeom>
          <a:noFill/>
          <a:ln w="0">
            <a:noFill/>
          </a:ln>
        </p:spPr>
        <p:txBody>
          <a:bodyPr wrap="none" lIns="0" tIns="0" rIns="0" bIns="0" anchor="t">
            <a:spAutoFit/>
          </a:bodyPr>
          <a:lstStyle/>
          <a:p>
            <a:r>
              <a:rPr lang="it-IT" sz="2850" b="1" u="none" strike="noStrike" dirty="0">
                <a:solidFill>
                  <a:srgbClr val="003366"/>
                </a:solidFill>
                <a:effectLst/>
                <a:uFillTx/>
                <a:latin typeface="SegoeUI"/>
                <a:ea typeface="SegoeUI"/>
              </a:rPr>
              <a:t>LE RETI D'IMPRESA </a:t>
            </a:r>
            <a:r>
              <a:rPr lang="it-IT" sz="2850" b="1" dirty="0">
                <a:solidFill>
                  <a:srgbClr val="003366"/>
                </a:solidFill>
                <a:latin typeface="SegoeUI"/>
                <a:ea typeface="SegoeUI"/>
              </a:rPr>
              <a:t>E L’</a:t>
            </a:r>
            <a:r>
              <a:rPr lang="it-IT" sz="2850" b="1" u="none" strike="noStrike" dirty="0">
                <a:solidFill>
                  <a:srgbClr val="003366"/>
                </a:solidFill>
                <a:effectLst/>
                <a:uFillTx/>
                <a:latin typeface="SegoeUI"/>
                <a:ea typeface="SegoeUI"/>
              </a:rPr>
              <a:t>ACCOLLO «</a:t>
            </a:r>
            <a:r>
              <a:rPr lang="it-IT" sz="2850" b="1" dirty="0">
                <a:solidFill>
                  <a:srgbClr val="003366"/>
                </a:solidFill>
                <a:latin typeface="SegoeUI"/>
                <a:ea typeface="SegoeUI"/>
              </a:rPr>
              <a:t>IMPOSSIBILE»</a:t>
            </a:r>
            <a:endParaRPr lang="it-IT" sz="2850" b="0" u="none" strike="noStrike" dirty="0">
              <a:solidFill>
                <a:srgbClr val="000000"/>
              </a:solidFill>
              <a:effectLst/>
              <a:uFillTx/>
              <a:latin typeface="Times New Roman"/>
            </a:endParaRPr>
          </a:p>
        </p:txBody>
      </p:sp>
      <p:sp>
        <p:nvSpPr>
          <p:cNvPr id="2107" name="CasellaDiTesto 2106"/>
          <p:cNvSpPr txBox="1"/>
          <p:nvPr/>
        </p:nvSpPr>
        <p:spPr>
          <a:xfrm>
            <a:off x="971640" y="1545480"/>
            <a:ext cx="7757188"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hlinkClick r:id="rId2"/>
              </a:rPr>
              <a:t>Risp. AE n. 246 del 17 settembre 2025</a:t>
            </a:r>
            <a:r>
              <a:rPr lang="it-IT" sz="1650" b="0" u="none" strike="noStrike" dirty="0">
                <a:solidFill>
                  <a:srgbClr val="212529"/>
                </a:solidFill>
                <a:effectLst/>
                <a:uFillTx/>
                <a:latin typeface="SegoeUI"/>
                <a:ea typeface="SegoeUI"/>
              </a:rPr>
              <a:t> e </a:t>
            </a:r>
            <a:r>
              <a:rPr lang="it-IT" sz="1650" b="1" u="none" strike="noStrike" dirty="0">
                <a:solidFill>
                  <a:srgbClr val="00509E"/>
                </a:solidFill>
                <a:effectLst/>
                <a:uFillTx/>
                <a:latin typeface="SegoeUI"/>
                <a:ea typeface="SegoeUI"/>
                <a:hlinkClick r:id="rId3"/>
              </a:rPr>
              <a:t>Risp. AE n. 291 del 12 novembre 2025</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2108" name="CasellaDiTesto 2107"/>
          <p:cNvSpPr txBox="1"/>
          <p:nvPr/>
        </p:nvSpPr>
        <p:spPr>
          <a:xfrm>
            <a:off x="971640" y="2021760"/>
            <a:ext cx="1017576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Fattispecie</a:t>
            </a:r>
            <a:r>
              <a:rPr lang="it-IT" sz="1650" b="0" u="none" strike="noStrike">
                <a:solidFill>
                  <a:srgbClr val="212529"/>
                </a:solidFill>
                <a:effectLst/>
                <a:uFillTx/>
                <a:latin typeface="SegoeUI"/>
                <a:ea typeface="SegoeUI"/>
              </a:rPr>
              <a:t>: contratto di rete in cui un retista (A) titolare di credito paga i debiti di un altro retista (B) utilizzando</a:t>
            </a:r>
            <a:endParaRPr lang="it-IT" sz="1650" b="0" u="none" strike="noStrike">
              <a:solidFill>
                <a:srgbClr val="000000"/>
              </a:solidFill>
              <a:effectLst/>
              <a:uFillTx/>
              <a:latin typeface="Times New Roman"/>
            </a:endParaRPr>
          </a:p>
        </p:txBody>
      </p:sp>
      <p:sp>
        <p:nvSpPr>
          <p:cNvPr id="2109" name="CasellaDiTesto 2108"/>
          <p:cNvSpPr txBox="1"/>
          <p:nvPr/>
        </p:nvSpPr>
        <p:spPr>
          <a:xfrm>
            <a:off x="971640" y="2345760"/>
            <a:ext cx="317952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codice tributo </a:t>
            </a:r>
            <a:r>
              <a:rPr lang="it-IT" sz="1650" b="0" i="1" u="none" strike="noStrike">
                <a:solidFill>
                  <a:srgbClr val="495057"/>
                </a:solidFill>
                <a:effectLst/>
                <a:uFillTx/>
                <a:latin typeface="SegoeUI"/>
                <a:ea typeface="SegoeUI"/>
              </a:rPr>
              <a:t>50 "coobbligazione"</a:t>
            </a:r>
            <a:r>
              <a:rPr lang="it-IT" sz="1650" b="0" u="none" strike="noStrike">
                <a:solidFill>
                  <a:srgbClr val="212529"/>
                </a:solidFill>
                <a:effectLst/>
                <a:uFillTx/>
                <a:latin typeface="SegoeUI"/>
                <a:ea typeface="SegoeUI"/>
              </a:rPr>
              <a:t>.</a:t>
            </a:r>
            <a:endParaRPr lang="it-IT" sz="1650" b="0" u="none" strike="noStrike">
              <a:solidFill>
                <a:srgbClr val="000000"/>
              </a:solidFill>
              <a:effectLst/>
              <a:uFillTx/>
              <a:latin typeface="Times New Roman"/>
            </a:endParaRPr>
          </a:p>
        </p:txBody>
      </p:sp>
      <p:sp>
        <p:nvSpPr>
          <p:cNvPr id="2110" name="CasellaDiTesto 2109"/>
          <p:cNvSpPr txBox="1"/>
          <p:nvPr/>
        </p:nvSpPr>
        <p:spPr>
          <a:xfrm>
            <a:off x="971640" y="2822040"/>
            <a:ext cx="1020384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Conclusione dell'AE</a:t>
            </a:r>
            <a:r>
              <a:rPr lang="it-IT" sz="1650" b="0" u="none" strike="noStrike">
                <a:solidFill>
                  <a:srgbClr val="212529"/>
                </a:solidFill>
                <a:effectLst/>
                <a:uFillTx/>
                <a:latin typeface="SegoeUI"/>
                <a:ea typeface="SegoeUI"/>
              </a:rPr>
              <a:t>: si tratta di </a:t>
            </a:r>
            <a:r>
              <a:rPr lang="it-IT" sz="1650" b="1" u="none" strike="noStrike">
                <a:solidFill>
                  <a:srgbClr val="00509E"/>
                </a:solidFill>
                <a:effectLst/>
                <a:uFillTx/>
                <a:latin typeface="SegoeUI"/>
                <a:ea typeface="SegoeUI"/>
              </a:rPr>
              <a:t>accollo tributario vietato</a:t>
            </a:r>
            <a:r>
              <a:rPr lang="it-IT" sz="1650" b="0" u="none" strike="noStrike">
                <a:solidFill>
                  <a:srgbClr val="212529"/>
                </a:solidFill>
                <a:effectLst/>
                <a:uFillTx/>
                <a:latin typeface="SegoeUI"/>
                <a:ea typeface="SegoeUI"/>
              </a:rPr>
              <a:t>. La compensazione orizzontale ex art. 17 è riservata a</a:t>
            </a:r>
            <a:endParaRPr lang="it-IT" sz="1650" b="0" u="none" strike="noStrike">
              <a:solidFill>
                <a:srgbClr val="000000"/>
              </a:solidFill>
              <a:effectLst/>
              <a:uFillTx/>
              <a:latin typeface="Times New Roman"/>
            </a:endParaRPr>
          </a:p>
        </p:txBody>
      </p:sp>
      <p:sp>
        <p:nvSpPr>
          <p:cNvPr id="2111" name="CasellaDiTesto 2110"/>
          <p:cNvSpPr txBox="1"/>
          <p:nvPr/>
        </p:nvSpPr>
        <p:spPr>
          <a:xfrm>
            <a:off x="971640" y="3145680"/>
            <a:ext cx="1027440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posizioni debitorie/creditorie facenti capo al </a:t>
            </a:r>
            <a:r>
              <a:rPr lang="it-IT" sz="1650" b="0" i="1" u="none" strike="noStrike">
                <a:solidFill>
                  <a:srgbClr val="495057"/>
                </a:solidFill>
                <a:effectLst/>
                <a:uFillTx/>
                <a:latin typeface="SegoeUI"/>
                <a:ea typeface="SegoeUI"/>
              </a:rPr>
              <a:t>medesimo contribuente</a:t>
            </a:r>
            <a:r>
              <a:rPr lang="it-IT" sz="1650" b="0" u="none" strike="noStrike">
                <a:solidFill>
                  <a:srgbClr val="212529"/>
                </a:solidFill>
                <a:effectLst/>
                <a:uFillTx/>
                <a:latin typeface="SegoeUI"/>
                <a:ea typeface="SegoeUI"/>
              </a:rPr>
              <a:t>. Struttura contrattuale e reti di impresa non</a:t>
            </a:r>
            <a:endParaRPr lang="it-IT" sz="1650" b="0" u="none" strike="noStrike">
              <a:solidFill>
                <a:srgbClr val="000000"/>
              </a:solidFill>
              <a:effectLst/>
              <a:uFillTx/>
              <a:latin typeface="Times New Roman"/>
            </a:endParaRPr>
          </a:p>
        </p:txBody>
      </p:sp>
      <p:sp>
        <p:nvSpPr>
          <p:cNvPr id="2112" name="CasellaDiTesto 2111"/>
          <p:cNvSpPr txBox="1"/>
          <p:nvPr/>
        </p:nvSpPr>
        <p:spPr>
          <a:xfrm>
            <a:off x="971640" y="3479040"/>
            <a:ext cx="24933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possono aggirare il divieto.</a:t>
            </a:r>
            <a:endParaRPr lang="it-IT" sz="1650" b="0" u="none" strike="noStrike">
              <a:solidFill>
                <a:srgbClr val="000000"/>
              </a:solidFill>
              <a:effectLst/>
              <a:uFillTx/>
              <a:latin typeface="Times New Roman"/>
            </a:endParaRPr>
          </a:p>
        </p:txBody>
      </p:sp>
      <p:sp>
        <p:nvSpPr>
          <p:cNvPr id="2113" name="Figura a mano libera: forma 2112"/>
          <p:cNvSpPr/>
          <p:nvPr/>
        </p:nvSpPr>
        <p:spPr>
          <a:xfrm>
            <a:off x="1028520" y="4543200"/>
            <a:ext cx="76680" cy="76680"/>
          </a:xfrm>
          <a:custGeom>
            <a:avLst/>
            <a:gdLst/>
            <a:ahLst/>
            <a:cxnLst/>
            <a:rect l="0" t="0" r="r" b="b"/>
            <a:pathLst>
              <a:path w="213" h="213">
                <a:moveTo>
                  <a:pt x="213" y="106"/>
                </a:moveTo>
                <a:cubicBezTo>
                  <a:pt x="213" y="120"/>
                  <a:pt x="210" y="133"/>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2"/>
                  <a:pt x="205" y="65"/>
                </a:cubicBezTo>
                <a:cubicBezTo>
                  <a:pt x="210" y="78"/>
                  <a:pt x="213" y="92"/>
                  <a:pt x="213" y="106"/>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114" name="CasellaDiTesto 2113"/>
          <p:cNvSpPr txBox="1"/>
          <p:nvPr/>
        </p:nvSpPr>
        <p:spPr>
          <a:xfrm>
            <a:off x="971640" y="3955320"/>
            <a:ext cx="6224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Critica:</a:t>
            </a:r>
            <a:endParaRPr lang="it-IT" sz="1650" b="0" u="none" strike="noStrike">
              <a:solidFill>
                <a:srgbClr val="000000"/>
              </a:solidFill>
              <a:effectLst/>
              <a:uFillTx/>
              <a:latin typeface="Times New Roman"/>
            </a:endParaRPr>
          </a:p>
        </p:txBody>
      </p:sp>
      <p:sp>
        <p:nvSpPr>
          <p:cNvPr id="2115" name="Figura a mano libera: forma 2114"/>
          <p:cNvSpPr/>
          <p:nvPr/>
        </p:nvSpPr>
        <p:spPr>
          <a:xfrm>
            <a:off x="1028520" y="5019480"/>
            <a:ext cx="76680" cy="76680"/>
          </a:xfrm>
          <a:custGeom>
            <a:avLst/>
            <a:gdLst/>
            <a:ahLst/>
            <a:cxnLst/>
            <a:rect l="0" t="0" r="r" b="b"/>
            <a:pathLst>
              <a:path w="213" h="213">
                <a:moveTo>
                  <a:pt x="213" y="107"/>
                </a:moveTo>
                <a:cubicBezTo>
                  <a:pt x="213" y="121"/>
                  <a:pt x="210" y="134"/>
                  <a:pt x="205"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3"/>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5" y="65"/>
                </a:cubicBezTo>
                <a:cubicBezTo>
                  <a:pt x="210" y="78"/>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116" name="CasellaDiTesto 2115"/>
          <p:cNvSpPr txBox="1"/>
          <p:nvPr/>
        </p:nvSpPr>
        <p:spPr>
          <a:xfrm>
            <a:off x="1238400" y="4432320"/>
            <a:ext cx="57034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lo schema era </a:t>
            </a:r>
            <a:r>
              <a:rPr lang="it-IT" sz="1580" b="1" u="none" strike="noStrike">
                <a:solidFill>
                  <a:srgbClr val="00509E"/>
                </a:solidFill>
                <a:effectLst/>
                <a:uFillTx/>
                <a:latin typeface="SegoeUI"/>
                <a:ea typeface="SegoeUI"/>
              </a:rPr>
              <a:t>astrattamente legittimo</a:t>
            </a:r>
            <a:r>
              <a:rPr lang="it-IT" sz="1580" b="0" u="none" strike="noStrike">
                <a:solidFill>
                  <a:srgbClr val="343A40"/>
                </a:solidFill>
                <a:effectLst/>
                <a:uFillTx/>
                <a:latin typeface="SegoeUI"/>
                <a:ea typeface="SegoeUI"/>
              </a:rPr>
              <a:t> prima del D.L. 124/2019;</a:t>
            </a:r>
            <a:endParaRPr lang="it-IT" sz="1580" b="0" u="none" strike="noStrike">
              <a:solidFill>
                <a:srgbClr val="000000"/>
              </a:solidFill>
              <a:effectLst/>
              <a:uFillTx/>
              <a:latin typeface="Times New Roman"/>
            </a:endParaRPr>
          </a:p>
        </p:txBody>
      </p:sp>
      <p:sp>
        <p:nvSpPr>
          <p:cNvPr id="2117" name="Figura a mano libera: forma 2116"/>
          <p:cNvSpPr/>
          <p:nvPr/>
        </p:nvSpPr>
        <p:spPr>
          <a:xfrm>
            <a:off x="1028520" y="5505120"/>
            <a:ext cx="76680" cy="76680"/>
          </a:xfrm>
          <a:custGeom>
            <a:avLst/>
            <a:gdLst/>
            <a:ahLst/>
            <a:cxnLst/>
            <a:rect l="0" t="0" r="r" b="b"/>
            <a:pathLst>
              <a:path w="213" h="213">
                <a:moveTo>
                  <a:pt x="213" y="107"/>
                </a:moveTo>
                <a:cubicBezTo>
                  <a:pt x="213" y="121"/>
                  <a:pt x="210" y="135"/>
                  <a:pt x="205"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4"/>
                  <a:pt x="21" y="42"/>
                  <a:pt x="31" y="32"/>
                </a:cubicBezTo>
                <a:cubicBezTo>
                  <a:pt x="41" y="22"/>
                  <a:pt x="52" y="15"/>
                  <a:pt x="65" y="9"/>
                </a:cubicBezTo>
                <a:cubicBezTo>
                  <a:pt x="78" y="3"/>
                  <a:pt x="92" y="0"/>
                  <a:pt x="106" y="0"/>
                </a:cubicBezTo>
                <a:cubicBezTo>
                  <a:pt x="120" y="0"/>
                  <a:pt x="133" y="3"/>
                  <a:pt x="146" y="9"/>
                </a:cubicBezTo>
                <a:cubicBezTo>
                  <a:pt x="159" y="15"/>
                  <a:pt x="171" y="22"/>
                  <a:pt x="181" y="32"/>
                </a:cubicBezTo>
                <a:cubicBezTo>
                  <a:pt x="191" y="42"/>
                  <a:pt x="198" y="54"/>
                  <a:pt x="205" y="67"/>
                </a:cubicBezTo>
                <a:cubicBezTo>
                  <a:pt x="210" y="80"/>
                  <a:pt x="213" y="93"/>
                  <a:pt x="213" y="107"/>
                </a:cubicBezTo>
                <a:close/>
              </a:path>
            </a:pathLst>
          </a:custGeom>
          <a:solidFill>
            <a:srgbClr val="343A40"/>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118" name="CasellaDiTesto 2117"/>
          <p:cNvSpPr txBox="1"/>
          <p:nvPr/>
        </p:nvSpPr>
        <p:spPr>
          <a:xfrm>
            <a:off x="1238400" y="4908600"/>
            <a:ext cx="872460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l'accollante </a:t>
            </a:r>
            <a:r>
              <a:rPr lang="it-IT" sz="1580" b="0" i="1" u="none" strike="noStrike">
                <a:solidFill>
                  <a:srgbClr val="495057"/>
                </a:solidFill>
                <a:effectLst/>
                <a:uFillTx/>
                <a:latin typeface="SegoeUI"/>
                <a:ea typeface="SegoeUI"/>
              </a:rPr>
              <a:t>cumulativo esterno</a:t>
            </a:r>
            <a:r>
              <a:rPr lang="it-IT" sz="1580" b="0" u="none" strike="noStrike">
                <a:solidFill>
                  <a:srgbClr val="343A40"/>
                </a:solidFill>
                <a:effectLst/>
                <a:uFillTx/>
                <a:latin typeface="SegoeUI"/>
                <a:ea typeface="SegoeUI"/>
              </a:rPr>
              <a:t> è direttamente debitore verso il fisco → coincide identità soggettiva;</a:t>
            </a:r>
            <a:endParaRPr lang="it-IT" sz="1580" b="0" u="none" strike="noStrike">
              <a:solidFill>
                <a:srgbClr val="000000"/>
              </a:solidFill>
              <a:effectLst/>
              <a:uFillTx/>
              <a:latin typeface="Times New Roman"/>
            </a:endParaRPr>
          </a:p>
        </p:txBody>
      </p:sp>
      <p:sp>
        <p:nvSpPr>
          <p:cNvPr id="2119" name="Figura a mano libera: forma 2118"/>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20" name="CasellaDiTesto 2119"/>
          <p:cNvSpPr txBox="1"/>
          <p:nvPr/>
        </p:nvSpPr>
        <p:spPr>
          <a:xfrm>
            <a:off x="1238400" y="5394240"/>
            <a:ext cx="9631080" cy="265680"/>
          </a:xfrm>
          <a:prstGeom prst="rect">
            <a:avLst/>
          </a:prstGeom>
          <a:noFill/>
          <a:ln w="0">
            <a:noFill/>
          </a:ln>
        </p:spPr>
        <p:txBody>
          <a:bodyPr wrap="none" lIns="0" tIns="0" rIns="0" bIns="0" anchor="t">
            <a:spAutoFit/>
          </a:bodyPr>
          <a:lstStyle/>
          <a:p>
            <a:r>
              <a:rPr lang="it-IT" sz="1580" b="0" u="none" strike="noStrike">
                <a:solidFill>
                  <a:srgbClr val="343A40"/>
                </a:solidFill>
                <a:effectLst/>
                <a:uFillTx/>
                <a:latin typeface="SegoeUI"/>
                <a:ea typeface="SegoeUI"/>
              </a:rPr>
              <a:t>l'intervento legislativo del 2019 è "incompatibile con le previsioni statutarie" — ma ormai acquisito al sistema.</a:t>
            </a:r>
            <a:endParaRPr lang="it-IT" sz="1580" b="0" u="none" strike="noStrike">
              <a:solidFill>
                <a:srgbClr val="000000"/>
              </a:solidFill>
              <a:effectLst/>
              <a:uFillTx/>
              <a:latin typeface="Times New Roman"/>
            </a:endParaRPr>
          </a:p>
        </p:txBody>
      </p:sp>
      <p:sp>
        <p:nvSpPr>
          <p:cNvPr id="2121" name="Figura a mano libera: forma 2120"/>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22" name="CasellaDiTesto 2121"/>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123" name="CasellaDiTesto 2122"/>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71 / 73</a:t>
            </a:r>
            <a:endParaRPr lang="it-IT" sz="980" b="0" u="none" strike="noStrike">
              <a:solidFill>
                <a:srgbClr val="000000"/>
              </a:solidFill>
              <a:effectLst/>
              <a:uFillTx/>
              <a:latin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4" name="Figura a mano libera: forma 2123"/>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25" name="Figura a mano libera: forma 2124"/>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26" name="Figura a mano libera: forma 2125"/>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27" name="Figura a mano libera: forma 2126"/>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128" name="Figura a mano libera: forma 2127"/>
          <p:cNvSpPr/>
          <p:nvPr/>
        </p:nvSpPr>
        <p:spPr>
          <a:xfrm>
            <a:off x="971280" y="11714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29" name="Figura a mano libera: forma 2128"/>
          <p:cNvSpPr/>
          <p:nvPr/>
        </p:nvSpPr>
        <p:spPr>
          <a:xfrm>
            <a:off x="975960" y="1804680"/>
            <a:ext cx="10544760" cy="943560"/>
          </a:xfrm>
          <a:custGeom>
            <a:avLst/>
            <a:gdLst/>
            <a:ahLst/>
            <a:cxnLst/>
            <a:rect l="0" t="0" r="r" b="b"/>
            <a:pathLst>
              <a:path w="29291" h="2621">
                <a:moveTo>
                  <a:pt x="0" y="2528"/>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2528"/>
                </a:lnTo>
                <a:cubicBezTo>
                  <a:pt x="29291" y="2540"/>
                  <a:pt x="29288" y="2552"/>
                  <a:pt x="29284" y="2564"/>
                </a:cubicBezTo>
                <a:cubicBezTo>
                  <a:pt x="29279" y="2575"/>
                  <a:pt x="29272" y="2585"/>
                  <a:pt x="29264" y="2594"/>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4"/>
                </a:cubicBezTo>
                <a:cubicBezTo>
                  <a:pt x="19" y="2585"/>
                  <a:pt x="12" y="2575"/>
                  <a:pt x="8" y="2564"/>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30" name="Figura a mano libera: forma 2129"/>
          <p:cNvSpPr/>
          <p:nvPr/>
        </p:nvSpPr>
        <p:spPr>
          <a:xfrm>
            <a:off x="975960" y="1804680"/>
            <a:ext cx="10544760" cy="943560"/>
          </a:xfrm>
          <a:custGeom>
            <a:avLst/>
            <a:gdLst/>
            <a:ahLst/>
            <a:cxnLst/>
            <a:rect l="0" t="0" r="r" b="b"/>
            <a:pathLst>
              <a:path w="29291" h="2621">
                <a:moveTo>
                  <a:pt x="0" y="2528"/>
                </a:moveTo>
                <a:lnTo>
                  <a:pt x="0" y="93"/>
                </a:lnTo>
                <a:cubicBezTo>
                  <a:pt x="0" y="81"/>
                  <a:pt x="3" y="69"/>
                  <a:pt x="8" y="58"/>
                </a:cubicBezTo>
                <a:cubicBezTo>
                  <a:pt x="12" y="46"/>
                  <a:pt x="19" y="36"/>
                  <a:pt x="28" y="27"/>
                </a:cubicBezTo>
                <a:cubicBezTo>
                  <a:pt x="36" y="19"/>
                  <a:pt x="46" y="12"/>
                  <a:pt x="58" y="7"/>
                </a:cubicBezTo>
                <a:cubicBezTo>
                  <a:pt x="69" y="3"/>
                  <a:pt x="81" y="0"/>
                  <a:pt x="93" y="0"/>
                </a:cubicBezTo>
                <a:lnTo>
                  <a:pt x="29198" y="0"/>
                </a:lnTo>
                <a:cubicBezTo>
                  <a:pt x="29211" y="0"/>
                  <a:pt x="29222" y="3"/>
                  <a:pt x="29234" y="7"/>
                </a:cubicBezTo>
                <a:cubicBezTo>
                  <a:pt x="29245" y="12"/>
                  <a:pt x="29255" y="19"/>
                  <a:pt x="29264" y="27"/>
                </a:cubicBezTo>
                <a:cubicBezTo>
                  <a:pt x="29272" y="36"/>
                  <a:pt x="29279" y="46"/>
                  <a:pt x="29284" y="58"/>
                </a:cubicBezTo>
                <a:cubicBezTo>
                  <a:pt x="29288" y="69"/>
                  <a:pt x="29291" y="81"/>
                  <a:pt x="29291" y="93"/>
                </a:cubicBezTo>
                <a:lnTo>
                  <a:pt x="29291" y="2528"/>
                </a:lnTo>
                <a:cubicBezTo>
                  <a:pt x="29291" y="2540"/>
                  <a:pt x="29288" y="2552"/>
                  <a:pt x="29284" y="2564"/>
                </a:cubicBezTo>
                <a:cubicBezTo>
                  <a:pt x="29279" y="2575"/>
                  <a:pt x="29272" y="2585"/>
                  <a:pt x="29264" y="2594"/>
                </a:cubicBezTo>
                <a:cubicBezTo>
                  <a:pt x="29255" y="2602"/>
                  <a:pt x="29245" y="2609"/>
                  <a:pt x="29234" y="2614"/>
                </a:cubicBezTo>
                <a:cubicBezTo>
                  <a:pt x="29222" y="2618"/>
                  <a:pt x="29211" y="2621"/>
                  <a:pt x="29198" y="2621"/>
                </a:cubicBezTo>
                <a:lnTo>
                  <a:pt x="93" y="2621"/>
                </a:lnTo>
                <a:cubicBezTo>
                  <a:pt x="81" y="2621"/>
                  <a:pt x="69" y="2618"/>
                  <a:pt x="58" y="2614"/>
                </a:cubicBezTo>
                <a:cubicBezTo>
                  <a:pt x="46" y="2609"/>
                  <a:pt x="36" y="2602"/>
                  <a:pt x="28" y="2594"/>
                </a:cubicBezTo>
                <a:cubicBezTo>
                  <a:pt x="19" y="2585"/>
                  <a:pt x="12" y="2575"/>
                  <a:pt x="8" y="2564"/>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2131" name="Figura a mano libera: forma 2130"/>
          <p:cNvSpPr/>
          <p:nvPr/>
        </p:nvSpPr>
        <p:spPr>
          <a:xfrm>
            <a:off x="975960" y="4376520"/>
            <a:ext cx="10544760" cy="943200"/>
          </a:xfrm>
          <a:custGeom>
            <a:avLst/>
            <a:gdLst/>
            <a:ahLst/>
            <a:cxnLst/>
            <a:rect l="0" t="0" r="r" b="b"/>
            <a:pathLst>
              <a:path w="29291" h="2620">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0"/>
                  <a:pt x="29198" y="2620"/>
                </a:cubicBezTo>
                <a:lnTo>
                  <a:pt x="93" y="2620"/>
                </a:lnTo>
                <a:cubicBezTo>
                  <a:pt x="81" y="2620"/>
                  <a:pt x="69" y="2618"/>
                  <a:pt x="58" y="2613"/>
                </a:cubicBezTo>
                <a:cubicBezTo>
                  <a:pt x="46" y="2609"/>
                  <a:pt x="36" y="2602"/>
                  <a:pt x="28" y="2593"/>
                </a:cubicBezTo>
                <a:cubicBezTo>
                  <a:pt x="19" y="2585"/>
                  <a:pt x="12" y="2575"/>
                  <a:pt x="8" y="2563"/>
                </a:cubicBezTo>
                <a:cubicBezTo>
                  <a:pt x="3" y="2552"/>
                  <a:pt x="0" y="2540"/>
                  <a:pt x="0" y="2528"/>
                </a:cubicBezTo>
                <a:close/>
              </a:path>
            </a:pathLst>
          </a:custGeom>
          <a:solidFill>
            <a:srgbClr val="F8F9FA"/>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32" name="Figura a mano libera: forma 2131"/>
          <p:cNvSpPr/>
          <p:nvPr/>
        </p:nvSpPr>
        <p:spPr>
          <a:xfrm>
            <a:off x="975960" y="4376520"/>
            <a:ext cx="10544760" cy="943200"/>
          </a:xfrm>
          <a:custGeom>
            <a:avLst/>
            <a:gdLst/>
            <a:ahLst/>
            <a:cxnLst/>
            <a:rect l="0" t="0" r="r" b="b"/>
            <a:pathLst>
              <a:path w="29291" h="2620">
                <a:moveTo>
                  <a:pt x="0" y="2528"/>
                </a:moveTo>
                <a:lnTo>
                  <a:pt x="0" y="93"/>
                </a:lnTo>
                <a:cubicBezTo>
                  <a:pt x="0" y="80"/>
                  <a:pt x="3" y="69"/>
                  <a:pt x="8" y="57"/>
                </a:cubicBezTo>
                <a:cubicBezTo>
                  <a:pt x="12" y="46"/>
                  <a:pt x="19" y="36"/>
                  <a:pt x="28" y="27"/>
                </a:cubicBezTo>
                <a:cubicBezTo>
                  <a:pt x="36" y="19"/>
                  <a:pt x="46" y="12"/>
                  <a:pt x="58" y="7"/>
                </a:cubicBezTo>
                <a:cubicBezTo>
                  <a:pt x="69" y="2"/>
                  <a:pt x="81" y="0"/>
                  <a:pt x="93" y="0"/>
                </a:cubicBezTo>
                <a:lnTo>
                  <a:pt x="29198" y="0"/>
                </a:lnTo>
                <a:cubicBezTo>
                  <a:pt x="29211" y="0"/>
                  <a:pt x="29222" y="2"/>
                  <a:pt x="29234" y="7"/>
                </a:cubicBezTo>
                <a:cubicBezTo>
                  <a:pt x="29245" y="12"/>
                  <a:pt x="29255" y="19"/>
                  <a:pt x="29264" y="27"/>
                </a:cubicBezTo>
                <a:cubicBezTo>
                  <a:pt x="29272" y="36"/>
                  <a:pt x="29279" y="46"/>
                  <a:pt x="29284" y="57"/>
                </a:cubicBezTo>
                <a:cubicBezTo>
                  <a:pt x="29288" y="69"/>
                  <a:pt x="29291" y="80"/>
                  <a:pt x="29291" y="93"/>
                </a:cubicBezTo>
                <a:lnTo>
                  <a:pt x="29291" y="2528"/>
                </a:lnTo>
                <a:cubicBezTo>
                  <a:pt x="29291" y="2540"/>
                  <a:pt x="29288" y="2552"/>
                  <a:pt x="29284" y="2563"/>
                </a:cubicBezTo>
                <a:cubicBezTo>
                  <a:pt x="29279" y="2575"/>
                  <a:pt x="29272" y="2585"/>
                  <a:pt x="29264" y="2593"/>
                </a:cubicBezTo>
                <a:cubicBezTo>
                  <a:pt x="29255" y="2602"/>
                  <a:pt x="29245" y="2609"/>
                  <a:pt x="29234" y="2613"/>
                </a:cubicBezTo>
                <a:cubicBezTo>
                  <a:pt x="29222" y="2618"/>
                  <a:pt x="29211" y="2620"/>
                  <a:pt x="29198" y="2620"/>
                </a:cubicBezTo>
                <a:lnTo>
                  <a:pt x="93" y="2620"/>
                </a:lnTo>
                <a:cubicBezTo>
                  <a:pt x="81" y="2620"/>
                  <a:pt x="69" y="2618"/>
                  <a:pt x="58" y="2613"/>
                </a:cubicBezTo>
                <a:cubicBezTo>
                  <a:pt x="46" y="2609"/>
                  <a:pt x="36" y="2602"/>
                  <a:pt x="28" y="2593"/>
                </a:cubicBezTo>
                <a:cubicBezTo>
                  <a:pt x="19" y="2585"/>
                  <a:pt x="12" y="2575"/>
                  <a:pt x="8" y="2563"/>
                </a:cubicBezTo>
                <a:cubicBezTo>
                  <a:pt x="3" y="2552"/>
                  <a:pt x="0" y="2540"/>
                  <a:pt x="0" y="2528"/>
                </a:cubicBezTo>
                <a:close/>
              </a:path>
            </a:pathLst>
          </a:custGeom>
          <a:noFill/>
          <a:ln w="9360">
            <a:solidFill>
              <a:srgbClr val="DEE2E6"/>
            </a:solidFill>
            <a:miter/>
          </a:ln>
        </p:spPr>
        <p:txBody>
          <a:bodyPr lIns="4680" tIns="4680" rIns="4680" bIns="4680" anchor="t">
            <a:noAutofit/>
          </a:bodyPr>
          <a:lstStyle/>
          <a:p>
            <a:endParaRPr lang="it-IT" sz="2400" b="0" u="none" strike="noStrike">
              <a:solidFill>
                <a:srgbClr val="000000"/>
              </a:solidFill>
              <a:effectLst/>
              <a:uFillTx/>
              <a:latin typeface="Times New Roman"/>
            </a:endParaRPr>
          </a:p>
        </p:txBody>
      </p:sp>
      <p:sp>
        <p:nvSpPr>
          <p:cNvPr id="2133" name="CasellaDiTesto 2132"/>
          <p:cNvSpPr txBox="1"/>
          <p:nvPr/>
        </p:nvSpPr>
        <p:spPr>
          <a:xfrm>
            <a:off x="971640" y="552600"/>
            <a:ext cx="96040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LA COMPENSAZIONE NELLE PROCEDURE CONCORSUALI</a:t>
            </a:r>
            <a:endParaRPr lang="it-IT" sz="2850" b="0" u="none" strike="noStrike">
              <a:solidFill>
                <a:srgbClr val="000000"/>
              </a:solidFill>
              <a:effectLst/>
              <a:uFillTx/>
              <a:latin typeface="Times New Roman"/>
            </a:endParaRPr>
          </a:p>
        </p:txBody>
      </p:sp>
      <p:sp>
        <p:nvSpPr>
          <p:cNvPr id="2134" name="CasellaDiTesto 2133"/>
          <p:cNvSpPr txBox="1"/>
          <p:nvPr/>
        </p:nvSpPr>
        <p:spPr>
          <a:xfrm>
            <a:off x="971640" y="1307520"/>
            <a:ext cx="57970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Art. 155 CCII</a:t>
            </a:r>
            <a:r>
              <a:rPr lang="it-IT" sz="1650" b="0" u="none" strike="noStrike">
                <a:solidFill>
                  <a:srgbClr val="212529"/>
                </a:solidFill>
                <a:effectLst/>
                <a:uFillTx/>
                <a:latin typeface="SegoeUI"/>
                <a:ea typeface="SegoeUI"/>
              </a:rPr>
              <a:t> (in vigore dal 15/07/2022, riproduce l'art. 56 L.F.):</a:t>
            </a:r>
            <a:endParaRPr lang="it-IT" sz="1650" b="0" u="none" strike="noStrike">
              <a:solidFill>
                <a:srgbClr val="000000"/>
              </a:solidFill>
              <a:effectLst/>
              <a:uFillTx/>
              <a:latin typeface="Times New Roman"/>
            </a:endParaRPr>
          </a:p>
        </p:txBody>
      </p:sp>
      <p:sp>
        <p:nvSpPr>
          <p:cNvPr id="2135" name="CasellaDiTesto 2134"/>
          <p:cNvSpPr txBox="1"/>
          <p:nvPr/>
        </p:nvSpPr>
        <p:spPr>
          <a:xfrm>
            <a:off x="1209600" y="2004120"/>
            <a:ext cx="980316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«I creditori possono opporre in compensazione dei loro debiti verso il debitore […] i propri crediti verso quest'ultimo,</a:t>
            </a:r>
            <a:endParaRPr lang="it-IT" sz="1500" b="0" u="none" strike="noStrike">
              <a:solidFill>
                <a:srgbClr val="000000"/>
              </a:solidFill>
              <a:effectLst/>
              <a:uFillTx/>
              <a:latin typeface="Times New Roman"/>
            </a:endParaRPr>
          </a:p>
        </p:txBody>
      </p:sp>
      <p:sp>
        <p:nvSpPr>
          <p:cNvPr id="2136" name="CasellaDiTesto 2135"/>
          <p:cNvSpPr txBox="1"/>
          <p:nvPr/>
        </p:nvSpPr>
        <p:spPr>
          <a:xfrm>
            <a:off x="1209600" y="2299680"/>
            <a:ext cx="600300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ancorché non scaduti prima dell'apertura della procedura concorsuale».</a:t>
            </a:r>
            <a:endParaRPr lang="it-IT" sz="1500" b="0" u="none" strike="noStrike">
              <a:solidFill>
                <a:srgbClr val="000000"/>
              </a:solidFill>
              <a:effectLst/>
              <a:uFillTx/>
              <a:latin typeface="Times New Roman"/>
            </a:endParaRPr>
          </a:p>
        </p:txBody>
      </p:sp>
      <p:sp>
        <p:nvSpPr>
          <p:cNvPr id="2137" name="CasellaDiTesto 2136"/>
          <p:cNvSpPr txBox="1"/>
          <p:nvPr/>
        </p:nvSpPr>
        <p:spPr>
          <a:xfrm>
            <a:off x="971640" y="2926800"/>
            <a:ext cx="64148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Unico limite: l'anteriorità del </a:t>
            </a:r>
            <a:r>
              <a:rPr lang="it-IT" sz="1650" b="1" u="none" strike="noStrike">
                <a:solidFill>
                  <a:srgbClr val="00509E"/>
                </a:solidFill>
                <a:effectLst/>
                <a:uFillTx/>
                <a:latin typeface="SegoeUI"/>
                <a:ea typeface="SegoeUI"/>
              </a:rPr>
              <a:t>fatto genetico</a:t>
            </a:r>
            <a:r>
              <a:rPr lang="it-IT" sz="1650" b="0" u="none" strike="noStrike">
                <a:solidFill>
                  <a:srgbClr val="212529"/>
                </a:solidFill>
                <a:effectLst/>
                <a:uFillTx/>
                <a:latin typeface="SegoeUI"/>
                <a:ea typeface="SegoeUI"/>
              </a:rPr>
              <a:t> della situazione giuridica.</a:t>
            </a:r>
            <a:endParaRPr lang="it-IT" sz="1650" b="0" u="none" strike="noStrike">
              <a:solidFill>
                <a:srgbClr val="000000"/>
              </a:solidFill>
              <a:effectLst/>
              <a:uFillTx/>
              <a:latin typeface="Times New Roman"/>
            </a:endParaRPr>
          </a:p>
        </p:txBody>
      </p:sp>
      <p:sp>
        <p:nvSpPr>
          <p:cNvPr id="2138" name="CasellaDiTesto 2137"/>
          <p:cNvSpPr txBox="1"/>
          <p:nvPr/>
        </p:nvSpPr>
        <p:spPr>
          <a:xfrm>
            <a:off x="971640" y="3403080"/>
            <a:ext cx="7331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Deroga al </a:t>
            </a:r>
            <a:r>
              <a:rPr lang="it-IT" sz="1650" b="1" u="none" strike="noStrike">
                <a:solidFill>
                  <a:srgbClr val="00509E"/>
                </a:solidFill>
                <a:effectLst/>
                <a:uFillTx/>
                <a:latin typeface="SegoeUI"/>
                <a:ea typeface="SegoeUI"/>
              </a:rPr>
              <a:t>concorso</a:t>
            </a:r>
            <a:r>
              <a:rPr lang="it-IT" sz="1650" b="0" u="none" strike="noStrike">
                <a:solidFill>
                  <a:srgbClr val="212529"/>
                </a:solidFill>
                <a:effectLst/>
                <a:uFillTx/>
                <a:latin typeface="SegoeUI"/>
                <a:ea typeface="SegoeUI"/>
              </a:rPr>
              <a:t>: il creditore-debitore del fallito è sottratto alla par condicio.</a:t>
            </a:r>
            <a:endParaRPr lang="it-IT" sz="1650" b="0" u="none" strike="noStrike">
              <a:solidFill>
                <a:srgbClr val="000000"/>
              </a:solidFill>
              <a:effectLst/>
              <a:uFillTx/>
              <a:latin typeface="Times New Roman"/>
            </a:endParaRPr>
          </a:p>
        </p:txBody>
      </p:sp>
      <p:sp>
        <p:nvSpPr>
          <p:cNvPr id="2139" name="CasellaDiTesto 2138"/>
          <p:cNvSpPr txBox="1"/>
          <p:nvPr/>
        </p:nvSpPr>
        <p:spPr>
          <a:xfrm>
            <a:off x="971640" y="3879000"/>
            <a:ext cx="3927614" cy="253916"/>
          </a:xfrm>
          <a:prstGeom prst="rect">
            <a:avLst/>
          </a:prstGeom>
          <a:noFill/>
          <a:ln w="0">
            <a:noFill/>
          </a:ln>
        </p:spPr>
        <p:txBody>
          <a:bodyPr wrap="none" lIns="0" tIns="0" rIns="0" bIns="0" anchor="t">
            <a:spAutoFit/>
          </a:bodyPr>
          <a:lstStyle/>
          <a:p>
            <a:r>
              <a:rPr lang="it-IT" sz="1650" b="1" u="none" strike="noStrike" dirty="0">
                <a:solidFill>
                  <a:srgbClr val="00509E"/>
                </a:solidFill>
                <a:effectLst/>
                <a:uFillTx/>
                <a:latin typeface="SegoeUI"/>
                <a:ea typeface="SegoeUI"/>
                <a:hlinkClick r:id="rId2"/>
              </a:rPr>
              <a:t>Cass., sez. </a:t>
            </a:r>
            <a:r>
              <a:rPr lang="it-IT" sz="1650" b="1" u="none" strike="noStrike" dirty="0" err="1">
                <a:solidFill>
                  <a:srgbClr val="00509E"/>
                </a:solidFill>
                <a:effectLst/>
                <a:uFillTx/>
                <a:latin typeface="SegoeUI"/>
                <a:ea typeface="SegoeUI"/>
                <a:hlinkClick r:id="rId2"/>
              </a:rPr>
              <a:t>trib</a:t>
            </a:r>
            <a:r>
              <a:rPr lang="it-IT" sz="1650" b="1" u="none" strike="noStrike" dirty="0">
                <a:solidFill>
                  <a:srgbClr val="00509E"/>
                </a:solidFill>
                <a:effectLst/>
                <a:uFillTx/>
                <a:latin typeface="SegoeUI"/>
                <a:ea typeface="SegoeUI"/>
                <a:hlinkClick r:id="rId2"/>
              </a:rPr>
              <a:t>., 21 marzo 2025, n. 7512</a:t>
            </a:r>
            <a:r>
              <a:rPr lang="it-IT" sz="1650" b="0" u="none" strike="noStrike" dirty="0">
                <a:solidFill>
                  <a:srgbClr val="212529"/>
                </a:solidFill>
                <a:effectLst/>
                <a:uFillTx/>
                <a:latin typeface="SegoeUI"/>
                <a:ea typeface="SegoeUI"/>
              </a:rPr>
              <a:t>:</a:t>
            </a:r>
            <a:endParaRPr lang="it-IT" sz="1650" b="0" u="none" strike="noStrike" dirty="0">
              <a:solidFill>
                <a:srgbClr val="000000"/>
              </a:solidFill>
              <a:effectLst/>
              <a:uFillTx/>
              <a:latin typeface="Times New Roman"/>
            </a:endParaRPr>
          </a:p>
        </p:txBody>
      </p:sp>
      <p:sp>
        <p:nvSpPr>
          <p:cNvPr id="2140" name="CasellaDiTesto 2139"/>
          <p:cNvSpPr txBox="1"/>
          <p:nvPr/>
        </p:nvSpPr>
        <p:spPr>
          <a:xfrm>
            <a:off x="1209600" y="4575960"/>
            <a:ext cx="1010916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Ancorché il curatore conservi la </a:t>
            </a:r>
            <a:r>
              <a:rPr lang="it-IT" sz="1500" b="1" u="none" strike="noStrike">
                <a:solidFill>
                  <a:srgbClr val="00509E"/>
                </a:solidFill>
                <a:effectLst/>
                <a:uFillTx/>
                <a:latin typeface="SegoeUI"/>
                <a:ea typeface="SegoeUI"/>
              </a:rPr>
              <a:t>partita IVA</a:t>
            </a:r>
            <a:r>
              <a:rPr lang="it-IT" sz="1500" b="0" u="none" strike="noStrike">
                <a:solidFill>
                  <a:srgbClr val="343A40"/>
                </a:solidFill>
                <a:effectLst/>
                <a:uFillTx/>
                <a:latin typeface="SegoeUI"/>
                <a:ea typeface="SegoeUI"/>
              </a:rPr>
              <a:t> dell'insolvente, </a:t>
            </a:r>
            <a:r>
              <a:rPr lang="it-IT" sz="1500" b="1" u="none" strike="noStrike">
                <a:solidFill>
                  <a:srgbClr val="00509E"/>
                </a:solidFill>
                <a:effectLst/>
                <a:uFillTx/>
                <a:latin typeface="SegoeUI"/>
                <a:ea typeface="SegoeUI"/>
              </a:rPr>
              <a:t>non è legittimato</a:t>
            </a:r>
            <a:r>
              <a:rPr lang="it-IT" sz="1500" b="0" u="none" strike="noStrike">
                <a:solidFill>
                  <a:srgbClr val="343A40"/>
                </a:solidFill>
                <a:effectLst/>
                <a:uFillTx/>
                <a:latin typeface="SegoeUI"/>
                <a:ea typeface="SegoeUI"/>
              </a:rPr>
              <a:t> a compensare ex art. 56 L.F. (art. 155 CCII)</a:t>
            </a:r>
            <a:endParaRPr lang="it-IT" sz="1500" b="0" u="none" strike="noStrike">
              <a:solidFill>
                <a:srgbClr val="000000"/>
              </a:solidFill>
              <a:effectLst/>
              <a:uFillTx/>
              <a:latin typeface="Times New Roman"/>
            </a:endParaRPr>
          </a:p>
        </p:txBody>
      </p:sp>
      <p:sp>
        <p:nvSpPr>
          <p:cNvPr id="2141" name="CasellaDiTesto 2140"/>
          <p:cNvSpPr txBox="1"/>
          <p:nvPr/>
        </p:nvSpPr>
        <p:spPr>
          <a:xfrm>
            <a:off x="1209600" y="4871160"/>
            <a:ext cx="6302520" cy="253440"/>
          </a:xfrm>
          <a:prstGeom prst="rect">
            <a:avLst/>
          </a:prstGeom>
          <a:noFill/>
          <a:ln w="0">
            <a:noFill/>
          </a:ln>
        </p:spPr>
        <p:txBody>
          <a:bodyPr wrap="none" lIns="0" tIns="0" rIns="0" bIns="0" anchor="t">
            <a:spAutoFit/>
          </a:bodyPr>
          <a:lstStyle/>
          <a:p>
            <a:r>
              <a:rPr lang="it-IT" sz="1500" b="0" u="none" strike="noStrike">
                <a:solidFill>
                  <a:srgbClr val="343A40"/>
                </a:solidFill>
                <a:effectLst/>
                <a:uFillTx/>
                <a:latin typeface="SegoeUI"/>
                <a:ea typeface="SegoeUI"/>
              </a:rPr>
              <a:t>un </a:t>
            </a:r>
            <a:r>
              <a:rPr lang="it-IT" sz="1500" b="1" u="none" strike="noStrike">
                <a:solidFill>
                  <a:srgbClr val="00509E"/>
                </a:solidFill>
                <a:effectLst/>
                <a:uFillTx/>
                <a:latin typeface="SegoeUI"/>
                <a:ea typeface="SegoeUI"/>
              </a:rPr>
              <a:t>credito IVA</a:t>
            </a:r>
            <a:r>
              <a:rPr lang="it-IT" sz="1500" b="0" u="none" strike="noStrike">
                <a:solidFill>
                  <a:srgbClr val="343A40"/>
                </a:solidFill>
                <a:effectLst/>
                <a:uFillTx/>
                <a:latin typeface="SegoeUI"/>
                <a:ea typeface="SegoeUI"/>
              </a:rPr>
              <a:t> maturato dal fallito </a:t>
            </a:r>
            <a:r>
              <a:rPr lang="it-IT" sz="1500" b="0" i="1" u="none" strike="noStrike">
                <a:solidFill>
                  <a:srgbClr val="495057"/>
                </a:solidFill>
                <a:effectLst/>
                <a:uFillTx/>
                <a:latin typeface="SegoeUI"/>
                <a:ea typeface="SegoeUI"/>
              </a:rPr>
              <a:t>ante</a:t>
            </a:r>
            <a:r>
              <a:rPr lang="it-IT" sz="1500" b="0" u="none" strike="noStrike">
                <a:solidFill>
                  <a:srgbClr val="343A40"/>
                </a:solidFill>
                <a:effectLst/>
                <a:uFillTx/>
                <a:latin typeface="SegoeUI"/>
                <a:ea typeface="SegoeUI"/>
              </a:rPr>
              <a:t> dichiarazione con </a:t>
            </a:r>
            <a:r>
              <a:rPr lang="it-IT" sz="1500" b="1" u="none" strike="noStrike">
                <a:solidFill>
                  <a:srgbClr val="00509E"/>
                </a:solidFill>
                <a:effectLst/>
                <a:uFillTx/>
                <a:latin typeface="SegoeUI"/>
                <a:ea typeface="SegoeUI"/>
              </a:rPr>
              <a:t>debiti</a:t>
            </a:r>
            <a:r>
              <a:rPr lang="it-IT" sz="1500" b="0" u="none" strike="noStrike">
                <a:solidFill>
                  <a:srgbClr val="343A40"/>
                </a:solidFill>
                <a:effectLst/>
                <a:uFillTx/>
                <a:latin typeface="SegoeUI"/>
                <a:ea typeface="SegoeUI"/>
              </a:rPr>
              <a:t> sorti </a:t>
            </a:r>
            <a:r>
              <a:rPr lang="it-IT" sz="1500" b="0" i="1" u="none" strike="noStrike">
                <a:solidFill>
                  <a:srgbClr val="495057"/>
                </a:solidFill>
                <a:effectLst/>
                <a:uFillTx/>
                <a:latin typeface="SegoeUI"/>
                <a:ea typeface="SegoeUI"/>
              </a:rPr>
              <a:t>post</a:t>
            </a:r>
            <a:r>
              <a:rPr lang="it-IT" sz="1500" b="0" u="none" strike="noStrike">
                <a:solidFill>
                  <a:srgbClr val="343A40"/>
                </a:solidFill>
                <a:effectLst/>
                <a:uFillTx/>
                <a:latin typeface="SegoeUI"/>
                <a:ea typeface="SegoeUI"/>
              </a:rPr>
              <a:t>.</a:t>
            </a:r>
            <a:endParaRPr lang="it-IT" sz="1500" b="0" u="none" strike="noStrike">
              <a:solidFill>
                <a:srgbClr val="000000"/>
              </a:solidFill>
              <a:effectLst/>
              <a:uFillTx/>
              <a:latin typeface="Times New Roman"/>
            </a:endParaRPr>
          </a:p>
        </p:txBody>
      </p:sp>
      <p:sp>
        <p:nvSpPr>
          <p:cNvPr id="2142" name="CasellaDiTesto 2141"/>
          <p:cNvSpPr txBox="1"/>
          <p:nvPr/>
        </p:nvSpPr>
        <p:spPr>
          <a:xfrm>
            <a:off x="971640" y="5498280"/>
            <a:ext cx="101080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Ratio</a:t>
            </a:r>
            <a:r>
              <a:rPr lang="it-IT" sz="1650" b="0" u="none" strike="noStrike">
                <a:solidFill>
                  <a:srgbClr val="212529"/>
                </a:solidFill>
                <a:effectLst/>
                <a:uFillTx/>
                <a:latin typeface="SegoeUI"/>
                <a:ea typeface="SegoeUI"/>
              </a:rPr>
              <a:t>: pur non esistendo una "nuova" soggettività del fallimento, la </a:t>
            </a:r>
            <a:r>
              <a:rPr lang="it-IT" sz="1650" b="0" i="1" u="none" strike="noStrike">
                <a:solidFill>
                  <a:srgbClr val="495057"/>
                </a:solidFill>
                <a:effectLst/>
                <a:uFillTx/>
                <a:latin typeface="SegoeUI"/>
                <a:ea typeface="SegoeUI"/>
              </a:rPr>
              <a:t>frattura</a:t>
            </a:r>
            <a:r>
              <a:rPr lang="it-IT" sz="1650" b="0" u="none" strike="noStrike">
                <a:solidFill>
                  <a:srgbClr val="212529"/>
                </a:solidFill>
                <a:effectLst/>
                <a:uFillTx/>
                <a:latin typeface="SegoeUI"/>
                <a:ea typeface="SegoeUI"/>
              </a:rPr>
              <a:t> tra le obbligazioni del soggetto in</a:t>
            </a:r>
            <a:endParaRPr lang="it-IT" sz="1650" b="0" u="none" strike="noStrike">
              <a:solidFill>
                <a:srgbClr val="000000"/>
              </a:solidFill>
              <a:effectLst/>
              <a:uFillTx/>
              <a:latin typeface="Times New Roman"/>
            </a:endParaRPr>
          </a:p>
        </p:txBody>
      </p:sp>
      <p:sp>
        <p:nvSpPr>
          <p:cNvPr id="2143" name="Figura a mano libera: forma 2142"/>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44" name="CasellaDiTesto 2143"/>
          <p:cNvSpPr txBox="1"/>
          <p:nvPr/>
        </p:nvSpPr>
        <p:spPr>
          <a:xfrm>
            <a:off x="971640" y="5822280"/>
            <a:ext cx="874476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bonis e quelle </a:t>
            </a:r>
            <a:r>
              <a:rPr lang="it-IT" sz="1650" b="0" i="1" u="none" strike="noStrike">
                <a:solidFill>
                  <a:srgbClr val="495057"/>
                </a:solidFill>
                <a:effectLst/>
                <a:uFillTx/>
                <a:latin typeface="SegoeUI"/>
                <a:ea typeface="SegoeUI"/>
              </a:rPr>
              <a:t>della massa</a:t>
            </a:r>
            <a:r>
              <a:rPr lang="it-IT" sz="1650" b="0" u="none" strike="noStrike">
                <a:solidFill>
                  <a:srgbClr val="212529"/>
                </a:solidFill>
                <a:effectLst/>
                <a:uFillTx/>
                <a:latin typeface="SegoeUI"/>
                <a:ea typeface="SegoeUI"/>
              </a:rPr>
              <a:t> impone la </a:t>
            </a:r>
            <a:r>
              <a:rPr lang="it-IT" sz="1650" b="1" u="none" strike="noStrike">
                <a:solidFill>
                  <a:srgbClr val="00509E"/>
                </a:solidFill>
                <a:effectLst/>
                <a:uFillTx/>
                <a:latin typeface="SegoeUI"/>
                <a:ea typeface="SegoeUI"/>
              </a:rPr>
              <a:t>separazione</a:t>
            </a:r>
            <a:r>
              <a:rPr lang="it-IT" sz="1650" b="0" u="none" strike="noStrike">
                <a:solidFill>
                  <a:srgbClr val="212529"/>
                </a:solidFill>
                <a:effectLst/>
                <a:uFillTx/>
                <a:latin typeface="SegoeUI"/>
                <a:ea typeface="SegoeUI"/>
              </a:rPr>
              <a:t> delle due gestioni (par condicio creditorum).</a:t>
            </a:r>
            <a:endParaRPr lang="it-IT" sz="1650" b="0" u="none" strike="noStrike">
              <a:solidFill>
                <a:srgbClr val="000000"/>
              </a:solidFill>
              <a:effectLst/>
              <a:uFillTx/>
              <a:latin typeface="Times New Roman"/>
            </a:endParaRPr>
          </a:p>
        </p:txBody>
      </p:sp>
      <p:sp>
        <p:nvSpPr>
          <p:cNvPr id="2145" name="Figura a mano libera: forma 2144"/>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46" name="CasellaDiTesto 2145"/>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147" name="CasellaDiTesto 2146"/>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72 / 73</a:t>
            </a:r>
            <a:endParaRPr lang="it-IT" sz="980" b="0" u="none" strike="noStrike">
              <a:solidFill>
                <a:srgbClr val="000000"/>
              </a:solidFill>
              <a:effectLst/>
              <a:uFillTx/>
              <a:latin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8" name="Figura a mano libera: forma 2147"/>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49" name="Figura a mano libera: forma 2148"/>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50" name="Figura a mano libera: forma 2149"/>
          <p:cNvSpPr/>
          <p:nvPr/>
        </p:nvSpPr>
        <p:spPr>
          <a:xfrm>
            <a:off x="56880" y="0"/>
            <a:ext cx="12135240" cy="6858000"/>
          </a:xfrm>
          <a:custGeom>
            <a:avLst/>
            <a:gdLst/>
            <a:ahLst/>
            <a:cxnLst/>
            <a:rect l="0" t="0" r="r" b="b"/>
            <a:pathLst>
              <a:path w="33709" h="19050">
                <a:moveTo>
                  <a:pt x="0" y="19050"/>
                </a:moveTo>
                <a:lnTo>
                  <a:pt x="0" y="0"/>
                </a:lnTo>
                <a:lnTo>
                  <a:pt x="33603" y="0"/>
                </a:lnTo>
                <a:cubicBezTo>
                  <a:pt x="33617" y="0"/>
                  <a:pt x="33631" y="2"/>
                  <a:pt x="33644" y="8"/>
                </a:cubicBezTo>
                <a:cubicBezTo>
                  <a:pt x="33657" y="13"/>
                  <a:pt x="33668" y="21"/>
                  <a:pt x="33678" y="30"/>
                </a:cubicBezTo>
                <a:cubicBezTo>
                  <a:pt x="33688" y="40"/>
                  <a:pt x="33696" y="52"/>
                  <a:pt x="33701" y="65"/>
                </a:cubicBezTo>
                <a:cubicBezTo>
                  <a:pt x="33706" y="78"/>
                  <a:pt x="33709" y="91"/>
                  <a:pt x="33709" y="105"/>
                </a:cubicBezTo>
                <a:lnTo>
                  <a:pt x="33709" y="18945"/>
                </a:lnTo>
                <a:cubicBezTo>
                  <a:pt x="33709" y="18959"/>
                  <a:pt x="33706" y="18972"/>
                  <a:pt x="33701" y="18985"/>
                </a:cubicBezTo>
                <a:cubicBezTo>
                  <a:pt x="33696" y="18998"/>
                  <a:pt x="33688" y="19010"/>
                  <a:pt x="33678" y="19020"/>
                </a:cubicBezTo>
                <a:cubicBezTo>
                  <a:pt x="33668" y="19029"/>
                  <a:pt x="33657" y="19037"/>
                  <a:pt x="33644" y="19042"/>
                </a:cubicBezTo>
                <a:cubicBezTo>
                  <a:pt x="33631" y="19048"/>
                  <a:pt x="33617" y="19050"/>
                  <a:pt x="33603" y="19050"/>
                </a:cubicBezTo>
                <a:lnTo>
                  <a:pt x="0" y="19050"/>
                </a:lnTo>
                <a:close/>
              </a:path>
            </a:pathLst>
          </a:custGeom>
          <a:solidFill>
            <a:srgbClr val="FFFFFF"/>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51" name="Figura a mano libera: forma 2150"/>
          <p:cNvSpPr/>
          <p:nvPr/>
        </p:nvSpPr>
        <p:spPr>
          <a:xfrm>
            <a:off x="0" y="0"/>
            <a:ext cx="114480" cy="6858000"/>
          </a:xfrm>
          <a:custGeom>
            <a:avLst/>
            <a:gdLst/>
            <a:ahLst/>
            <a:cxnLst/>
            <a:rect l="0" t="0" r="r" b="b"/>
            <a:pathLst>
              <a:path w="318" h="19050">
                <a:moveTo>
                  <a:pt x="318" y="0"/>
                </a:moveTo>
                <a:lnTo>
                  <a:pt x="318" y="19050"/>
                </a:lnTo>
                <a:lnTo>
                  <a:pt x="105" y="19050"/>
                </a:lnTo>
                <a:cubicBezTo>
                  <a:pt x="76" y="19050"/>
                  <a:pt x="51" y="19040"/>
                  <a:pt x="30" y="19019"/>
                </a:cubicBezTo>
                <a:cubicBezTo>
                  <a:pt x="10" y="18999"/>
                  <a:pt x="0" y="18974"/>
                  <a:pt x="0" y="18945"/>
                </a:cubicBezTo>
                <a:lnTo>
                  <a:pt x="0" y="105"/>
                </a:lnTo>
                <a:cubicBezTo>
                  <a:pt x="0" y="76"/>
                  <a:pt x="10" y="51"/>
                  <a:pt x="30" y="30"/>
                </a:cubicBezTo>
                <a:cubicBezTo>
                  <a:pt x="51" y="10"/>
                  <a:pt x="76" y="0"/>
                  <a:pt x="105" y="0"/>
                </a:cubicBezTo>
                <a:lnTo>
                  <a:pt x="318" y="0"/>
                </a:lnTo>
                <a:close/>
              </a:path>
            </a:pathLst>
          </a:custGeom>
          <a:solidFill>
            <a:srgbClr val="003366"/>
          </a:solidFill>
          <a:ln w="0">
            <a:noFill/>
          </a:ln>
        </p:spPr>
        <p:txBody>
          <a:bodyPr lIns="0" tIns="0" rIns="0" bIns="0" anchor="t">
            <a:noAutofit/>
          </a:bodyPr>
          <a:lstStyle/>
          <a:p>
            <a:endParaRPr lang="it-IT" sz="2400" b="0" u="none" strike="noStrike">
              <a:solidFill>
                <a:srgbClr val="FFFFFF"/>
              </a:solidFill>
              <a:effectLst/>
              <a:uFillTx/>
              <a:latin typeface="Times New Roman"/>
            </a:endParaRPr>
          </a:p>
        </p:txBody>
      </p:sp>
      <p:sp>
        <p:nvSpPr>
          <p:cNvPr id="2152" name="Figura a mano libera: forma 2151"/>
          <p:cNvSpPr/>
          <p:nvPr/>
        </p:nvSpPr>
        <p:spPr>
          <a:xfrm>
            <a:off x="971280" y="2676240"/>
            <a:ext cx="10554120" cy="19440"/>
          </a:xfrm>
          <a:custGeom>
            <a:avLst/>
            <a:gdLst/>
            <a:ahLst/>
            <a:cxnLst/>
            <a:rect l="0" t="0" r="r" b="b"/>
            <a:pathLst>
              <a:path w="29317" h="54">
                <a:moveTo>
                  <a:pt x="0" y="0"/>
                </a:moveTo>
                <a:lnTo>
                  <a:pt x="29317" y="0"/>
                </a:lnTo>
                <a:lnTo>
                  <a:pt x="29317" y="54"/>
                </a:lnTo>
                <a:lnTo>
                  <a:pt x="0" y="54"/>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53" name="CasellaDiTesto 2152"/>
          <p:cNvSpPr txBox="1"/>
          <p:nvPr/>
        </p:nvSpPr>
        <p:spPr>
          <a:xfrm>
            <a:off x="971640" y="1609560"/>
            <a:ext cx="905904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COMPENSAZIONE EX ART. 3-TER D.LGS. 463/1997 (IL</a:t>
            </a:r>
            <a:endParaRPr lang="it-IT" sz="2850" b="0" u="none" strike="noStrike">
              <a:solidFill>
                <a:srgbClr val="000000"/>
              </a:solidFill>
              <a:effectLst/>
              <a:uFillTx/>
              <a:latin typeface="Times New Roman"/>
            </a:endParaRPr>
          </a:p>
        </p:txBody>
      </p:sp>
      <p:sp>
        <p:nvSpPr>
          <p:cNvPr id="2154" name="CasellaDiTesto 2153"/>
          <p:cNvSpPr txBox="1"/>
          <p:nvPr/>
        </p:nvSpPr>
        <p:spPr>
          <a:xfrm>
            <a:off x="971640" y="2057400"/>
            <a:ext cx="3345480" cy="480600"/>
          </a:xfrm>
          <a:prstGeom prst="rect">
            <a:avLst/>
          </a:prstGeom>
          <a:noFill/>
          <a:ln w="0">
            <a:noFill/>
          </a:ln>
        </p:spPr>
        <p:txBody>
          <a:bodyPr wrap="none" lIns="0" tIns="0" rIns="0" bIns="0" anchor="t">
            <a:spAutoFit/>
          </a:bodyPr>
          <a:lstStyle/>
          <a:p>
            <a:r>
              <a:rPr lang="it-IT" sz="2850" b="1" u="none" strike="noStrike">
                <a:solidFill>
                  <a:srgbClr val="003366"/>
                </a:solidFill>
                <a:effectLst/>
                <a:uFillTx/>
                <a:latin typeface="SegoeUI"/>
                <a:ea typeface="SegoeUI"/>
              </a:rPr>
              <a:t>CASO DEL NOTAIO)</a:t>
            </a:r>
            <a:endParaRPr lang="it-IT" sz="2850" b="0" u="none" strike="noStrike">
              <a:solidFill>
                <a:srgbClr val="000000"/>
              </a:solidFill>
              <a:effectLst/>
              <a:uFillTx/>
              <a:latin typeface="Times New Roman"/>
            </a:endParaRPr>
          </a:p>
        </p:txBody>
      </p:sp>
      <p:sp>
        <p:nvSpPr>
          <p:cNvPr id="2155" name="CasellaDiTesto 2154"/>
          <p:cNvSpPr txBox="1"/>
          <p:nvPr/>
        </p:nvSpPr>
        <p:spPr>
          <a:xfrm>
            <a:off x="971640" y="2812320"/>
            <a:ext cx="945036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Registrazione telematica</a:t>
            </a:r>
            <a:r>
              <a:rPr lang="it-IT" sz="1650" b="0" u="none" strike="noStrike">
                <a:solidFill>
                  <a:srgbClr val="212529"/>
                </a:solidFill>
                <a:effectLst/>
                <a:uFillTx/>
                <a:latin typeface="SegoeUI"/>
                <a:ea typeface="SegoeUI"/>
              </a:rPr>
              <a:t> degli atti notarili: il notaio può </a:t>
            </a:r>
            <a:r>
              <a:rPr lang="it-IT" sz="1650" b="1" u="none" strike="noStrike">
                <a:solidFill>
                  <a:srgbClr val="00509E"/>
                </a:solidFill>
                <a:effectLst/>
                <a:uFillTx/>
                <a:latin typeface="SegoeUI"/>
                <a:ea typeface="SegoeUI"/>
              </a:rPr>
              <a:t>compensare</a:t>
            </a:r>
            <a:r>
              <a:rPr lang="it-IT" sz="1650" b="0" u="none" strike="noStrike">
                <a:solidFill>
                  <a:srgbClr val="212529"/>
                </a:solidFill>
                <a:effectLst/>
                <a:uFillTx/>
                <a:latin typeface="SegoeUI"/>
                <a:ea typeface="SegoeUI"/>
              </a:rPr>
              <a:t> le imposte versate in eccesso in</a:t>
            </a:r>
            <a:endParaRPr lang="it-IT" sz="1650" b="0" u="none" strike="noStrike">
              <a:solidFill>
                <a:srgbClr val="000000"/>
              </a:solidFill>
              <a:effectLst/>
              <a:uFillTx/>
              <a:latin typeface="Times New Roman"/>
            </a:endParaRPr>
          </a:p>
        </p:txBody>
      </p:sp>
      <p:sp>
        <p:nvSpPr>
          <p:cNvPr id="2156" name="CasellaDiTesto 2155"/>
          <p:cNvSpPr txBox="1"/>
          <p:nvPr/>
        </p:nvSpPr>
        <p:spPr>
          <a:xfrm>
            <a:off x="971640" y="3136320"/>
            <a:ext cx="53546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autoliquidazione con le imposte dovute per atti successivi.</a:t>
            </a:r>
            <a:endParaRPr lang="it-IT" sz="1650" b="0" u="none" strike="noStrike">
              <a:solidFill>
                <a:srgbClr val="000000"/>
              </a:solidFill>
              <a:effectLst/>
              <a:uFillTx/>
              <a:latin typeface="Times New Roman"/>
            </a:endParaRPr>
          </a:p>
        </p:txBody>
      </p:sp>
      <p:sp>
        <p:nvSpPr>
          <p:cNvPr id="2157" name="CasellaDiTesto 2156"/>
          <p:cNvSpPr txBox="1"/>
          <p:nvPr/>
        </p:nvSpPr>
        <p:spPr>
          <a:xfrm>
            <a:off x="971640" y="3612600"/>
            <a:ext cx="1006380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Questione</a:t>
            </a:r>
            <a:r>
              <a:rPr lang="it-IT" sz="1650" b="0" u="none" strike="noStrike">
                <a:solidFill>
                  <a:srgbClr val="212529"/>
                </a:solidFill>
                <a:effectLst/>
                <a:uFillTx/>
                <a:latin typeface="SegoeUI"/>
                <a:ea typeface="SegoeUI"/>
              </a:rPr>
              <a:t>: è applicabile il termine decadenziale di </a:t>
            </a:r>
            <a:r>
              <a:rPr lang="it-IT" sz="1650" b="1" u="none" strike="noStrike">
                <a:solidFill>
                  <a:srgbClr val="00509E"/>
                </a:solidFill>
                <a:effectLst/>
                <a:uFillTx/>
                <a:latin typeface="SegoeUI"/>
                <a:ea typeface="SegoeUI"/>
              </a:rPr>
              <a:t>3 anni</a:t>
            </a:r>
            <a:r>
              <a:rPr lang="it-IT" sz="1650" b="0" u="none" strike="noStrike">
                <a:solidFill>
                  <a:srgbClr val="212529"/>
                </a:solidFill>
                <a:effectLst/>
                <a:uFillTx/>
                <a:latin typeface="SegoeUI"/>
                <a:ea typeface="SegoeUI"/>
              </a:rPr>
              <a:t> ex art. 77 D.P.R. 131/1986 (previsto per il rimborso)?</a:t>
            </a:r>
            <a:endParaRPr lang="it-IT" sz="1650" b="0" u="none" strike="noStrike">
              <a:solidFill>
                <a:srgbClr val="000000"/>
              </a:solidFill>
              <a:effectLst/>
              <a:uFillTx/>
              <a:latin typeface="Times New Roman"/>
            </a:endParaRPr>
          </a:p>
        </p:txBody>
      </p:sp>
      <p:sp>
        <p:nvSpPr>
          <p:cNvPr id="2158" name="CasellaDiTesto 2157"/>
          <p:cNvSpPr txBox="1"/>
          <p:nvPr/>
        </p:nvSpPr>
        <p:spPr>
          <a:xfrm>
            <a:off x="971640" y="4088880"/>
            <a:ext cx="10000800" cy="277920"/>
          </a:xfrm>
          <a:prstGeom prst="rect">
            <a:avLst/>
          </a:prstGeom>
          <a:noFill/>
          <a:ln w="0">
            <a:noFill/>
          </a:ln>
        </p:spPr>
        <p:txBody>
          <a:bodyPr wrap="none" lIns="0" tIns="0" rIns="0" bIns="0" anchor="t">
            <a:spAutoFit/>
          </a:bodyPr>
          <a:lstStyle/>
          <a:p>
            <a:r>
              <a:rPr lang="it-IT" sz="1650" b="0" i="1" u="none" strike="noStrike">
                <a:solidFill>
                  <a:srgbClr val="495057"/>
                </a:solidFill>
                <a:effectLst/>
                <a:uFillTx/>
                <a:latin typeface="SegoeUI"/>
                <a:ea typeface="SegoeUI"/>
              </a:rPr>
              <a:t>Risposta</a:t>
            </a:r>
            <a:r>
              <a:rPr lang="it-IT" sz="1650" b="0" u="none" strike="noStrike">
                <a:solidFill>
                  <a:srgbClr val="212529"/>
                </a:solidFill>
                <a:effectLst/>
                <a:uFillTx/>
                <a:latin typeface="SegoeUI"/>
                <a:ea typeface="SegoeUI"/>
              </a:rPr>
              <a:t>: </a:t>
            </a:r>
            <a:r>
              <a:rPr lang="it-IT" sz="1650" b="1" u="none" strike="noStrike">
                <a:solidFill>
                  <a:srgbClr val="00509E"/>
                </a:solidFill>
                <a:effectLst/>
                <a:uFillTx/>
                <a:latin typeface="SegoeUI"/>
                <a:ea typeface="SegoeUI"/>
              </a:rPr>
              <a:t>no</a:t>
            </a:r>
            <a:r>
              <a:rPr lang="it-IT" sz="1650" b="0" u="none" strike="noStrike">
                <a:solidFill>
                  <a:srgbClr val="212529"/>
                </a:solidFill>
                <a:effectLst/>
                <a:uFillTx/>
                <a:latin typeface="SegoeUI"/>
                <a:ea typeface="SegoeUI"/>
              </a:rPr>
              <a:t>. La compensazione è istituto </a:t>
            </a:r>
            <a:r>
              <a:rPr lang="it-IT" sz="1650" b="1" u="none" strike="noStrike">
                <a:solidFill>
                  <a:srgbClr val="00509E"/>
                </a:solidFill>
                <a:effectLst/>
                <a:uFillTx/>
                <a:latin typeface="SegoeUI"/>
                <a:ea typeface="SegoeUI"/>
              </a:rPr>
              <a:t>distinto</a:t>
            </a:r>
            <a:r>
              <a:rPr lang="it-IT" sz="1650" b="0" u="none" strike="noStrike">
                <a:solidFill>
                  <a:srgbClr val="212529"/>
                </a:solidFill>
                <a:effectLst/>
                <a:uFillTx/>
                <a:latin typeface="SegoeUI"/>
                <a:ea typeface="SegoeUI"/>
              </a:rPr>
              <a:t> dal rimborso; si applica l'ordinario termine di </a:t>
            </a:r>
            <a:r>
              <a:rPr lang="it-IT" sz="1650" b="1" u="none" strike="noStrike">
                <a:solidFill>
                  <a:srgbClr val="00509E"/>
                </a:solidFill>
                <a:effectLst/>
                <a:uFillTx/>
                <a:latin typeface="SegoeUI"/>
                <a:ea typeface="SegoeUI"/>
              </a:rPr>
              <a:t>prescrizione</a:t>
            </a:r>
            <a:endParaRPr lang="it-IT" sz="1650" b="0" u="none" strike="noStrike">
              <a:solidFill>
                <a:srgbClr val="000000"/>
              </a:solidFill>
              <a:effectLst/>
              <a:uFillTx/>
              <a:latin typeface="Times New Roman"/>
            </a:endParaRPr>
          </a:p>
        </p:txBody>
      </p:sp>
      <p:sp>
        <p:nvSpPr>
          <p:cNvPr id="2159" name="CasellaDiTesto 2158"/>
          <p:cNvSpPr txBox="1"/>
          <p:nvPr/>
        </p:nvSpPr>
        <p:spPr>
          <a:xfrm>
            <a:off x="971640" y="4412520"/>
            <a:ext cx="10331280" cy="277920"/>
          </a:xfrm>
          <a:prstGeom prst="rect">
            <a:avLst/>
          </a:prstGeom>
          <a:noFill/>
          <a:ln w="0">
            <a:noFill/>
          </a:ln>
        </p:spPr>
        <p:txBody>
          <a:bodyPr wrap="none" lIns="0" tIns="0" rIns="0" bIns="0" anchor="t">
            <a:spAutoFit/>
          </a:bodyPr>
          <a:lstStyle/>
          <a:p>
            <a:r>
              <a:rPr lang="it-IT" sz="1650" b="1" u="none" strike="noStrike">
                <a:solidFill>
                  <a:srgbClr val="00509E"/>
                </a:solidFill>
                <a:effectLst/>
                <a:uFillTx/>
                <a:latin typeface="SegoeUI"/>
                <a:ea typeface="SegoeUI"/>
              </a:rPr>
              <a:t>decennale</a:t>
            </a:r>
            <a:r>
              <a:rPr lang="it-IT" sz="1650" b="0" u="none" strike="noStrike">
                <a:solidFill>
                  <a:srgbClr val="212529"/>
                </a:solidFill>
                <a:effectLst/>
                <a:uFillTx/>
                <a:latin typeface="SegoeUI"/>
                <a:ea typeface="SegoeUI"/>
              </a:rPr>
              <a:t> ex art. 2946 c.c. Ratio: parità di trattamento tra notaio-obbligato solidale e l'ordinaria compensazione</a:t>
            </a:r>
            <a:endParaRPr lang="it-IT" sz="1650" b="0" u="none" strike="noStrike">
              <a:solidFill>
                <a:srgbClr val="000000"/>
              </a:solidFill>
              <a:effectLst/>
              <a:uFillTx/>
              <a:latin typeface="Times New Roman"/>
            </a:endParaRPr>
          </a:p>
        </p:txBody>
      </p:sp>
      <p:sp>
        <p:nvSpPr>
          <p:cNvPr id="2160" name="Figura a mano libera: forma 2159"/>
          <p:cNvSpPr/>
          <p:nvPr/>
        </p:nvSpPr>
        <p:spPr>
          <a:xfrm>
            <a:off x="971280" y="6229080"/>
            <a:ext cx="9315720" cy="10080"/>
          </a:xfrm>
          <a:custGeom>
            <a:avLst/>
            <a:gdLst/>
            <a:ahLst/>
            <a:cxnLst/>
            <a:rect l="0" t="0" r="r" b="b"/>
            <a:pathLst>
              <a:path w="25877" h="28">
                <a:moveTo>
                  <a:pt x="0" y="0"/>
                </a:moveTo>
                <a:lnTo>
                  <a:pt x="25877" y="0"/>
                </a:lnTo>
                <a:lnTo>
                  <a:pt x="25877"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61" name="CasellaDiTesto 2160"/>
          <p:cNvSpPr txBox="1"/>
          <p:nvPr/>
        </p:nvSpPr>
        <p:spPr>
          <a:xfrm>
            <a:off x="971640" y="4736520"/>
            <a:ext cx="1751040" cy="277920"/>
          </a:xfrm>
          <a:prstGeom prst="rect">
            <a:avLst/>
          </a:prstGeom>
          <a:noFill/>
          <a:ln w="0">
            <a:noFill/>
          </a:ln>
        </p:spPr>
        <p:txBody>
          <a:bodyPr wrap="none" lIns="0" tIns="0" rIns="0" bIns="0" anchor="t">
            <a:spAutoFit/>
          </a:bodyPr>
          <a:lstStyle/>
          <a:p>
            <a:r>
              <a:rPr lang="it-IT" sz="1650" b="0" u="none" strike="noStrike">
                <a:solidFill>
                  <a:srgbClr val="212529"/>
                </a:solidFill>
                <a:effectLst/>
                <a:uFillTx/>
                <a:latin typeface="SegoeUI"/>
                <a:ea typeface="SegoeUI"/>
              </a:rPr>
              <a:t>dei crediti tributari.</a:t>
            </a:r>
            <a:endParaRPr lang="it-IT" sz="1650" b="0" u="none" strike="noStrike">
              <a:solidFill>
                <a:srgbClr val="000000"/>
              </a:solidFill>
              <a:effectLst/>
              <a:uFillTx/>
              <a:latin typeface="Times New Roman"/>
            </a:endParaRPr>
          </a:p>
        </p:txBody>
      </p:sp>
      <p:sp>
        <p:nvSpPr>
          <p:cNvPr id="2162" name="Figura a mano libera: forma 2161"/>
          <p:cNvSpPr/>
          <p:nvPr/>
        </p:nvSpPr>
        <p:spPr>
          <a:xfrm>
            <a:off x="10648800" y="6229080"/>
            <a:ext cx="876600" cy="10080"/>
          </a:xfrm>
          <a:custGeom>
            <a:avLst/>
            <a:gdLst/>
            <a:ahLst/>
            <a:cxnLst/>
            <a:rect l="0" t="0" r="r" b="b"/>
            <a:pathLst>
              <a:path w="2435" h="28">
                <a:moveTo>
                  <a:pt x="0" y="0"/>
                </a:moveTo>
                <a:lnTo>
                  <a:pt x="2435" y="0"/>
                </a:lnTo>
                <a:lnTo>
                  <a:pt x="2435" y="28"/>
                </a:lnTo>
                <a:lnTo>
                  <a:pt x="0" y="28"/>
                </a:lnTo>
                <a:lnTo>
                  <a:pt x="0" y="0"/>
                </a:lnTo>
                <a:close/>
              </a:path>
            </a:pathLst>
          </a:custGeom>
          <a:solidFill>
            <a:srgbClr val="F1F3F5"/>
          </a:solidFill>
          <a:ln w="0">
            <a:noFill/>
          </a:ln>
        </p:spPr>
        <p:txBody>
          <a:bodyPr lIns="0" tIns="0" rIns="0" bIns="0" anchor="t">
            <a:noAutofit/>
          </a:bodyPr>
          <a:lstStyle/>
          <a:p>
            <a:endParaRPr lang="it-IT" sz="2400" b="0" u="none" strike="noStrike">
              <a:solidFill>
                <a:srgbClr val="000000"/>
              </a:solidFill>
              <a:effectLst/>
              <a:uFillTx/>
              <a:latin typeface="Times New Roman"/>
            </a:endParaRPr>
          </a:p>
        </p:txBody>
      </p:sp>
      <p:sp>
        <p:nvSpPr>
          <p:cNvPr id="2163" name="CasellaDiTesto 2162"/>
          <p:cNvSpPr txBox="1"/>
          <p:nvPr/>
        </p:nvSpPr>
        <p:spPr>
          <a:xfrm>
            <a:off x="971640" y="6391080"/>
            <a:ext cx="164592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COMPENSAZIONI TRIBUTARIE</a:t>
            </a:r>
            <a:endParaRPr lang="it-IT" sz="980" b="0" u="none" strike="noStrike">
              <a:solidFill>
                <a:srgbClr val="000000"/>
              </a:solidFill>
              <a:effectLst/>
              <a:uFillTx/>
              <a:latin typeface="Times New Roman"/>
            </a:endParaRPr>
          </a:p>
        </p:txBody>
      </p:sp>
      <p:sp>
        <p:nvSpPr>
          <p:cNvPr id="2164" name="CasellaDiTesto 2163"/>
          <p:cNvSpPr txBox="1"/>
          <p:nvPr/>
        </p:nvSpPr>
        <p:spPr>
          <a:xfrm>
            <a:off x="10653120" y="6391080"/>
            <a:ext cx="721800" cy="163440"/>
          </a:xfrm>
          <a:prstGeom prst="rect">
            <a:avLst/>
          </a:prstGeom>
          <a:noFill/>
          <a:ln w="0">
            <a:noFill/>
          </a:ln>
        </p:spPr>
        <p:txBody>
          <a:bodyPr wrap="none" lIns="0" tIns="0" rIns="0" bIns="0" anchor="t">
            <a:spAutoFit/>
          </a:bodyPr>
          <a:lstStyle/>
          <a:p>
            <a:r>
              <a:rPr lang="it-IT" sz="980" b="0" u="none" strike="noStrike">
                <a:solidFill>
                  <a:srgbClr val="ADB5BD"/>
                </a:solidFill>
                <a:effectLst/>
                <a:uFillTx/>
                <a:latin typeface="SegoeUI"/>
                <a:ea typeface="SegoeUI"/>
              </a:rPr>
              <a:t>SLIDE 73 / 73</a:t>
            </a:r>
            <a:endParaRPr lang="it-IT" sz="98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ipologia xmlns="956cd894-b996-4c11-b5f1-5e0de6e60782" xsi:nil="true"/>
    <lcf76f155ced4ddcb4097134ff3c332f xmlns="956cd894-b996-4c11-b5f1-5e0de6e60782">
      <Terms xmlns="http://schemas.microsoft.com/office/infopath/2007/PartnerControls"/>
    </lcf76f155ced4ddcb4097134ff3c332f>
    <TaxCatchAll xmlns="e6a95ae9-6f37-4005-b57e-bfea1e9f778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1951927D82004E4AAFD54DD5590269AD" ma:contentTypeVersion="21" ma:contentTypeDescription="Creare un nuovo documento." ma:contentTypeScope="" ma:versionID="49a04186c8bf87bbe7b12ef054f878f7">
  <xsd:schema xmlns:xsd="http://www.w3.org/2001/XMLSchema" xmlns:xs="http://www.w3.org/2001/XMLSchema" xmlns:p="http://schemas.microsoft.com/office/2006/metadata/properties" xmlns:ns2="956cd894-b996-4c11-b5f1-5e0de6e60782" xmlns:ns3="e6a95ae9-6f37-4005-b57e-bfea1e9f778e" targetNamespace="http://schemas.microsoft.com/office/2006/metadata/properties" ma:root="true" ma:fieldsID="cc0895b9788b6164bb26ddb9145374ef" ns2:_="" ns3:_="">
    <xsd:import namespace="956cd894-b996-4c11-b5f1-5e0de6e60782"/>
    <xsd:import namespace="e6a95ae9-6f37-4005-b57e-bfea1e9f778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Tipologia" minOccurs="0"/>
                <xsd:element ref="ns2:MediaServiceAutoKeyPoints" minOccurs="0"/>
                <xsd:element ref="ns2:MediaServiceKeyPoint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6cd894-b996-4c11-b5f1-5e0de6e607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description=""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Tipologia" ma:index="17" nillable="true" ma:displayName="Tipologia" ma:internalName="Tipologia">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Tag immagine" ma:readOnly="false" ma:fieldId="{5cf76f15-5ced-4ddc-b409-7134ff3c332f}" ma:taxonomyMulti="true" ma:sspId="550eb1d7-83b1-415e-a69d-b2abb216702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6a95ae9-6f37-4005-b57e-bfea1e9f778e" elementFormDefault="qualified">
    <xsd:import namespace="http://schemas.microsoft.com/office/2006/documentManagement/types"/>
    <xsd:import namespace="http://schemas.microsoft.com/office/infopath/2007/PartnerControls"/>
    <xsd:element name="SharedWithUsers" ma:index="15"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Condiviso con dettagli" ma:internalName="SharedWithDetails" ma:readOnly="true">
      <xsd:simpleType>
        <xsd:restriction base="dms:Note">
          <xsd:maxLength value="255"/>
        </xsd:restriction>
      </xsd:simpleType>
    </xsd:element>
    <xsd:element name="TaxCatchAll" ma:index="24" nillable="true" ma:displayName="Taxonomy Catch All Column" ma:hidden="true" ma:list="{2423b142-971c-4e80-a347-cc3fe39bc47e}" ma:internalName="TaxCatchAll" ma:showField="CatchAllData" ma:web="e6a95ae9-6f37-4005-b57e-bfea1e9f77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B91D7B-DFC6-4C75-89CB-BD76CC1EE360}">
  <ds:schemaRefs>
    <ds:schemaRef ds:uri="http://schemas.microsoft.com/office/2006/metadata/properties"/>
    <ds:schemaRef ds:uri="http://schemas.microsoft.com/office/infopath/2007/PartnerControls"/>
    <ds:schemaRef ds:uri="956cd894-b996-4c11-b5f1-5e0de6e60782"/>
    <ds:schemaRef ds:uri="e6a95ae9-6f37-4005-b57e-bfea1e9f778e"/>
  </ds:schemaRefs>
</ds:datastoreItem>
</file>

<file path=customXml/itemProps2.xml><?xml version="1.0" encoding="utf-8"?>
<ds:datastoreItem xmlns:ds="http://schemas.openxmlformats.org/officeDocument/2006/customXml" ds:itemID="{0B996B5E-596E-4E11-979F-6BD5F307C998}">
  <ds:schemaRefs>
    <ds:schemaRef ds:uri="http://schemas.microsoft.com/sharepoint/v3/contenttype/forms"/>
  </ds:schemaRefs>
</ds:datastoreItem>
</file>

<file path=customXml/itemProps3.xml><?xml version="1.0" encoding="utf-8"?>
<ds:datastoreItem xmlns:ds="http://schemas.openxmlformats.org/officeDocument/2006/customXml" ds:itemID="{6C41024A-38BB-4C58-ACF1-A740BCA0B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6cd894-b996-4c11-b5f1-5e0de6e60782"/>
    <ds:schemaRef ds:uri="e6a95ae9-6f37-4005-b57e-bfea1e9f77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91</TotalTime>
  <Words>9779</Words>
  <Application>Microsoft Office PowerPoint</Application>
  <PresentationFormat>Widescreen</PresentationFormat>
  <Paragraphs>904</Paragraphs>
  <Slides>74</Slides>
  <Notes>0</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74</vt:i4>
      </vt:variant>
    </vt:vector>
  </HeadingPairs>
  <TitlesOfParts>
    <vt:vector size="82" baseType="lpstr">
      <vt:lpstr>Arial</vt:lpstr>
      <vt:lpstr>CambriaMath</vt:lpstr>
      <vt:lpstr>Segoe UI</vt:lpstr>
      <vt:lpstr>SegoeUI</vt:lpstr>
      <vt:lpstr>Symbol</vt:lpstr>
      <vt:lpstr>Times New Roman</vt:lpstr>
      <vt:lpstr>Wingdings</vt:lpstr>
      <vt:lpstr>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Luca Bonfanti</cp:lastModifiedBy>
  <cp:revision>1</cp:revision>
  <dcterms:modified xsi:type="dcterms:W3CDTF">2026-04-28T16:02:56Z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it-IT</dc:language>
  <cp:lastModifiedBy/>
  <cp:revision>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0x0101001951927D82004E4AAFD54DD5590269AD</vt:lpwstr>
  </property>
  <property fmtid="{D5CDD505-2E9C-101B-9397-08002B2CF9AE}" pid="3" name="MediaServiceImageTags">
    <vt:lpwstr/>
  </property>
</Properties>
</file>