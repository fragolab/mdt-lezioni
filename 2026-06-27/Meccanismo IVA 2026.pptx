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4"/>
    <p:sldMasterId id="2147483661" r:id="rId5"/>
    <p:sldMasterId id="2147483674" r:id="rId6"/>
  </p:sldMasterIdLst>
  <p:notesMasterIdLst>
    <p:notesMasterId r:id="rId91"/>
  </p:notesMasterIdLst>
  <p:handoutMasterIdLst>
    <p:handoutMasterId r:id="rId92"/>
  </p:handoutMasterIdLst>
  <p:sldIdLst>
    <p:sldId id="256" r:id="rId7"/>
    <p:sldId id="258" r:id="rId8"/>
    <p:sldId id="365" r:id="rId9"/>
    <p:sldId id="492" r:id="rId10"/>
    <p:sldId id="356" r:id="rId11"/>
    <p:sldId id="257" r:id="rId12"/>
    <p:sldId id="481" r:id="rId13"/>
    <p:sldId id="366" r:id="rId14"/>
    <p:sldId id="488" r:id="rId15"/>
    <p:sldId id="500" r:id="rId16"/>
    <p:sldId id="482" r:id="rId17"/>
    <p:sldId id="484" r:id="rId18"/>
    <p:sldId id="485" r:id="rId19"/>
    <p:sldId id="487" r:id="rId20"/>
    <p:sldId id="499" r:id="rId21"/>
    <p:sldId id="259" r:id="rId22"/>
    <p:sldId id="263" r:id="rId23"/>
    <p:sldId id="261" r:id="rId24"/>
    <p:sldId id="262" r:id="rId25"/>
    <p:sldId id="489" r:id="rId26"/>
    <p:sldId id="498" r:id="rId27"/>
    <p:sldId id="494" r:id="rId28"/>
    <p:sldId id="495" r:id="rId29"/>
    <p:sldId id="496" r:id="rId30"/>
    <p:sldId id="497" r:id="rId31"/>
    <p:sldId id="480" r:id="rId32"/>
    <p:sldId id="264" r:id="rId33"/>
    <p:sldId id="265" r:id="rId34"/>
    <p:sldId id="266" r:id="rId35"/>
    <p:sldId id="267" r:id="rId36"/>
    <p:sldId id="268" r:id="rId37"/>
    <p:sldId id="269" r:id="rId38"/>
    <p:sldId id="270" r:id="rId39"/>
    <p:sldId id="272" r:id="rId40"/>
    <p:sldId id="273" r:id="rId41"/>
    <p:sldId id="491" r:id="rId42"/>
    <p:sldId id="276" r:id="rId43"/>
    <p:sldId id="277" r:id="rId44"/>
    <p:sldId id="501" r:id="rId45"/>
    <p:sldId id="279" r:id="rId46"/>
    <p:sldId id="280" r:id="rId47"/>
    <p:sldId id="278" r:id="rId48"/>
    <p:sldId id="347" r:id="rId49"/>
    <p:sldId id="281" r:id="rId50"/>
    <p:sldId id="349" r:id="rId51"/>
    <p:sldId id="357" r:id="rId52"/>
    <p:sldId id="282" r:id="rId53"/>
    <p:sldId id="283" r:id="rId54"/>
    <p:sldId id="284" r:id="rId55"/>
    <p:sldId id="285" r:id="rId56"/>
    <p:sldId id="286" r:id="rId57"/>
    <p:sldId id="287" r:id="rId58"/>
    <p:sldId id="288" r:id="rId59"/>
    <p:sldId id="289" r:id="rId60"/>
    <p:sldId id="290" r:id="rId61"/>
    <p:sldId id="291" r:id="rId62"/>
    <p:sldId id="350" r:id="rId63"/>
    <p:sldId id="292" r:id="rId64"/>
    <p:sldId id="293" r:id="rId65"/>
    <p:sldId id="344" r:id="rId66"/>
    <p:sldId id="294" r:id="rId67"/>
    <p:sldId id="490" r:id="rId68"/>
    <p:sldId id="345" r:id="rId69"/>
    <p:sldId id="351" r:id="rId70"/>
    <p:sldId id="352" r:id="rId71"/>
    <p:sldId id="297" r:id="rId72"/>
    <p:sldId id="298" r:id="rId73"/>
    <p:sldId id="299" r:id="rId74"/>
    <p:sldId id="300" r:id="rId75"/>
    <p:sldId id="301" r:id="rId76"/>
    <p:sldId id="302" r:id="rId77"/>
    <p:sldId id="303" r:id="rId78"/>
    <p:sldId id="304" r:id="rId79"/>
    <p:sldId id="305" r:id="rId80"/>
    <p:sldId id="306" r:id="rId81"/>
    <p:sldId id="307" r:id="rId82"/>
    <p:sldId id="308" r:id="rId83"/>
    <p:sldId id="309" r:id="rId84"/>
    <p:sldId id="310" r:id="rId85"/>
    <p:sldId id="311" r:id="rId86"/>
    <p:sldId id="312" r:id="rId87"/>
    <p:sldId id="313" r:id="rId88"/>
    <p:sldId id="314" r:id="rId89"/>
    <p:sldId id="315" r:id="rId90"/>
  </p:sldIdLst>
  <p:sldSz cx="9144000" cy="6858000" type="screen4x3"/>
  <p:notesSz cx="6858000" cy="9144000"/>
  <p:defaultTextStyle>
    <a:defPPr>
      <a:defRPr lang="it-IT"/>
    </a:defPPr>
    <a:lvl1pPr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1pPr>
    <a:lvl2pPr marL="4572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2pPr>
    <a:lvl3pPr marL="9144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3pPr>
    <a:lvl4pPr marL="13716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4pPr>
    <a:lvl5pPr marL="1828800" algn="l" rtl="0" fontAlgn="base">
      <a:spcBef>
        <a:spcPct val="0"/>
      </a:spcBef>
      <a:spcAft>
        <a:spcPct val="0"/>
      </a:spcAft>
      <a:defRPr kern="1200">
        <a:solidFill>
          <a:schemeClr val="tx1"/>
        </a:solidFill>
        <a:latin typeface="Arial" panose="020B0604020202020204" pitchFamily="34" charset="0"/>
        <a:ea typeface="DejaVu Sans" panose="020B0603030804020204"/>
        <a:cs typeface="DejaVu Sans" panose="020B0603030804020204"/>
      </a:defRPr>
    </a:lvl5pPr>
    <a:lvl6pPr marL="22860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6pPr>
    <a:lvl7pPr marL="27432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7pPr>
    <a:lvl8pPr marL="32004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8pPr>
    <a:lvl9pPr marL="3657600" algn="l" defTabSz="914400" rtl="0" eaLnBrk="1" latinLnBrk="0" hangingPunct="1">
      <a:defRPr kern="1200">
        <a:solidFill>
          <a:schemeClr val="tx1"/>
        </a:solidFill>
        <a:latin typeface="Arial" panose="020B0604020202020204" pitchFamily="34" charset="0"/>
        <a:ea typeface="DejaVu Sans" panose="020B0603030804020204"/>
        <a:cs typeface="DejaVu Sans" panose="020B0603030804020204"/>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399CE3-7904-472A-A5E5-100E51D948D6}" v="1" dt="2026-06-26T12:28:39.449"/>
  </p1510:revLst>
</p1510:revInfo>
</file>

<file path=ppt/tableStyles.xml><?xml version="1.0" encoding="utf-8"?>
<a:tblStyleLst xmlns:a="http://schemas.openxmlformats.org/drawingml/2006/main" def="{5C22544A-7EE6-4342-B048-85BDC9FD1C3A}">
  <a:tblStyle styleId="{125E5076-3810-47DD-B79F-674D7AD40C01}" styleName="æ·±è²æ ·å¼ 1 - å¼ºè°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ä¸­åº¦æ ·å¼ 2 - å¼ºè°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ile con tema 1 - Colore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Stile medio 4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Stile medio 1 - Colore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essuno stile, nessuna grigli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0A1B5D5-9B99-4C35-A422-299274C87663}" styleName="Stile medio 1 - Colore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autoAdjust="0"/>
    <p:restoredTop sz="94674" autoAdjust="0"/>
  </p:normalViewPr>
  <p:slideViewPr>
    <p:cSldViewPr snapToGrid="0">
      <p:cViewPr varScale="1">
        <p:scale>
          <a:sx n="101" d="100"/>
          <a:sy n="101" d="100"/>
        </p:scale>
        <p:origin x="1836" y="108"/>
      </p:cViewPr>
      <p:guideLst>
        <p:guide orient="horz" pos="2160"/>
        <p:guide pos="2880"/>
      </p:guideLst>
    </p:cSldViewPr>
  </p:slideViewPr>
  <p:notesTextViewPr>
    <p:cViewPr>
      <p:scale>
        <a:sx n="1" d="1"/>
        <a:sy n="1" d="1"/>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theme" Target="theme/theme1.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slide" Target="slides/slide69.xml"/><Relationship Id="rId83" Type="http://schemas.openxmlformats.org/officeDocument/2006/relationships/slide" Target="slides/slide77.xml"/><Relationship Id="rId88" Type="http://schemas.openxmlformats.org/officeDocument/2006/relationships/slide" Target="slides/slide82.xml"/><Relationship Id="rId91" Type="http://schemas.openxmlformats.org/officeDocument/2006/relationships/notesMaster" Target="notesMasters/notesMaster1.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microsoft.com/office/2016/11/relationships/changesInfo" Target="changesInfos/changesInfo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handoutMaster" Target="handoutMasters/handoutMaster1.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presProps" Target="presProps.xml"/><Relationship Id="rId9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Bonfanti" userId="c30ac399-0397-4b02-b9ad-714907a1cb7e" providerId="ADAL" clId="{AE5FC6BA-E2F5-4FA6-9481-3C093B3FB630}"/>
    <pc:docChg chg="modSld">
      <pc:chgData name="Luca Bonfanti" userId="c30ac399-0397-4b02-b9ad-714907a1cb7e" providerId="ADAL" clId="{AE5FC6BA-E2F5-4FA6-9481-3C093B3FB630}" dt="2026-06-26T12:50:18.440" v="9" actId="20577"/>
      <pc:docMkLst>
        <pc:docMk/>
      </pc:docMkLst>
      <pc:sldChg chg="modSp mod">
        <pc:chgData name="Luca Bonfanti" userId="c30ac399-0397-4b02-b9ad-714907a1cb7e" providerId="ADAL" clId="{AE5FC6BA-E2F5-4FA6-9481-3C093B3FB630}" dt="2026-06-26T12:49:48.273" v="5" actId="13822"/>
        <pc:sldMkLst>
          <pc:docMk/>
          <pc:sldMk cId="0" sldId="262"/>
        </pc:sldMkLst>
        <pc:spChg chg="mod">
          <ac:chgData name="Luca Bonfanti" userId="c30ac399-0397-4b02-b9ad-714907a1cb7e" providerId="ADAL" clId="{AE5FC6BA-E2F5-4FA6-9481-3C093B3FB630}" dt="2026-06-26T12:49:48.273" v="5" actId="13822"/>
          <ac:spMkLst>
            <pc:docMk/>
            <pc:sldMk cId="0" sldId="262"/>
            <ac:spMk id="2" creationId="{E135BFD0-6D8C-152C-AE34-CAB7DA5DE65B}"/>
          </ac:spMkLst>
        </pc:spChg>
      </pc:sldChg>
      <pc:sldChg chg="modSp mod">
        <pc:chgData name="Luca Bonfanti" userId="c30ac399-0397-4b02-b9ad-714907a1cb7e" providerId="ADAL" clId="{AE5FC6BA-E2F5-4FA6-9481-3C093B3FB630}" dt="2026-06-26T12:49:10.290" v="4" actId="6549"/>
        <pc:sldMkLst>
          <pc:docMk/>
          <pc:sldMk cId="0" sldId="485"/>
        </pc:sldMkLst>
        <pc:spChg chg="mod">
          <ac:chgData name="Luca Bonfanti" userId="c30ac399-0397-4b02-b9ad-714907a1cb7e" providerId="ADAL" clId="{AE5FC6BA-E2F5-4FA6-9481-3C093B3FB630}" dt="2026-06-26T12:49:10.290" v="4" actId="6549"/>
          <ac:spMkLst>
            <pc:docMk/>
            <pc:sldMk cId="0" sldId="485"/>
            <ac:spMk id="6" creationId="{00000000-0000-0000-0000-000000000000}"/>
          </ac:spMkLst>
        </pc:spChg>
      </pc:sldChg>
      <pc:sldChg chg="modSp">
        <pc:chgData name="Luca Bonfanti" userId="c30ac399-0397-4b02-b9ad-714907a1cb7e" providerId="ADAL" clId="{AE5FC6BA-E2F5-4FA6-9481-3C093B3FB630}" dt="2026-06-26T12:28:39.449" v="0"/>
        <pc:sldMkLst>
          <pc:docMk/>
          <pc:sldMk cId="1725084683" sldId="492"/>
        </pc:sldMkLst>
        <pc:picChg chg="mod">
          <ac:chgData name="Luca Bonfanti" userId="c30ac399-0397-4b02-b9ad-714907a1cb7e" providerId="ADAL" clId="{AE5FC6BA-E2F5-4FA6-9481-3C093B3FB630}" dt="2026-06-26T12:28:39.449" v="0"/>
          <ac:picMkLst>
            <pc:docMk/>
            <pc:sldMk cId="1725084683" sldId="492"/>
            <ac:picMk id="4" creationId="{DE2E6C81-8117-B3F4-A090-1273BCC28FC7}"/>
          </ac:picMkLst>
        </pc:picChg>
      </pc:sldChg>
      <pc:sldChg chg="modSp mod">
        <pc:chgData name="Luca Bonfanti" userId="c30ac399-0397-4b02-b9ad-714907a1cb7e" providerId="ADAL" clId="{AE5FC6BA-E2F5-4FA6-9481-3C093B3FB630}" dt="2026-06-26T12:50:18.440" v="9" actId="20577"/>
        <pc:sldMkLst>
          <pc:docMk/>
          <pc:sldMk cId="912275805" sldId="494"/>
        </pc:sldMkLst>
        <pc:spChg chg="mod">
          <ac:chgData name="Luca Bonfanti" userId="c30ac399-0397-4b02-b9ad-714907a1cb7e" providerId="ADAL" clId="{AE5FC6BA-E2F5-4FA6-9481-3C093B3FB630}" dt="2026-06-26T12:50:18.440" v="9" actId="20577"/>
          <ac:spMkLst>
            <pc:docMk/>
            <pc:sldMk cId="912275805" sldId="494"/>
            <ac:spMk id="4" creationId="{AFB82659-DBF8-ECFB-1640-7EF255C47FDF}"/>
          </ac:spMkLst>
        </pc:spChg>
        <pc:spChg chg="mod">
          <ac:chgData name="Luca Bonfanti" userId="c30ac399-0397-4b02-b9ad-714907a1cb7e" providerId="ADAL" clId="{AE5FC6BA-E2F5-4FA6-9481-3C093B3FB630}" dt="2026-06-26T12:50:14.854" v="7" actId="6549"/>
          <ac:spMkLst>
            <pc:docMk/>
            <pc:sldMk cId="912275805" sldId="494"/>
            <ac:spMk id="5" creationId="{004BF267-7E0D-39FE-2D19-5CDE3331D0B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cs typeface="+mn-cs"/>
              </a:defRPr>
            </a:lvl1pPr>
          </a:lstStyle>
          <a:p>
            <a:fld id="{40222A95-F431-DA48-BF28-BBDB97D74870}" type="datetimeFigureOut">
              <a:rPr lang="it-IT"/>
              <a:t>26/06/2026</a:t>
            </a:fld>
            <a:endParaRPr lang="it-IT">
              <a:latin typeface="Arial" panose="020B0604020202020204" pitchFamily="34" charset="0"/>
              <a:ea typeface="DejaVu Sans" panose="020B0603030804020204"/>
              <a:cs typeface="DejaVu Sans" panose="020B0603030804020204"/>
            </a:endParaRPr>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lstStyle>
            <a:lvl1pPr algn="r">
              <a:defRPr sz="1200"/>
            </a:lvl1pPr>
          </a:lstStyle>
          <a:p>
            <a:fld id="{F0DF52DD-64EA-4D65-9908-00574F3D9288}" type="slidenum">
              <a:rPr lang="it-IT" altLang="en-US"/>
              <a:t>‹N›</a:t>
            </a:fld>
            <a:endParaRPr lang="it-IT"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215900" y="812800"/>
            <a:ext cx="7127875" cy="4008438"/>
          </a:xfrm>
          <a:prstGeom prst="rect">
            <a:avLst/>
          </a:prstGeom>
        </p:spPr>
        <p:txBody>
          <a:bodyPr lIns="0" tIns="0" rIns="0" bIns="0" anchor="ctr"/>
          <a:lstStyle/>
          <a:p>
            <a:r>
              <a:rPr lang="it-IT" noProof="1"/>
              <a:t>Fai clic per spostare la diapositiva</a:t>
            </a:r>
          </a:p>
        </p:txBody>
      </p:sp>
      <p:sp>
        <p:nvSpPr>
          <p:cNvPr id="115" name="PlaceHolder 2"/>
          <p:cNvSpPr>
            <a:spLocks noGrp="1"/>
          </p:cNvSpPr>
          <p:nvPr>
            <p:ph type="body"/>
          </p:nvPr>
        </p:nvSpPr>
        <p:spPr>
          <a:xfrm>
            <a:off x="755650" y="5078413"/>
            <a:ext cx="6048375" cy="4811712"/>
          </a:xfrm>
          <a:prstGeom prst="rect">
            <a:avLst/>
          </a:prstGeom>
        </p:spPr>
        <p:txBody>
          <a:bodyPr lIns="0" tIns="0" rIns="0" bIns="0"/>
          <a:lstStyle/>
          <a:p>
            <a:r>
              <a:rPr lang="it-IT" noProof="1"/>
              <a:t>Fai clic per modificare il formato delle note</a:t>
            </a:r>
          </a:p>
        </p:txBody>
      </p:sp>
      <p:sp>
        <p:nvSpPr>
          <p:cNvPr id="116" name="PlaceHolder 3"/>
          <p:cNvSpPr>
            <a:spLocks noGrp="1"/>
          </p:cNvSpPr>
          <p:nvPr>
            <p:ph type="hdr"/>
          </p:nvPr>
        </p:nvSpPr>
        <p:spPr>
          <a:xfrm>
            <a:off x="0" y="0"/>
            <a:ext cx="3281363" cy="534988"/>
          </a:xfrm>
          <a:prstGeom prst="rect">
            <a:avLst/>
          </a:prstGeom>
        </p:spPr>
        <p:txBody>
          <a:bodyPr lIns="0" tIns="0" rIns="0" bIns="0"/>
          <a:lstStyle>
            <a:lvl1pPr fontAlgn="auto">
              <a:defRPr sz="1400" spc="-1" noProof="1">
                <a:latin typeface="Times New Roman" panose="02020603050405020304"/>
                <a:ea typeface="+mn-ea"/>
                <a:cs typeface="+mn-cs"/>
              </a:defRPr>
            </a:lvl1pPr>
          </a:lstStyle>
          <a:p>
            <a:r>
              <a:rPr lang="it-IT"/>
              <a:t>&lt;intestazione&gt;</a:t>
            </a:r>
          </a:p>
        </p:txBody>
      </p:sp>
      <p:sp>
        <p:nvSpPr>
          <p:cNvPr id="117" name="PlaceHolder 4"/>
          <p:cNvSpPr>
            <a:spLocks noGrp="1"/>
          </p:cNvSpPr>
          <p:nvPr>
            <p:ph type="dt"/>
          </p:nvPr>
        </p:nvSpPr>
        <p:spPr>
          <a:xfrm>
            <a:off x="4278313" y="0"/>
            <a:ext cx="3281362" cy="534988"/>
          </a:xfrm>
          <a:prstGeom prst="rect">
            <a:avLst/>
          </a:prstGeom>
        </p:spPr>
        <p:txBody>
          <a:bodyPr lIns="0" tIns="0" rIns="0" bIns="0"/>
          <a:lstStyle>
            <a:lvl1pPr algn="r" fontAlgn="auto">
              <a:defRPr sz="1400" spc="-1" noProof="1">
                <a:latin typeface="Times New Roman" panose="02020603050405020304"/>
                <a:ea typeface="+mn-ea"/>
                <a:cs typeface="+mn-cs"/>
              </a:defRPr>
            </a:lvl1pPr>
          </a:lstStyle>
          <a:p>
            <a:r>
              <a:rPr lang="it-IT"/>
              <a:t>&lt;data/ora&gt;</a:t>
            </a:r>
          </a:p>
        </p:txBody>
      </p:sp>
      <p:sp>
        <p:nvSpPr>
          <p:cNvPr id="118" name="PlaceHolder 5"/>
          <p:cNvSpPr>
            <a:spLocks noGrp="1"/>
          </p:cNvSpPr>
          <p:nvPr>
            <p:ph type="ftr"/>
          </p:nvPr>
        </p:nvSpPr>
        <p:spPr>
          <a:xfrm>
            <a:off x="0" y="10156825"/>
            <a:ext cx="3281363" cy="534988"/>
          </a:xfrm>
          <a:prstGeom prst="rect">
            <a:avLst/>
          </a:prstGeom>
        </p:spPr>
        <p:txBody>
          <a:bodyPr lIns="0" tIns="0" rIns="0" bIns="0" anchor="b"/>
          <a:lstStyle>
            <a:lvl1pPr fontAlgn="auto">
              <a:defRPr sz="1400" spc="-1" noProof="1">
                <a:latin typeface="Times New Roman" panose="02020603050405020304"/>
                <a:ea typeface="+mn-ea"/>
                <a:cs typeface="+mn-cs"/>
              </a:defRPr>
            </a:lvl1pPr>
          </a:lstStyle>
          <a:p>
            <a:r>
              <a:rPr lang="it-IT"/>
              <a:t>&lt;piè di pagina&gt;</a:t>
            </a:r>
          </a:p>
        </p:txBody>
      </p:sp>
      <p:sp>
        <p:nvSpPr>
          <p:cNvPr id="119" name="PlaceHolder 6"/>
          <p:cNvSpPr>
            <a:spLocks noGrp="1"/>
          </p:cNvSpPr>
          <p:nvPr>
            <p:ph type="sldNum"/>
          </p:nvPr>
        </p:nvSpPr>
        <p:spPr>
          <a:xfrm>
            <a:off x="4278313" y="10156825"/>
            <a:ext cx="3281362" cy="534988"/>
          </a:xfrm>
          <a:prstGeom prst="rect">
            <a:avLst/>
          </a:prstGeom>
        </p:spPr>
        <p:txBody>
          <a:bodyPr vert="horz" wrap="square" lIns="0" tIns="0" rIns="0" bIns="0" numCol="1" anchor="b" anchorCtr="0" compatLnSpc="1"/>
          <a:lstStyle>
            <a:lvl1pPr algn="r">
              <a:defRPr sz="1400">
                <a:latin typeface="Times New Roman" panose="02020603050405020304" pitchFamily="18" charset="0"/>
              </a:defRPr>
            </a:lvl1pPr>
          </a:lstStyle>
          <a:p>
            <a:fld id="{447EC4FE-4E90-43A4-AAA7-4634740AB930}" type="slidenum">
              <a:rPr lang="it-IT" altLang="en-US"/>
              <a:t>‹N›</a:t>
            </a:fld>
            <a:endParaRPr lang="it-IT" altLang="en-US"/>
          </a:p>
        </p:txBody>
      </p:sp>
    </p:spTree>
  </p:cSld>
  <p:clrMap bg1="lt1" tx1="dk1" bg2="lt2" tx2="dk2" accent1="accent1" accent2="accent2" accent3="accent3" accent4="accent4" accent5="accent5" accent6="accent6" hlink="hlink" folHlink="folHlink"/>
  <p:hf hdr="0" dt="0"/>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PlaceHolder 1"/>
          <p:cNvSpPr>
            <a:spLocks noGrp="1" noRot="1" noChangeAspect="1" noChangeArrowheads="1"/>
          </p:cNvSpPr>
          <p:nvPr>
            <p:ph type="sldImg" idx="4294967295"/>
          </p:nvPr>
        </p:nvSpPr>
        <p:spPr bwMode="auto">
          <a:xfrm>
            <a:off x="1143000" y="685800"/>
            <a:ext cx="4570413" cy="3427413"/>
          </a:xfrm>
        </p:spPr>
      </p:sp>
      <p:sp>
        <p:nvSpPr>
          <p:cNvPr id="465" name="PlaceHolder 2"/>
          <p:cNvSpPr>
            <a:spLocks noGrp="1"/>
          </p:cNvSpPr>
          <p:nvPr>
            <p:ph type="body"/>
          </p:nvPr>
        </p:nvSpPr>
        <p:spPr>
          <a:xfrm>
            <a:off x="685800" y="4343400"/>
            <a:ext cx="5484813" cy="4113213"/>
          </a:xfrm>
        </p:spPr>
        <p:txBody>
          <a:bodyPr/>
          <a:lstStyle/>
          <a:p>
            <a:pPr fontAlgn="auto"/>
            <a:endParaRPr lang="it-IT" sz="2000" spc="-1" noProof="1"/>
          </a:p>
        </p:txBody>
      </p:sp>
      <p:sp>
        <p:nvSpPr>
          <p:cNvPr id="466" name="CustomShape 3"/>
          <p:cNvSpPr/>
          <p:nvPr/>
        </p:nvSpPr>
        <p:spPr>
          <a:xfrm>
            <a:off x="3884613" y="8685213"/>
            <a:ext cx="2970212" cy="455612"/>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PlaceHolder 1"/>
          <p:cNvSpPr>
            <a:spLocks noGrp="1" noRot="1" noChangeAspect="1" noChangeArrowheads="1"/>
          </p:cNvSpPr>
          <p:nvPr>
            <p:ph type="sldImg" idx="4294967295"/>
          </p:nvPr>
        </p:nvSpPr>
        <p:spPr bwMode="auto">
          <a:xfrm>
            <a:off x="1106488" y="812800"/>
            <a:ext cx="5343525" cy="4006850"/>
          </a:xfrm>
        </p:spPr>
      </p:sp>
      <p:sp>
        <p:nvSpPr>
          <p:cNvPr id="468"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69"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extLst>
      <p:ext uri="{BB962C8B-B14F-4D97-AF65-F5344CB8AC3E}">
        <p14:creationId xmlns:p14="http://schemas.microsoft.com/office/powerpoint/2010/main" val="175888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PlaceHolder 1"/>
          <p:cNvSpPr>
            <a:spLocks noGrp="1" noRot="1" noChangeAspect="1" noChangeArrowheads="1"/>
          </p:cNvSpPr>
          <p:nvPr>
            <p:ph type="sldImg" idx="4294967295"/>
          </p:nvPr>
        </p:nvSpPr>
        <p:spPr bwMode="auto">
          <a:xfrm>
            <a:off x="1106488" y="812800"/>
            <a:ext cx="5343525" cy="4006850"/>
          </a:xfrm>
        </p:spPr>
      </p:sp>
      <p:sp>
        <p:nvSpPr>
          <p:cNvPr id="477"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PlaceHolder 1"/>
          <p:cNvSpPr>
            <a:spLocks noGrp="1" noRot="1" noChangeAspect="1" noChangeArrowheads="1"/>
          </p:cNvSpPr>
          <p:nvPr>
            <p:ph type="sldImg" idx="4294967295"/>
          </p:nvPr>
        </p:nvSpPr>
        <p:spPr bwMode="auto">
          <a:xfrm>
            <a:off x="1106488" y="812800"/>
            <a:ext cx="5343525" cy="4006850"/>
          </a:xfrm>
        </p:spPr>
      </p:sp>
      <p:sp>
        <p:nvSpPr>
          <p:cNvPr id="477"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PlaceHolder 1"/>
          <p:cNvSpPr>
            <a:spLocks noGrp="1" noRot="1" noChangeAspect="1" noChangeArrowheads="1"/>
          </p:cNvSpPr>
          <p:nvPr>
            <p:ph type="sldImg" idx="4294967295"/>
          </p:nvPr>
        </p:nvSpPr>
        <p:spPr bwMode="auto">
          <a:xfrm>
            <a:off x="1106488" y="812800"/>
            <a:ext cx="5343525" cy="4006850"/>
          </a:xfrm>
        </p:spPr>
      </p:sp>
      <p:sp>
        <p:nvSpPr>
          <p:cNvPr id="471"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72"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PlaceHolder 1"/>
          <p:cNvSpPr>
            <a:spLocks noGrp="1" noRot="1" noChangeAspect="1" noChangeArrowheads="1"/>
          </p:cNvSpPr>
          <p:nvPr>
            <p:ph type="sldImg" idx="4294967295"/>
          </p:nvPr>
        </p:nvSpPr>
        <p:spPr bwMode="auto">
          <a:xfrm>
            <a:off x="1106488" y="812800"/>
            <a:ext cx="5343525" cy="4006850"/>
          </a:xfrm>
        </p:spPr>
      </p:sp>
      <p:sp>
        <p:nvSpPr>
          <p:cNvPr id="474"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75"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PlaceHolder 1"/>
          <p:cNvSpPr>
            <a:spLocks noGrp="1" noRot="1" noChangeAspect="1" noChangeArrowheads="1"/>
          </p:cNvSpPr>
          <p:nvPr>
            <p:ph type="sldImg" idx="4294967295"/>
          </p:nvPr>
        </p:nvSpPr>
        <p:spPr bwMode="auto">
          <a:xfrm>
            <a:off x="1106488" y="812800"/>
            <a:ext cx="5343525" cy="4006850"/>
          </a:xfrm>
        </p:spPr>
      </p:sp>
      <p:sp>
        <p:nvSpPr>
          <p:cNvPr id="477"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E1ACE-D591-B415-EA97-7D18817240CF}"/>
            </a:ext>
          </a:extLst>
        </p:cNvPr>
        <p:cNvGrpSpPr/>
        <p:nvPr/>
      </p:nvGrpSpPr>
      <p:grpSpPr>
        <a:xfrm>
          <a:off x="0" y="0"/>
          <a:ext cx="0" cy="0"/>
          <a:chOff x="0" y="0"/>
          <a:chExt cx="0" cy="0"/>
        </a:xfrm>
      </p:grpSpPr>
      <p:sp>
        <p:nvSpPr>
          <p:cNvPr id="28673" name="PlaceHolder 1">
            <a:extLst>
              <a:ext uri="{FF2B5EF4-FFF2-40B4-BE49-F238E27FC236}">
                <a16:creationId xmlns:a16="http://schemas.microsoft.com/office/drawing/2014/main" id="{2DCA9F2A-2222-E357-44B7-D17C0E58A464}"/>
              </a:ext>
            </a:extLst>
          </p:cNvPr>
          <p:cNvSpPr>
            <a:spLocks noGrp="1" noRot="1" noChangeAspect="1" noChangeArrowheads="1"/>
          </p:cNvSpPr>
          <p:nvPr>
            <p:ph type="sldImg" idx="4294967295"/>
          </p:nvPr>
        </p:nvSpPr>
        <p:spPr bwMode="auto">
          <a:xfrm>
            <a:off x="1106488" y="812800"/>
            <a:ext cx="5343525" cy="4006850"/>
          </a:xfrm>
        </p:spPr>
      </p:sp>
      <p:sp>
        <p:nvSpPr>
          <p:cNvPr id="477" name="PlaceHolder 2">
            <a:extLst>
              <a:ext uri="{FF2B5EF4-FFF2-40B4-BE49-F238E27FC236}">
                <a16:creationId xmlns:a16="http://schemas.microsoft.com/office/drawing/2014/main" id="{AF367172-33A8-121C-F65F-DCAA0E24F610}"/>
              </a:ext>
            </a:extLst>
          </p:cNvPr>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a:extLst>
              <a:ext uri="{FF2B5EF4-FFF2-40B4-BE49-F238E27FC236}">
                <a16:creationId xmlns:a16="http://schemas.microsoft.com/office/drawing/2014/main" id="{F1DF66EB-8C3A-8CFE-D9FF-3AFFD4FBBA5D}"/>
              </a:ext>
            </a:extLst>
          </p:cNvPr>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a:extLst>
              <a:ext uri="{FF2B5EF4-FFF2-40B4-BE49-F238E27FC236}">
                <a16:creationId xmlns:a16="http://schemas.microsoft.com/office/drawing/2014/main" id="{57DD9A3E-B9E1-281B-BF0C-FB42B030E175}"/>
              </a:ext>
            </a:extLst>
          </p:cNvPr>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extLst>
      <p:ext uri="{BB962C8B-B14F-4D97-AF65-F5344CB8AC3E}">
        <p14:creationId xmlns:p14="http://schemas.microsoft.com/office/powerpoint/2010/main" val="3829604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6D2DD-30A7-CBBF-8A1A-4460C9CF373D}"/>
            </a:ext>
          </a:extLst>
        </p:cNvPr>
        <p:cNvGrpSpPr/>
        <p:nvPr/>
      </p:nvGrpSpPr>
      <p:grpSpPr>
        <a:xfrm>
          <a:off x="0" y="0"/>
          <a:ext cx="0" cy="0"/>
          <a:chOff x="0" y="0"/>
          <a:chExt cx="0" cy="0"/>
        </a:xfrm>
      </p:grpSpPr>
      <p:sp>
        <p:nvSpPr>
          <p:cNvPr id="28673" name="PlaceHolder 1">
            <a:extLst>
              <a:ext uri="{FF2B5EF4-FFF2-40B4-BE49-F238E27FC236}">
                <a16:creationId xmlns:a16="http://schemas.microsoft.com/office/drawing/2014/main" id="{8B823539-E20D-DDA2-D163-8822DE6FBC85}"/>
              </a:ext>
            </a:extLst>
          </p:cNvPr>
          <p:cNvSpPr>
            <a:spLocks noGrp="1" noRot="1" noChangeAspect="1" noChangeArrowheads="1"/>
          </p:cNvSpPr>
          <p:nvPr>
            <p:ph type="sldImg" idx="4294967295"/>
          </p:nvPr>
        </p:nvSpPr>
        <p:spPr bwMode="auto">
          <a:xfrm>
            <a:off x="1106488" y="812800"/>
            <a:ext cx="5343525" cy="4006850"/>
          </a:xfrm>
        </p:spPr>
      </p:sp>
      <p:sp>
        <p:nvSpPr>
          <p:cNvPr id="477" name="PlaceHolder 2">
            <a:extLst>
              <a:ext uri="{FF2B5EF4-FFF2-40B4-BE49-F238E27FC236}">
                <a16:creationId xmlns:a16="http://schemas.microsoft.com/office/drawing/2014/main" id="{ADE2D612-DC34-FE0F-70EE-8FAF77DFD25C}"/>
              </a:ext>
            </a:extLst>
          </p:cNvPr>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a:extLst>
              <a:ext uri="{FF2B5EF4-FFF2-40B4-BE49-F238E27FC236}">
                <a16:creationId xmlns:a16="http://schemas.microsoft.com/office/drawing/2014/main" id="{25861641-0326-F9BE-98AB-ACE92EB37C34}"/>
              </a:ext>
            </a:extLst>
          </p:cNvPr>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a:extLst>
              <a:ext uri="{FF2B5EF4-FFF2-40B4-BE49-F238E27FC236}">
                <a16:creationId xmlns:a16="http://schemas.microsoft.com/office/drawing/2014/main" id="{CCEF65A4-A227-A22B-0559-A321832520E9}"/>
              </a:ext>
            </a:extLst>
          </p:cNvPr>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extLst>
      <p:ext uri="{BB962C8B-B14F-4D97-AF65-F5344CB8AC3E}">
        <p14:creationId xmlns:p14="http://schemas.microsoft.com/office/powerpoint/2010/main" val="3821455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0815C-9502-7B02-C06C-DCCFE7CE9F23}"/>
            </a:ext>
          </a:extLst>
        </p:cNvPr>
        <p:cNvGrpSpPr/>
        <p:nvPr/>
      </p:nvGrpSpPr>
      <p:grpSpPr>
        <a:xfrm>
          <a:off x="0" y="0"/>
          <a:ext cx="0" cy="0"/>
          <a:chOff x="0" y="0"/>
          <a:chExt cx="0" cy="0"/>
        </a:xfrm>
      </p:grpSpPr>
      <p:sp>
        <p:nvSpPr>
          <p:cNvPr id="28673" name="PlaceHolder 1">
            <a:extLst>
              <a:ext uri="{FF2B5EF4-FFF2-40B4-BE49-F238E27FC236}">
                <a16:creationId xmlns:a16="http://schemas.microsoft.com/office/drawing/2014/main" id="{12AF674E-0653-E1AB-1EC6-F9943F185E5E}"/>
              </a:ext>
            </a:extLst>
          </p:cNvPr>
          <p:cNvSpPr>
            <a:spLocks noGrp="1" noRot="1" noChangeAspect="1" noChangeArrowheads="1"/>
          </p:cNvSpPr>
          <p:nvPr>
            <p:ph type="sldImg" idx="4294967295"/>
          </p:nvPr>
        </p:nvSpPr>
        <p:spPr bwMode="auto">
          <a:xfrm>
            <a:off x="1106488" y="812800"/>
            <a:ext cx="5343525" cy="4006850"/>
          </a:xfrm>
        </p:spPr>
      </p:sp>
      <p:sp>
        <p:nvSpPr>
          <p:cNvPr id="477" name="PlaceHolder 2">
            <a:extLst>
              <a:ext uri="{FF2B5EF4-FFF2-40B4-BE49-F238E27FC236}">
                <a16:creationId xmlns:a16="http://schemas.microsoft.com/office/drawing/2014/main" id="{E55F0243-DF2E-ECEA-CECA-A80D0662A5DC}"/>
              </a:ext>
            </a:extLst>
          </p:cNvPr>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a:extLst>
              <a:ext uri="{FF2B5EF4-FFF2-40B4-BE49-F238E27FC236}">
                <a16:creationId xmlns:a16="http://schemas.microsoft.com/office/drawing/2014/main" id="{1774551B-B4A3-9CF7-BD10-13598A59E685}"/>
              </a:ext>
            </a:extLst>
          </p:cNvPr>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a:extLst>
              <a:ext uri="{FF2B5EF4-FFF2-40B4-BE49-F238E27FC236}">
                <a16:creationId xmlns:a16="http://schemas.microsoft.com/office/drawing/2014/main" id="{708B7501-76D8-19A3-554B-3E1FD0CD8DEC}"/>
              </a:ext>
            </a:extLst>
          </p:cNvPr>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extLst>
      <p:ext uri="{BB962C8B-B14F-4D97-AF65-F5344CB8AC3E}">
        <p14:creationId xmlns:p14="http://schemas.microsoft.com/office/powerpoint/2010/main" val="3049564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20E5-2E4A-7A31-04BF-470BBBFF1411}"/>
            </a:ext>
          </a:extLst>
        </p:cNvPr>
        <p:cNvGrpSpPr/>
        <p:nvPr/>
      </p:nvGrpSpPr>
      <p:grpSpPr>
        <a:xfrm>
          <a:off x="0" y="0"/>
          <a:ext cx="0" cy="0"/>
          <a:chOff x="0" y="0"/>
          <a:chExt cx="0" cy="0"/>
        </a:xfrm>
      </p:grpSpPr>
      <p:sp>
        <p:nvSpPr>
          <p:cNvPr id="28673" name="PlaceHolder 1">
            <a:extLst>
              <a:ext uri="{FF2B5EF4-FFF2-40B4-BE49-F238E27FC236}">
                <a16:creationId xmlns:a16="http://schemas.microsoft.com/office/drawing/2014/main" id="{FB08E2C4-6F26-8E5D-F474-6960D8E60290}"/>
              </a:ext>
            </a:extLst>
          </p:cNvPr>
          <p:cNvSpPr>
            <a:spLocks noGrp="1" noRot="1" noChangeAspect="1" noChangeArrowheads="1"/>
          </p:cNvSpPr>
          <p:nvPr>
            <p:ph type="sldImg" idx="4294967295"/>
          </p:nvPr>
        </p:nvSpPr>
        <p:spPr bwMode="auto">
          <a:xfrm>
            <a:off x="1106488" y="812800"/>
            <a:ext cx="5343525" cy="4006850"/>
          </a:xfrm>
        </p:spPr>
      </p:sp>
      <p:sp>
        <p:nvSpPr>
          <p:cNvPr id="477" name="PlaceHolder 2">
            <a:extLst>
              <a:ext uri="{FF2B5EF4-FFF2-40B4-BE49-F238E27FC236}">
                <a16:creationId xmlns:a16="http://schemas.microsoft.com/office/drawing/2014/main" id="{4627E24B-6742-5665-1DC1-D0194FB88212}"/>
              </a:ext>
            </a:extLst>
          </p:cNvPr>
          <p:cNvSpPr>
            <a:spLocks noGrp="1"/>
          </p:cNvSpPr>
          <p:nvPr>
            <p:ph type="body"/>
          </p:nvPr>
        </p:nvSpPr>
        <p:spPr>
          <a:xfrm>
            <a:off x="755650" y="5078413"/>
            <a:ext cx="6046788" cy="4810125"/>
          </a:xfrm>
        </p:spPr>
        <p:txBody>
          <a:bodyPr/>
          <a:lstStyle/>
          <a:p>
            <a:pPr fontAlgn="auto"/>
            <a:endParaRPr lang="it-IT" sz="2000" spc="-1" noProof="1"/>
          </a:p>
        </p:txBody>
      </p:sp>
      <p:sp>
        <p:nvSpPr>
          <p:cNvPr id="478" name="CustomShape 3">
            <a:extLst>
              <a:ext uri="{FF2B5EF4-FFF2-40B4-BE49-F238E27FC236}">
                <a16:creationId xmlns:a16="http://schemas.microsoft.com/office/drawing/2014/main" id="{EE46730A-477D-38A0-1D64-F855C57BD755}"/>
              </a:ext>
            </a:extLst>
          </p:cNvPr>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a:extLst>
              <a:ext uri="{FF2B5EF4-FFF2-40B4-BE49-F238E27FC236}">
                <a16:creationId xmlns:a16="http://schemas.microsoft.com/office/drawing/2014/main" id="{7F773F4D-30C5-61EF-A040-433ABB1B77BF}"/>
              </a:ext>
            </a:extLst>
          </p:cNvPr>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extLst>
      <p:ext uri="{BB962C8B-B14F-4D97-AF65-F5344CB8AC3E}">
        <p14:creationId xmlns:p14="http://schemas.microsoft.com/office/powerpoint/2010/main" val="2065630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PlaceHolder 1"/>
          <p:cNvSpPr>
            <a:spLocks noGrp="1" noRot="1" noChangeAspect="1" noChangeArrowheads="1"/>
          </p:cNvSpPr>
          <p:nvPr>
            <p:ph type="sldImg" idx="4294967295"/>
          </p:nvPr>
        </p:nvSpPr>
        <p:spPr bwMode="auto">
          <a:xfrm>
            <a:off x="1106488" y="812800"/>
            <a:ext cx="5343525" cy="4006850"/>
          </a:xfrm>
        </p:spPr>
      </p:sp>
      <p:sp>
        <p:nvSpPr>
          <p:cNvPr id="480"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81"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PlaceHolder 1"/>
          <p:cNvSpPr>
            <a:spLocks noGrp="1" noRot="1" noChangeAspect="1" noChangeArrowheads="1"/>
          </p:cNvSpPr>
          <p:nvPr>
            <p:ph type="sldImg" idx="4294967295"/>
          </p:nvPr>
        </p:nvSpPr>
        <p:spPr bwMode="auto">
          <a:xfrm>
            <a:off x="1106488" y="812800"/>
            <a:ext cx="5343525" cy="4006850"/>
          </a:xfrm>
        </p:spPr>
      </p:sp>
      <p:sp>
        <p:nvSpPr>
          <p:cNvPr id="483"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84"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PlaceHolder 1"/>
          <p:cNvSpPr>
            <a:spLocks noGrp="1" noRot="1" noChangeAspect="1" noChangeArrowheads="1"/>
          </p:cNvSpPr>
          <p:nvPr>
            <p:ph type="sldImg" idx="4294967295"/>
          </p:nvPr>
        </p:nvSpPr>
        <p:spPr bwMode="auto">
          <a:xfrm>
            <a:off x="1106488" y="812800"/>
            <a:ext cx="5343525" cy="4006850"/>
          </a:xfrm>
        </p:spPr>
      </p:sp>
      <p:sp>
        <p:nvSpPr>
          <p:cNvPr id="486"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87"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PlaceHolder 1"/>
          <p:cNvSpPr>
            <a:spLocks noGrp="1" noRot="1" noChangeAspect="1" noChangeArrowheads="1"/>
          </p:cNvSpPr>
          <p:nvPr>
            <p:ph type="sldImg" idx="4294967295"/>
          </p:nvPr>
        </p:nvSpPr>
        <p:spPr bwMode="auto">
          <a:xfrm>
            <a:off x="1106488" y="812800"/>
            <a:ext cx="5343525" cy="4006850"/>
          </a:xfrm>
        </p:spPr>
      </p:sp>
      <p:sp>
        <p:nvSpPr>
          <p:cNvPr id="48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9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PlaceHolder 1"/>
          <p:cNvSpPr>
            <a:spLocks noGrp="1" noRot="1" noChangeAspect="1" noChangeArrowheads="1"/>
          </p:cNvSpPr>
          <p:nvPr>
            <p:ph type="sldImg" idx="4294967295"/>
          </p:nvPr>
        </p:nvSpPr>
        <p:spPr bwMode="auto">
          <a:xfrm>
            <a:off x="1106488" y="812800"/>
            <a:ext cx="5343525" cy="4006850"/>
          </a:xfrm>
        </p:spPr>
      </p:sp>
      <p:sp>
        <p:nvSpPr>
          <p:cNvPr id="492"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93"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PlaceHolder 1"/>
          <p:cNvSpPr>
            <a:spLocks noGrp="1" noRot="1" noChangeAspect="1" noChangeArrowheads="1"/>
          </p:cNvSpPr>
          <p:nvPr>
            <p:ph type="sldImg" idx="4294967295"/>
          </p:nvPr>
        </p:nvSpPr>
        <p:spPr bwMode="auto">
          <a:xfrm>
            <a:off x="1106488" y="812800"/>
            <a:ext cx="5343525" cy="4006850"/>
          </a:xfrm>
        </p:spPr>
      </p:sp>
      <p:sp>
        <p:nvSpPr>
          <p:cNvPr id="495"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96"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PlaceHolder 1"/>
          <p:cNvSpPr>
            <a:spLocks noGrp="1" noRot="1" noChangeAspect="1" noChangeArrowheads="1"/>
          </p:cNvSpPr>
          <p:nvPr>
            <p:ph type="sldImg" idx="4294967295"/>
          </p:nvPr>
        </p:nvSpPr>
        <p:spPr bwMode="auto">
          <a:xfrm>
            <a:off x="1106488" y="812800"/>
            <a:ext cx="5343525" cy="4006850"/>
          </a:xfrm>
        </p:spPr>
      </p:sp>
      <p:sp>
        <p:nvSpPr>
          <p:cNvPr id="501"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02"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PlaceHolder 1"/>
          <p:cNvSpPr>
            <a:spLocks noGrp="1" noRot="1" noChangeAspect="1" noChangeArrowheads="1"/>
          </p:cNvSpPr>
          <p:nvPr>
            <p:ph type="sldImg" idx="4294967295"/>
          </p:nvPr>
        </p:nvSpPr>
        <p:spPr bwMode="auto">
          <a:xfrm>
            <a:off x="1106488" y="812800"/>
            <a:ext cx="5343525" cy="4006850"/>
          </a:xfrm>
        </p:spPr>
      </p:sp>
      <p:sp>
        <p:nvSpPr>
          <p:cNvPr id="504"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05"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PlaceHolder 1"/>
          <p:cNvSpPr>
            <a:spLocks noGrp="1" noRot="1" noChangeAspect="1" noChangeArrowheads="1"/>
          </p:cNvSpPr>
          <p:nvPr>
            <p:ph type="sldImg" idx="4294967295"/>
          </p:nvPr>
        </p:nvSpPr>
        <p:spPr bwMode="auto">
          <a:xfrm>
            <a:off x="1106488" y="812800"/>
            <a:ext cx="5343525" cy="4006850"/>
          </a:xfrm>
        </p:spPr>
      </p:sp>
      <p:sp>
        <p:nvSpPr>
          <p:cNvPr id="480"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481"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extLst>
      <p:ext uri="{BB962C8B-B14F-4D97-AF65-F5344CB8AC3E}">
        <p14:creationId xmlns:p14="http://schemas.microsoft.com/office/powerpoint/2010/main" val="712550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PlaceHolder 1"/>
          <p:cNvSpPr>
            <a:spLocks noGrp="1" noRot="1" noChangeAspect="1" noChangeArrowheads="1"/>
          </p:cNvSpPr>
          <p:nvPr>
            <p:ph type="sldImg" idx="4294967295"/>
          </p:nvPr>
        </p:nvSpPr>
        <p:spPr bwMode="auto">
          <a:xfrm>
            <a:off x="1106488" y="812800"/>
            <a:ext cx="5343525" cy="4006850"/>
          </a:xfrm>
        </p:spPr>
      </p:sp>
      <p:sp>
        <p:nvSpPr>
          <p:cNvPr id="513"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14"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PlaceHolder 1"/>
          <p:cNvSpPr>
            <a:spLocks noGrp="1" noRot="1" noChangeAspect="1" noChangeArrowheads="1"/>
          </p:cNvSpPr>
          <p:nvPr>
            <p:ph type="sldImg" idx="4294967295"/>
          </p:nvPr>
        </p:nvSpPr>
        <p:spPr bwMode="auto">
          <a:xfrm>
            <a:off x="1106488" y="812800"/>
            <a:ext cx="5343525" cy="4006850"/>
          </a:xfrm>
        </p:spPr>
      </p:sp>
      <p:sp>
        <p:nvSpPr>
          <p:cNvPr id="516"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17"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PlaceHolder 1"/>
          <p:cNvSpPr>
            <a:spLocks noGrp="1" noRot="1" noChangeAspect="1" noChangeArrowheads="1"/>
          </p:cNvSpPr>
          <p:nvPr>
            <p:ph type="sldImg" idx="4294967295"/>
          </p:nvPr>
        </p:nvSpPr>
        <p:spPr bwMode="auto">
          <a:xfrm>
            <a:off x="1106488" y="812800"/>
            <a:ext cx="5343525" cy="4006850"/>
          </a:xfrm>
        </p:spPr>
      </p:sp>
      <p:sp>
        <p:nvSpPr>
          <p:cNvPr id="525" name="PlaceHolder 2"/>
          <p:cNvSpPr>
            <a:spLocks noGrp="1"/>
          </p:cNvSpPr>
          <p:nvPr>
            <p:ph type="body"/>
          </p:nvPr>
        </p:nvSpPr>
        <p:spPr>
          <a:xfrm>
            <a:off x="755650" y="5078413"/>
            <a:ext cx="6046788" cy="4810125"/>
          </a:xfrm>
        </p:spPr>
        <p:txBody>
          <a:bodyPr/>
          <a:lstStyle/>
          <a:p>
            <a:r>
              <a:t>[Testo integrale]</a:t>
            </a:r>
          </a:p>
          <a:p>
            <a:r>
              <a:t>L'emissione della fattura non è obbligatoria, se non è richiesta dal cliente non oltre il momento di effettuazione dell'operazione:</a:t>
            </a:r>
          </a:p>
          <a:p>
            <a:r>
              <a:t>per le cessioni di beni effettuate da commercianti al minuto autorizzati in locali aperti al pubblico, in spacci interni, mediante apparecchi di distribuzione automatica, per corrispondenza, a domicilio o in forma ambulante;</a:t>
            </a:r>
          </a:p>
          <a:p>
            <a:r>
              <a:t>per le prestazioni alberghiere e le somministrazioni di alimenti e bevande effettuate dai pubblici esercizi, nelle mense aziendali o mediante apparecchi di distribuzione automatica</a:t>
            </a:r>
          </a:p>
          <a:p>
            <a:r>
              <a:t>per le prestazioni di trasporto di persone nonché di veicoli e bagagli al seguito; </a:t>
            </a:r>
          </a:p>
          <a:p>
            <a:r>
              <a:t>per le prestazioni di servizi rese nell'esercizio di imprese in locali aperti al pubblico, in forma ambulante o nell'abitazione dei clienti; </a:t>
            </a:r>
          </a:p>
          <a:p>
            <a:r>
              <a:t>per le prestazioni di custodia e amministrazione di titoli e per gli altri servizi resi da aziende o istituti di credito e da società finanziarie o fiduciarie;</a:t>
            </a:r>
          </a:p>
          <a:p>
            <a:r>
              <a:t>per le operazioni esenti indicate ai nn. da 1) a 5) e ai nn. 7), 8), 9), 16) e 22) dell'art. 10 (indipendentemente dal fatto che rientrino nell'attività propria dell'impresa); </a:t>
            </a:r>
          </a:p>
          <a:p>
            <a:r>
              <a:t>per l’attività di organizzazione di escursioni, visite della città, giri turistici ed eventi similari, effettuata dalle agenzie di viaggi e turismo;</a:t>
            </a:r>
          </a:p>
          <a:p>
            <a:r>
              <a:t>per le prestazioni di servizi di teleradiodiffusione e di servizi elettronici resi a committenti che agiscono al di fuori dell’esercizio di impresa, arte o professione. </a:t>
            </a:r>
          </a:p>
          <a:p>
            <a:endParaRPr/>
          </a:p>
          <a:p>
            <a:r>
              <a:t>Gli imprenditori che acquistano beni che formano oggetto dell'attività propria dell'impresa da commercianti al minuto ai quali è consentita l'emissione della fattura sono obbligati a richiederla.</a:t>
            </a:r>
          </a:p>
          <a:p>
            <a:endParaRPr/>
          </a:p>
          <a:p>
            <a:r>
              <a:t> compilazione del registro dei corrispettivi (anziché registro Iva vendite);</a:t>
            </a:r>
          </a:p>
          <a:p>
            <a:r>
              <a:t> certificazione mediante scontrino o ricevuta fiscale.</a:t>
            </a:r>
          </a:p>
        </p:txBody>
      </p:sp>
      <p:sp>
        <p:nvSpPr>
          <p:cNvPr id="526"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PlaceHolder 1"/>
          <p:cNvSpPr>
            <a:spLocks noGrp="1" noRot="1" noChangeAspect="1" noChangeArrowheads="1"/>
          </p:cNvSpPr>
          <p:nvPr>
            <p:ph type="sldImg" idx="4294967295"/>
          </p:nvPr>
        </p:nvSpPr>
        <p:spPr bwMode="auto">
          <a:xfrm>
            <a:off x="1106488" y="812800"/>
            <a:ext cx="5343525" cy="4006850"/>
          </a:xfrm>
        </p:spPr>
      </p:sp>
      <p:sp>
        <p:nvSpPr>
          <p:cNvPr id="522"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3"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PlaceHolder 1"/>
          <p:cNvSpPr>
            <a:spLocks noGrp="1" noRot="1" noChangeAspect="1" noChangeArrowheads="1"/>
          </p:cNvSpPr>
          <p:nvPr>
            <p:ph type="sldImg" idx="4294967295"/>
          </p:nvPr>
        </p:nvSpPr>
        <p:spPr bwMode="auto">
          <a:xfrm>
            <a:off x="1106488" y="812800"/>
            <a:ext cx="5343525" cy="4006850"/>
          </a:xfrm>
        </p:spPr>
      </p:sp>
      <p:sp>
        <p:nvSpPr>
          <p:cNvPr id="525"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6"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PlaceHolder 1"/>
          <p:cNvSpPr>
            <a:spLocks noGrp="1" noRot="1" noChangeAspect="1" noChangeArrowheads="1"/>
          </p:cNvSpPr>
          <p:nvPr>
            <p:ph type="sldImg" idx="4294967295"/>
          </p:nvPr>
        </p:nvSpPr>
        <p:spPr bwMode="auto">
          <a:xfrm>
            <a:off x="1106488" y="812800"/>
            <a:ext cx="5343525" cy="4006850"/>
          </a:xfrm>
        </p:spPr>
      </p:sp>
      <p:sp>
        <p:nvSpPr>
          <p:cNvPr id="51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PlaceHolder 1"/>
          <p:cNvSpPr>
            <a:spLocks noGrp="1" noRot="1" noChangeAspect="1" noChangeArrowheads="1"/>
          </p:cNvSpPr>
          <p:nvPr>
            <p:ph type="sldImg" idx="4294967295"/>
          </p:nvPr>
        </p:nvSpPr>
        <p:spPr bwMode="auto">
          <a:xfrm>
            <a:off x="1106488" y="812800"/>
            <a:ext cx="5343525" cy="4006850"/>
          </a:xfrm>
        </p:spPr>
      </p:sp>
      <p:sp>
        <p:nvSpPr>
          <p:cNvPr id="51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PlaceHolder 1"/>
          <p:cNvSpPr>
            <a:spLocks noGrp="1" noRot="1" noChangeAspect="1" noChangeArrowheads="1"/>
          </p:cNvSpPr>
          <p:nvPr>
            <p:ph type="sldImg" idx="4294967295"/>
          </p:nvPr>
        </p:nvSpPr>
        <p:spPr bwMode="auto">
          <a:xfrm>
            <a:off x="1106488" y="812800"/>
            <a:ext cx="5343525" cy="4006850"/>
          </a:xfrm>
        </p:spPr>
      </p:sp>
      <p:sp>
        <p:nvSpPr>
          <p:cNvPr id="528"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9"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PlaceHolder 1"/>
          <p:cNvSpPr>
            <a:spLocks noGrp="1" noRot="1" noChangeAspect="1" noChangeArrowheads="1"/>
          </p:cNvSpPr>
          <p:nvPr>
            <p:ph type="sldImg" idx="4294967295"/>
          </p:nvPr>
        </p:nvSpPr>
        <p:spPr bwMode="auto">
          <a:xfrm>
            <a:off x="1106488" y="812800"/>
            <a:ext cx="5343525" cy="4006850"/>
          </a:xfrm>
        </p:spPr>
      </p:sp>
      <p:sp>
        <p:nvSpPr>
          <p:cNvPr id="51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PlaceHolder 1"/>
          <p:cNvSpPr>
            <a:spLocks noGrp="1" noRot="1" noChangeAspect="1" noChangeArrowheads="1"/>
          </p:cNvSpPr>
          <p:nvPr>
            <p:ph type="sldImg" idx="4294967295"/>
          </p:nvPr>
        </p:nvSpPr>
        <p:spPr bwMode="auto">
          <a:xfrm>
            <a:off x="1106488" y="812800"/>
            <a:ext cx="5343525" cy="4006850"/>
          </a:xfrm>
        </p:spPr>
      </p:sp>
      <p:sp>
        <p:nvSpPr>
          <p:cNvPr id="51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PlaceHolder 1"/>
          <p:cNvSpPr>
            <a:spLocks noGrp="1" noRot="1" noChangeAspect="1" noChangeArrowheads="1"/>
          </p:cNvSpPr>
          <p:nvPr>
            <p:ph type="sldImg" idx="4294967295"/>
          </p:nvPr>
        </p:nvSpPr>
        <p:spPr bwMode="auto">
          <a:xfrm>
            <a:off x="1106488" y="812800"/>
            <a:ext cx="5343525" cy="4006850"/>
          </a:xfrm>
        </p:spPr>
      </p:sp>
      <p:sp>
        <p:nvSpPr>
          <p:cNvPr id="531"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32"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PlaceHolder 1"/>
          <p:cNvSpPr>
            <a:spLocks noGrp="1" noRot="1" noChangeAspect="1" noChangeArrowheads="1"/>
          </p:cNvSpPr>
          <p:nvPr>
            <p:ph type="sldImg" idx="4294967295"/>
          </p:nvPr>
        </p:nvSpPr>
        <p:spPr bwMode="auto">
          <a:xfrm>
            <a:off x="1106488" y="812800"/>
            <a:ext cx="5343525" cy="4006850"/>
          </a:xfrm>
        </p:spPr>
      </p:sp>
      <p:sp>
        <p:nvSpPr>
          <p:cNvPr id="534"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35"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PlaceHolder 1"/>
          <p:cNvSpPr>
            <a:spLocks noGrp="1" noRot="1" noChangeAspect="1" noChangeArrowheads="1"/>
          </p:cNvSpPr>
          <p:nvPr>
            <p:ph type="sldImg" idx="4294967295"/>
          </p:nvPr>
        </p:nvSpPr>
        <p:spPr bwMode="auto">
          <a:xfrm>
            <a:off x="1106488" y="812800"/>
            <a:ext cx="5343525" cy="4006850"/>
          </a:xfrm>
        </p:spPr>
      </p:sp>
      <p:sp>
        <p:nvSpPr>
          <p:cNvPr id="537"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38"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PlaceHolder 1"/>
          <p:cNvSpPr>
            <a:spLocks noGrp="1" noRot="1" noChangeAspect="1" noChangeArrowheads="1"/>
          </p:cNvSpPr>
          <p:nvPr>
            <p:ph type="sldImg" idx="4294967295"/>
          </p:nvPr>
        </p:nvSpPr>
        <p:spPr bwMode="auto">
          <a:xfrm>
            <a:off x="1106488" y="812800"/>
            <a:ext cx="5343525" cy="4006850"/>
          </a:xfrm>
        </p:spPr>
      </p:sp>
      <p:sp>
        <p:nvSpPr>
          <p:cNvPr id="540"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41"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PlaceHolder 1"/>
          <p:cNvSpPr>
            <a:spLocks noGrp="1" noRot="1" noChangeAspect="1" noChangeArrowheads="1"/>
          </p:cNvSpPr>
          <p:nvPr>
            <p:ph type="sldImg" idx="4294967295"/>
          </p:nvPr>
        </p:nvSpPr>
        <p:spPr bwMode="auto">
          <a:xfrm>
            <a:off x="1106488" y="812800"/>
            <a:ext cx="5343525" cy="4006850"/>
          </a:xfrm>
        </p:spPr>
      </p:sp>
      <p:sp>
        <p:nvSpPr>
          <p:cNvPr id="543"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44"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PlaceHolder 1"/>
          <p:cNvSpPr>
            <a:spLocks noGrp="1" noRot="1" noChangeAspect="1" noChangeArrowheads="1"/>
          </p:cNvSpPr>
          <p:nvPr>
            <p:ph type="sldImg" idx="4294967295"/>
          </p:nvPr>
        </p:nvSpPr>
        <p:spPr bwMode="auto">
          <a:xfrm>
            <a:off x="1108075" y="812800"/>
            <a:ext cx="5341938" cy="4006850"/>
          </a:xfrm>
        </p:spPr>
      </p:sp>
      <p:sp>
        <p:nvSpPr>
          <p:cNvPr id="546"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47"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PlaceHolder 1"/>
          <p:cNvSpPr>
            <a:spLocks noGrp="1" noRot="1" noChangeAspect="1" noChangeArrowheads="1"/>
          </p:cNvSpPr>
          <p:nvPr>
            <p:ph type="sldImg" idx="4294967295"/>
          </p:nvPr>
        </p:nvSpPr>
        <p:spPr bwMode="auto">
          <a:xfrm>
            <a:off x="1106488" y="812800"/>
            <a:ext cx="5343525" cy="4006850"/>
          </a:xfrm>
        </p:spPr>
      </p:sp>
      <p:sp>
        <p:nvSpPr>
          <p:cNvPr id="51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2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PlaceHolder 1"/>
          <p:cNvSpPr>
            <a:spLocks noGrp="1" noRot="1" noChangeAspect="1" noChangeArrowheads="1"/>
          </p:cNvSpPr>
          <p:nvPr>
            <p:ph type="sldImg" idx="4294967295"/>
          </p:nvPr>
        </p:nvSpPr>
        <p:spPr bwMode="auto">
          <a:xfrm>
            <a:off x="1108075" y="812800"/>
            <a:ext cx="5341938" cy="4006850"/>
          </a:xfrm>
        </p:spPr>
      </p:sp>
      <p:sp>
        <p:nvSpPr>
          <p:cNvPr id="549" name="PlaceHolder 2"/>
          <p:cNvSpPr>
            <a:spLocks noGrp="1"/>
          </p:cNvSpPr>
          <p:nvPr>
            <p:ph type="body"/>
          </p:nvPr>
        </p:nvSpPr>
        <p:spPr>
          <a:xfrm>
            <a:off x="755650" y="5078413"/>
            <a:ext cx="6046788" cy="4810125"/>
          </a:xfrm>
        </p:spPr>
        <p:txBody>
          <a:bodyPr/>
          <a:lstStyle/>
          <a:p>
            <a:pPr fontAlgn="auto"/>
            <a:endParaRPr lang="it-IT" sz="2000" spc="-1" noProof="1"/>
          </a:p>
        </p:txBody>
      </p:sp>
      <p:sp>
        <p:nvSpPr>
          <p:cNvPr id="550" name="CustomShape 3"/>
          <p:cNvSpPr/>
          <p:nvPr/>
        </p:nvSpPr>
        <p:spPr>
          <a:xfrm>
            <a:off x="4278313" y="10156825"/>
            <a:ext cx="3279775" cy="533400"/>
          </a:xfrm>
          <a:prstGeom prst="rect">
            <a:avLst/>
          </a:prstGeom>
          <a:noFill/>
          <a:ln>
            <a:noFill/>
          </a:ln>
        </p:spPr>
        <p:style>
          <a:lnRef idx="0">
            <a:scrgbClr r="0" g="0" b="0"/>
          </a:lnRef>
          <a:fillRef idx="0">
            <a:scrgbClr r="0" g="0" b="0"/>
          </a:fillRef>
          <a:effectRef idx="0">
            <a:scrgbClr r="0" g="0" b="0"/>
          </a:effectRef>
          <a:fontRef idx="minor"/>
        </p:style>
      </p:sp>
      <p:sp>
        <p:nvSpPr>
          <p:cNvPr id="2" name="Segnaposto piè di pagina 1"/>
          <p:cNvSpPr>
            <a:spLocks noGrp="1"/>
          </p:cNvSpPr>
          <p:nvPr>
            <p:ph type="ftr" idx="10"/>
          </p:nvPr>
        </p:nvSpPr>
        <p:spPr>
          <a:xfrm>
            <a:off x="0" y="10156825"/>
            <a:ext cx="3281363" cy="534988"/>
          </a:xfrm>
          <a:prstGeom prst="rect">
            <a:avLst/>
          </a:prstGeom>
        </p:spPr>
        <p:txBody>
          <a:bodyPr lIns="0" tIns="0" rIns="0" bIns="0" anchor="b"/>
          <a:lstStyle/>
          <a:p>
            <a:pPr fontAlgn="auto"/>
            <a:r>
              <a:rPr lang="it-IT" sz="1400" spc="-1" noProof="1">
                <a:latin typeface="Times New Roman" panose="02020603050405020304"/>
                <a:ea typeface="+mn-ea"/>
                <a:cs typeface="+mn-cs"/>
              </a:rPr>
              <a:t>&lt;piè di pagina&gt;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r>
              <a:t>La dichiarazione consiste nell’obbligo del soggetto passivo di prospettare all’amministrazione gli elementi per la determinazione dell'ammontare delle operazioni e dell'imposta e per l'effettuazione dei controlli.</a:t>
            </a:r>
          </a:p>
          <a:p>
            <a:endParaRPr/>
          </a:p>
          <a:p>
            <a:r>
              <a:t>La dichiarazione deve essere redatta, a pena di nullità, su modelli conformi a quelli predisposti dall’amministrazione.</a:t>
            </a:r>
          </a:p>
          <a:p>
            <a:endParaRPr/>
          </a:p>
          <a:p>
            <a:r>
              <a:t>La dichiarazione deve essere sottoscritta, a pena di nullità, dal contribuente o da chi ne ha la rappresentanza legale o negoziale.</a:t>
            </a:r>
          </a:p>
          <a:p>
            <a:endParaRPr/>
          </a:p>
          <a:p>
            <a:r>
              <a:t>La dichiarazione, relativa al periodo di imposta corrispondente all’anno solare precedente, deve contenere i dati minimi ed indispensabili che sono elementi necessari:</a:t>
            </a:r>
          </a:p>
          <a:p>
            <a:r>
              <a:t>per individuare il contribuente;</a:t>
            </a:r>
          </a:p>
          <a:p>
            <a:r>
              <a:t>per determinare l’ammontare delle operazioni (imponibili, non imponibili o esenti) e dell’imposta;</a:t>
            </a:r>
          </a:p>
          <a:p>
            <a:r>
              <a:t>per consentire di effettuare i controlli. </a:t>
            </a:r>
          </a:p>
          <a:p>
            <a:endParaRPr/>
          </a:p>
        </p:txBody>
      </p:sp>
      <p:sp>
        <p:nvSpPr>
          <p:cNvPr id="4" name="Slide Number Placeholder 3"/>
          <p:cNvSpPr>
            <a:spLocks noGrp="1"/>
          </p:cNvSpPr>
          <p:nvPr>
            <p:ph type="sldNum"/>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r>
              <a:t>La presentazione della dichiarazione annuale costituisce allo stesso tempo un atto doveroso e collaborativo che assolve a plurime funzioni.</a:t>
            </a:r>
          </a:p>
          <a:p>
            <a:endParaRPr/>
          </a:p>
          <a:p>
            <a:r>
              <a:t>Il carattere doveroso della presentazione della dichiarazione e della conformità del contenuto ad un modello predefinito assume un ruolo fondamentale ed imprescindibile ai fini della riscossione del tributo mediante versamento diretto od iscrizione a ruolo e della definitiva imputazione al contribuente delle somme versate in sede di acconti e liquidazioni periodiche di imposta. In una fiscalità di massa in cui l'atto di accertamento è eventuale -in quanto attinente alla patologia del rapporto giuridico d'imposta- per il tramite della dichiarazione il contribuente, autogestendo la propria fiscalità offre (e/o riepiloga) all'amministrazione informazioni e dati nuovi o già acquisiti funzionali all'esercizio del potere di controllo nell'eventualità del controllo e della riscossione anche coattiva dell'imposta. In questo senso, nei suoi aspetti doverosi, la dichiarazione soddisfa un interesse erariale permettendo all'amministrazione di assolvere all'onere del controllo.</a:t>
            </a:r>
          </a:p>
          <a:p>
            <a:r>
              <a:t>Sotto altri profili la dichiarazione annuale è meramente riproduttiva di elementi aliunde già comunicati (comunicazione annuale) e riepilogativa nei dati e nel contenuto delle liquidazioni periodiche (con cadenza mensile o trimestrale).</a:t>
            </a:r>
          </a:p>
          <a:p>
            <a:endParaRPr/>
          </a:p>
          <a:p>
            <a:r>
              <a:t>Alla dichiarazione può essere attribuito un carattere anche partecipativo ove questa si colori di un'identità più marcatamente volitiva e negoziale rispondendo a scelte volte a tutelare interessi esclusivamente del contribuente, dal momento che in sede di dichiarazione il contribuente può effettuare scelte negoziali vincolanti l'amministrazione fino a quando non siano revocate.</a:t>
            </a:r>
          </a:p>
        </p:txBody>
      </p:sp>
      <p:sp>
        <p:nvSpPr>
          <p:cNvPr id="4" name="Slide Number Placeholder 3"/>
          <p:cNvSpPr>
            <a:spLocks noGrp="1"/>
          </p:cNvSpPr>
          <p:nvPr>
            <p:ph type="sldNum"/>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r>
              <a:t>La tesi più diffusa individua la dichiarazione in una dichiarazione di scienza collegata ad un dovere giuridico con finalità meramente liquidatorie.</a:t>
            </a:r>
          </a:p>
          <a:p>
            <a:endParaRPr/>
          </a:p>
          <a:p>
            <a:r>
              <a:t>E’ la legge a determinare la misura dell'obbligazione (non la dichiarazione) e gli effetti si producono a prescindere dalla volontà del dichiarante salvo il caso delle opzioni. E’ evidente l'estraneità di qualsiasi componente confessoria. </a:t>
            </a:r>
          </a:p>
          <a:p>
            <a:endParaRPr/>
          </a:p>
          <a:p>
            <a:r>
              <a:t>Poiché il contribuente non ha il potere di determinare unilateralmente l'an ed il quantum dell'imposta, la dichiarazione è costitutiva non direttamente di effetti ma di una fattispecie cui la legge collega determinati effetti.</a:t>
            </a:r>
          </a:p>
          <a:p>
            <a:endParaRPr/>
          </a:p>
          <a:p>
            <a:r>
              <a:t>La dichiarazione, in virtù di tale natura, esonera l'ufficio da provare i fatti in essa esposti essendo tale onere circoscritto solo a quanto non dichiarato, ma può essere corretta o emendata dal contribuente.</a:t>
            </a:r>
          </a:p>
          <a:p>
            <a:endParaRPr/>
          </a:p>
          <a:p>
            <a:r>
              <a:t>Pertanto, alla natura di dichiarazione di scienza si accompagna la qualificazione della dichiarazione come atto giuridico.</a:t>
            </a:r>
          </a:p>
        </p:txBody>
      </p:sp>
      <p:sp>
        <p:nvSpPr>
          <p:cNvPr id="4" name="Slide Number Placeholder 3"/>
          <p:cNvSpPr>
            <a:spLocks noGrp="1"/>
          </p:cNvSpPr>
          <p:nvPr>
            <p:ph type="sldNum"/>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r>
              <a:t>Sono obbligati in linea generale alla presentazione della dichiarazione annuale IVA tutti i contribuenti esercenti attività d’impresa ovvero attività artistiche o professionali, di cui agli articoli 4 e 5 del DPR 633/1972, titolari di partita IVA. </a:t>
            </a:r>
          </a:p>
          <a:p>
            <a:endParaRPr/>
          </a:p>
          <a:p>
            <a:r>
              <a:t>Sono esonerati dalla presentazione della dichiarazione IVA i seguenti soggetti d’imposta:</a:t>
            </a:r>
          </a:p>
          <a:p>
            <a:r>
              <a:t>i soggetti che hanno registrato esclusivamente operazioni esenti ai sensi dell’art. 10 (anche se dispensati sull’art. 36-bis) purché non debbano eseguire rettifiche dell’IVA assolta sull’acquisto di beni ammortizzabili ai sensi dell’art. 19-bis2);</a:t>
            </a:r>
          </a:p>
          <a:p>
            <a:endParaRPr/>
          </a:p>
          <a:p>
            <a:r>
              <a:t>i “contribuenti forfettari”;</a:t>
            </a:r>
          </a:p>
          <a:p>
            <a:endParaRPr/>
          </a:p>
          <a:p>
            <a:r>
              <a:t>i produttori agricoli con volume di affari inferiore o pari a 7.000 euro, esonerati dagli adempimenti ai sensi dell’art. 34, comma 6; </a:t>
            </a:r>
          </a:p>
          <a:p>
            <a:endParaRPr/>
          </a:p>
          <a:p>
            <a:r>
              <a:t>gli esercenti attività di intrattenimento e di spettacolo, a determinate condizioni;</a:t>
            </a:r>
          </a:p>
          <a:p>
            <a:r>
              <a:t>le imprese individuali che abbiano dato in affitto l’unica azienda e non esercitino altre attività rilevanti agli effetti dell’IVA;</a:t>
            </a:r>
          </a:p>
          <a:p>
            <a:endParaRPr/>
          </a:p>
          <a:p>
            <a:r>
              <a:t>le associazioni dilettantistiche, le ONLUS e le pro loco che applicano l’IVA ai sensi della legge n. 398 del 1991;</a:t>
            </a:r>
          </a:p>
          <a:p>
            <a:endParaRPr/>
          </a:p>
          <a:p>
            <a:r>
              <a:t>i soggetti domiciliati o residenti fuori dalla Comunità europea, non identificati in ambito comunitario, che si sono identificati ai fini dell’IVA nel territorio dello Stato con le modalità previste dall’art. 74 quinquies per l’assolvimento degli adempimenti relativi ai servizi resi tramite mezzi elettronici a committenti, non soggetti passivi d’imposta, domiciliati o residenti in Italia o in altro Stato membro.</a:t>
            </a:r>
          </a:p>
          <a:p>
            <a:endParaRPr/>
          </a:p>
          <a:p>
            <a:endParaRPr/>
          </a:p>
        </p:txBody>
      </p:sp>
      <p:sp>
        <p:nvSpPr>
          <p:cNvPr id="4" name="Slide Number Placeholder 3"/>
          <p:cNvSpPr>
            <a:spLocks noGrp="1"/>
          </p:cNvSpPr>
          <p:nvPr>
            <p:ph type="sldNum"/>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r>
              <a:t>La presentazione della dichiarazione annuale Iva deve essere effettuata esclusivamente per via telematica. Le dichiarazioni presentate tramite un ufficio postale sono da ritenersi redatte su modello non conforme a quello approvato.</a:t>
            </a:r>
          </a:p>
          <a:p>
            <a:endParaRPr/>
          </a:p>
          <a:p>
            <a:r>
              <a:t>In base all’art. 8 del D.P.R. n. 322 del 1998, Il contribuente presenta, secondo le disposizioni di cui all'articolo 3, per l'imposta sul valore aggiunto dovuta per il 2016, nel mese di febbraio, e per l'imposta sul valore aggiunto dovuta a decorrere dal 2017, tra il 1° febbraio e il 30 aprile. La dichiarazione si considera presentata nel giorno in cui è ricevuta dall’Agenzia delle Entrate attestante l’avvenuto ricevimento della dichiarazione dei presentata.</a:t>
            </a:r>
          </a:p>
          <a:p>
            <a:endParaRPr/>
          </a:p>
          <a:p>
            <a:r>
              <a:t>La dichiarazione può essere trasmessa:</a:t>
            </a:r>
          </a:p>
          <a:p>
            <a:r>
              <a:t>direttamente (Entratel o Fisconline);</a:t>
            </a:r>
          </a:p>
          <a:p>
            <a:r>
              <a:t>tramite intermediari abilitati.</a:t>
            </a:r>
          </a:p>
          <a:p>
            <a:endParaRPr/>
          </a:p>
          <a:p>
            <a:r>
              <a:t>I contribuenti con periodo di imposta coincidente con l'anno solare obbligati alla presentazione della dichiarazione dei redditi e della dichiarazione annuale ai fini dell'imposta sul valore aggiunto, possono presentare la dichiarazione unificata. </a:t>
            </a:r>
          </a:p>
          <a:p>
            <a:r>
              <a:t>In alcuni casi è esclusa la dichiarazione unificata  (iva di gruppo, esercizio non coincidente con l’anno solare....).</a:t>
            </a:r>
          </a:p>
          <a:p>
            <a:r>
              <a:t>Possono presentare la dichiarazione in via autonoma anche i soggetti che intendono utilizzare in compensazione o chiedere a rimborso il credito d’imposta risultante dalla dichiarazione annuale, così come quelli che presentano la dichiarazione entro il mese di febbraio al fine di poter usufruire dell’esonero dalla presentazione della comunicazione annuale dati Iva.</a:t>
            </a:r>
          </a:p>
        </p:txBody>
      </p:sp>
      <p:sp>
        <p:nvSpPr>
          <p:cNvPr id="4" name="Slide Number Placeholder 3"/>
          <p:cNvSpPr>
            <a:spLocks noGrp="1"/>
          </p:cNvSpPr>
          <p:nvPr>
            <p:ph type="sldNum"/>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endParaRPr/>
          </a:p>
          <a:p>
            <a:r>
              <a:t>Dichiarazione valida e tempestiva: ha l’effetto di liquidare e rendere riscuotibile l’obbligazione tributaria. Se l’amministrazione non fa uso del potere di rettifica, la misura del debito d’imposta rimane definita nei termini dichiarati. Non vi è effetto “costitutivo” del debito. </a:t>
            </a:r>
          </a:p>
          <a:p>
            <a:endParaRPr/>
          </a:p>
          <a:p>
            <a:r>
              <a:t>Dichiarazione omessa: ricorre quando il contribuente, in presenza dell’obbligo di presentazione, non vi provvede entro novanta giorni dalla scadenza. Gli effetti sono: termini più lunghi per l’accertamento e l’applicazione di sanzioni. </a:t>
            </a:r>
          </a:p>
          <a:p>
            <a:endParaRPr/>
          </a:p>
          <a:p>
            <a:r>
              <a:t>Dichiarazione nulla: sono tali la dichiarazione non redatta su modelli conformi a quelli approvati dall’Agenzia delle Entrate e la dichiarazione non sottoscritta dal contribuente (la nullità è però sanata se il soggetto tenuto a sottoscrivere la dichiarazione vi provvede entro 30 giorni dalla richiesta dell’Ufficio). </a:t>
            </a:r>
          </a:p>
          <a:p>
            <a:endParaRPr/>
          </a:p>
          <a:p>
            <a:r>
              <a:t>Dichiarazione tardiva: è quella presentata con ritardo non superiore a 90 giorni; è valida ma sconta una sanzione per il ritardo. </a:t>
            </a:r>
          </a:p>
          <a:p>
            <a:endParaRPr/>
          </a:p>
          <a:p>
            <a:r>
              <a:t>Dichiarazione ultratardiva: è quella presentata con ritardo superiore a 90 giorni; la dichiarazione si considera omessa, ma costituisce comunque titolo per la riscossione delle imposte dovute in base agli imponibili in esse indicati.</a:t>
            </a:r>
          </a:p>
          <a:p>
            <a:endParaRPr/>
          </a:p>
        </p:txBody>
      </p:sp>
      <p:sp>
        <p:nvSpPr>
          <p:cNvPr id="4" name="Slide Number Placeholder 3"/>
          <p:cNvSpPr>
            <a:spLocks noGrp="1"/>
          </p:cNvSpPr>
          <p:nvPr>
            <p:ph type="sldNum"/>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endParaRPr/>
          </a:p>
          <a:p>
            <a:r>
              <a:t>Correttiva nei termini: nell’ipotesi in cui il contribuente intenda, prima della scadenza del termine di presentazione, rettificare o integrare una dichiarazione già presentata, deve compilare una nuova dichiarazione, completa di tutte le sue parti. </a:t>
            </a:r>
          </a:p>
          <a:p>
            <a:endParaRPr/>
          </a:p>
          <a:p>
            <a:r>
              <a:t>Scaduti i termini di presentazione della dichiarazione, il contribuente può rettificare o integrare la stessa presentando, secondo le modalità previste per la dichiarazione originaria, una nuova dichiarazione completa di tutte le sue parti. Presupposto per poter presentare la dichiarazione integrativa è che sia stata validamente presentata la dichiarazione originaria. </a:t>
            </a:r>
          </a:p>
          <a:p>
            <a:endParaRPr/>
          </a:p>
          <a:p>
            <a:r>
              <a:t>Integrativa: sono tali la dichiarazione presentata entro i termini di decadenza per gli accertamenti (art. 2, comma 8, DPR 322/1998) per correggere errori od omissioni che abbiano determinato l’indicazione di un minor debito d’imposta o di un maggior credito, fatta salva l’applicazione delle sanzioni, e la dichiarazione integrativa per la correzione di errori od omissioni non incidenti sulla determinazione della base imponibile, dell’imposta e sul versamento del tributo e che non siano di ostacolo all’esercizio dell’attività di controllo</a:t>
            </a:r>
          </a:p>
          <a:p>
            <a:endParaRPr/>
          </a:p>
        </p:txBody>
      </p:sp>
      <p:sp>
        <p:nvSpPr>
          <p:cNvPr id="4" name="Slide Number Placeholder 3"/>
          <p:cNvSpPr>
            <a:spLocks noGrp="1"/>
          </p:cNvSpPr>
          <p:nvPr>
            <p:ph type="sldNum"/>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8075" y="812800"/>
            <a:ext cx="5343525" cy="4008438"/>
          </a:xfrm>
        </p:spPr>
      </p:sp>
      <p:sp>
        <p:nvSpPr>
          <p:cNvPr id="3" name="Notes Placeholder 2"/>
          <p:cNvSpPr>
            <a:spLocks noGrp="1"/>
          </p:cNvSpPr>
          <p:nvPr>
            <p:ph type="body"/>
          </p:nvPr>
        </p:nvSpPr>
        <p:spPr/>
        <p:txBody>
          <a:bodyPr/>
          <a:lstStyle/>
          <a:p>
            <a:r>
              <a:t>[Testo integrale]</a:t>
            </a:r>
          </a:p>
          <a:p>
            <a:r>
              <a:t>Articolo 8 del D.P.R. 322/1998</a:t>
            </a:r>
          </a:p>
          <a:p>
            <a:endParaRPr/>
          </a:p>
          <a:p>
            <a:r>
              <a:t>Integrativa "a sfavore": Per correggere errori che determinano un maggior debito o un minor credito. Presentabile entro i termini di decadenza dell'accertamento.</a:t>
            </a:r>
          </a:p>
          <a:p>
            <a:r>
              <a:t>Integrativa "a favore": Per correggere errori che determinano un minor debito o un maggior credito. Presentabile entro il termine per la presentazione della dichiarazione del quinto anno successivo.</a:t>
            </a:r>
          </a:p>
          <a:p>
            <a:endParaRPr/>
          </a:p>
          <a:p>
            <a:r>
              <a:t>Utilizzo del maggior credito da dichiarazione integrativa "a favore":</a:t>
            </a:r>
            <a:br/>
            <a:r>
              <a:t>La disciplina distingue due scenari:</a:t>
            </a:r>
          </a:p>
          <a:p>
            <a:r>
              <a:t>Integrativa presentata entro il termine della dichiarazione dell'anno successivo: Il maggior credito può essere utilizzato immediatamente in compensazione o in detrazione nelle liquidazioni periodiche.</a:t>
            </a:r>
          </a:p>
          <a:p>
            <a:r>
              <a:t>Integrativa presentata oltre tale termine: L'utilizzo del maggior credito è posticipato.</a:t>
            </a:r>
          </a:p>
          <a:p>
            <a:endParaRPr/>
          </a:p>
          <a:p>
            <a:r>
              <a:t>Esempio</a:t>
            </a:r>
          </a:p>
          <a:p>
            <a:r>
              <a:t>Un contribuente presenta a giugno 2025 una dichiarazione integrativa "a favore" relativa all'anno d'imposta 2022. Il termine per presentare la dichiarazione dell'anno successivo (anno 2023) era il 30/04/2024. Tale termine è spirato.</a:t>
            </a:r>
          </a:p>
          <a:p>
            <a:r>
              <a:t>Conseguenza: Il maggior credito IVA risultante dall'integrativa:</a:t>
            </a:r>
          </a:p>
          <a:p>
            <a:r>
              <a:t>NON può essere utilizzato in detrazione nelle liquidazioni periodiche del 2025.</a:t>
            </a:r>
          </a:p>
          <a:p>
            <a:r>
              <a:t>Può essere utilizzato in compensazione orizzontale (F24) solo a partire dal 1° gennaio 2026.</a:t>
            </a:r>
          </a:p>
          <a:p>
            <a:r>
              <a:t>Può essere chiesto a rimborso (se ricorrono i presupposti ex art. 30 nell'anno 2022).</a:t>
            </a:r>
          </a:p>
        </p:txBody>
      </p:sp>
      <p:sp>
        <p:nvSpPr>
          <p:cNvPr id="4" name="Slide Number Placeholder 3"/>
          <p:cNvSpPr>
            <a:spLocks noGrp="1"/>
          </p:cNvSpPr>
          <p:nvPr>
            <p:ph type="sldNum"/>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3" name="PlaceHolder 2"/>
          <p:cNvSpPr>
            <a:spLocks noGrp="1"/>
          </p:cNvSpPr>
          <p:nvPr>
            <p:ph type="subTitle"/>
          </p:nvPr>
        </p:nvSpPr>
        <p:spPr>
          <a:xfrm>
            <a:off x="457200" y="1604520"/>
            <a:ext cx="8229240" cy="3977280"/>
          </a:xfrm>
          <a:prstGeom prst="rect">
            <a:avLst/>
          </a:prstGeom>
        </p:spPr>
        <p:txBody>
          <a:bodyPr anchor="ctr"/>
          <a:lstStyle/>
          <a:p>
            <a:endParaRPr lang="it-IT"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5" name="PlaceHolder 2"/>
          <p:cNvSpPr>
            <a:spLocks noGrp="1"/>
          </p:cNvSpPr>
          <p:nvPr>
            <p:ph type="body"/>
          </p:nvPr>
        </p:nvSpPr>
        <p:spPr>
          <a:xfrm>
            <a:off x="457200" y="1604520"/>
            <a:ext cx="8229240" cy="3977280"/>
          </a:xfrm>
          <a:prstGeom prst="rect">
            <a:avLst/>
          </a:prstGeom>
        </p:spPr>
        <p:txBody>
          <a:bodyPr/>
          <a:lstStyle/>
          <a:p>
            <a:endParaRPr lang="it-IT"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7"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8" name="PlaceHolder 3"/>
          <p:cNvSpPr>
            <a:spLocks noGrp="1"/>
          </p:cNvSpPr>
          <p:nvPr>
            <p:ph type="body"/>
          </p:nvPr>
        </p:nvSpPr>
        <p:spPr>
          <a:xfrm>
            <a:off x="4674240" y="1604520"/>
            <a:ext cx="4015800" cy="3977280"/>
          </a:xfrm>
          <a:prstGeom prst="rect">
            <a:avLst/>
          </a:prstGeom>
        </p:spPr>
        <p:txBody>
          <a:bodyPr/>
          <a:lstStyle/>
          <a:p>
            <a:endParaRPr lang="it-IT"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a:lstStyle/>
          <a:p>
            <a:endParaRPr lang="it-IT"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anchor="ctr"/>
          <a:lstStyle/>
          <a:p>
            <a:endParaRPr lang="it-IT"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2"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13" name="PlaceHolder 3"/>
          <p:cNvSpPr>
            <a:spLocks noGrp="1"/>
          </p:cNvSpPr>
          <p:nvPr>
            <p:ph type="body"/>
          </p:nvPr>
        </p:nvSpPr>
        <p:spPr>
          <a:xfrm>
            <a:off x="4674240" y="1604520"/>
            <a:ext cx="4015800" cy="3977280"/>
          </a:xfrm>
          <a:prstGeom prst="rect">
            <a:avLst/>
          </a:prstGeom>
        </p:spPr>
        <p:txBody>
          <a:bodyPr/>
          <a:lstStyle/>
          <a:p>
            <a:endParaRPr lang="it-IT" noProof="1"/>
          </a:p>
        </p:txBody>
      </p:sp>
      <p:sp>
        <p:nvSpPr>
          <p:cNvPr id="14" name="PlaceHolder 4"/>
          <p:cNvSpPr>
            <a:spLocks noGrp="1"/>
          </p:cNvSpPr>
          <p:nvPr>
            <p:ph type="body"/>
          </p:nvPr>
        </p:nvSpPr>
        <p:spPr>
          <a:xfrm>
            <a:off x="457200" y="3682080"/>
            <a:ext cx="4015800" cy="1896840"/>
          </a:xfrm>
          <a:prstGeom prst="rect">
            <a:avLst/>
          </a:prstGeom>
        </p:spPr>
        <p:txBody>
          <a:bodyPr/>
          <a:lstStyle/>
          <a:p>
            <a:endParaRPr lang="it-IT"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6"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17"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18" name="PlaceHolder 4"/>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20"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21"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22" name="PlaceHolder 4"/>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24" name="PlaceHolder 2"/>
          <p:cNvSpPr>
            <a:spLocks noGrp="1"/>
          </p:cNvSpPr>
          <p:nvPr>
            <p:ph type="body"/>
          </p:nvPr>
        </p:nvSpPr>
        <p:spPr>
          <a:xfrm>
            <a:off x="457200" y="1604520"/>
            <a:ext cx="8229240" cy="1896840"/>
          </a:xfrm>
          <a:prstGeom prst="rect">
            <a:avLst/>
          </a:prstGeom>
        </p:spPr>
        <p:txBody>
          <a:bodyPr/>
          <a:lstStyle/>
          <a:p>
            <a:endParaRPr lang="it-IT" noProof="1"/>
          </a:p>
        </p:txBody>
      </p:sp>
      <p:sp>
        <p:nvSpPr>
          <p:cNvPr id="25" name="PlaceHolder 3"/>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27"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28"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29" name="PlaceHolder 4"/>
          <p:cNvSpPr>
            <a:spLocks noGrp="1"/>
          </p:cNvSpPr>
          <p:nvPr>
            <p:ph type="body"/>
          </p:nvPr>
        </p:nvSpPr>
        <p:spPr>
          <a:xfrm>
            <a:off x="457200" y="3682080"/>
            <a:ext cx="4015800" cy="1896840"/>
          </a:xfrm>
          <a:prstGeom prst="rect">
            <a:avLst/>
          </a:prstGeom>
        </p:spPr>
        <p:txBody>
          <a:bodyPr/>
          <a:lstStyle/>
          <a:p>
            <a:endParaRPr lang="it-IT" noProof="1"/>
          </a:p>
        </p:txBody>
      </p:sp>
      <p:sp>
        <p:nvSpPr>
          <p:cNvPr id="30" name="PlaceHolder 5"/>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32" name="PlaceHolder 2"/>
          <p:cNvSpPr>
            <a:spLocks noGrp="1"/>
          </p:cNvSpPr>
          <p:nvPr>
            <p:ph type="body"/>
          </p:nvPr>
        </p:nvSpPr>
        <p:spPr>
          <a:xfrm>
            <a:off x="457200" y="1604520"/>
            <a:ext cx="2649600" cy="1896840"/>
          </a:xfrm>
          <a:prstGeom prst="rect">
            <a:avLst/>
          </a:prstGeom>
        </p:spPr>
        <p:txBody>
          <a:bodyPr/>
          <a:lstStyle/>
          <a:p>
            <a:endParaRPr lang="it-IT" noProof="1"/>
          </a:p>
        </p:txBody>
      </p:sp>
      <p:sp>
        <p:nvSpPr>
          <p:cNvPr id="33" name="PlaceHolder 3"/>
          <p:cNvSpPr>
            <a:spLocks noGrp="1"/>
          </p:cNvSpPr>
          <p:nvPr>
            <p:ph type="body"/>
          </p:nvPr>
        </p:nvSpPr>
        <p:spPr>
          <a:xfrm>
            <a:off x="3239640" y="1604520"/>
            <a:ext cx="2649600" cy="1896840"/>
          </a:xfrm>
          <a:prstGeom prst="rect">
            <a:avLst/>
          </a:prstGeom>
        </p:spPr>
        <p:txBody>
          <a:bodyPr/>
          <a:lstStyle/>
          <a:p>
            <a:endParaRPr lang="it-IT" noProof="1"/>
          </a:p>
        </p:txBody>
      </p:sp>
      <p:sp>
        <p:nvSpPr>
          <p:cNvPr id="34" name="PlaceHolder 4"/>
          <p:cNvSpPr>
            <a:spLocks noGrp="1"/>
          </p:cNvSpPr>
          <p:nvPr>
            <p:ph type="body"/>
          </p:nvPr>
        </p:nvSpPr>
        <p:spPr>
          <a:xfrm>
            <a:off x="6022080" y="1604520"/>
            <a:ext cx="2649600" cy="1896840"/>
          </a:xfrm>
          <a:prstGeom prst="rect">
            <a:avLst/>
          </a:prstGeom>
        </p:spPr>
        <p:txBody>
          <a:bodyPr/>
          <a:lstStyle/>
          <a:p>
            <a:endParaRPr lang="it-IT" noProof="1"/>
          </a:p>
        </p:txBody>
      </p:sp>
      <p:sp>
        <p:nvSpPr>
          <p:cNvPr id="35" name="PlaceHolder 5"/>
          <p:cNvSpPr>
            <a:spLocks noGrp="1"/>
          </p:cNvSpPr>
          <p:nvPr>
            <p:ph type="body"/>
          </p:nvPr>
        </p:nvSpPr>
        <p:spPr>
          <a:xfrm>
            <a:off x="457200" y="3682080"/>
            <a:ext cx="2649600" cy="1896840"/>
          </a:xfrm>
          <a:prstGeom prst="rect">
            <a:avLst/>
          </a:prstGeom>
        </p:spPr>
        <p:txBody>
          <a:bodyPr/>
          <a:lstStyle/>
          <a:p>
            <a:endParaRPr lang="it-IT" noProof="1"/>
          </a:p>
        </p:txBody>
      </p:sp>
      <p:sp>
        <p:nvSpPr>
          <p:cNvPr id="36" name="PlaceHolder 6"/>
          <p:cNvSpPr>
            <a:spLocks noGrp="1"/>
          </p:cNvSpPr>
          <p:nvPr>
            <p:ph type="body"/>
          </p:nvPr>
        </p:nvSpPr>
        <p:spPr>
          <a:xfrm>
            <a:off x="3239640" y="3682080"/>
            <a:ext cx="2649600" cy="1896840"/>
          </a:xfrm>
          <a:prstGeom prst="rect">
            <a:avLst/>
          </a:prstGeom>
        </p:spPr>
        <p:txBody>
          <a:bodyPr/>
          <a:lstStyle/>
          <a:p>
            <a:endParaRPr lang="it-IT" noProof="1"/>
          </a:p>
        </p:txBody>
      </p:sp>
      <p:sp>
        <p:nvSpPr>
          <p:cNvPr id="37" name="PlaceHolder 7"/>
          <p:cNvSpPr>
            <a:spLocks noGrp="1"/>
          </p:cNvSpPr>
          <p:nvPr>
            <p:ph type="body"/>
          </p:nvPr>
        </p:nvSpPr>
        <p:spPr>
          <a:xfrm>
            <a:off x="6022080" y="3682080"/>
            <a:ext cx="2649600" cy="1896840"/>
          </a:xfrm>
          <a:prstGeom prst="rect">
            <a:avLst/>
          </a:prstGeom>
        </p:spPr>
        <p:txBody>
          <a:bodyPr/>
          <a:lstStyle/>
          <a:p>
            <a:endParaRPr lang="it-IT"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41" name="PlaceHolder 2"/>
          <p:cNvSpPr>
            <a:spLocks noGrp="1"/>
          </p:cNvSpPr>
          <p:nvPr>
            <p:ph type="subTitle"/>
          </p:nvPr>
        </p:nvSpPr>
        <p:spPr>
          <a:xfrm>
            <a:off x="457200" y="1604520"/>
            <a:ext cx="8229240" cy="3977280"/>
          </a:xfrm>
          <a:prstGeom prst="rect">
            <a:avLst/>
          </a:prstGeom>
        </p:spPr>
        <p:txBody>
          <a:bodyPr anchor="ctr"/>
          <a:lstStyle/>
          <a:p>
            <a:endParaRPr lang="it-IT"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43" name="PlaceHolder 2"/>
          <p:cNvSpPr>
            <a:spLocks noGrp="1"/>
          </p:cNvSpPr>
          <p:nvPr>
            <p:ph type="body"/>
          </p:nvPr>
        </p:nvSpPr>
        <p:spPr>
          <a:xfrm>
            <a:off x="457200" y="1604520"/>
            <a:ext cx="8229240" cy="3977280"/>
          </a:xfrm>
          <a:prstGeom prst="rect">
            <a:avLst/>
          </a:prstGeom>
        </p:spPr>
        <p:txBody>
          <a:bodyPr/>
          <a:lstStyle/>
          <a:p>
            <a:endParaRPr lang="it-IT"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45"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46" name="PlaceHolder 3"/>
          <p:cNvSpPr>
            <a:spLocks noGrp="1"/>
          </p:cNvSpPr>
          <p:nvPr>
            <p:ph type="body"/>
          </p:nvPr>
        </p:nvSpPr>
        <p:spPr>
          <a:xfrm>
            <a:off x="4674240" y="1604520"/>
            <a:ext cx="4015800" cy="3977280"/>
          </a:xfrm>
          <a:prstGeom prst="rect">
            <a:avLst/>
          </a:prstGeom>
        </p:spPr>
        <p:txBody>
          <a:bodyPr/>
          <a:lstStyle/>
          <a:p>
            <a:endParaRPr lang="it-IT"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a:lstStyle/>
          <a:p>
            <a:endParaRPr lang="it-IT"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457200" y="273600"/>
            <a:ext cx="8229240" cy="5307840"/>
          </a:xfrm>
          <a:prstGeom prst="rect">
            <a:avLst/>
          </a:prstGeom>
        </p:spPr>
        <p:txBody>
          <a:bodyPr anchor="ctr"/>
          <a:lstStyle/>
          <a:p>
            <a:endParaRPr lang="it-IT" noProof="1"/>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50"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51" name="PlaceHolder 3"/>
          <p:cNvSpPr>
            <a:spLocks noGrp="1"/>
          </p:cNvSpPr>
          <p:nvPr>
            <p:ph type="body"/>
          </p:nvPr>
        </p:nvSpPr>
        <p:spPr>
          <a:xfrm>
            <a:off x="4674240" y="1604520"/>
            <a:ext cx="4015800" cy="3977280"/>
          </a:xfrm>
          <a:prstGeom prst="rect">
            <a:avLst/>
          </a:prstGeom>
        </p:spPr>
        <p:txBody>
          <a:bodyPr/>
          <a:lstStyle/>
          <a:p>
            <a:endParaRPr lang="it-IT" noProof="1"/>
          </a:p>
        </p:txBody>
      </p:sp>
      <p:sp>
        <p:nvSpPr>
          <p:cNvPr id="52" name="PlaceHolder 4"/>
          <p:cNvSpPr>
            <a:spLocks noGrp="1"/>
          </p:cNvSpPr>
          <p:nvPr>
            <p:ph type="body"/>
          </p:nvPr>
        </p:nvSpPr>
        <p:spPr>
          <a:xfrm>
            <a:off x="457200" y="3682080"/>
            <a:ext cx="4015800" cy="1896840"/>
          </a:xfrm>
          <a:prstGeom prst="rect">
            <a:avLst/>
          </a:prstGeom>
        </p:spPr>
        <p:txBody>
          <a:bodyPr/>
          <a:lstStyle/>
          <a:p>
            <a:endParaRPr lang="it-IT" noProof="1"/>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54"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55"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56" name="PlaceHolder 4"/>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58"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59"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60" name="PlaceHolder 4"/>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62" name="PlaceHolder 2"/>
          <p:cNvSpPr>
            <a:spLocks noGrp="1"/>
          </p:cNvSpPr>
          <p:nvPr>
            <p:ph type="body"/>
          </p:nvPr>
        </p:nvSpPr>
        <p:spPr>
          <a:xfrm>
            <a:off x="457200" y="1604520"/>
            <a:ext cx="8229240" cy="1896840"/>
          </a:xfrm>
          <a:prstGeom prst="rect">
            <a:avLst/>
          </a:prstGeom>
        </p:spPr>
        <p:txBody>
          <a:bodyPr/>
          <a:lstStyle/>
          <a:p>
            <a:endParaRPr lang="it-IT" noProof="1"/>
          </a:p>
        </p:txBody>
      </p:sp>
      <p:sp>
        <p:nvSpPr>
          <p:cNvPr id="63" name="PlaceHolder 3"/>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65"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66"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67" name="PlaceHolder 4"/>
          <p:cNvSpPr>
            <a:spLocks noGrp="1"/>
          </p:cNvSpPr>
          <p:nvPr>
            <p:ph type="body"/>
          </p:nvPr>
        </p:nvSpPr>
        <p:spPr>
          <a:xfrm>
            <a:off x="457200" y="3682080"/>
            <a:ext cx="4015800" cy="1896840"/>
          </a:xfrm>
          <a:prstGeom prst="rect">
            <a:avLst/>
          </a:prstGeom>
        </p:spPr>
        <p:txBody>
          <a:bodyPr/>
          <a:lstStyle/>
          <a:p>
            <a:endParaRPr lang="it-IT" noProof="1"/>
          </a:p>
        </p:txBody>
      </p:sp>
      <p:sp>
        <p:nvSpPr>
          <p:cNvPr id="68" name="PlaceHolder 5"/>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70" name="PlaceHolder 2"/>
          <p:cNvSpPr>
            <a:spLocks noGrp="1"/>
          </p:cNvSpPr>
          <p:nvPr>
            <p:ph type="body"/>
          </p:nvPr>
        </p:nvSpPr>
        <p:spPr>
          <a:xfrm>
            <a:off x="457200" y="1604520"/>
            <a:ext cx="2649600" cy="1896840"/>
          </a:xfrm>
          <a:prstGeom prst="rect">
            <a:avLst/>
          </a:prstGeom>
        </p:spPr>
        <p:txBody>
          <a:bodyPr/>
          <a:lstStyle/>
          <a:p>
            <a:endParaRPr lang="it-IT" noProof="1"/>
          </a:p>
        </p:txBody>
      </p:sp>
      <p:sp>
        <p:nvSpPr>
          <p:cNvPr id="71" name="PlaceHolder 3"/>
          <p:cNvSpPr>
            <a:spLocks noGrp="1"/>
          </p:cNvSpPr>
          <p:nvPr>
            <p:ph type="body"/>
          </p:nvPr>
        </p:nvSpPr>
        <p:spPr>
          <a:xfrm>
            <a:off x="3239640" y="1604520"/>
            <a:ext cx="2649600" cy="1896840"/>
          </a:xfrm>
          <a:prstGeom prst="rect">
            <a:avLst/>
          </a:prstGeom>
        </p:spPr>
        <p:txBody>
          <a:bodyPr/>
          <a:lstStyle/>
          <a:p>
            <a:endParaRPr lang="it-IT" noProof="1"/>
          </a:p>
        </p:txBody>
      </p:sp>
      <p:sp>
        <p:nvSpPr>
          <p:cNvPr id="72" name="PlaceHolder 4"/>
          <p:cNvSpPr>
            <a:spLocks noGrp="1"/>
          </p:cNvSpPr>
          <p:nvPr>
            <p:ph type="body"/>
          </p:nvPr>
        </p:nvSpPr>
        <p:spPr>
          <a:xfrm>
            <a:off x="6022080" y="1604520"/>
            <a:ext cx="2649600" cy="1896840"/>
          </a:xfrm>
          <a:prstGeom prst="rect">
            <a:avLst/>
          </a:prstGeom>
        </p:spPr>
        <p:txBody>
          <a:bodyPr/>
          <a:lstStyle/>
          <a:p>
            <a:endParaRPr lang="it-IT" noProof="1"/>
          </a:p>
        </p:txBody>
      </p:sp>
      <p:sp>
        <p:nvSpPr>
          <p:cNvPr id="73" name="PlaceHolder 5"/>
          <p:cNvSpPr>
            <a:spLocks noGrp="1"/>
          </p:cNvSpPr>
          <p:nvPr>
            <p:ph type="body"/>
          </p:nvPr>
        </p:nvSpPr>
        <p:spPr>
          <a:xfrm>
            <a:off x="457200" y="3682080"/>
            <a:ext cx="2649600" cy="1896840"/>
          </a:xfrm>
          <a:prstGeom prst="rect">
            <a:avLst/>
          </a:prstGeom>
        </p:spPr>
        <p:txBody>
          <a:bodyPr/>
          <a:lstStyle/>
          <a:p>
            <a:endParaRPr lang="it-IT" noProof="1"/>
          </a:p>
        </p:txBody>
      </p:sp>
      <p:sp>
        <p:nvSpPr>
          <p:cNvPr id="74" name="PlaceHolder 6"/>
          <p:cNvSpPr>
            <a:spLocks noGrp="1"/>
          </p:cNvSpPr>
          <p:nvPr>
            <p:ph type="body"/>
          </p:nvPr>
        </p:nvSpPr>
        <p:spPr>
          <a:xfrm>
            <a:off x="3239640" y="3682080"/>
            <a:ext cx="2649600" cy="1896840"/>
          </a:xfrm>
          <a:prstGeom prst="rect">
            <a:avLst/>
          </a:prstGeom>
        </p:spPr>
        <p:txBody>
          <a:bodyPr/>
          <a:lstStyle/>
          <a:p>
            <a:endParaRPr lang="it-IT" noProof="1"/>
          </a:p>
        </p:txBody>
      </p:sp>
      <p:sp>
        <p:nvSpPr>
          <p:cNvPr id="75" name="PlaceHolder 7"/>
          <p:cNvSpPr>
            <a:spLocks noGrp="1"/>
          </p:cNvSpPr>
          <p:nvPr>
            <p:ph type="body"/>
          </p:nvPr>
        </p:nvSpPr>
        <p:spPr>
          <a:xfrm>
            <a:off x="6022080" y="3682080"/>
            <a:ext cx="2649600" cy="1896840"/>
          </a:xfrm>
          <a:prstGeom prst="rect">
            <a:avLst/>
          </a:prstGeom>
        </p:spPr>
        <p:txBody>
          <a:bodyPr/>
          <a:lstStyle/>
          <a:p>
            <a:endParaRPr lang="it-IT" noProof="1"/>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79" name="PlaceHolder 2"/>
          <p:cNvSpPr>
            <a:spLocks noGrp="1"/>
          </p:cNvSpPr>
          <p:nvPr>
            <p:ph type="subTitle"/>
          </p:nvPr>
        </p:nvSpPr>
        <p:spPr>
          <a:xfrm>
            <a:off x="457200" y="1604520"/>
            <a:ext cx="8229240" cy="3977280"/>
          </a:xfrm>
          <a:prstGeom prst="rect">
            <a:avLst/>
          </a:prstGeom>
        </p:spPr>
        <p:txBody>
          <a:bodyPr anchor="ctr"/>
          <a:lstStyle/>
          <a:p>
            <a:endParaRPr lang="it-IT"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81" name="PlaceHolder 2"/>
          <p:cNvSpPr>
            <a:spLocks noGrp="1"/>
          </p:cNvSpPr>
          <p:nvPr>
            <p:ph type="body"/>
          </p:nvPr>
        </p:nvSpPr>
        <p:spPr>
          <a:xfrm>
            <a:off x="457200" y="1604520"/>
            <a:ext cx="8229240" cy="3977280"/>
          </a:xfrm>
          <a:prstGeom prst="rect">
            <a:avLst/>
          </a:prstGeom>
        </p:spPr>
        <p:txBody>
          <a:bodyPr/>
          <a:lstStyle/>
          <a:p>
            <a:endParaRPr lang="it-IT"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83"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84" name="PlaceHolder 3"/>
          <p:cNvSpPr>
            <a:spLocks noGrp="1"/>
          </p:cNvSpPr>
          <p:nvPr>
            <p:ph type="body"/>
          </p:nvPr>
        </p:nvSpPr>
        <p:spPr>
          <a:xfrm>
            <a:off x="4674240" y="1604520"/>
            <a:ext cx="4015800" cy="3977280"/>
          </a:xfrm>
          <a:prstGeom prst="rect">
            <a:avLst/>
          </a:prstGeom>
        </p:spPr>
        <p:txBody>
          <a:bodyPr/>
          <a:lstStyle/>
          <a:p>
            <a:endParaRPr lang="it-IT"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73600"/>
            <a:ext cx="8229240" cy="1144800"/>
          </a:xfrm>
          <a:prstGeom prst="rect">
            <a:avLst/>
          </a:prstGeom>
        </p:spPr>
        <p:txBody>
          <a:bodyPr/>
          <a:lstStyle/>
          <a:p>
            <a:endParaRPr lang="it-IT"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457200" y="273600"/>
            <a:ext cx="8229240" cy="5307840"/>
          </a:xfrm>
          <a:prstGeom prst="rect">
            <a:avLst/>
          </a:prstGeom>
        </p:spPr>
        <p:txBody>
          <a:bodyPr anchor="ctr"/>
          <a:lstStyle/>
          <a:p>
            <a:endParaRPr lang="it-IT"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88"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89" name="PlaceHolder 3"/>
          <p:cNvSpPr>
            <a:spLocks noGrp="1"/>
          </p:cNvSpPr>
          <p:nvPr>
            <p:ph type="body"/>
          </p:nvPr>
        </p:nvSpPr>
        <p:spPr>
          <a:xfrm>
            <a:off x="4674240" y="1604520"/>
            <a:ext cx="4015800" cy="3977280"/>
          </a:xfrm>
          <a:prstGeom prst="rect">
            <a:avLst/>
          </a:prstGeom>
        </p:spPr>
        <p:txBody>
          <a:bodyPr/>
          <a:lstStyle/>
          <a:p>
            <a:endParaRPr lang="it-IT" noProof="1"/>
          </a:p>
        </p:txBody>
      </p:sp>
      <p:sp>
        <p:nvSpPr>
          <p:cNvPr id="90" name="PlaceHolder 4"/>
          <p:cNvSpPr>
            <a:spLocks noGrp="1"/>
          </p:cNvSpPr>
          <p:nvPr>
            <p:ph type="body"/>
          </p:nvPr>
        </p:nvSpPr>
        <p:spPr>
          <a:xfrm>
            <a:off x="457200" y="3682080"/>
            <a:ext cx="4015800" cy="1896840"/>
          </a:xfrm>
          <a:prstGeom prst="rect">
            <a:avLst/>
          </a:prstGeom>
        </p:spPr>
        <p:txBody>
          <a:bodyPr/>
          <a:lstStyle/>
          <a:p>
            <a:endParaRPr lang="it-IT"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92" name="PlaceHolder 2"/>
          <p:cNvSpPr>
            <a:spLocks noGrp="1"/>
          </p:cNvSpPr>
          <p:nvPr>
            <p:ph type="body"/>
          </p:nvPr>
        </p:nvSpPr>
        <p:spPr>
          <a:xfrm>
            <a:off x="457200" y="1604520"/>
            <a:ext cx="4015800" cy="3977280"/>
          </a:xfrm>
          <a:prstGeom prst="rect">
            <a:avLst/>
          </a:prstGeom>
        </p:spPr>
        <p:txBody>
          <a:bodyPr/>
          <a:lstStyle/>
          <a:p>
            <a:endParaRPr lang="it-IT" noProof="1"/>
          </a:p>
        </p:txBody>
      </p:sp>
      <p:sp>
        <p:nvSpPr>
          <p:cNvPr id="93"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94" name="PlaceHolder 4"/>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96"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97"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98" name="PlaceHolder 4"/>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00" name="PlaceHolder 2"/>
          <p:cNvSpPr>
            <a:spLocks noGrp="1"/>
          </p:cNvSpPr>
          <p:nvPr>
            <p:ph type="body"/>
          </p:nvPr>
        </p:nvSpPr>
        <p:spPr>
          <a:xfrm>
            <a:off x="457200" y="1604520"/>
            <a:ext cx="8229240" cy="1896840"/>
          </a:xfrm>
          <a:prstGeom prst="rect">
            <a:avLst/>
          </a:prstGeom>
        </p:spPr>
        <p:txBody>
          <a:bodyPr/>
          <a:lstStyle/>
          <a:p>
            <a:endParaRPr lang="it-IT" noProof="1"/>
          </a:p>
        </p:txBody>
      </p:sp>
      <p:sp>
        <p:nvSpPr>
          <p:cNvPr id="101" name="PlaceHolder 3"/>
          <p:cNvSpPr>
            <a:spLocks noGrp="1"/>
          </p:cNvSpPr>
          <p:nvPr>
            <p:ph type="body"/>
          </p:nvPr>
        </p:nvSpPr>
        <p:spPr>
          <a:xfrm>
            <a:off x="457200" y="3682080"/>
            <a:ext cx="8229240" cy="1896840"/>
          </a:xfrm>
          <a:prstGeom prst="rect">
            <a:avLst/>
          </a:prstGeom>
        </p:spPr>
        <p:txBody>
          <a:bodyPr/>
          <a:lstStyle/>
          <a:p>
            <a:endParaRPr lang="it-IT"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03" name="PlaceHolder 2"/>
          <p:cNvSpPr>
            <a:spLocks noGrp="1"/>
          </p:cNvSpPr>
          <p:nvPr>
            <p:ph type="body"/>
          </p:nvPr>
        </p:nvSpPr>
        <p:spPr>
          <a:xfrm>
            <a:off x="457200" y="1604520"/>
            <a:ext cx="4015800" cy="1896840"/>
          </a:xfrm>
          <a:prstGeom prst="rect">
            <a:avLst/>
          </a:prstGeom>
        </p:spPr>
        <p:txBody>
          <a:bodyPr/>
          <a:lstStyle/>
          <a:p>
            <a:endParaRPr lang="it-IT" noProof="1"/>
          </a:p>
        </p:txBody>
      </p:sp>
      <p:sp>
        <p:nvSpPr>
          <p:cNvPr id="104" name="PlaceHolder 3"/>
          <p:cNvSpPr>
            <a:spLocks noGrp="1"/>
          </p:cNvSpPr>
          <p:nvPr>
            <p:ph type="body"/>
          </p:nvPr>
        </p:nvSpPr>
        <p:spPr>
          <a:xfrm>
            <a:off x="4674240" y="1604520"/>
            <a:ext cx="4015800" cy="1896840"/>
          </a:xfrm>
          <a:prstGeom prst="rect">
            <a:avLst/>
          </a:prstGeom>
        </p:spPr>
        <p:txBody>
          <a:bodyPr/>
          <a:lstStyle/>
          <a:p>
            <a:endParaRPr lang="it-IT" noProof="1"/>
          </a:p>
        </p:txBody>
      </p:sp>
      <p:sp>
        <p:nvSpPr>
          <p:cNvPr id="105" name="PlaceHolder 4"/>
          <p:cNvSpPr>
            <a:spLocks noGrp="1"/>
          </p:cNvSpPr>
          <p:nvPr>
            <p:ph type="body"/>
          </p:nvPr>
        </p:nvSpPr>
        <p:spPr>
          <a:xfrm>
            <a:off x="457200" y="3682080"/>
            <a:ext cx="4015800" cy="1896840"/>
          </a:xfrm>
          <a:prstGeom prst="rect">
            <a:avLst/>
          </a:prstGeom>
        </p:spPr>
        <p:txBody>
          <a:bodyPr/>
          <a:lstStyle/>
          <a:p>
            <a:endParaRPr lang="it-IT" noProof="1"/>
          </a:p>
        </p:txBody>
      </p:sp>
      <p:sp>
        <p:nvSpPr>
          <p:cNvPr id="106" name="PlaceHolder 5"/>
          <p:cNvSpPr>
            <a:spLocks noGrp="1"/>
          </p:cNvSpPr>
          <p:nvPr>
            <p:ph type="body"/>
          </p:nvPr>
        </p:nvSpPr>
        <p:spPr>
          <a:xfrm>
            <a:off x="4674240" y="3682080"/>
            <a:ext cx="4015800" cy="1896840"/>
          </a:xfrm>
          <a:prstGeom prst="rect">
            <a:avLst/>
          </a:prstGeom>
        </p:spPr>
        <p:txBody>
          <a:bodyPr/>
          <a:lstStyle/>
          <a:p>
            <a:endParaRPr lang="it-IT"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p:spPr>
        <p:txBody>
          <a:bodyPr/>
          <a:lstStyle/>
          <a:p>
            <a:endParaRPr lang="it-IT" noProof="1"/>
          </a:p>
        </p:txBody>
      </p:sp>
      <p:sp>
        <p:nvSpPr>
          <p:cNvPr id="108" name="PlaceHolder 2"/>
          <p:cNvSpPr>
            <a:spLocks noGrp="1"/>
          </p:cNvSpPr>
          <p:nvPr>
            <p:ph type="body"/>
          </p:nvPr>
        </p:nvSpPr>
        <p:spPr>
          <a:xfrm>
            <a:off x="457200" y="1604520"/>
            <a:ext cx="2649600" cy="1896840"/>
          </a:xfrm>
          <a:prstGeom prst="rect">
            <a:avLst/>
          </a:prstGeom>
        </p:spPr>
        <p:txBody>
          <a:bodyPr/>
          <a:lstStyle/>
          <a:p>
            <a:endParaRPr lang="it-IT" noProof="1"/>
          </a:p>
        </p:txBody>
      </p:sp>
      <p:sp>
        <p:nvSpPr>
          <p:cNvPr id="109" name="PlaceHolder 3"/>
          <p:cNvSpPr>
            <a:spLocks noGrp="1"/>
          </p:cNvSpPr>
          <p:nvPr>
            <p:ph type="body"/>
          </p:nvPr>
        </p:nvSpPr>
        <p:spPr>
          <a:xfrm>
            <a:off x="3239640" y="1604520"/>
            <a:ext cx="2649600" cy="1896840"/>
          </a:xfrm>
          <a:prstGeom prst="rect">
            <a:avLst/>
          </a:prstGeom>
        </p:spPr>
        <p:txBody>
          <a:bodyPr/>
          <a:lstStyle/>
          <a:p>
            <a:endParaRPr lang="it-IT" noProof="1"/>
          </a:p>
        </p:txBody>
      </p:sp>
      <p:sp>
        <p:nvSpPr>
          <p:cNvPr id="110" name="PlaceHolder 4"/>
          <p:cNvSpPr>
            <a:spLocks noGrp="1"/>
          </p:cNvSpPr>
          <p:nvPr>
            <p:ph type="body"/>
          </p:nvPr>
        </p:nvSpPr>
        <p:spPr>
          <a:xfrm>
            <a:off x="6022080" y="1604520"/>
            <a:ext cx="2649600" cy="1896840"/>
          </a:xfrm>
          <a:prstGeom prst="rect">
            <a:avLst/>
          </a:prstGeom>
        </p:spPr>
        <p:txBody>
          <a:bodyPr/>
          <a:lstStyle/>
          <a:p>
            <a:endParaRPr lang="it-IT" noProof="1"/>
          </a:p>
        </p:txBody>
      </p:sp>
      <p:sp>
        <p:nvSpPr>
          <p:cNvPr id="111" name="PlaceHolder 5"/>
          <p:cNvSpPr>
            <a:spLocks noGrp="1"/>
          </p:cNvSpPr>
          <p:nvPr>
            <p:ph type="body"/>
          </p:nvPr>
        </p:nvSpPr>
        <p:spPr>
          <a:xfrm>
            <a:off x="457200" y="3682080"/>
            <a:ext cx="2649600" cy="1896840"/>
          </a:xfrm>
          <a:prstGeom prst="rect">
            <a:avLst/>
          </a:prstGeom>
        </p:spPr>
        <p:txBody>
          <a:bodyPr/>
          <a:lstStyle/>
          <a:p>
            <a:endParaRPr lang="it-IT" noProof="1"/>
          </a:p>
        </p:txBody>
      </p:sp>
      <p:sp>
        <p:nvSpPr>
          <p:cNvPr id="112" name="PlaceHolder 6"/>
          <p:cNvSpPr>
            <a:spLocks noGrp="1"/>
          </p:cNvSpPr>
          <p:nvPr>
            <p:ph type="body"/>
          </p:nvPr>
        </p:nvSpPr>
        <p:spPr>
          <a:xfrm>
            <a:off x="3239640" y="3682080"/>
            <a:ext cx="2649600" cy="1896840"/>
          </a:xfrm>
          <a:prstGeom prst="rect">
            <a:avLst/>
          </a:prstGeom>
        </p:spPr>
        <p:txBody>
          <a:bodyPr/>
          <a:lstStyle/>
          <a:p>
            <a:endParaRPr lang="it-IT" noProof="1"/>
          </a:p>
        </p:txBody>
      </p:sp>
      <p:sp>
        <p:nvSpPr>
          <p:cNvPr id="113" name="PlaceHolder 7"/>
          <p:cNvSpPr>
            <a:spLocks noGrp="1"/>
          </p:cNvSpPr>
          <p:nvPr>
            <p:ph type="body"/>
          </p:nvPr>
        </p:nvSpPr>
        <p:spPr>
          <a:xfrm>
            <a:off x="6022080" y="3682080"/>
            <a:ext cx="2649600" cy="1896840"/>
          </a:xfrm>
          <a:prstGeom prst="rect">
            <a:avLst/>
          </a:prstGeom>
        </p:spPr>
        <p:txBody>
          <a:bodyPr/>
          <a:lstStyle/>
          <a:p>
            <a:endParaRPr lang="it-IT"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050"/>
            <a:ext cx="8229600" cy="1144588"/>
          </a:xfrm>
          <a:prstGeom prst="rect">
            <a:avLst/>
          </a:prstGeom>
        </p:spPr>
        <p:txBody>
          <a:bodyPr lIns="0" tIns="0" rIns="0" bIns="0" anchor="ctr"/>
          <a:lstStyle/>
          <a:p>
            <a:r>
              <a:rPr lang="it-IT" noProof="1"/>
              <a:t>Fai clic per modificare il formato del testo del titolo</a:t>
            </a:r>
          </a:p>
        </p:txBody>
      </p:sp>
      <p:sp>
        <p:nvSpPr>
          <p:cNvPr id="3" name="PlaceHolder 2"/>
          <p:cNvSpPr>
            <a:spLocks noGrp="1"/>
          </p:cNvSpPr>
          <p:nvPr>
            <p:ph type="body"/>
          </p:nvPr>
        </p:nvSpPr>
        <p:spPr>
          <a:xfrm>
            <a:off x="457200" y="1604963"/>
            <a:ext cx="8229600" cy="3976687"/>
          </a:xfrm>
          <a:prstGeom prst="rect">
            <a:avLst/>
          </a:prstGeom>
        </p:spPr>
        <p:txBody>
          <a:bodyPr lIns="0" tIns="0" rIns="0" bIns="0">
            <a:normAutofit/>
          </a:bodyPr>
          <a:lstStyle/>
          <a:p>
            <a:r>
              <a:rPr lang="it-IT" noProof="1"/>
              <a:t>Fai clic per modificare il formato del testo della struttura</a:t>
            </a:r>
          </a:p>
          <a:p>
            <a:pPr lvl="1"/>
            <a:r>
              <a:rPr lang="it-IT" noProof="1"/>
              <a:t>Secondo livello struttura</a:t>
            </a:r>
          </a:p>
          <a:p>
            <a:pPr lvl="2"/>
            <a:r>
              <a:rPr lang="it-IT" noProof="1"/>
              <a:t>Terzo livello struttura</a:t>
            </a:r>
          </a:p>
          <a:p>
            <a:pPr lvl="3"/>
            <a:r>
              <a:rPr lang="it-IT" noProof="1"/>
              <a:t>Quarto livello struttura</a:t>
            </a:r>
          </a:p>
          <a:p>
            <a:pPr lvl="4"/>
            <a:r>
              <a:rPr lang="it-IT" noProof="1"/>
              <a:t>Quinto livello struttura</a:t>
            </a:r>
          </a:p>
          <a:p>
            <a:pPr lvl="5"/>
            <a:r>
              <a:rPr lang="it-IT" noProof="1"/>
              <a:t>Sesto livello struttura</a:t>
            </a:r>
          </a:p>
          <a:p>
            <a:pPr lvl="6"/>
            <a:r>
              <a:rPr lang="it-IT" noProof="1"/>
              <a:t>Settimo livello struttura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2pPr>
      <a:lvl3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3pPr>
      <a:lvl4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4pPr>
      <a:lvl5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050"/>
            <a:ext cx="8229600" cy="1144588"/>
          </a:xfrm>
          <a:prstGeom prst="rect">
            <a:avLst/>
          </a:prstGeom>
        </p:spPr>
        <p:txBody>
          <a:bodyPr lIns="0" tIns="0" rIns="0" bIns="0" anchor="ctr"/>
          <a:lstStyle/>
          <a:p>
            <a:r>
              <a:rPr lang="it-IT" noProof="1"/>
              <a:t>Fai clic per modificare il formato del testo del titolo</a:t>
            </a:r>
          </a:p>
        </p:txBody>
      </p:sp>
      <p:sp>
        <p:nvSpPr>
          <p:cNvPr id="39" name="PlaceHolder 2"/>
          <p:cNvSpPr>
            <a:spLocks noGrp="1"/>
          </p:cNvSpPr>
          <p:nvPr>
            <p:ph type="body"/>
          </p:nvPr>
        </p:nvSpPr>
        <p:spPr>
          <a:xfrm>
            <a:off x="457200" y="1604963"/>
            <a:ext cx="8229600" cy="3976687"/>
          </a:xfrm>
          <a:prstGeom prst="rect">
            <a:avLst/>
          </a:prstGeom>
        </p:spPr>
        <p:txBody>
          <a:bodyPr lIns="0" tIns="0" rIns="0" bIns="0">
            <a:normAutofit/>
          </a:bodyPr>
          <a:lstStyle/>
          <a:p>
            <a:r>
              <a:rPr lang="it-IT" noProof="1"/>
              <a:t>Fai clic per modificare il formato del testo della struttura</a:t>
            </a:r>
          </a:p>
          <a:p>
            <a:pPr lvl="1"/>
            <a:r>
              <a:rPr lang="it-IT" noProof="1"/>
              <a:t>Secondo livello struttura</a:t>
            </a:r>
          </a:p>
          <a:p>
            <a:pPr lvl="2"/>
            <a:r>
              <a:rPr lang="it-IT" noProof="1"/>
              <a:t>Terzo livello struttura</a:t>
            </a:r>
          </a:p>
          <a:p>
            <a:pPr lvl="3"/>
            <a:r>
              <a:rPr lang="it-IT" noProof="1"/>
              <a:t>Quarto livello struttura</a:t>
            </a:r>
          </a:p>
          <a:p>
            <a:pPr lvl="4"/>
            <a:r>
              <a:rPr lang="it-IT" noProof="1"/>
              <a:t>Quinto livello struttura</a:t>
            </a:r>
          </a:p>
          <a:p>
            <a:pPr lvl="5"/>
            <a:r>
              <a:rPr lang="it-IT" noProof="1"/>
              <a:t>Sesto livello struttura</a:t>
            </a:r>
          </a:p>
          <a:p>
            <a:pPr lvl="6"/>
            <a:r>
              <a:rPr lang="it-IT" noProof="1"/>
              <a:t>Settimo livello struttura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2pPr>
      <a:lvl3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3pPr>
      <a:lvl4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4pPr>
      <a:lvl5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050"/>
            <a:ext cx="8229600" cy="1144588"/>
          </a:xfrm>
          <a:prstGeom prst="rect">
            <a:avLst/>
          </a:prstGeom>
        </p:spPr>
        <p:txBody>
          <a:bodyPr lIns="0" tIns="0" rIns="0" bIns="0" anchor="ctr"/>
          <a:lstStyle/>
          <a:p>
            <a:r>
              <a:rPr lang="it-IT" noProof="1"/>
              <a:t>Fai clic per modificare il formato del testo del titolo</a:t>
            </a:r>
          </a:p>
        </p:txBody>
      </p:sp>
      <p:sp>
        <p:nvSpPr>
          <p:cNvPr id="77" name="PlaceHolder 2"/>
          <p:cNvSpPr>
            <a:spLocks noGrp="1"/>
          </p:cNvSpPr>
          <p:nvPr>
            <p:ph type="body"/>
          </p:nvPr>
        </p:nvSpPr>
        <p:spPr>
          <a:xfrm>
            <a:off x="457200" y="1604963"/>
            <a:ext cx="8229600" cy="3976687"/>
          </a:xfrm>
          <a:prstGeom prst="rect">
            <a:avLst/>
          </a:prstGeom>
        </p:spPr>
        <p:txBody>
          <a:bodyPr lIns="0" tIns="0" rIns="0" bIns="0">
            <a:normAutofit/>
          </a:bodyPr>
          <a:lstStyle/>
          <a:p>
            <a:r>
              <a:rPr lang="it-IT" noProof="1"/>
              <a:t>Fai clic per modificare il formato del testo della struttura</a:t>
            </a:r>
          </a:p>
          <a:p>
            <a:pPr lvl="1"/>
            <a:r>
              <a:rPr lang="it-IT" noProof="1"/>
              <a:t>Secondo livello struttura</a:t>
            </a:r>
          </a:p>
          <a:p>
            <a:pPr lvl="2"/>
            <a:r>
              <a:rPr lang="it-IT" noProof="1"/>
              <a:t>Terzo livello struttura</a:t>
            </a:r>
          </a:p>
          <a:p>
            <a:pPr lvl="3"/>
            <a:r>
              <a:rPr lang="it-IT" noProof="1"/>
              <a:t>Quarto livello struttura</a:t>
            </a:r>
          </a:p>
          <a:p>
            <a:pPr lvl="4"/>
            <a:r>
              <a:rPr lang="it-IT" noProof="1"/>
              <a:t>Quinto livello struttura</a:t>
            </a:r>
          </a:p>
          <a:p>
            <a:pPr lvl="5"/>
            <a:r>
              <a:rPr lang="it-IT" noProof="1"/>
              <a:t>Sesto livello struttura</a:t>
            </a:r>
          </a:p>
          <a:p>
            <a:pPr lvl="6"/>
            <a:r>
              <a:rPr lang="it-IT" noProof="1"/>
              <a:t>Settimo livello struttura</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2pPr>
      <a:lvl3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3pPr>
      <a:lvl4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4pPr>
      <a:lvl5pPr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DejaVu Sans" panose="020B0603030804020204"/>
          <a:cs typeface="DejaVu Sans" panose="020B0603030804020204"/>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taxation-customs.ec.europa.eu/taxation/vat/fight-against-vat-fraud/vat-gap_en#paragraph_1471" TargetMode="Externa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hyperlink" Target="https://www.consip.it/sites/default/files/documenti/2026-12545_aace278bb3c541ceafee77e2b23a6042_Bilancio%20Consip%20relativo%20allesercizio%202025.pdf" TargetMode="Externa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hyperlink" Target="https://static-r.giuffre.it/QUOTIDIANO/Cass.%2016471%20del%202025.pdf" TargetMode="External"/><Relationship Id="rId2" Type="http://schemas.openxmlformats.org/officeDocument/2006/relationships/notesSlide" Target="../notesSlides/notesSlide5.xml"/><Relationship Id="rId1" Type="http://schemas.openxmlformats.org/officeDocument/2006/relationships/slideLayout" Target="../slideLayouts/slideLayout17.xml"/><Relationship Id="rId5" Type="http://schemas.openxmlformats.org/officeDocument/2006/relationships/hyperlink" Target="https://www.italgiure.giustizia.it/xway/application/nif/clean/hc.dll?verbo=attach&amp;db=snciv&amp;id=./20251202/snciv@s50@a2025@n31406@tO.clean.pdf" TargetMode="External"/><Relationship Id="rId4" Type="http://schemas.openxmlformats.org/officeDocument/2006/relationships/hyperlink" Target="https://curia.europa.eu/juris/document/document_print.jsf?mode=lst&amp;pageIndex=0&amp;docid=243641&amp;part=1&amp;doclang=IT&amp;text=&amp;dir=&amp;occ=first&amp;cid=179716"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curia.europa.eu/jcms/upload/docs/application/pdf/2021-06/tra-doc-it-div-c-0000-2020-202000844-05_02.pdf" TargetMode="External"/><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hyperlink" Target="https://curia.europa.eu/juris/document/document_print.jsf?mode=lst&amp;pageIndex=0&amp;docid=224341&amp;part=1&amp;doclang=IT&amp;text=&amp;dir=&amp;occ=first&amp;cid=1223522" TargetMode="External"/><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hyperlink" Target="https://i2.res.24o.it/pdf2010/Editrice/ILSOLE24ORE/QUOTIDIANI_VERTICALI/Online/_Oggetti_Embedded/Documenti/2022/07/21/22727.pdf" TargetMode="External"/><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323850" y="4848225"/>
            <a:ext cx="5975350" cy="3635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fontAlgn="auto"/>
            <a:r>
              <a:rPr lang="it-IT" spc="-1" noProof="1">
                <a:solidFill>
                  <a:srgbClr val="FFFFFF"/>
                </a:solidFill>
                <a:latin typeface="Ubuntu" panose="020B0604030602030204"/>
                <a:ea typeface="Ubuntu" panose="020B0604030602030204"/>
              </a:rPr>
              <a:t>Luca Bonfanti</a:t>
            </a:r>
            <a:endParaRPr lang="it-IT" spc="-1" noProof="1"/>
          </a:p>
          <a:p>
            <a:pPr fontAlgn="auto"/>
            <a:r>
              <a:rPr lang="it-IT" i="1" spc="-1" noProof="1">
                <a:solidFill>
                  <a:srgbClr val="FFFFFF"/>
                </a:solidFill>
                <a:latin typeface="Ubuntu" panose="020B0604030602030204"/>
                <a:ea typeface="Ubuntu" panose="020B0604030602030204"/>
              </a:rPr>
              <a:t>Università Cattolica di Milano</a:t>
            </a:r>
          </a:p>
          <a:p>
            <a:pPr fontAlgn="auto"/>
            <a:r>
              <a:rPr lang="it-IT" i="1" spc="-1" noProof="1">
                <a:solidFill>
                  <a:srgbClr val="FFFFFF"/>
                </a:solidFill>
                <a:latin typeface="Ubuntu" panose="020B0604030602030204"/>
                <a:ea typeface="Ubuntu" panose="020B0604030602030204"/>
              </a:rPr>
              <a:t>BDC Associati</a:t>
            </a:r>
            <a:endParaRPr lang="it-IT" spc="-1" noProof="1"/>
          </a:p>
        </p:txBody>
      </p:sp>
      <p:sp>
        <p:nvSpPr>
          <p:cNvPr id="121" name="CustomShape 2"/>
          <p:cNvSpPr/>
          <p:nvPr/>
        </p:nvSpPr>
        <p:spPr>
          <a:xfrm>
            <a:off x="323850" y="3484563"/>
            <a:ext cx="5326063" cy="94138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2800" b="1" spc="-1" noProof="1">
                <a:solidFill>
                  <a:srgbClr val="FFFFFF"/>
                </a:solidFill>
                <a:latin typeface="Ubuntu" panose="020B0604030602030204"/>
                <a:ea typeface="Ubuntu" panose="020B0604030602030204"/>
              </a:rPr>
              <a:t>Il meccanismo applicativo dell’IVA</a:t>
            </a:r>
            <a:endParaRPr lang="it-IT" sz="2800" spc="-1" noProof="1"/>
          </a:p>
        </p:txBody>
      </p:sp>
      <p:sp>
        <p:nvSpPr>
          <p:cNvPr id="122" name="CustomShape 3"/>
          <p:cNvSpPr/>
          <p:nvPr/>
        </p:nvSpPr>
        <p:spPr>
          <a:xfrm>
            <a:off x="323850" y="848379"/>
            <a:ext cx="5326063" cy="67403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lstStyle/>
          <a:p>
            <a:pPr fontAlgn="auto"/>
            <a:r>
              <a:rPr lang="it-IT" sz="2800" b="1" spc="-1" noProof="1">
                <a:solidFill>
                  <a:srgbClr val="000000"/>
                </a:solidFill>
                <a:latin typeface="Ubuntu" panose="020B0604030602030204"/>
                <a:ea typeface="Ubuntu" panose="020B0604030602030204"/>
              </a:rPr>
              <a:t>Master in Diritto Tributario</a:t>
            </a:r>
            <a:endParaRPr lang="it-IT"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8"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9"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0" name="CustomShape 4"/>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 name="CasellaDiTesto 1"/>
          <p:cNvSpPr txBox="1"/>
          <p:nvPr/>
        </p:nvSpPr>
        <p:spPr>
          <a:xfrm>
            <a:off x="800100" y="1485900"/>
            <a:ext cx="8037513" cy="4893647"/>
          </a:xfrm>
          <a:prstGeom prst="rect">
            <a:avLst/>
          </a:prstGeom>
          <a:noFill/>
        </p:spPr>
        <p:txBody>
          <a:bodyPr>
            <a:spAutoFit/>
          </a:bodyPr>
          <a:lstStyle/>
          <a:p>
            <a:pPr marL="342900" indent="-342900" fontAlgn="auto">
              <a:buFontTx/>
              <a:buAutoNum type="arabicPeriod"/>
            </a:pPr>
            <a:r>
              <a:rPr lang="it-IT" sz="2400" noProof="1">
                <a:latin typeface="Tahoma" panose="020B0604030504040204" pitchFamily="34" charset="0"/>
                <a:ea typeface="Tahoma" panose="020B0604030504040204" pitchFamily="34" charset="0"/>
                <a:cs typeface="Tahoma" panose="020B0604030504040204" pitchFamily="34" charset="0"/>
              </a:rPr>
              <a:t>Il meccanismo dell’IVA</a:t>
            </a:r>
          </a:p>
          <a:p>
            <a:pPr marL="342900" indent="-342900" fontAlgn="auto">
              <a:buFontTx/>
              <a:buAutoNum type="arabicPeriod"/>
            </a:pPr>
            <a:endParaRPr lang="it-IT" sz="2400" noProof="1">
              <a:latin typeface="Tahoma" panose="020B0604030504040204" pitchFamily="34" charset="0"/>
              <a:ea typeface="Tahoma" panose="020B0604030504040204" pitchFamily="34" charset="0"/>
              <a:cs typeface="Tahoma" panose="020B0604030504040204" pitchFamily="34" charset="0"/>
            </a:endParaRPr>
          </a:p>
          <a:p>
            <a:pPr marL="742950" lvl="1" indent="-285750" fontAlgn="auto">
              <a:buFont typeface="Arial" panose="020B0604020202020204" pitchFamily="34" charset="0"/>
              <a:buChar char="•"/>
            </a:pPr>
            <a:r>
              <a:rPr lang="en-US" altLang="it-IT" noProof="1">
                <a:latin typeface="Tahoma" panose="020B0604030504040204" pitchFamily="34" charset="0"/>
                <a:ea typeface="Tahoma" panose="020B0604030504040204" pitchFamily="34" charset="0"/>
                <a:cs typeface="Tahoma" panose="020B0604030504040204" pitchFamily="34" charset="0"/>
              </a:rPr>
              <a:t>La struttura giuridica dell’imposta</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Tax desing</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Il principio di neutralità</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Debitore d’imposta e reverse charge</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Fatturazione</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Registrazione della fattura</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Variazioni dell’imponibile o dell’imposta</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Separazione delle attività</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Esonero dagli adempimenti</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Liquidazione e versamenti</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Dichiarazione</a:t>
            </a:r>
          </a:p>
          <a:p>
            <a:pPr marL="742950" lvl="1" indent="-285750" fontAlgn="auto">
              <a:buFont typeface="Arial" panose="020B0604020202020204" pitchFamily="34" charset="0"/>
              <a:buChar char="•"/>
            </a:pPr>
            <a:r>
              <a:rPr lang="it-IT" noProof="1">
                <a:latin typeface="Tahoma" panose="020B0604030504040204" pitchFamily="34" charset="0"/>
                <a:ea typeface="Tahoma" panose="020B0604030504040204" pitchFamily="34" charset="0"/>
                <a:cs typeface="Tahoma" panose="020B0604030504040204" pitchFamily="34" charset="0"/>
              </a:rPr>
              <a:t>Altri regimi</a:t>
            </a:r>
          </a:p>
          <a:p>
            <a:pPr fontAlgn="auto"/>
            <a:endParaRPr lang="it-IT" sz="2400" noProof="1">
              <a:latin typeface="Tahoma" panose="020B0604030504040204" pitchFamily="34" charset="0"/>
              <a:ea typeface="Tahoma" panose="020B0604030504040204" pitchFamily="34" charset="0"/>
              <a:cs typeface="Tahoma" panose="020B0604030504040204" pitchFamily="34" charset="0"/>
            </a:endParaRPr>
          </a:p>
          <a:p>
            <a:pPr fontAlgn="auto"/>
            <a:r>
              <a:rPr lang="it-IT" sz="2400" noProof="1">
                <a:latin typeface="Tahoma" panose="020B0604030504040204" pitchFamily="34" charset="0"/>
                <a:ea typeface="Tahoma" panose="020B0604030504040204" pitchFamily="34" charset="0"/>
                <a:cs typeface="Tahoma" panose="020B0604030504040204" pitchFamily="34" charset="0"/>
              </a:rPr>
              <a:t>2. Moduli di approfondimento</a:t>
            </a:r>
          </a:p>
        </p:txBody>
      </p:sp>
      <p:sp>
        <p:nvSpPr>
          <p:cNvPr id="8"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anchor="ctr"/>
          <a:lstStyle/>
          <a:p>
            <a:pPr algn="ctr" fontAlgn="auto"/>
            <a:r>
              <a:rPr lang="it-IT" sz="2800" b="1" spc="-1" noProof="1">
                <a:solidFill>
                  <a:srgbClr val="FFFFFF"/>
                </a:solidFill>
                <a:latin typeface="Ubuntu" panose="020B0604030602030204"/>
                <a:ea typeface="Ubuntu" panose="020B0604030602030204"/>
              </a:rPr>
              <a:t>Indice</a:t>
            </a:r>
            <a:endParaRPr lang="it-IT" sz="1400" spc="-1" noProof="1"/>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lIns="91440" tIns="45720" rIns="91440" bIns="45720" anchor="ctr"/>
          <a:lstStyle/>
          <a:p>
            <a:pPr algn="ctr" fontAlgn="auto"/>
            <a:r>
              <a:rPr lang="it-IT" sz="2800" b="1" spc="-1" noProof="1">
                <a:solidFill>
                  <a:srgbClr val="FFFFFF"/>
                </a:solidFill>
                <a:latin typeface="Ubuntu" panose="020B0604030602030204"/>
                <a:ea typeface="Ubuntu" panose="020B0604030602030204"/>
              </a:rPr>
              <a:t>Gettito IVA </a:t>
            </a:r>
            <a:br>
              <a:rPr dirty="0"/>
            </a:br>
            <a:r>
              <a:rPr lang="it-IT" sz="1400" b="1" spc="-1" noProof="1">
                <a:solidFill>
                  <a:srgbClr val="FFFFFF"/>
                </a:solidFill>
                <a:latin typeface="Ubuntu" panose="020B0604030602030204"/>
                <a:ea typeface="Ubuntu" panose="020B0604030602030204"/>
              </a:rPr>
              <a:t>(</a:t>
            </a:r>
            <a:r>
              <a:rPr lang="en-US" altLang="it-IT" sz="1400" b="1" spc="-1" noProof="1">
                <a:solidFill>
                  <a:srgbClr val="FFFFFF"/>
                </a:solidFill>
                <a:latin typeface="Ubuntu" panose="020B0604030602030204"/>
                <a:ea typeface="Ubuntu" panose="020B0604030602030204"/>
              </a:rPr>
              <a:t>B</a:t>
            </a:r>
            <a:r>
              <a:rPr lang="it-IT" sz="1400" b="1" spc="-1" noProof="1">
                <a:solidFill>
                  <a:srgbClr val="FFFFFF"/>
                </a:solidFill>
                <a:latin typeface="Ubuntu" panose="020B0604030602030204"/>
                <a:ea typeface="Ubuntu" panose="020B0604030602030204"/>
              </a:rPr>
              <a:t>ilancio dello Stato </a:t>
            </a:r>
            <a:r>
              <a:rPr lang="en-US" altLang="it-IT" sz="1400" b="1" spc="-1" noProof="1">
                <a:solidFill>
                  <a:srgbClr val="FFFFFF"/>
                </a:solidFill>
                <a:latin typeface="Ubuntu" panose="020B0604030602030204"/>
                <a:ea typeface="Ubuntu" panose="020B0604030602030204"/>
              </a:rPr>
              <a:t>2025</a:t>
            </a:r>
            <a:r>
              <a:rPr lang="it-IT" sz="1400" b="1" spc="-1" noProof="1">
                <a:solidFill>
                  <a:srgbClr val="FFFFFF"/>
                </a:solidFill>
                <a:latin typeface="Ubuntu" panose="020B0604030602030204"/>
                <a:ea typeface="Ubuntu" panose="020B0604030602030204"/>
              </a:rPr>
              <a:t>)</a:t>
            </a:r>
            <a:endParaRPr lang="it-IT" sz="1400" spc="-1" noProof="1"/>
          </a:p>
        </p:txBody>
      </p:sp>
      <p:sp>
        <p:nvSpPr>
          <p:cNvPr id="86" name="CustomShape 2"/>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BE72E42C-9D01-4626-8E5B-23586BDB4ABC}"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3</a:t>
            </a:fld>
            <a:endParaRPr lang="it-IT" altLang="en-US" sz="1200"/>
          </a:p>
        </p:txBody>
      </p:sp>
      <p:sp>
        <p:nvSpPr>
          <p:cNvPr id="87" name="CustomShape 3"/>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graphicFrame>
        <p:nvGraphicFramePr>
          <p:cNvPr id="5" name="Tabella 4">
            <a:extLst>
              <a:ext uri="{FF2B5EF4-FFF2-40B4-BE49-F238E27FC236}">
                <a16:creationId xmlns:a16="http://schemas.microsoft.com/office/drawing/2014/main" id="{E565EAA9-193E-2D9E-CC58-1966D50D58B7}"/>
              </a:ext>
            </a:extLst>
          </p:cNvPr>
          <p:cNvGraphicFramePr>
            <a:graphicFrameLocks noGrp="1"/>
          </p:cNvGraphicFramePr>
          <p:nvPr>
            <p:extLst>
              <p:ext uri="{D42A27DB-BD31-4B8C-83A1-F6EECF244321}">
                <p14:modId xmlns:p14="http://schemas.microsoft.com/office/powerpoint/2010/main" val="1515803921"/>
              </p:ext>
            </p:extLst>
          </p:nvPr>
        </p:nvGraphicFramePr>
        <p:xfrm>
          <a:off x="501038" y="1330325"/>
          <a:ext cx="8218124" cy="4832985"/>
        </p:xfrm>
        <a:graphic>
          <a:graphicData uri="http://schemas.openxmlformats.org/drawingml/2006/table">
            <a:tbl>
              <a:tblPr bandRow="1">
                <a:tableStyleId>{5C22544A-7EE6-4342-B048-85BDC9FD1C3A}</a:tableStyleId>
              </a:tblPr>
              <a:tblGrid>
                <a:gridCol w="2228432">
                  <a:extLst>
                    <a:ext uri="{9D8B030D-6E8A-4147-A177-3AD203B41FA5}">
                      <a16:colId xmlns:a16="http://schemas.microsoft.com/office/drawing/2014/main" val="3084748701"/>
                    </a:ext>
                  </a:extLst>
                </a:gridCol>
                <a:gridCol w="998282">
                  <a:extLst>
                    <a:ext uri="{9D8B030D-6E8A-4147-A177-3AD203B41FA5}">
                      <a16:colId xmlns:a16="http://schemas.microsoft.com/office/drawing/2014/main" val="2111133975"/>
                    </a:ext>
                  </a:extLst>
                </a:gridCol>
                <a:gridCol w="998282">
                  <a:extLst>
                    <a:ext uri="{9D8B030D-6E8A-4147-A177-3AD203B41FA5}">
                      <a16:colId xmlns:a16="http://schemas.microsoft.com/office/drawing/2014/main" val="4140911901"/>
                    </a:ext>
                  </a:extLst>
                </a:gridCol>
                <a:gridCol w="998282">
                  <a:extLst>
                    <a:ext uri="{9D8B030D-6E8A-4147-A177-3AD203B41FA5}">
                      <a16:colId xmlns:a16="http://schemas.microsoft.com/office/drawing/2014/main" val="1873210810"/>
                    </a:ext>
                  </a:extLst>
                </a:gridCol>
                <a:gridCol w="998282">
                  <a:extLst>
                    <a:ext uri="{9D8B030D-6E8A-4147-A177-3AD203B41FA5}">
                      <a16:colId xmlns:a16="http://schemas.microsoft.com/office/drawing/2014/main" val="2957041334"/>
                    </a:ext>
                  </a:extLst>
                </a:gridCol>
                <a:gridCol w="998282">
                  <a:extLst>
                    <a:ext uri="{9D8B030D-6E8A-4147-A177-3AD203B41FA5}">
                      <a16:colId xmlns:a16="http://schemas.microsoft.com/office/drawing/2014/main" val="4249011397"/>
                    </a:ext>
                  </a:extLst>
                </a:gridCol>
                <a:gridCol w="998282">
                  <a:extLst>
                    <a:ext uri="{9D8B030D-6E8A-4147-A177-3AD203B41FA5}">
                      <a16:colId xmlns:a16="http://schemas.microsoft.com/office/drawing/2014/main" val="457641712"/>
                    </a:ext>
                  </a:extLst>
                </a:gridCol>
              </a:tblGrid>
              <a:tr h="162449">
                <a:tc>
                  <a:txBody>
                    <a:bodyPr/>
                    <a:lstStyle/>
                    <a:p>
                      <a:r>
                        <a:rPr sz="1200" b="1" i="0"/>
                        <a:t>Tav. A.1 - Entrate finali del bilancio dello Stato - Previsione 2025-2027</a:t>
                      </a:r>
                    </a:p>
                  </a:txBody>
                  <a:tcPr marL="9525" marR="9525" marT="9525" anchor="b">
                    <a:lnL>
                      <a:noFill/>
                    </a:lnL>
                    <a:lnR>
                      <a:noFill/>
                    </a:lnR>
                    <a:lnT>
                      <a:noFill/>
                    </a:lnT>
                    <a:lnB>
                      <a:noFill/>
                    </a:lnB>
                    <a:noFill/>
                  </a:tcPr>
                </a:tc>
                <a:tc>
                  <a:txBody>
                    <a:bodyPr/>
                    <a:lstStyle/>
                    <a:p>
                      <a:r>
                        <a:rPr sz="900" b="0" i="1"/>
                        <a:t>(dati in milioni di euro)</a:t>
                      </a:r>
                    </a:p>
                  </a:txBody>
                  <a:tcPr marL="9525" marR="9525" marT="9525" anchor="b">
                    <a:lnL>
                      <a:noFill/>
                    </a:lnL>
                    <a:lnR>
                      <a:noFill/>
                    </a:lnR>
                    <a:lnT>
                      <a:noFill/>
                    </a:lnT>
                    <a:lnB>
                      <a:noFill/>
                    </a:lnB>
                    <a:noFill/>
                  </a:tcPr>
                </a:tc>
                <a:tc>
                  <a:txBody>
                    <a:bodyPr/>
                    <a:lstStyle/>
                    <a:p>
                      <a:pPr fontAlgn="b"/>
                      <a:endParaRPr lang="it-IT" sz="700" b="1">
                        <a:effectLst/>
                        <a:latin typeface="Calibri" panose="020F0502020204030204" pitchFamily="34" charset="0"/>
                      </a:endParaRPr>
                    </a:p>
                  </a:txBody>
                  <a:tcPr marL="9525" marR="9525" marT="9525" anchor="b">
                    <a:lnL>
                      <a:noFill/>
                    </a:lnL>
                    <a:lnR>
                      <a:noFill/>
                    </a:lnR>
                    <a:lnT>
                      <a:noFill/>
                    </a:lnT>
                    <a:lnB>
                      <a:noFill/>
                    </a:lnB>
                    <a:noFill/>
                  </a:tcPr>
                </a:tc>
                <a:tc>
                  <a:txBody>
                    <a:bodyPr/>
                    <a:lstStyle/>
                    <a:p>
                      <a:pPr fontAlgn="b"/>
                      <a:endParaRPr lang="it-IT" sz="700" b="1">
                        <a:effectLst/>
                        <a:latin typeface="Calibri" panose="020F0502020204030204" pitchFamily="34" charset="0"/>
                      </a:endParaRPr>
                    </a:p>
                  </a:txBody>
                  <a:tcPr marL="9525" marR="9525" marT="9525" anchor="b">
                    <a:lnL>
                      <a:noFill/>
                    </a:lnL>
                    <a:lnR>
                      <a:noFill/>
                    </a:lnR>
                    <a:lnT>
                      <a:noFill/>
                    </a:lnT>
                    <a:lnB>
                      <a:noFill/>
                    </a:lnB>
                    <a:noFill/>
                  </a:tcPr>
                </a:tc>
                <a:tc>
                  <a:txBody>
                    <a:bodyPr/>
                    <a:lstStyle/>
                    <a:p>
                      <a:pPr fontAlgn="b"/>
                      <a:endParaRPr lang="it-IT" sz="700" b="1">
                        <a:effectLst/>
                        <a:latin typeface="Calibri" panose="020F0502020204030204" pitchFamily="34" charset="0"/>
                      </a:endParaRPr>
                    </a:p>
                  </a:txBody>
                  <a:tcPr marL="9525" marR="9525" marT="9525" anchor="b">
                    <a:lnL>
                      <a:noFill/>
                    </a:lnL>
                    <a:lnR>
                      <a:noFill/>
                    </a:lnR>
                    <a:lnT>
                      <a:noFill/>
                    </a:lnT>
                    <a:lnB>
                      <a:noFill/>
                    </a:lnB>
                    <a:noFill/>
                  </a:tcPr>
                </a:tc>
                <a:tc>
                  <a:txBody>
                    <a:bodyPr/>
                    <a:lstStyle/>
                    <a:p>
                      <a:pPr fontAlgn="b"/>
                      <a:endParaRPr lang="it-IT" sz="700" b="1">
                        <a:effectLst/>
                        <a:latin typeface="Calibri" panose="020F0502020204030204" pitchFamily="34" charset="0"/>
                      </a:endParaRPr>
                    </a:p>
                  </a:txBody>
                  <a:tcPr marL="9525" marR="9525" marT="9525" anchor="b">
                    <a:lnL>
                      <a:noFill/>
                    </a:lnL>
                    <a:lnR>
                      <a:noFill/>
                    </a:lnR>
                    <a:lnT>
                      <a:noFill/>
                    </a:lnT>
                    <a:lnB>
                      <a:noFill/>
                    </a:lnB>
                    <a:noFill/>
                  </a:tcPr>
                </a:tc>
                <a:tc>
                  <a:txBody>
                    <a:bodyPr/>
                    <a:lstStyle/>
                    <a:p>
                      <a:pPr fontAlgn="b"/>
                      <a:endParaRPr lang="it-IT" sz="700" b="1" dirty="0">
                        <a:effectLst/>
                        <a:latin typeface="Calibri" panose="020F0502020204030204" pitchFamily="34" charset="0"/>
                      </a:endParaRPr>
                    </a:p>
                  </a:txBody>
                  <a:tcPr marL="9525" marR="9525" marT="9525" anchor="b">
                    <a:lnL>
                      <a:noFill/>
                    </a:lnL>
                    <a:lnR>
                      <a:noFill/>
                    </a:lnR>
                    <a:lnT>
                      <a:noFill/>
                    </a:lnT>
                    <a:lnB>
                      <a:noFill/>
                    </a:lnB>
                    <a:noFill/>
                  </a:tcPr>
                </a:tc>
                <a:extLst>
                  <a:ext uri="{0D108BD9-81ED-4DB2-BD59-A6C34878D82A}">
                    <a16:rowId xmlns:a16="http://schemas.microsoft.com/office/drawing/2014/main" val="1747535182"/>
                  </a:ext>
                </a:extLst>
              </a:tr>
              <a:tr h="157891">
                <a:tc rowSpan="2">
                  <a:txBody>
                    <a:bodyPr/>
                    <a:lstStyle/>
                    <a:p>
                      <a:pPr algn="ctr" fontAlgn="b"/>
                      <a:endParaRPr lang="it-IT" sz="700" dirty="0">
                        <a:solidFill>
                          <a:srgbClr val="FFFFFF"/>
                        </a:solidFill>
                        <a:effectLst/>
                        <a:highlight>
                          <a:srgbClr val="4F81BD"/>
                        </a:highlight>
                        <a:latin typeface="Calibri"/>
                      </a:endParaRP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gridSpan="2">
                  <a:txBody>
                    <a:bodyPr/>
                    <a:lstStyle/>
                    <a:p>
                      <a:pPr algn="ctr"/>
                      <a:r>
                        <a:rPr sz="900" b="1" i="0"/>
                        <a:t>L.B. 2025</a:t>
                      </a:r>
                    </a:p>
                  </a:txBody>
                  <a:tcPr marL="9525" marR="9525" marT="9525" anchor="b">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hMerge="1">
                  <a:txBody>
                    <a:bodyPr/>
                    <a:lstStyle/>
                    <a:p>
                      <a:endParaRPr lang="it-IT"/>
                    </a:p>
                  </a:txBody>
                  <a:tcPr/>
                </a:tc>
                <a:tc gridSpan="2">
                  <a:txBody>
                    <a:bodyPr/>
                    <a:lstStyle/>
                    <a:p>
                      <a:pPr algn="ctr"/>
                      <a:r>
                        <a:rPr sz="900" b="1" i="0"/>
                        <a:t>L.B. 2026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hMerge="1">
                  <a:txBody>
                    <a:bodyPr/>
                    <a:lstStyle/>
                    <a:p>
                      <a:endParaRPr lang="it-IT"/>
                    </a:p>
                  </a:txBody>
                  <a:tcPr/>
                </a:tc>
                <a:tc gridSpan="2">
                  <a:txBody>
                    <a:bodyPr/>
                    <a:lstStyle/>
                    <a:p>
                      <a:pPr algn="ctr"/>
                      <a:r>
                        <a:rPr sz="900" b="1" i="0"/>
                        <a:t>L.B. 2027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hMerge="1">
                  <a:txBody>
                    <a:bodyPr/>
                    <a:lstStyle/>
                    <a:p>
                      <a:endParaRPr lang="it-IT"/>
                    </a:p>
                  </a:txBody>
                  <a:tcPr/>
                </a:tc>
                <a:extLst>
                  <a:ext uri="{0D108BD9-81ED-4DB2-BD59-A6C34878D82A}">
                    <a16:rowId xmlns:a16="http://schemas.microsoft.com/office/drawing/2014/main" val="3262600384"/>
                  </a:ext>
                </a:extLst>
              </a:tr>
              <a:tr h="157891">
                <a:tc vMerge="1">
                  <a:txBody>
                    <a:bodyPr/>
                    <a:lstStyle/>
                    <a:p>
                      <a:endParaRPr lang="it-IT"/>
                    </a:p>
                  </a:txBody>
                  <a:tcPr/>
                </a:tc>
                <a:tc>
                  <a:txBody>
                    <a:bodyPr/>
                    <a:lstStyle/>
                    <a:p>
                      <a:pPr algn="ctr"/>
                      <a:r>
                        <a:rPr sz="850" b="1" i="0"/>
                        <a:t>Competenza</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a:txBody>
                    <a:bodyPr/>
                    <a:lstStyle/>
                    <a:p>
                      <a:pPr algn="ctr"/>
                      <a:r>
                        <a:rPr sz="850" b="1" i="0"/>
                        <a:t>Cassa</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a:txBody>
                    <a:bodyPr/>
                    <a:lstStyle/>
                    <a:p>
                      <a:pPr algn="ctr"/>
                      <a:r>
                        <a:rPr sz="850" b="1" i="0"/>
                        <a:t>Competenza</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a:txBody>
                    <a:bodyPr/>
                    <a:lstStyle/>
                    <a:p>
                      <a:pPr algn="ctr"/>
                      <a:r>
                        <a:rPr sz="850" b="1" i="0"/>
                        <a:t>Cassa</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a:txBody>
                    <a:bodyPr/>
                    <a:lstStyle/>
                    <a:p>
                      <a:pPr algn="ctr"/>
                      <a:r>
                        <a:rPr sz="850" b="1" i="0"/>
                        <a:t>Competenza</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tc>
                  <a:txBody>
                    <a:bodyPr/>
                    <a:lstStyle/>
                    <a:p>
                      <a:pPr algn="ctr"/>
                      <a:r>
                        <a:rPr sz="850" b="1" i="0"/>
                        <a:t>Cassa</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4F81BD"/>
                    </a:solidFill>
                  </a:tcPr>
                </a:tc>
                <a:extLst>
                  <a:ext uri="{0D108BD9-81ED-4DB2-BD59-A6C34878D82A}">
                    <a16:rowId xmlns:a16="http://schemas.microsoft.com/office/drawing/2014/main" val="2426837737"/>
                  </a:ext>
                </a:extLst>
              </a:tr>
              <a:tr h="0">
                <a:tc>
                  <a:txBody>
                    <a:bodyPr/>
                    <a:lstStyle/>
                    <a:p>
                      <a:r>
                        <a:rPr sz="900" b="1" i="0"/>
                        <a:t>TITOLO I - ENTRATE TRIBUTARIE</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tc>
                  <a:txBody>
                    <a:bodyPr/>
                    <a:lstStyle/>
                    <a:p>
                      <a:pPr algn="r"/>
                      <a:r>
                        <a:rPr sz="900" b="1" i="0"/>
                        <a:t>643.956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tc>
                  <a:txBody>
                    <a:bodyPr/>
                    <a:lstStyle/>
                    <a:p>
                      <a:pPr algn="r"/>
                      <a:r>
                        <a:rPr sz="900" b="1" i="0"/>
                        <a:t>620.723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tc>
                  <a:txBody>
                    <a:bodyPr/>
                    <a:lstStyle/>
                    <a:p>
                      <a:pPr algn="r"/>
                      <a:r>
                        <a:rPr sz="900" b="1" i="0"/>
                        <a:t>655.655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tc>
                  <a:txBody>
                    <a:bodyPr/>
                    <a:lstStyle/>
                    <a:p>
                      <a:pPr algn="r"/>
                      <a:r>
                        <a:rPr sz="900" b="1" i="0"/>
                        <a:t>632.486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tc>
                  <a:txBody>
                    <a:bodyPr/>
                    <a:lstStyle/>
                    <a:p>
                      <a:pPr algn="r"/>
                      <a:r>
                        <a:rPr sz="900" b="1" i="0"/>
                        <a:t>672.507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tc>
                  <a:txBody>
                    <a:bodyPr/>
                    <a:lstStyle/>
                    <a:p>
                      <a:pPr algn="r"/>
                      <a:r>
                        <a:rPr sz="900" b="1" i="0"/>
                        <a:t>649.375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E6F1"/>
                    </a:solidFill>
                  </a:tcPr>
                </a:tc>
                <a:extLst>
                  <a:ext uri="{0D108BD9-81ED-4DB2-BD59-A6C34878D82A}">
                    <a16:rowId xmlns:a16="http://schemas.microsoft.com/office/drawing/2014/main" val="4033232120"/>
                  </a:ext>
                </a:extLst>
              </a:tr>
              <a:tr h="0">
                <a:tc>
                  <a:txBody>
                    <a:bodyPr/>
                    <a:lstStyle/>
                    <a:p>
                      <a:r>
                        <a:rPr sz="900" b="0" i="1"/>
                        <a:t>   Entrate ricorrenti</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640.855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617.656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652.709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629.574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669.662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646.566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31749127"/>
                  </a:ext>
                </a:extLst>
              </a:tr>
              <a:tr h="0">
                <a:tc>
                  <a:txBody>
                    <a:bodyPr/>
                    <a:lstStyle/>
                    <a:p>
                      <a:r>
                        <a:rPr sz="900" b="0" i="0"/>
                        <a:t>      IRPEF</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243.328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236.459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249.229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242.405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256.743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249.957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339141"/>
                  </a:ext>
                </a:extLst>
              </a:tr>
              <a:tr h="0">
                <a:tc>
                  <a:txBody>
                    <a:bodyPr/>
                    <a:lstStyle/>
                    <a:p>
                      <a:r>
                        <a:rPr sz="900" b="0" i="0"/>
                        <a:t>      IRES</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63.604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61.135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64.548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62.084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66.948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64.484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77465386"/>
                  </a:ext>
                </a:extLst>
              </a:tr>
              <a:tr h="0">
                <a:tc>
                  <a:txBody>
                    <a:bodyPr/>
                    <a:lstStyle/>
                    <a:p>
                      <a:r>
                        <a:rPr sz="900" b="0" i="0"/>
                        <a:t>      Imposte sostitutive sui redditi</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36.705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36.489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35.839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35.626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35.307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35.095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695895"/>
                  </a:ext>
                </a:extLst>
              </a:tr>
              <a:tr h="0">
                <a:tc>
                  <a:txBody>
                    <a:bodyPr/>
                    <a:lstStyle/>
                    <a:p>
                      <a:r>
                        <a:rPr sz="900" b="0" i="0"/>
                        <a:t>      Altre imposte su patrimonio e reddito</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10.291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9.893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10.132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9.736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10.162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9.766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6852219"/>
                  </a:ext>
                </a:extLst>
              </a:tr>
              <a:tr h="0">
                <a:tc>
                  <a:txBody>
                    <a:bodyPr/>
                    <a:lstStyle/>
                    <a:p>
                      <a:r>
                        <a:rPr sz="900" b="1" i="0"/>
                        <a:t>      IVA</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tc>
                  <a:txBody>
                    <a:bodyPr/>
                    <a:lstStyle/>
                    <a:p>
                      <a:pPr algn="r"/>
                      <a:r>
                        <a:rPr sz="900" b="1" i="0"/>
                        <a:t>207.530</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tc>
                  <a:txBody>
                    <a:bodyPr/>
                    <a:lstStyle/>
                    <a:p>
                      <a:pPr algn="r"/>
                      <a:r>
                        <a:rPr sz="900" b="1" i="0"/>
                        <a:t>194.450</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tc>
                  <a:txBody>
                    <a:bodyPr/>
                    <a:lstStyle/>
                    <a:p>
                      <a:pPr algn="r"/>
                      <a:r>
                        <a:rPr sz="900" b="1" i="0"/>
                        <a:t>213.109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tc>
                  <a:txBody>
                    <a:bodyPr/>
                    <a:lstStyle/>
                    <a:p>
                      <a:pPr algn="r"/>
                      <a:r>
                        <a:rPr sz="900" b="1" i="0"/>
                        <a:t>200.042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tc>
                  <a:txBody>
                    <a:bodyPr/>
                    <a:lstStyle/>
                    <a:p>
                      <a:pPr algn="r"/>
                      <a:r>
                        <a:rPr sz="900" b="1" i="0"/>
                        <a:t>219.224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tc>
                  <a:txBody>
                    <a:bodyPr/>
                    <a:lstStyle/>
                    <a:p>
                      <a:pPr algn="r"/>
                      <a:r>
                        <a:rPr sz="900" b="1" i="0"/>
                        <a:t>206.161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2CC"/>
                    </a:solidFill>
                  </a:tcPr>
                </a:tc>
                <a:extLst>
                  <a:ext uri="{0D108BD9-81ED-4DB2-BD59-A6C34878D82A}">
                    <a16:rowId xmlns:a16="http://schemas.microsoft.com/office/drawing/2014/main" val="3597569766"/>
                  </a:ext>
                </a:extLst>
              </a:tr>
              <a:tr h="0">
                <a:tc>
                  <a:txBody>
                    <a:bodyPr/>
                    <a:lstStyle/>
                    <a:p>
                      <a:r>
                        <a:rPr sz="900" b="0" i="0"/>
                        <a:t>      Registro e bollo</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15.699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15.564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15.015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14.878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15.218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15.079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4878508"/>
                  </a:ext>
                </a:extLst>
              </a:tr>
              <a:tr h="0">
                <a:tc>
                  <a:txBody>
                    <a:bodyPr/>
                    <a:lstStyle/>
                    <a:p>
                      <a:r>
                        <a:rPr sz="900" b="0" i="0"/>
                        <a:t>      Altre imposte sugli affari</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11.623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11.596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11.784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11.756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11.993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11.963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4792484"/>
                  </a:ext>
                </a:extLst>
              </a:tr>
              <a:tr h="0">
                <a:tc>
                  <a:txBody>
                    <a:bodyPr/>
                    <a:lstStyle/>
                    <a:p>
                      <a:r>
                        <a:rPr sz="900" b="0" i="0"/>
                        <a:t>      Accise energetici, en. elettrica e gas</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31.112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31.107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31.641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31.636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32.205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32.200</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6018608"/>
                  </a:ext>
                </a:extLst>
              </a:tr>
              <a:tr h="0">
                <a:tc>
                  <a:txBody>
                    <a:bodyPr/>
                    <a:lstStyle/>
                    <a:p>
                      <a:r>
                        <a:rPr sz="900" b="0" i="0"/>
                        <a:t>      Altre imposte su produzione e consumi</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2.556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2.546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2.854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2.844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3.089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3.078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7013911"/>
                  </a:ext>
                </a:extLst>
              </a:tr>
              <a:tr h="0">
                <a:tc>
                  <a:txBody>
                    <a:bodyPr/>
                    <a:lstStyle/>
                    <a:p>
                      <a:r>
                        <a:rPr sz="900" b="0" i="0"/>
                        <a:t>      Vendita di generi di monopolio</a:t>
                      </a:r>
                    </a:p>
                  </a:txBody>
                  <a:tcPr marL="857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11.428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11.430</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11.508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11.510</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11.507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11.509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6239558"/>
                  </a:ext>
                </a:extLst>
              </a:tr>
              <a:tr h="0">
                <a:tc>
                  <a:txBody>
                    <a:bodyPr/>
                    <a:lstStyle/>
                    <a:p>
                      <a:r>
                        <a:rPr sz="900" b="0" i="0" dirty="0"/>
                        <a:t>      Tasse e </a:t>
                      </a:r>
                      <a:r>
                        <a:rPr sz="900" b="0" i="0" dirty="0" err="1"/>
                        <a:t>imposte</a:t>
                      </a:r>
                      <a:r>
                        <a:rPr sz="900" b="0" i="0" dirty="0"/>
                        <a:t> </a:t>
                      </a:r>
                      <a:r>
                        <a:rPr sz="900" b="0" i="0" dirty="0" err="1"/>
                        <a:t>sul</a:t>
                      </a:r>
                      <a:r>
                        <a:rPr sz="900" b="0" i="0" dirty="0"/>
                        <a:t> </a:t>
                      </a:r>
                      <a:r>
                        <a:rPr sz="900" b="0" i="0" dirty="0" err="1"/>
                        <a:t>gioco</a:t>
                      </a:r>
                      <a:endParaRPr sz="900" b="0" i="0" dirty="0"/>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dirty="0"/>
                        <a:t>6.979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dirty="0"/>
                        <a:t>6.987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7.051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dirty="0"/>
                        <a:t>7.059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dirty="0"/>
                        <a:t>7.266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dirty="0"/>
                        <a:t>7.274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4496294"/>
                  </a:ext>
                </a:extLst>
              </a:tr>
              <a:tr h="0">
                <a:tc>
                  <a:txBody>
                    <a:bodyPr/>
                    <a:lstStyle/>
                    <a:p>
                      <a:r>
                        <a:rPr sz="900" b="0" i="1"/>
                        <a:t>   Entrate non ricorrenti</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3.102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3.067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2.946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2.911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2.844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0" i="0"/>
                        <a:t>2.809</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5004400"/>
                  </a:ext>
                </a:extLst>
              </a:tr>
              <a:tr h="0">
                <a:tc>
                  <a:txBody>
                    <a:bodyPr/>
                    <a:lstStyle/>
                    <a:p>
                      <a:r>
                        <a:rPr sz="900" b="1" i="0"/>
                        <a:t>TITOLO II - ENTRATE EXTRA-TRIBUTARIE</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84.531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66.770</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81.175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63.365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79.717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61.802</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8060689"/>
                  </a:ext>
                </a:extLst>
              </a:tr>
              <a:tr h="0">
                <a:tc>
                  <a:txBody>
                    <a:bodyPr/>
                    <a:lstStyle/>
                    <a:p>
                      <a:r>
                        <a:rPr sz="900" b="1" i="0"/>
                        <a:t>TITOLO III - ALIENAZIONE E AMMORT. DI BENI</a:t>
                      </a:r>
                    </a:p>
                  </a:txBody>
                  <a:tcPr marL="857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345</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341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346</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343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348</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344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8502166"/>
                  </a:ext>
                </a:extLst>
              </a:tr>
              <a:tr h="0">
                <a:tc>
                  <a:txBody>
                    <a:bodyPr/>
                    <a:lstStyle/>
                    <a:p>
                      <a:r>
                        <a:rPr sz="900" b="1" i="0"/>
                        <a:t>TOTALE ENTRATE FINALI</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728.833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687.834</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737.177</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696.193</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752.571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r"/>
                      <a:r>
                        <a:rPr sz="900" b="1" i="0"/>
                        <a:t>711.521</a:t>
                      </a:r>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9850058"/>
                  </a:ext>
                </a:extLst>
              </a:tr>
              <a:tr h="0">
                <a:tc gridSpan="7">
                  <a:txBody>
                    <a:bodyPr/>
                    <a:lstStyle/>
                    <a:p>
                      <a:r>
                        <a:rPr sz="750" b="0" i="1" dirty="0"/>
                        <a:t>(*) Fonte: RGS-MEF, «Il </a:t>
                      </a:r>
                      <a:r>
                        <a:rPr sz="750" b="0" i="1" dirty="0" err="1"/>
                        <a:t>bilancio</a:t>
                      </a:r>
                      <a:r>
                        <a:rPr sz="750" b="0" i="1" dirty="0"/>
                        <a:t> </a:t>
                      </a:r>
                      <a:r>
                        <a:rPr sz="750" b="0" i="1" dirty="0" err="1"/>
                        <a:t>dello</a:t>
                      </a:r>
                      <a:r>
                        <a:rPr sz="750" b="0" i="1" dirty="0"/>
                        <a:t> Stato 2025-2027 in breve», </a:t>
                      </a:r>
                      <a:r>
                        <a:rPr sz="750" b="0" i="1" dirty="0" err="1"/>
                        <a:t>Tav</a:t>
                      </a:r>
                      <a:r>
                        <a:rPr sz="750" b="0" i="1" dirty="0"/>
                        <a:t>. A.1. L'IVA e' </a:t>
                      </a:r>
                      <a:r>
                        <a:rPr sz="750" b="0" i="1" dirty="0" err="1"/>
                        <a:t>esposta</a:t>
                      </a:r>
                      <a:r>
                        <a:rPr sz="750" b="0" i="1" dirty="0"/>
                        <a:t> al </a:t>
                      </a:r>
                      <a:r>
                        <a:rPr sz="750" b="0" i="1" dirty="0" err="1"/>
                        <a:t>lordo</a:t>
                      </a:r>
                      <a:r>
                        <a:rPr sz="750" b="0" i="1" dirty="0"/>
                        <a:t> della quota da </a:t>
                      </a:r>
                      <a:r>
                        <a:rPr sz="750" b="0" i="1" dirty="0" err="1"/>
                        <a:t>destinare</a:t>
                      </a:r>
                      <a:r>
                        <a:rPr sz="750" b="0" i="1" dirty="0"/>
                        <a:t> </a:t>
                      </a:r>
                      <a:r>
                        <a:rPr sz="750" b="0" i="1" dirty="0" err="1"/>
                        <a:t>all'UE</a:t>
                      </a:r>
                      <a:r>
                        <a:rPr sz="750" b="0" i="1" dirty="0"/>
                        <a:t> (</a:t>
                      </a:r>
                      <a:r>
                        <a:rPr sz="750" b="0" i="1" dirty="0" err="1"/>
                        <a:t>risorsa</a:t>
                      </a:r>
                      <a:r>
                        <a:rPr sz="750" b="0" i="1" dirty="0"/>
                        <a:t> propria). </a:t>
                      </a:r>
                      <a:r>
                        <a:rPr sz="750" b="0" i="1" dirty="0" err="1"/>
                        <a:t>Importi</a:t>
                      </a:r>
                      <a:r>
                        <a:rPr sz="750" b="0" i="1" dirty="0"/>
                        <a:t> in </a:t>
                      </a:r>
                      <a:r>
                        <a:rPr sz="750" b="0" i="1" dirty="0" err="1"/>
                        <a:t>milioni</a:t>
                      </a:r>
                      <a:r>
                        <a:rPr sz="750" b="0" i="1" dirty="0"/>
                        <a:t> di euro.</a:t>
                      </a:r>
                    </a:p>
                  </a:txBody>
                  <a:tcPr marL="171450"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dirty="0"/>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dirty="0"/>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dirty="0"/>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dirty="0"/>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dirty="0"/>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dirty="0"/>
                    </a:p>
                  </a:txBody>
                  <a:tcPr marL="9525" marR="9525" marT="9525" anchor="b">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66161211"/>
                  </a:ext>
                </a:extLst>
              </a:tr>
            </a:tbl>
          </a:graphicData>
        </a:graphic>
      </p:graphicFrame>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00F95-3E47-968E-C8F1-4BB714C52C92}"/>
            </a:ext>
          </a:extLst>
        </p:cNvPr>
        <p:cNvGrpSpPr/>
        <p:nvPr/>
      </p:nvGrpSpPr>
      <p:grpSpPr>
        <a:xfrm>
          <a:off x="0" y="0"/>
          <a:ext cx="0" cy="0"/>
          <a:chOff x="0" y="0"/>
          <a:chExt cx="0" cy="0"/>
        </a:xfrm>
      </p:grpSpPr>
      <p:sp>
        <p:nvSpPr>
          <p:cNvPr id="85" name="CustomShape 1">
            <a:extLst>
              <a:ext uri="{FF2B5EF4-FFF2-40B4-BE49-F238E27FC236}">
                <a16:creationId xmlns:a16="http://schemas.microsoft.com/office/drawing/2014/main" id="{85C9FC22-BD8B-6932-0220-F04939C29740}"/>
              </a:ext>
            </a:extLst>
          </p:cNvPr>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lIns="91440" tIns="45720" rIns="91440" bIns="45720" anchor="ctr"/>
          <a:lstStyle/>
          <a:p>
            <a:pPr algn="ctr" fontAlgn="auto"/>
            <a:r>
              <a:rPr lang="it-IT" sz="2800" b="1" spc="-1" noProof="1">
                <a:solidFill>
                  <a:srgbClr val="FFFFFF"/>
                </a:solidFill>
                <a:latin typeface="Ubuntu" panose="020B0604030602030204"/>
                <a:ea typeface="Ubuntu" panose="020B0604030602030204"/>
              </a:rPr>
              <a:t>VAT gap</a:t>
            </a:r>
            <a:endParaRPr lang="it-IT" sz="1400" spc="-1" noProof="1"/>
          </a:p>
        </p:txBody>
      </p:sp>
      <p:sp>
        <p:nvSpPr>
          <p:cNvPr id="86" name="CustomShape 2">
            <a:extLst>
              <a:ext uri="{FF2B5EF4-FFF2-40B4-BE49-F238E27FC236}">
                <a16:creationId xmlns:a16="http://schemas.microsoft.com/office/drawing/2014/main" id="{EFCBB525-5AED-85E0-7C93-DAA2BC4149BA}"/>
              </a:ext>
            </a:extLst>
          </p:cNvPr>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BE72E42C-9D01-4626-8E5B-23586BDB4ABC}"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4</a:t>
            </a:fld>
            <a:endParaRPr lang="it-IT" altLang="en-US" sz="1200"/>
          </a:p>
        </p:txBody>
      </p:sp>
      <p:sp>
        <p:nvSpPr>
          <p:cNvPr id="87" name="CustomShape 3">
            <a:extLst>
              <a:ext uri="{FF2B5EF4-FFF2-40B4-BE49-F238E27FC236}">
                <a16:creationId xmlns:a16="http://schemas.microsoft.com/office/drawing/2014/main" id="{43D9815A-B090-FC00-385B-C556B57200B8}"/>
              </a:ext>
            </a:extLst>
          </p:cNvPr>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pic>
        <p:nvPicPr>
          <p:cNvPr id="4" name="Immagine 3">
            <a:hlinkClick r:id="rId2"/>
            <a:extLst>
              <a:ext uri="{FF2B5EF4-FFF2-40B4-BE49-F238E27FC236}">
                <a16:creationId xmlns:a16="http://schemas.microsoft.com/office/drawing/2014/main" id="{DE2E6C81-8117-B3F4-A090-1273BCC28FC7}"/>
              </a:ext>
            </a:extLst>
          </p:cNvPr>
          <p:cNvPicPr>
            <a:picLocks noChangeAspect="1"/>
          </p:cNvPicPr>
          <p:nvPr/>
        </p:nvPicPr>
        <p:blipFill>
          <a:blip r:embed="rId3"/>
          <a:stretch>
            <a:fillRect/>
          </a:stretch>
        </p:blipFill>
        <p:spPr>
          <a:xfrm>
            <a:off x="0" y="2631435"/>
            <a:ext cx="9144000" cy="2266642"/>
          </a:xfrm>
          <a:prstGeom prst="rect">
            <a:avLst/>
          </a:prstGeom>
        </p:spPr>
      </p:pic>
    </p:spTree>
    <p:extLst>
      <p:ext uri="{BB962C8B-B14F-4D97-AF65-F5344CB8AC3E}">
        <p14:creationId xmlns:p14="http://schemas.microsoft.com/office/powerpoint/2010/main" val="172508468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8"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9"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0" name="CustomShape 4"/>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1" name="CustomShape 5"/>
          <p:cNvSpPr/>
          <p:nvPr/>
        </p:nvSpPr>
        <p:spPr>
          <a:xfrm>
            <a:off x="533400" y="2995613"/>
            <a:ext cx="6829425" cy="76041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fontAlgn="auto"/>
            <a:r>
              <a:rPr lang="en-US" altLang="it-IT" sz="4400" b="1" spc="-1" noProof="1">
                <a:solidFill>
                  <a:srgbClr val="336699"/>
                </a:solidFill>
                <a:latin typeface="Calibri" panose="020F0502020204030204"/>
                <a:ea typeface="ヒラギノ角ゴ ProN W3"/>
              </a:rPr>
              <a:t>La struttura giuridica dell’imposta</a:t>
            </a:r>
            <a:endParaRPr lang="it-IT" sz="4400" spc="-1" noProof="1"/>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Ceci n’est pas un mècanisme</a:t>
            </a:r>
            <a:endParaRPr lang="it-IT" sz="2800" spc="-1" noProof="1"/>
          </a:p>
        </p:txBody>
      </p:sp>
      <p:sp>
        <p:nvSpPr>
          <p:cNvPr id="124"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5"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pic>
        <p:nvPicPr>
          <p:cNvPr id="30724" name="Immagine 1"/>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6713" y="1593850"/>
            <a:ext cx="6051550" cy="451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240165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anchor="ctr"/>
          <a:lstStyle/>
          <a:p>
            <a:pPr algn="ctr" fontAlgn="auto"/>
            <a:r>
              <a:rPr lang="en-US" altLang="it-IT" sz="2800" b="1" spc="-1" noProof="1">
                <a:solidFill>
                  <a:srgbClr val="FFFFFF"/>
                </a:solidFill>
                <a:latin typeface="Ubuntu" panose="020B0604030602030204"/>
                <a:ea typeface="Ubuntu" panose="020B0604030602030204"/>
              </a:rPr>
              <a:t>Natura</a:t>
            </a:r>
            <a:endParaRPr lang="it-IT" sz="2800" spc="-1" noProof="1"/>
          </a:p>
        </p:txBody>
      </p:sp>
      <p:sp>
        <p:nvSpPr>
          <p:cNvPr id="120" name="CustomShape 2"/>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E7000DFD-5508-489C-B233-B76819B15B77}"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7</a:t>
            </a:fld>
            <a:endParaRPr lang="it-IT" altLang="en-US" sz="1200"/>
          </a:p>
        </p:txBody>
      </p:sp>
      <p:sp>
        <p:nvSpPr>
          <p:cNvPr id="121" name="CustomShape 3"/>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2" name="CustomShape 4"/>
          <p:cNvSpPr/>
          <p:nvPr/>
        </p:nvSpPr>
        <p:spPr>
          <a:xfrm>
            <a:off x="410538" y="1500026"/>
            <a:ext cx="8322924" cy="4709096"/>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154800"/>
          <a:lstStyle>
            <a:lvl1pPr>
              <a:defRPr>
                <a:solidFill>
                  <a:schemeClr val="tx1"/>
                </a:solidFill>
                <a:latin typeface="Arial" panose="020B0604020202020204" pitchFamily="34" charset="0"/>
                <a:ea typeface="DejaVu Sans" panose="020B0603030804020204"/>
                <a:cs typeface="DejaVu Sans" panose="020B0603030804020204"/>
              </a:defRPr>
            </a:lvl1pPr>
            <a:lvl2pPr marL="857250" indent="-285750">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lnSpc>
                <a:spcPct val="115000"/>
              </a:lnSpc>
              <a:spcBef>
                <a:spcPts val="1400"/>
              </a:spcBef>
            </a:pPr>
            <a:r>
              <a:rPr lang="it-IT" altLang="it-IT" sz="2000" dirty="0">
                <a:solidFill>
                  <a:srgbClr val="000000"/>
                </a:solidFill>
                <a:latin typeface="Ubuntu" panose="020B0604030602030204" pitchFamily="34" charset="0"/>
                <a:ea typeface="Ubuntu" panose="020B0604030602030204" pitchFamily="34" charset="0"/>
                <a:cs typeface="Ubuntu" panose="020B0604030602030204" pitchFamily="34" charset="0"/>
              </a:rPr>
              <a:t>L’IVA è un’imposta generale sui </a:t>
            </a:r>
            <a:r>
              <a:rPr lang="it-IT" altLang="it-IT" sz="2000" b="1" u="sng" dirty="0">
                <a:solidFill>
                  <a:srgbClr val="000000"/>
                </a:solidFill>
                <a:latin typeface="Ubuntu" panose="020B0604030602030204" pitchFamily="34" charset="0"/>
                <a:ea typeface="Ubuntu" panose="020B0604030602030204" pitchFamily="34" charset="0"/>
                <a:cs typeface="Ubuntu" panose="020B0604030602030204" pitchFamily="34" charset="0"/>
              </a:rPr>
              <a:t>consumi</a:t>
            </a:r>
            <a:r>
              <a:rPr lang="it-IT" altLang="it-IT" sz="2000" b="1" dirty="0">
                <a:solidFill>
                  <a:srgbClr val="000000"/>
                </a:solidFill>
                <a:latin typeface="Ubuntu" panose="020B0604030602030204" pitchFamily="34" charset="0"/>
                <a:ea typeface="Ubuntu" panose="020B0604030602030204" pitchFamily="34" charset="0"/>
                <a:cs typeface="Ubuntu" panose="020B0604030602030204" pitchFamily="34" charset="0"/>
              </a:rPr>
              <a:t> </a:t>
            </a:r>
            <a:r>
              <a:rPr lang="it-IT" altLang="it-IT" sz="2000" dirty="0">
                <a:solidFill>
                  <a:srgbClr val="000000"/>
                </a:solidFill>
                <a:latin typeface="Ubuntu" panose="020B0604030602030204" pitchFamily="34" charset="0"/>
                <a:ea typeface="Ubuntu" panose="020B0604030602030204" pitchFamily="34" charset="0"/>
                <a:cs typeface="Ubuntu" panose="020B0604030602030204" pitchFamily="34" charset="0"/>
              </a:rPr>
              <a:t>(non sugli scambi o sulle attività economiche):</a:t>
            </a:r>
          </a:p>
          <a:p>
            <a:pPr>
              <a:lnSpc>
                <a:spcPct val="115000"/>
              </a:lnSpc>
              <a:spcBef>
                <a:spcPts val="1400"/>
              </a:spcBef>
            </a:pPr>
            <a:endParaRPr lang="it-IT" altLang="en-US" sz="2000" dirty="0"/>
          </a:p>
          <a:p>
            <a:pPr>
              <a:lnSpc>
                <a:spcPct val="115000"/>
              </a:lnSpc>
              <a:spcBef>
                <a:spcPts val="600"/>
              </a:spcBef>
              <a:buFont typeface="Ubuntu" panose="020B0604030602030204" pitchFamily="34" charset="0"/>
              <a:buChar char="✓"/>
            </a:pPr>
            <a:r>
              <a:rPr lang="it-IT" altLang="it-IT" dirty="0">
                <a:solidFill>
                  <a:srgbClr val="000000"/>
                </a:solidFill>
                <a:latin typeface="Ubuntu" panose="020B0604030602030204" pitchFamily="34" charset="0"/>
                <a:ea typeface="Ubuntu" panose="020B0604030602030204" pitchFamily="34" charset="0"/>
                <a:cs typeface="Ubuntu" panose="020B0604030602030204" pitchFamily="34" charset="0"/>
              </a:rPr>
              <a:t>grava economicamente sul </a:t>
            </a:r>
            <a:r>
              <a:rPr lang="it-IT" altLang="it-IT" b="1" dirty="0">
                <a:solidFill>
                  <a:srgbClr val="F79646"/>
                </a:solidFill>
                <a:latin typeface="Ubuntu" panose="020B0604030602030204" pitchFamily="34" charset="0"/>
                <a:ea typeface="Ubuntu" panose="020B0604030602030204" pitchFamily="34" charset="0"/>
                <a:cs typeface="Ubuntu" panose="020B0604030602030204" pitchFamily="34" charset="0"/>
              </a:rPr>
              <a:t>consumatore finale</a:t>
            </a:r>
            <a:r>
              <a:rPr lang="it-IT" altLang="it-IT" dirty="0">
                <a:solidFill>
                  <a:srgbClr val="000000"/>
                </a:solidFill>
                <a:latin typeface="Ubuntu" panose="020B0604030602030204" pitchFamily="34" charset="0"/>
                <a:ea typeface="Ubuntu" panose="020B0604030602030204" pitchFamily="34" charset="0"/>
                <a:cs typeface="Ubuntu" panose="020B0604030602030204" pitchFamily="34" charset="0"/>
              </a:rPr>
              <a:t>;</a:t>
            </a:r>
          </a:p>
          <a:p>
            <a:pPr lvl="1">
              <a:lnSpc>
                <a:spcPct val="115000"/>
              </a:lnSpc>
              <a:spcBef>
                <a:spcPts val="600"/>
              </a:spcBef>
              <a:buFont typeface="Arial" panose="020B0604020202020204" pitchFamily="34" charset="0"/>
              <a:buChar char="•"/>
            </a:pPr>
            <a:r>
              <a:rPr lang="it-IT"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soggetto </a:t>
            </a:r>
            <a:r>
              <a:rPr lang="it-IT" altLang="it-IT" sz="1600" i="1" dirty="0">
                <a:solidFill>
                  <a:srgbClr val="000000"/>
                </a:solidFill>
                <a:latin typeface="Ubuntu" panose="020B0604030602030204" pitchFamily="34" charset="0"/>
                <a:ea typeface="Ubuntu" panose="020B0604030602030204" pitchFamily="34" charset="0"/>
                <a:cs typeface="Ubuntu" panose="020B0604030602030204" pitchFamily="34" charset="0"/>
              </a:rPr>
              <a:t>inciso </a:t>
            </a:r>
            <a:r>
              <a:rPr lang="it-IT"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dal tributo (che ne sopporta il carico economico) </a:t>
            </a:r>
          </a:p>
          <a:p>
            <a:pPr lvl="1">
              <a:lnSpc>
                <a:spcPct val="115000"/>
              </a:lnSpc>
              <a:spcBef>
                <a:spcPts val="600"/>
              </a:spcBef>
              <a:buFont typeface="Arial" panose="020B0604020202020204" pitchFamily="34" charset="0"/>
              <a:buChar char="•"/>
            </a:pPr>
            <a:r>
              <a:rPr lang="it-IT"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“contribuente di fatto”</a:t>
            </a:r>
          </a:p>
          <a:p>
            <a:pPr>
              <a:lnSpc>
                <a:spcPct val="115000"/>
              </a:lnSpc>
              <a:spcBef>
                <a:spcPts val="600"/>
              </a:spcBef>
              <a:buFont typeface="Ubuntu" panose="020B0604030602030204" pitchFamily="34" charset="0"/>
              <a:buChar char="✓"/>
            </a:pPr>
            <a:endParaRPr lang="it-IT" altLang="en-US" dirty="0"/>
          </a:p>
          <a:p>
            <a:pPr>
              <a:lnSpc>
                <a:spcPct val="115000"/>
              </a:lnSpc>
              <a:spcBef>
                <a:spcPts val="600"/>
              </a:spcBef>
              <a:buFont typeface="Ubuntu" panose="020B0604030602030204" pitchFamily="34" charset="0"/>
              <a:buChar char="✓"/>
            </a:pPr>
            <a:r>
              <a:rPr lang="it-IT" altLang="en-US" dirty="0">
                <a:solidFill>
                  <a:srgbClr val="000000"/>
                </a:solidFill>
                <a:latin typeface="Ubuntu" panose="020B0604030602030204" pitchFamily="34" charset="0"/>
                <a:ea typeface="Ubuntu" panose="020B0604030602030204" pitchFamily="34" charset="0"/>
                <a:cs typeface="Ubuntu" panose="020B0604030602030204" pitchFamily="34" charset="0"/>
              </a:rPr>
              <a:t>è </a:t>
            </a:r>
            <a:r>
              <a:rPr lang="it-IT" altLang="it-IT" dirty="0">
                <a:solidFill>
                  <a:srgbClr val="000000"/>
                </a:solidFill>
                <a:latin typeface="Ubuntu" panose="020B0604030602030204" pitchFamily="34" charset="0"/>
                <a:ea typeface="Ubuntu" panose="020B0604030602030204" pitchFamily="34" charset="0"/>
                <a:cs typeface="Ubuntu" panose="020B0604030602030204" pitchFamily="34" charset="0"/>
              </a:rPr>
              <a:t>(tendenzialmente) neutra per gli </a:t>
            </a:r>
            <a:r>
              <a:rPr lang="it-IT" altLang="it-IT" b="1" dirty="0">
                <a:solidFill>
                  <a:srgbClr val="F79646"/>
                </a:solidFill>
                <a:latin typeface="Ubuntu" panose="020B0604030602030204" pitchFamily="34" charset="0"/>
                <a:ea typeface="Ubuntu" panose="020B0604030602030204" pitchFamily="34" charset="0"/>
                <a:cs typeface="Ubuntu" panose="020B0604030602030204" pitchFamily="34" charset="0"/>
              </a:rPr>
              <a:t>operatori economici</a:t>
            </a:r>
            <a:r>
              <a:rPr lang="it-IT" altLang="it-IT" dirty="0">
                <a:solidFill>
                  <a:srgbClr val="000000"/>
                </a:solidFill>
                <a:latin typeface="Ubuntu" panose="020B0604030602030204" pitchFamily="34" charset="0"/>
                <a:ea typeface="Ubuntu" panose="020B0604030602030204" pitchFamily="34" charset="0"/>
                <a:cs typeface="Ubuntu" panose="020B0604030602030204" pitchFamily="34" charset="0"/>
              </a:rPr>
              <a:t>.</a:t>
            </a:r>
            <a:endParaRPr lang="it-IT" altLang="en-US" dirty="0"/>
          </a:p>
          <a:p>
            <a:pPr lvl="1">
              <a:lnSpc>
                <a:spcPct val="115000"/>
              </a:lnSpc>
              <a:spcBef>
                <a:spcPts val="600"/>
              </a:spcBef>
              <a:buFont typeface="Arial" panose="020B0604020202020204" pitchFamily="34" charset="0"/>
              <a:buChar char="•"/>
            </a:pPr>
            <a:r>
              <a:rPr lang="en-US" altLang="it-IT" sz="1600" i="1" dirty="0" err="1">
                <a:solidFill>
                  <a:srgbClr val="000000"/>
                </a:solidFill>
                <a:latin typeface="Ubuntu" panose="020B0604030602030204" pitchFamily="34" charset="0"/>
                <a:ea typeface="Ubuntu" panose="020B0604030602030204" pitchFamily="34" charset="0"/>
                <a:cs typeface="Ubuntu" panose="020B0604030602030204" pitchFamily="34" charset="0"/>
              </a:rPr>
              <a:t>soggett</a:t>
            </a:r>
            <a:r>
              <a:rPr lang="it-IT" altLang="en-US" sz="1600" i="1" dirty="0">
                <a:solidFill>
                  <a:srgbClr val="000000"/>
                </a:solidFill>
                <a:latin typeface="Ubuntu" panose="020B0604030602030204" pitchFamily="34" charset="0"/>
                <a:ea typeface="Ubuntu" panose="020B0604030602030204" pitchFamily="34" charset="0"/>
                <a:cs typeface="Ubuntu" panose="020B0604030602030204" pitchFamily="34" charset="0"/>
              </a:rPr>
              <a:t>i</a:t>
            </a:r>
            <a:r>
              <a:rPr lang="en-US" altLang="it-IT" sz="1600" i="1" dirty="0">
                <a:solidFill>
                  <a:srgbClr val="000000"/>
                </a:solidFill>
                <a:latin typeface="Ubuntu" panose="020B0604030602030204" pitchFamily="34" charset="0"/>
                <a:ea typeface="Ubuntu" panose="020B0604030602030204" pitchFamily="34" charset="0"/>
                <a:cs typeface="Ubuntu" panose="020B0604030602030204" pitchFamily="34" charset="0"/>
              </a:rPr>
              <a:t> </a:t>
            </a:r>
            <a:r>
              <a:rPr lang="it-IT" altLang="en-US" sz="1600" i="1" dirty="0">
                <a:solidFill>
                  <a:srgbClr val="000000"/>
                </a:solidFill>
                <a:latin typeface="Ubuntu" panose="020B0604030602030204" pitchFamily="34" charset="0"/>
                <a:ea typeface="Ubuntu" panose="020B0604030602030204" pitchFamily="34" charset="0"/>
                <a:cs typeface="Ubuntu" panose="020B0604030602030204" pitchFamily="34" charset="0"/>
              </a:rPr>
              <a:t>passivi </a:t>
            </a: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d</a:t>
            </a:r>
            <a:r>
              <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rPr>
              <a:t>e</a:t>
            </a: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l </a:t>
            </a:r>
            <a:r>
              <a:rPr lang="en-US" altLang="it-IT" sz="1600" dirty="0" err="1">
                <a:solidFill>
                  <a:srgbClr val="000000"/>
                </a:solidFill>
                <a:latin typeface="Ubuntu" panose="020B0604030602030204" pitchFamily="34" charset="0"/>
                <a:ea typeface="Ubuntu" panose="020B0604030602030204" pitchFamily="34" charset="0"/>
                <a:cs typeface="Ubuntu" panose="020B0604030602030204" pitchFamily="34" charset="0"/>
              </a:rPr>
              <a:t>tributo</a:t>
            </a: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 (</a:t>
            </a:r>
            <a:r>
              <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rPr>
              <a:t>tenuti agli adempimenti per la gestione del tributo</a:t>
            </a: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 </a:t>
            </a:r>
          </a:p>
          <a:p>
            <a:pPr lvl="1">
              <a:lnSpc>
                <a:spcPct val="115000"/>
              </a:lnSpc>
              <a:spcBef>
                <a:spcPts val="600"/>
              </a:spcBef>
              <a:buFont typeface="Arial" panose="020B0604020202020204" pitchFamily="34" charset="0"/>
              <a:buChar char="•"/>
            </a:pP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a:t>
            </a:r>
            <a:r>
              <a:rPr lang="en-US" altLang="it-IT" sz="1600" dirty="0" err="1">
                <a:solidFill>
                  <a:srgbClr val="000000"/>
                </a:solidFill>
                <a:latin typeface="Ubuntu" panose="020B0604030602030204" pitchFamily="34" charset="0"/>
                <a:ea typeface="Ubuntu" panose="020B0604030602030204" pitchFamily="34" charset="0"/>
                <a:cs typeface="Ubuntu" panose="020B0604030602030204" pitchFamily="34" charset="0"/>
              </a:rPr>
              <a:t>contribuente</a:t>
            </a: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 di </a:t>
            </a:r>
            <a:r>
              <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rPr>
              <a:t>diritto</a:t>
            </a:r>
            <a:r>
              <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rPr>
              <a:t>”</a:t>
            </a:r>
          </a:p>
          <a:p>
            <a:pPr lvl="1">
              <a:lnSpc>
                <a:spcPct val="115000"/>
              </a:lnSpc>
              <a:spcBef>
                <a:spcPts val="600"/>
              </a:spcBef>
              <a:buFont typeface="Arial" panose="020B0604020202020204" pitchFamily="34" charset="0"/>
              <a:buChar char="•"/>
            </a:pPr>
            <a:r>
              <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rPr>
              <a:t>«</a:t>
            </a:r>
            <a:r>
              <a:rPr lang="it-IT" altLang="en-US" sz="1600" i="1" dirty="0">
                <a:solidFill>
                  <a:srgbClr val="000000"/>
                </a:solidFill>
                <a:latin typeface="Ubuntu" panose="020B0604030602030204" pitchFamily="34" charset="0"/>
                <a:ea typeface="Ubuntu" panose="020B0604030602030204" pitchFamily="34" charset="0"/>
                <a:cs typeface="Ubuntu" panose="020B0604030602030204" pitchFamily="34" charset="0"/>
              </a:rPr>
              <a:t>collettore di imposta per l’Erario</a:t>
            </a:r>
            <a:r>
              <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rPr>
              <a:t>»</a:t>
            </a:r>
            <a:endParaRPr lang="en-US" altLang="it-IT" sz="1600" dirty="0">
              <a:solidFill>
                <a:srgbClr val="000000"/>
              </a:solidFill>
              <a:latin typeface="Ubuntu" panose="020B0604030602030204" pitchFamily="34" charset="0"/>
              <a:ea typeface="Ubuntu" panose="020B0604030602030204" pitchFamily="34" charset="0"/>
              <a:cs typeface="Ubuntu" panose="020B0604030602030204" pitchFamily="34" charset="0"/>
            </a:endParaRPr>
          </a:p>
          <a:p>
            <a:pPr>
              <a:lnSpc>
                <a:spcPct val="115000"/>
              </a:lnSpc>
              <a:spcBef>
                <a:spcPts val="1400"/>
              </a:spcBef>
            </a:pPr>
            <a:endPar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endParaRPr>
          </a:p>
          <a:p>
            <a:pPr>
              <a:lnSpc>
                <a:spcPct val="115000"/>
              </a:lnSpc>
              <a:spcBef>
                <a:spcPts val="1400"/>
              </a:spcBef>
            </a:pPr>
            <a:endParaRPr lang="it-IT" altLang="en-US" sz="1600" dirty="0">
              <a:solidFill>
                <a:srgbClr val="000000"/>
              </a:solidFill>
              <a:latin typeface="Ubuntu" panose="020B0604030602030204" pitchFamily="34" charset="0"/>
              <a:ea typeface="Ubuntu" panose="020B0604030602030204" pitchFamily="34" charset="0"/>
              <a:cs typeface="Ubuntu" panose="020B0604030602030204" pitchFamily="34" charset="0"/>
            </a:endParaRPr>
          </a:p>
        </p:txBody>
      </p:sp>
      <p:sp>
        <p:nvSpPr>
          <p:cNvPr id="2" name="Ovale 1">
            <a:extLst>
              <a:ext uri="{FF2B5EF4-FFF2-40B4-BE49-F238E27FC236}">
                <a16:creationId xmlns:a16="http://schemas.microsoft.com/office/drawing/2014/main" id="{FE75DEE9-5C6B-312D-B984-57961FF7BEB3}"/>
              </a:ext>
            </a:extLst>
          </p:cNvPr>
          <p:cNvSpPr/>
          <p:nvPr/>
        </p:nvSpPr>
        <p:spPr>
          <a:xfrm>
            <a:off x="6115237" y="5572767"/>
            <a:ext cx="2749675" cy="732997"/>
          </a:xfrm>
          <a:prstGeom prst="ellips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2"/>
                </a:solidFill>
                <a:latin typeface="Ubuntu" panose="020B0504030602030204" pitchFamily="34" charset="0"/>
                <a:hlinkClick r:id="rId2"/>
              </a:rPr>
              <a:t>…e il «valore aggiunto»?</a:t>
            </a:r>
            <a:endParaRPr lang="it-IT" dirty="0">
              <a:solidFill>
                <a:schemeClr val="tx2"/>
              </a:solidFill>
              <a:latin typeface="Ubuntu" panose="020B050403060203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anchor="ctr"/>
          <a:lstStyle/>
          <a:p>
            <a:pPr algn="ctr" fontAlgn="auto"/>
            <a:r>
              <a:rPr lang="it-IT" sz="2800" b="1" spc="-1" noProof="1">
                <a:solidFill>
                  <a:srgbClr val="FFFFFF"/>
                </a:solidFill>
                <a:latin typeface="Ubuntu" panose="020B0604030602030204"/>
                <a:ea typeface="Ubuntu" panose="020B0604030602030204"/>
              </a:rPr>
              <a:t>Caratteristiche essenziali dell’IVA</a:t>
            </a:r>
            <a:endParaRPr lang="it-IT" sz="2800" spc="-1" noProof="1"/>
          </a:p>
        </p:txBody>
      </p:sp>
      <p:sp>
        <p:nvSpPr>
          <p:cNvPr id="120" name="CustomShape 2"/>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794A298A-1A1A-4A7B-8416-41AC414AD8B8}"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8</a:t>
            </a:fld>
            <a:endParaRPr lang="it-IT" altLang="en-US" sz="1200"/>
          </a:p>
        </p:txBody>
      </p:sp>
      <p:sp>
        <p:nvSpPr>
          <p:cNvPr id="121" name="CustomShape 3"/>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2" name="CustomShape 4"/>
          <p:cNvSpPr/>
          <p:nvPr/>
        </p:nvSpPr>
        <p:spPr>
          <a:xfrm>
            <a:off x="295275" y="1454150"/>
            <a:ext cx="8561049" cy="488500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154800"/>
          <a:lstStyle/>
          <a:p>
            <a:pPr fontAlgn="auto">
              <a:lnSpc>
                <a:spcPct val="115000"/>
              </a:lnSpc>
              <a:spcBef>
                <a:spcPts val="1400"/>
              </a:spcBef>
            </a:pPr>
            <a:r>
              <a:rPr lang="it-IT" sz="2000" spc="-1" noProof="1">
                <a:solidFill>
                  <a:srgbClr val="000000"/>
                </a:solidFill>
                <a:latin typeface="Ubuntu" panose="020B0604030602030204"/>
                <a:ea typeface="Ubuntu" panose="020B0604030602030204"/>
              </a:rPr>
              <a:t>Secondo la giurisprudenza della CGUE, nonostante alcune differenze redazionali, l’IVA:</a:t>
            </a:r>
            <a:endParaRPr lang="it-IT" sz="2000" spc="-1" noProof="1"/>
          </a:p>
          <a:p>
            <a:pPr marL="457200" indent="-342900" fontAlgn="auto">
              <a:lnSpc>
                <a:spcPct val="115000"/>
              </a:lnSpc>
              <a:spcBef>
                <a:spcPts val="600"/>
              </a:spcBef>
              <a:buClr>
                <a:srgbClr val="000000"/>
              </a:buClr>
              <a:buFont typeface="Ubuntu" panose="020B0604030602030204"/>
              <a:buChar char="✓"/>
            </a:pPr>
            <a:r>
              <a:rPr lang="it-IT" spc="-1" noProof="1">
                <a:solidFill>
                  <a:srgbClr val="000000"/>
                </a:solidFill>
                <a:latin typeface="Ubuntu" panose="020B0604030602030204"/>
                <a:ea typeface="Ubuntu" panose="020B0604030602030204"/>
              </a:rPr>
              <a:t>si applica in modo generale alle operazioni aventi ad oggetto beni o servizi;</a:t>
            </a:r>
            <a:endParaRPr lang="it-IT" spc="-1" noProof="1"/>
          </a:p>
          <a:p>
            <a:pPr marL="457200" indent="-342900" fontAlgn="auto">
              <a:lnSpc>
                <a:spcPct val="115000"/>
              </a:lnSpc>
              <a:spcBef>
                <a:spcPts val="600"/>
              </a:spcBef>
              <a:buClr>
                <a:srgbClr val="000000"/>
              </a:buClr>
              <a:buFont typeface="Ubuntu" panose="020B0604030602030204"/>
              <a:buChar char="✓"/>
            </a:pPr>
            <a:r>
              <a:rPr lang="it-IT" spc="-1" noProof="1">
                <a:solidFill>
                  <a:srgbClr val="000000"/>
                </a:solidFill>
                <a:latin typeface="Ubuntu" panose="020B0604030602030204"/>
                <a:ea typeface="Ubuntu" panose="020B0604030602030204"/>
              </a:rPr>
              <a:t>è proporzionale al prezzo percepito dal soggetto passivo quale contropartita dei beni e servizi forniti; </a:t>
            </a:r>
            <a:endParaRPr lang="it-IT" spc="-1" noProof="1"/>
          </a:p>
          <a:p>
            <a:pPr marL="457200" indent="-342900" fontAlgn="auto">
              <a:lnSpc>
                <a:spcPct val="115000"/>
              </a:lnSpc>
              <a:spcBef>
                <a:spcPts val="600"/>
              </a:spcBef>
              <a:buClr>
                <a:srgbClr val="000000"/>
              </a:buClr>
              <a:buFont typeface="Ubuntu" panose="020B0604030602030204"/>
              <a:buChar char="✓"/>
            </a:pPr>
            <a:r>
              <a:rPr lang="it-IT" spc="-1" noProof="1">
                <a:solidFill>
                  <a:srgbClr val="000000"/>
                </a:solidFill>
                <a:latin typeface="Ubuntu" panose="020B0604030602030204"/>
                <a:ea typeface="Ubuntu" panose="020B0604030602030204"/>
              </a:rPr>
              <a:t>viene riscossa in ciascuna fase del procedimento di produzione e di distribuzione, compresa quella della vendita al minuto, a prescindere dal numero di operazioni effettuate in precedenza; </a:t>
            </a:r>
            <a:endParaRPr lang="it-IT" spc="-1" noProof="1"/>
          </a:p>
          <a:p>
            <a:pPr marL="457200" indent="-342900" fontAlgn="auto">
              <a:lnSpc>
                <a:spcPct val="115000"/>
              </a:lnSpc>
              <a:spcBef>
                <a:spcPts val="600"/>
              </a:spcBef>
              <a:buClr>
                <a:srgbClr val="000000"/>
              </a:buClr>
              <a:buFont typeface="Ubuntu" panose="020B0604030602030204"/>
              <a:buChar char="✓"/>
            </a:pPr>
            <a:r>
              <a:rPr lang="it-IT" spc="-1" noProof="1">
                <a:solidFill>
                  <a:srgbClr val="000000"/>
                </a:solidFill>
                <a:latin typeface="Ubuntu" panose="020B0604030602030204"/>
                <a:ea typeface="Ubuntu" panose="020B0604030602030204"/>
              </a:rPr>
              <a:t>gli importi pagati in occasione delle precedenti fasi del processo sono detratti dall'imposta dovuta, cosicché il tributo si applica, in ciascuna fase, solo al valore aggiunto della fase stessa, e in definitiva il peso dell'imposta va a carico del consumatore finale.</a:t>
            </a:r>
            <a:endParaRPr lang="it-IT" spc="-1" noProof="1"/>
          </a:p>
          <a:p>
            <a:pPr fontAlgn="auto">
              <a:lnSpc>
                <a:spcPct val="115000"/>
              </a:lnSpc>
              <a:spcBef>
                <a:spcPts val="1400"/>
              </a:spcBef>
            </a:pPr>
            <a:r>
              <a:rPr lang="it-IT" sz="1400" spc="-1" noProof="1">
                <a:solidFill>
                  <a:srgbClr val="000000"/>
                </a:solidFill>
                <a:latin typeface="Ubuntu" panose="020B0604030602030204"/>
                <a:ea typeface="Ubuntu" panose="020B0604030602030204"/>
              </a:rPr>
              <a:t>(sent. CGCE del 3 ottobre 2006, causa C-475/03, </a:t>
            </a:r>
            <a:r>
              <a:rPr lang="it-IT" sz="1400" i="1" spc="-1" noProof="1">
                <a:solidFill>
                  <a:srgbClr val="000000"/>
                </a:solidFill>
                <a:latin typeface="Ubuntu" panose="020B0604030602030204"/>
                <a:ea typeface="Ubuntu" panose="020B0604030602030204"/>
              </a:rPr>
              <a:t>Banca Popolare di Cremona</a:t>
            </a:r>
            <a:r>
              <a:rPr lang="it-IT" sz="1400" spc="-1" noProof="1">
                <a:solidFill>
                  <a:srgbClr val="000000"/>
                </a:solidFill>
                <a:latin typeface="Ubuntu" panose="020B0604030602030204"/>
                <a:ea typeface="Ubuntu" panose="020B0604030602030204"/>
              </a:rPr>
              <a:t>, Racc. pag. I-9373, punto 28).</a:t>
            </a:r>
            <a:endParaRPr lang="it-IT" sz="1400" spc="-1" noProof="1"/>
          </a:p>
          <a:p>
            <a:pPr fontAlgn="auto">
              <a:lnSpc>
                <a:spcPct val="115000"/>
              </a:lnSpc>
              <a:spcBef>
                <a:spcPts val="1400"/>
              </a:spcBef>
            </a:pPr>
            <a:endParaRPr lang="it-IT" sz="1400" spc="-1" noProof="1"/>
          </a:p>
        </p:txBody>
      </p:sp>
    </p:spTree>
    <p:extLst>
      <p:ext uri="{BB962C8B-B14F-4D97-AF65-F5344CB8AC3E}">
        <p14:creationId xmlns:p14="http://schemas.microsoft.com/office/powerpoint/2010/main" val="5773502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Il funzionamento del «SISTEMA IVA»</a:t>
            </a:r>
            <a:endParaRPr lang="it-IT" sz="2800" spc="-1" noProof="1"/>
          </a:p>
        </p:txBody>
      </p:sp>
      <p:sp>
        <p:nvSpPr>
          <p:cNvPr id="140"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pic>
        <p:nvPicPr>
          <p:cNvPr id="18435" name="Picture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5238" y="1376363"/>
            <a:ext cx="236061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 name="CustomShape 3"/>
          <p:cNvSpPr/>
          <p:nvPr/>
        </p:nvSpPr>
        <p:spPr>
          <a:xfrm flipV="1">
            <a:off x="1857375" y="2128838"/>
            <a:ext cx="982663" cy="492125"/>
          </a:xfrm>
          <a:custGeom>
            <a:avLst/>
            <a:gdLst/>
            <a:ahLst/>
            <a:cxnLst/>
            <a:rect l="l" t="t" r="r" b="b"/>
            <a:pathLst>
              <a:path w="21600" h="21600">
                <a:moveTo>
                  <a:pt x="0" y="0"/>
                </a:moveTo>
                <a:lnTo>
                  <a:pt x="21600" y="21600"/>
                </a:lnTo>
              </a:path>
            </a:pathLst>
          </a:custGeom>
          <a:noFill/>
          <a:ln>
            <a:round/>
            <a:tailEnd type="triangle" w="med" len="med"/>
          </a:ln>
          <a:effectLst>
            <a:outerShdw blurRad="40000" dist="23000" dir="5400000" rotWithShape="0">
              <a:srgbClr val="000000">
                <a:alpha val="35000"/>
              </a:srgbClr>
            </a:outerShdw>
          </a:effectLst>
        </p:spPr>
        <p:style>
          <a:lnRef idx="3">
            <a:schemeClr val="accent1"/>
          </a:lnRef>
          <a:fillRef idx="0">
            <a:schemeClr val="accent1"/>
          </a:fillRef>
          <a:effectRef idx="2">
            <a:schemeClr val="accent1"/>
          </a:effectRef>
          <a:fontRef idx="minor"/>
        </p:style>
        <p:txBody>
          <a:bodyPr/>
          <a:lstStyle/>
          <a:p>
            <a:endParaRPr lang="it-IT"/>
          </a:p>
        </p:txBody>
      </p:sp>
      <p:pic>
        <p:nvPicPr>
          <p:cNvPr id="18437" name="Immagine 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2025" y="2508250"/>
            <a:ext cx="788988"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Immagine 18"/>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3913" y="2406650"/>
            <a:ext cx="1531937" cy="133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 name="CustomShape 4"/>
          <p:cNvSpPr/>
          <p:nvPr/>
        </p:nvSpPr>
        <p:spPr>
          <a:xfrm>
            <a:off x="5351463" y="1763713"/>
            <a:ext cx="2292350" cy="6381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latin typeface="Tahoma"/>
                <a:ea typeface="Tahoma"/>
              </a:rPr>
              <a:t>Iva dovuta: </a:t>
            </a:r>
            <a:endParaRPr lang="it-IT" spc="-1" noProof="1"/>
          </a:p>
          <a:p>
            <a:pPr fontAlgn="auto"/>
            <a:r>
              <a:rPr lang="it-IT" spc="-1" noProof="1">
                <a:solidFill>
                  <a:srgbClr val="000000"/>
                </a:solidFill>
                <a:latin typeface="Tahoma"/>
                <a:ea typeface="Tahoma"/>
              </a:rPr>
              <a:t>€ 22 - € 19,8 = € 2,2</a:t>
            </a:r>
            <a:endParaRPr lang="it-IT" spc="-1" noProof="1"/>
          </a:p>
        </p:txBody>
      </p:sp>
      <p:sp>
        <p:nvSpPr>
          <p:cNvPr id="146" name="CustomShape 5"/>
          <p:cNvSpPr/>
          <p:nvPr/>
        </p:nvSpPr>
        <p:spPr>
          <a:xfrm>
            <a:off x="382588" y="1858963"/>
            <a:ext cx="1895475" cy="63658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latin typeface="Calibri" panose="020F0502020204030204"/>
                <a:ea typeface="ヒラギノ角ゴ ProN W3"/>
              </a:rPr>
              <a:t>Iva dovuta:</a:t>
            </a:r>
            <a:endParaRPr lang="it-IT" spc="-1" noProof="1"/>
          </a:p>
          <a:p>
            <a:pPr fontAlgn="auto"/>
            <a:r>
              <a:rPr lang="it-IT" spc="-1" noProof="1">
                <a:solidFill>
                  <a:srgbClr val="000000"/>
                </a:solidFill>
                <a:latin typeface="Calibri" panose="020F0502020204030204"/>
                <a:ea typeface="ヒラギノ角ゴ ProN W3"/>
              </a:rPr>
              <a:t>€ 19,8</a:t>
            </a:r>
            <a:endParaRPr lang="it-IT" spc="-1" noProof="1"/>
          </a:p>
        </p:txBody>
      </p:sp>
      <p:sp>
        <p:nvSpPr>
          <p:cNvPr id="147" name="CustomShape 6"/>
          <p:cNvSpPr/>
          <p:nvPr/>
        </p:nvSpPr>
        <p:spPr>
          <a:xfrm>
            <a:off x="1033463" y="3827463"/>
            <a:ext cx="1436687" cy="3619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latin typeface="Tahoma"/>
                <a:ea typeface="Tahoma"/>
              </a:rPr>
              <a:t>Produttore</a:t>
            </a:r>
            <a:endParaRPr lang="it-IT" spc="-1" noProof="1"/>
          </a:p>
        </p:txBody>
      </p:sp>
      <p:sp>
        <p:nvSpPr>
          <p:cNvPr id="148" name="CustomShape 7"/>
          <p:cNvSpPr/>
          <p:nvPr/>
        </p:nvSpPr>
        <p:spPr>
          <a:xfrm>
            <a:off x="3565525" y="3883025"/>
            <a:ext cx="1436688" cy="30638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latin typeface="Tahoma"/>
                <a:ea typeface="Tahoma"/>
              </a:rPr>
              <a:t>Distributore</a:t>
            </a:r>
            <a:endParaRPr lang="it-IT" spc="-1" noProof="1"/>
          </a:p>
        </p:txBody>
      </p:sp>
      <p:sp>
        <p:nvSpPr>
          <p:cNvPr id="149" name="CustomShape 8"/>
          <p:cNvSpPr/>
          <p:nvPr/>
        </p:nvSpPr>
        <p:spPr>
          <a:xfrm>
            <a:off x="6138863" y="3817938"/>
            <a:ext cx="1598612" cy="36671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latin typeface="Tahoma"/>
                <a:ea typeface="Tahoma"/>
              </a:rPr>
              <a:t>Consumatore</a:t>
            </a:r>
            <a:endParaRPr lang="it-IT" spc="-1" noProof="1"/>
          </a:p>
        </p:txBody>
      </p:sp>
      <p:pic>
        <p:nvPicPr>
          <p:cNvPr id="18444" name="Immagine 1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8863" y="2406650"/>
            <a:ext cx="1504950"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 name="CustomShape 9"/>
          <p:cNvSpPr/>
          <p:nvPr/>
        </p:nvSpPr>
        <p:spPr>
          <a:xfrm>
            <a:off x="2530475" y="4373563"/>
            <a:ext cx="3709988" cy="1135062"/>
          </a:xfrm>
          <a:prstGeom prst="ellipse">
            <a:avLst/>
          </a:prstGeom>
          <a:solidFill>
            <a:schemeClr val="accent1"/>
          </a:solidFill>
          <a:ln>
            <a:solidFill>
              <a:srgbClr val="808080"/>
            </a:solid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1400" b="1" spc="-1" noProof="1">
                <a:solidFill>
                  <a:srgbClr val="FFFFFF"/>
                </a:solidFill>
                <a:latin typeface="Tahoma"/>
                <a:ea typeface="Tahoma"/>
              </a:rPr>
              <a:t>Val. aggiunto = €100-€90 = €10</a:t>
            </a:r>
            <a:endParaRPr lang="it-IT" sz="1400" spc="-1" noProof="1"/>
          </a:p>
          <a:p>
            <a:pPr algn="ctr" fontAlgn="auto"/>
            <a:endParaRPr lang="it-IT" sz="1400" spc="-1" noProof="1"/>
          </a:p>
          <a:p>
            <a:pPr algn="ctr" fontAlgn="auto"/>
            <a:r>
              <a:rPr lang="it-IT" sz="1400" b="1" spc="-1" noProof="1">
                <a:solidFill>
                  <a:srgbClr val="FFFFFF"/>
                </a:solidFill>
                <a:latin typeface="Tahoma"/>
                <a:ea typeface="Tahoma"/>
              </a:rPr>
              <a:t>Iva = 22% x €10 = €2,2</a:t>
            </a:r>
            <a:endParaRPr lang="it-IT" sz="1400" spc="-1" noProof="1"/>
          </a:p>
        </p:txBody>
      </p:sp>
      <p:sp>
        <p:nvSpPr>
          <p:cNvPr id="152" name="CustomShape 10"/>
          <p:cNvSpPr/>
          <p:nvPr/>
        </p:nvSpPr>
        <p:spPr>
          <a:xfrm>
            <a:off x="484188" y="5095875"/>
            <a:ext cx="1911350" cy="1331913"/>
          </a:xfrm>
          <a:prstGeom prst="foldedCorner">
            <a:avLst>
              <a:gd name="adj" fmla="val 16667"/>
            </a:avLst>
          </a:prstGeom>
          <a:solidFill>
            <a:srgbClr val="FFFFFF"/>
          </a:solidFill>
          <a:ln w="25560">
            <a:solidFill>
              <a:schemeClr val="tx2"/>
            </a:solidFill>
            <a:round/>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b="1" spc="-1" noProof="1">
                <a:solidFill>
                  <a:srgbClr val="000000"/>
                </a:solidFill>
                <a:latin typeface="Tahoma"/>
                <a:ea typeface="Tahoma"/>
              </a:rPr>
              <a:t>FATTURA</a:t>
            </a:r>
            <a:endParaRPr lang="it-IT" sz="1400" spc="-1" noProof="1"/>
          </a:p>
          <a:p>
            <a:pPr fontAlgn="auto"/>
            <a:endParaRPr lang="it-IT" sz="1400" spc="-1" noProof="1"/>
          </a:p>
          <a:p>
            <a:pPr fontAlgn="auto"/>
            <a:r>
              <a:rPr lang="it-IT" sz="1400" b="1" spc="-1" noProof="1">
                <a:solidFill>
                  <a:srgbClr val="000000"/>
                </a:solidFill>
                <a:latin typeface="Tahoma"/>
                <a:ea typeface="Tahoma"/>
              </a:rPr>
              <a:t>Imponibile: € 90</a:t>
            </a:r>
            <a:endParaRPr lang="it-IT" sz="1400" spc="-1" noProof="1"/>
          </a:p>
          <a:p>
            <a:pPr fontAlgn="auto"/>
            <a:r>
              <a:rPr lang="it-IT" sz="1400" b="1" spc="-1" noProof="1">
                <a:solidFill>
                  <a:srgbClr val="000000"/>
                </a:solidFill>
                <a:latin typeface="Tahoma"/>
                <a:ea typeface="Tahoma"/>
              </a:rPr>
              <a:t>IVA (22%): € 19,8</a:t>
            </a:r>
            <a:endParaRPr lang="it-IT" sz="1400" spc="-1" noProof="1"/>
          </a:p>
          <a:p>
            <a:pPr fontAlgn="auto"/>
            <a:r>
              <a:rPr lang="it-IT" sz="1400" b="1" spc="-1" noProof="1">
                <a:solidFill>
                  <a:srgbClr val="000000"/>
                </a:solidFill>
                <a:latin typeface="Tahoma"/>
                <a:ea typeface="Tahoma"/>
              </a:rPr>
              <a:t>Totale: € 109,8</a:t>
            </a:r>
            <a:endParaRPr lang="it-IT" sz="1400" spc="-1" noProof="1"/>
          </a:p>
        </p:txBody>
      </p:sp>
      <p:sp>
        <p:nvSpPr>
          <p:cNvPr id="153" name="CustomShape 11"/>
          <p:cNvSpPr/>
          <p:nvPr/>
        </p:nvSpPr>
        <p:spPr>
          <a:xfrm>
            <a:off x="6375400" y="5178425"/>
            <a:ext cx="1860550" cy="1300163"/>
          </a:xfrm>
          <a:prstGeom prst="foldedCorner">
            <a:avLst>
              <a:gd name="adj" fmla="val 16667"/>
            </a:avLst>
          </a:prstGeom>
          <a:solidFill>
            <a:srgbClr val="FFFFFF"/>
          </a:solidFill>
          <a:ln w="25560">
            <a:solidFill>
              <a:schemeClr val="tx2"/>
            </a:solidFill>
            <a:round/>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b="1" spc="-1" noProof="1">
                <a:solidFill>
                  <a:srgbClr val="000000"/>
                </a:solidFill>
                <a:latin typeface="Tahoma"/>
                <a:ea typeface="Tahoma"/>
              </a:rPr>
              <a:t>FATTURA</a:t>
            </a:r>
            <a:endParaRPr lang="it-IT" sz="1400" spc="-1" noProof="1"/>
          </a:p>
          <a:p>
            <a:pPr fontAlgn="auto"/>
            <a:endParaRPr lang="it-IT" sz="1400" spc="-1" noProof="1"/>
          </a:p>
          <a:p>
            <a:pPr fontAlgn="auto"/>
            <a:r>
              <a:rPr lang="it-IT" sz="1400" b="1" spc="-1" noProof="1">
                <a:solidFill>
                  <a:srgbClr val="000000"/>
                </a:solidFill>
                <a:latin typeface="Tahoma"/>
                <a:ea typeface="Tahoma"/>
              </a:rPr>
              <a:t>Imponibile: € 100</a:t>
            </a:r>
            <a:endParaRPr lang="it-IT" sz="1400" spc="-1" noProof="1"/>
          </a:p>
          <a:p>
            <a:pPr fontAlgn="auto"/>
            <a:r>
              <a:rPr lang="it-IT" sz="1400" b="1" spc="-1" noProof="1">
                <a:solidFill>
                  <a:srgbClr val="000000"/>
                </a:solidFill>
                <a:latin typeface="Tahoma"/>
                <a:ea typeface="Tahoma"/>
              </a:rPr>
              <a:t>IVA (22%): € 22</a:t>
            </a:r>
            <a:endParaRPr lang="it-IT" sz="1400" spc="-1" noProof="1"/>
          </a:p>
          <a:p>
            <a:pPr fontAlgn="auto"/>
            <a:r>
              <a:rPr lang="it-IT" sz="1400" b="1" spc="-1" noProof="1">
                <a:solidFill>
                  <a:srgbClr val="000000"/>
                </a:solidFill>
                <a:latin typeface="Tahoma"/>
                <a:ea typeface="Tahoma"/>
              </a:rPr>
              <a:t>Totale: € 122</a:t>
            </a:r>
            <a:endParaRPr lang="it-IT" sz="1400" spc="-1" noProof="1"/>
          </a:p>
        </p:txBody>
      </p:sp>
      <p:sp>
        <p:nvSpPr>
          <p:cNvPr id="154" name="CustomShape 12"/>
          <p:cNvSpPr/>
          <p:nvPr/>
        </p:nvSpPr>
        <p:spPr>
          <a:xfrm flipH="1" flipV="1">
            <a:off x="3676650" y="2127250"/>
            <a:ext cx="442913" cy="615950"/>
          </a:xfrm>
          <a:custGeom>
            <a:avLst/>
            <a:gdLst/>
            <a:ahLst/>
            <a:cxnLst/>
            <a:rect l="l" t="t" r="r" b="b"/>
            <a:pathLst>
              <a:path w="21600" h="21600">
                <a:moveTo>
                  <a:pt x="0" y="0"/>
                </a:moveTo>
                <a:lnTo>
                  <a:pt x="21600" y="21600"/>
                </a:lnTo>
              </a:path>
            </a:pathLst>
          </a:custGeom>
          <a:noFill/>
          <a:ln>
            <a:round/>
            <a:tailEnd type="triangle" w="med" len="med"/>
          </a:ln>
          <a:effectLst>
            <a:outerShdw blurRad="40000" dist="23000" dir="5400000" rotWithShape="0">
              <a:srgbClr val="000000">
                <a:alpha val="35000"/>
              </a:srgbClr>
            </a:outerShdw>
          </a:effectLst>
        </p:spPr>
        <p:style>
          <a:lnRef idx="3">
            <a:schemeClr val="accent1"/>
          </a:lnRef>
          <a:fillRef idx="0">
            <a:schemeClr val="accent1"/>
          </a:fillRef>
          <a:effectRef idx="2">
            <a:schemeClr val="accent1"/>
          </a:effectRef>
          <a:fontRef idx="minor"/>
        </p:style>
        <p:txBody>
          <a:bodyPr/>
          <a:lstStyle/>
          <a:p>
            <a:endParaRPr lang="it-IT"/>
          </a:p>
        </p:txBody>
      </p:sp>
    </p:spTree>
    <p:extLst>
      <p:ext uri="{BB962C8B-B14F-4D97-AF65-F5344CB8AC3E}">
        <p14:creationId xmlns:p14="http://schemas.microsoft.com/office/powerpoint/2010/main" val="25152951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A8713-A7A5-5135-3FA3-3D2A80DC171A}"/>
            </a:ext>
          </a:extLst>
        </p:cNvPr>
        <p:cNvGrpSpPr/>
        <p:nvPr/>
      </p:nvGrpSpPr>
      <p:grpSpPr>
        <a:xfrm>
          <a:off x="0" y="0"/>
          <a:ext cx="0" cy="0"/>
          <a:chOff x="0" y="0"/>
          <a:chExt cx="0" cy="0"/>
        </a:xfrm>
      </p:grpSpPr>
      <p:sp>
        <p:nvSpPr>
          <p:cNvPr id="127" name="CustomShape 1">
            <a:extLst>
              <a:ext uri="{FF2B5EF4-FFF2-40B4-BE49-F238E27FC236}">
                <a16:creationId xmlns:a16="http://schemas.microsoft.com/office/drawing/2014/main" id="{D8641B11-704D-6734-AEBC-2EA7DF44F74A}"/>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8" name="CustomShape 2">
            <a:extLst>
              <a:ext uri="{FF2B5EF4-FFF2-40B4-BE49-F238E27FC236}">
                <a16:creationId xmlns:a16="http://schemas.microsoft.com/office/drawing/2014/main" id="{1BE8AF61-7981-102D-C382-E9AC70EA6C98}"/>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9" name="CustomShape 3">
            <a:extLst>
              <a:ext uri="{FF2B5EF4-FFF2-40B4-BE49-F238E27FC236}">
                <a16:creationId xmlns:a16="http://schemas.microsoft.com/office/drawing/2014/main" id="{E1D426AA-A06A-0F16-26FF-DD8050E3B470}"/>
              </a:ext>
            </a:extLst>
          </p:cNvPr>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0" name="CustomShape 4">
            <a:extLst>
              <a:ext uri="{FF2B5EF4-FFF2-40B4-BE49-F238E27FC236}">
                <a16:creationId xmlns:a16="http://schemas.microsoft.com/office/drawing/2014/main" id="{BCA8BEF6-AB20-96A8-1046-8D984756632D}"/>
              </a:ext>
            </a:extLst>
          </p:cNvPr>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1" name="CustomShape 5">
            <a:extLst>
              <a:ext uri="{FF2B5EF4-FFF2-40B4-BE49-F238E27FC236}">
                <a16:creationId xmlns:a16="http://schemas.microsoft.com/office/drawing/2014/main" id="{F1861D75-5D47-3BB7-EB77-D26C0A7EEF20}"/>
              </a:ext>
            </a:extLst>
          </p:cNvPr>
          <p:cNvSpPr/>
          <p:nvPr/>
        </p:nvSpPr>
        <p:spPr>
          <a:xfrm>
            <a:off x="533400" y="2995613"/>
            <a:ext cx="7991475" cy="76041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r>
              <a:rPr lang="en-US" altLang="it-IT" sz="4400" b="1" i="1" spc="-1" noProof="1">
                <a:solidFill>
                  <a:srgbClr val="336699"/>
                </a:solidFill>
                <a:latin typeface="Calibri" panose="020F0502020204030204"/>
                <a:ea typeface="ヒラギノ角ゴ ProN W3"/>
              </a:rPr>
              <a:t>Tax design</a:t>
            </a:r>
            <a:endParaRPr lang="it-IT" sz="4400" i="1" spc="-1" noProof="1"/>
          </a:p>
        </p:txBody>
      </p:sp>
    </p:spTree>
    <p:extLst>
      <p:ext uri="{BB962C8B-B14F-4D97-AF65-F5344CB8AC3E}">
        <p14:creationId xmlns:p14="http://schemas.microsoft.com/office/powerpoint/2010/main" val="5536658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anchor="ctr"/>
          <a:lstStyle/>
          <a:p>
            <a:pPr algn="ctr" fontAlgn="auto"/>
            <a:r>
              <a:rPr lang="en-US" altLang="en-US" sz="2800" b="1" i="1" spc="-1" noProof="1">
                <a:solidFill>
                  <a:srgbClr val="FFFFFF"/>
                </a:solidFill>
                <a:latin typeface="Ubuntu" panose="020B0604030602030204"/>
                <a:ea typeface="Ubuntu" panose="020B0604030602030204"/>
              </a:rPr>
              <a:t>Tax design (1)</a:t>
            </a:r>
          </a:p>
        </p:txBody>
      </p:sp>
      <p:sp>
        <p:nvSpPr>
          <p:cNvPr id="120" name="CustomShape 2"/>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969798F5-56E9-410F-AEF3-CA97CD3969CF}"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11</a:t>
            </a:fld>
            <a:endParaRPr lang="it-IT" altLang="en-US" sz="1200"/>
          </a:p>
        </p:txBody>
      </p:sp>
      <p:sp>
        <p:nvSpPr>
          <p:cNvPr id="121" name="CustomShape 3"/>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2" name="CustomShape 4"/>
          <p:cNvSpPr/>
          <p:nvPr/>
        </p:nvSpPr>
        <p:spPr>
          <a:xfrm>
            <a:off x="147638" y="1268413"/>
            <a:ext cx="8848725" cy="521811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154800"/>
          <a:lstStyle>
            <a:lvl1pPr marL="457200" indent="-342900">
              <a:defRPr>
                <a:solidFill>
                  <a:schemeClr val="tx1"/>
                </a:solidFill>
                <a:latin typeface="Arial" panose="020B0604020202020204" pitchFamily="34" charset="0"/>
                <a:ea typeface="DejaVu Sans" panose="020B0603030804020204"/>
                <a:cs typeface="DejaVu Sans" panose="020B0603030804020204"/>
              </a:defRPr>
            </a:lvl1pPr>
            <a:lvl2pPr marL="914400" indent="-342900">
              <a:defRPr>
                <a:solidFill>
                  <a:schemeClr val="tx1"/>
                </a:solidFill>
                <a:latin typeface="Arial" panose="020B0604020202020204" pitchFamily="34" charset="0"/>
                <a:ea typeface="DejaVu Sans" panose="020B0603030804020204"/>
                <a:cs typeface="DejaVu Sans" panose="020B0603030804020204"/>
              </a:defRPr>
            </a:lvl2pPr>
            <a:lvl3pPr marL="1371600" indent="-342900">
              <a:defRPr>
                <a:solidFill>
                  <a:schemeClr val="tx1"/>
                </a:solidFill>
                <a:latin typeface="Arial" panose="020B0604020202020204" pitchFamily="34" charset="0"/>
                <a:ea typeface="DejaVu Sans" panose="020B0603030804020204"/>
                <a:cs typeface="DejaVu Sans" panose="020B0603030804020204"/>
              </a:defRPr>
            </a:lvl3pPr>
            <a:lvl4pPr marL="1828800" indent="-342900">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lnSpc>
                <a:spcPct val="115000"/>
              </a:lnSpc>
              <a:spcBef>
                <a:spcPts val="600"/>
              </a:spcBef>
              <a:buFont typeface="Arial" panose="020B0604020202020204" pitchFamily="34" charset="0"/>
              <a:buAutoNum type="alphaLcParenR"/>
            </a:pPr>
            <a:r>
              <a:rPr lang="it-IT" altLang="en-US" u="sng">
                <a:solidFill>
                  <a:srgbClr val="000000"/>
                </a:solidFill>
                <a:latin typeface="Ubuntu" panose="020B0604030602030204" pitchFamily="34" charset="0"/>
                <a:ea typeface="Ubuntu" panose="020B0604030602030204" pitchFamily="34" charset="0"/>
                <a:cs typeface="Ubuntu" panose="020B0604030602030204" pitchFamily="34" charset="0"/>
              </a:rPr>
              <a:t>Momento e fasi</a:t>
            </a:r>
            <a:r>
              <a:rPr lang="it-IT" altLang="en-US">
                <a:solidFill>
                  <a:srgbClr val="000000"/>
                </a:solidFill>
                <a:latin typeface="Ubuntu" panose="020B0604030602030204" pitchFamily="34" charset="0"/>
                <a:ea typeface="Ubuntu" panose="020B0604030602030204" pitchFamily="34" charset="0"/>
                <a:cs typeface="Ubuntu" panose="020B0604030602030204" pitchFamily="34" charset="0"/>
              </a:rPr>
              <a:t> rilevanti ai fini dell’applicazione del tributo</a:t>
            </a:r>
          </a:p>
          <a:p>
            <a:pPr lvl="1">
              <a:lnSpc>
                <a:spcPct val="115000"/>
              </a:lnSpc>
              <a:spcBef>
                <a:spcPts val="600"/>
              </a:spcBef>
              <a:buFont typeface="Arial" panose="020B0604020202020204" pitchFamily="34" charset="0"/>
              <a:buAutoNum type="arabicPeriod"/>
            </a:pPr>
            <a:r>
              <a:rPr lang="it-IT" altLang="en-US" sz="1600">
                <a:solidFill>
                  <a:srgbClr val="000000"/>
                </a:solidFill>
                <a:latin typeface="Ubuntu" panose="020B0604030602030204" pitchFamily="34" charset="0"/>
                <a:ea typeface="Ubuntu" panose="020B0604030602030204" pitchFamily="34" charset="0"/>
                <a:cs typeface="Ubuntu" panose="020B0604030602030204" pitchFamily="34" charset="0"/>
              </a:rPr>
              <a:t>Un unico momento: regime </a:t>
            </a:r>
            <a:r>
              <a:rPr lang="it-IT" altLang="en-US" sz="1600" b="1">
                <a:solidFill>
                  <a:srgbClr val="000000"/>
                </a:solidFill>
                <a:latin typeface="Ubuntu" panose="020B0604030602030204" pitchFamily="34" charset="0"/>
                <a:ea typeface="Ubuntu" panose="020B0604030602030204" pitchFamily="34" charset="0"/>
                <a:cs typeface="Ubuntu" panose="020B0604030602030204" pitchFamily="34" charset="0"/>
              </a:rPr>
              <a:t>monofase</a:t>
            </a:r>
          </a:p>
          <a:p>
            <a:pPr lvl="2">
              <a:lnSpc>
                <a:spcPct val="115000"/>
              </a:lnSpc>
              <a:spcBef>
                <a:spcPts val="600"/>
              </a:spcBef>
              <a:buFont typeface="Arial" panose="020B0604020202020204" pitchFamily="34" charset="0"/>
              <a:buChar char="•"/>
            </a:pPr>
            <a:r>
              <a:rPr lang="it-IT" altLang="en-US" sz="1400">
                <a:solidFill>
                  <a:srgbClr val="000000"/>
                </a:solidFill>
                <a:latin typeface="Ubuntu" panose="020B0604030602030204" pitchFamily="34" charset="0"/>
                <a:ea typeface="Ubuntu" panose="020B0604030602030204" pitchFamily="34" charset="0"/>
                <a:cs typeface="Ubuntu" panose="020B0604030602030204" pitchFamily="34" charset="0"/>
              </a:rPr>
              <a:t>Nella fase di produzione (art. 74 DPR 633/1972 - sali e tabacchi; editoria; telefonia; trasporti e parcheggi)</a:t>
            </a:r>
          </a:p>
          <a:p>
            <a:pPr lvl="2">
              <a:lnSpc>
                <a:spcPct val="115000"/>
              </a:lnSpc>
              <a:spcBef>
                <a:spcPts val="600"/>
              </a:spcBef>
              <a:buFont typeface="Arial" panose="020B0604020202020204" pitchFamily="34" charset="0"/>
              <a:buChar char="•"/>
            </a:pPr>
            <a:r>
              <a:rPr lang="en-US" altLang="en-US" sz="1400">
                <a:solidFill>
                  <a:srgbClr val="000000"/>
                </a:solidFill>
                <a:latin typeface="Ubuntu" panose="020B0604030602030204" pitchFamily="34" charset="0"/>
                <a:ea typeface="Ubuntu" panose="020B0604030602030204" pitchFamily="34" charset="0"/>
                <a:cs typeface="Ubuntu" panose="020B0604030602030204" pitchFamily="34" charset="0"/>
              </a:rPr>
              <a:t>Nella fase di </a:t>
            </a:r>
            <a:r>
              <a:rPr lang="it-IT" altLang="en-US" sz="1400">
                <a:solidFill>
                  <a:srgbClr val="000000"/>
                </a:solidFill>
                <a:latin typeface="Ubuntu" panose="020B0604030602030204" pitchFamily="34" charset="0"/>
                <a:ea typeface="Ubuntu" panose="020B0604030602030204" pitchFamily="34" charset="0"/>
                <a:cs typeface="Ubuntu" panose="020B0604030602030204" pitchFamily="34" charset="0"/>
              </a:rPr>
              <a:t>distribuzione al dettaglio (ILCC - L. 160/2019 art. 1 co. 559-572)</a:t>
            </a:r>
          </a:p>
          <a:p>
            <a:pPr lvl="1">
              <a:lnSpc>
                <a:spcPct val="115000"/>
              </a:lnSpc>
              <a:spcBef>
                <a:spcPts val="600"/>
              </a:spcBef>
              <a:buFont typeface="Arial" panose="020B0604020202020204" pitchFamily="34" charset="0"/>
              <a:buAutoNum type="arabicPeriod"/>
            </a:pPr>
            <a:r>
              <a:rPr lang="it-IT" altLang="en-US" sz="1600">
                <a:solidFill>
                  <a:srgbClr val="000000"/>
                </a:solidFill>
                <a:latin typeface="Ubuntu" panose="020B0604030602030204" pitchFamily="34" charset="0"/>
                <a:ea typeface="Ubuntu" panose="020B0604030602030204" pitchFamily="34" charset="0"/>
                <a:cs typeface="Ubuntu" panose="020B0604030602030204" pitchFamily="34" charset="0"/>
              </a:rPr>
              <a:t>Più momenti: regime </a:t>
            </a:r>
            <a:r>
              <a:rPr lang="it-IT" altLang="en-US" sz="1600" b="1">
                <a:solidFill>
                  <a:srgbClr val="000000"/>
                </a:solidFill>
                <a:latin typeface="Ubuntu" panose="020B0604030602030204" pitchFamily="34" charset="0"/>
                <a:ea typeface="Ubuntu" panose="020B0604030602030204" pitchFamily="34" charset="0"/>
                <a:cs typeface="Ubuntu" panose="020B0604030602030204" pitchFamily="34" charset="0"/>
              </a:rPr>
              <a:t>plurifase</a:t>
            </a:r>
            <a:endParaRPr lang="it-IT" altLang="en-US" sz="1600">
              <a:solidFill>
                <a:srgbClr val="000000"/>
              </a:solidFill>
              <a:latin typeface="Ubuntu" panose="020B0604030602030204" pitchFamily="34" charset="0"/>
              <a:ea typeface="Ubuntu" panose="020B0604030602030204" pitchFamily="34" charset="0"/>
              <a:cs typeface="Ubuntu" panose="020B0604030602030204" pitchFamily="34" charset="0"/>
            </a:endParaRPr>
          </a:p>
          <a:p>
            <a:pPr lvl="2">
              <a:lnSpc>
                <a:spcPct val="115000"/>
              </a:lnSpc>
              <a:spcBef>
                <a:spcPts val="600"/>
              </a:spcBef>
              <a:buFont typeface="Arial" panose="020B0604020202020204" pitchFamily="34" charset="0"/>
              <a:buChar char="•"/>
            </a:pPr>
            <a:r>
              <a:rPr lang="it-IT" altLang="en-US" sz="1400">
                <a:solidFill>
                  <a:srgbClr val="000000"/>
                </a:solidFill>
                <a:latin typeface="Ubuntu" panose="020B0604030602030204" pitchFamily="34" charset="0"/>
                <a:ea typeface="Ubuntu" panose="020B0604030602030204" pitchFamily="34" charset="0"/>
                <a:cs typeface="Ubuntu" panose="020B0604030602030204" pitchFamily="34" charset="0"/>
              </a:rPr>
              <a:t>Cumulativo (IGE)</a:t>
            </a:r>
          </a:p>
          <a:p>
            <a:pPr lvl="2">
              <a:lnSpc>
                <a:spcPct val="115000"/>
              </a:lnSpc>
              <a:spcBef>
                <a:spcPts val="600"/>
              </a:spcBef>
              <a:buFont typeface="Arial" panose="020B0604020202020204" pitchFamily="34" charset="0"/>
              <a:buChar char="•"/>
            </a:pPr>
            <a:r>
              <a:rPr lang="it-IT" altLang="en-US" sz="1400">
                <a:solidFill>
                  <a:srgbClr val="000000"/>
                </a:solidFill>
                <a:latin typeface="Ubuntu" panose="020B0604030602030204" pitchFamily="34" charset="0"/>
                <a:ea typeface="Ubuntu" panose="020B0604030602030204" pitchFamily="34" charset="0"/>
                <a:cs typeface="Ubuntu" panose="020B0604030602030204" pitchFamily="34" charset="0"/>
              </a:rPr>
              <a:t>Non cumulativo</a:t>
            </a:r>
            <a:r>
              <a:rPr lang="it-IT" altLang="en-US" sz="1400" b="1">
                <a:solidFill>
                  <a:srgbClr val="000000"/>
                </a:solidFill>
                <a:latin typeface="Ubuntu" panose="020B0604030602030204" pitchFamily="34" charset="0"/>
                <a:ea typeface="Ubuntu" panose="020B0604030602030204" pitchFamily="34" charset="0"/>
                <a:cs typeface="Ubuntu" panose="020B0604030602030204" pitchFamily="34" charset="0"/>
              </a:rPr>
              <a:t>: </a:t>
            </a:r>
          </a:p>
          <a:p>
            <a:pPr lvl="3">
              <a:lnSpc>
                <a:spcPct val="115000"/>
              </a:lnSpc>
              <a:spcBef>
                <a:spcPts val="600"/>
              </a:spcBef>
              <a:buFont typeface="Arial" panose="020B0604020202020204" pitchFamily="34" charset="0"/>
              <a:buChar char="•"/>
            </a:pPr>
            <a:r>
              <a:rPr lang="it-IT" altLang="en-US" sz="1400" i="1">
                <a:solidFill>
                  <a:srgbClr val="000000"/>
                </a:solidFill>
                <a:latin typeface="Ubuntu" panose="020B0604030602030204" pitchFamily="34" charset="0"/>
                <a:ea typeface="Ubuntu" panose="020B0604030602030204" pitchFamily="34" charset="0"/>
                <a:cs typeface="Ubuntu" panose="020B0604030602030204" pitchFamily="34" charset="0"/>
              </a:rPr>
              <a:t>base da base </a:t>
            </a:r>
            <a:r>
              <a:rPr lang="it-IT" altLang="en-US" sz="1400">
                <a:solidFill>
                  <a:srgbClr val="000000"/>
                </a:solidFill>
                <a:latin typeface="Ubuntu" panose="020B0604030602030204" pitchFamily="34" charset="0"/>
                <a:ea typeface="Ubuntu" panose="020B0604030602030204" pitchFamily="34" charset="0"/>
                <a:cs typeface="Ubuntu" panose="020B0604030602030204" pitchFamily="34" charset="0"/>
              </a:rPr>
              <a:t>(art 74 ter DPR 633/1972 - agenzie di viaggio)</a:t>
            </a:r>
            <a:endParaRPr lang="it-IT" altLang="en-US" sz="1400" i="1">
              <a:solidFill>
                <a:srgbClr val="000000"/>
              </a:solidFill>
              <a:latin typeface="Ubuntu" panose="020B0604030602030204" pitchFamily="34" charset="0"/>
              <a:ea typeface="Ubuntu" panose="020B0604030602030204" pitchFamily="34" charset="0"/>
              <a:cs typeface="Ubuntu" panose="020B0604030602030204" pitchFamily="34" charset="0"/>
            </a:endParaRPr>
          </a:p>
          <a:p>
            <a:pPr lvl="3">
              <a:lnSpc>
                <a:spcPct val="115000"/>
              </a:lnSpc>
              <a:spcBef>
                <a:spcPts val="600"/>
              </a:spcBef>
              <a:buFont typeface="Arial" panose="020B0604020202020204" pitchFamily="34" charset="0"/>
              <a:buChar char="•"/>
            </a:pPr>
            <a:r>
              <a:rPr lang="it-IT" altLang="en-US" sz="1400" i="1">
                <a:solidFill>
                  <a:srgbClr val="000000"/>
                </a:solidFill>
                <a:latin typeface="Ubuntu" panose="020B0604030602030204" pitchFamily="34" charset="0"/>
                <a:ea typeface="Ubuntu" panose="020B0604030602030204" pitchFamily="34" charset="0"/>
                <a:cs typeface="Ubuntu" panose="020B0604030602030204" pitchFamily="34" charset="0"/>
              </a:rPr>
              <a:t>imposta da imposta</a:t>
            </a:r>
            <a:r>
              <a:rPr lang="it-IT" altLang="en-US" sz="1400">
                <a:solidFill>
                  <a:srgbClr val="000000"/>
                </a:solidFill>
                <a:latin typeface="Ubuntu" panose="020B0604030602030204" pitchFamily="34" charset="0"/>
                <a:ea typeface="Ubuntu" panose="020B0604030602030204" pitchFamily="34" charset="0"/>
                <a:cs typeface="Ubuntu" panose="020B0604030602030204" pitchFamily="34" charset="0"/>
              </a:rPr>
              <a:t> (IVA ordinaria)</a:t>
            </a:r>
          </a:p>
          <a:p>
            <a:pPr lvl="3">
              <a:lnSpc>
                <a:spcPct val="115000"/>
              </a:lnSpc>
              <a:spcBef>
                <a:spcPts val="600"/>
              </a:spcBef>
              <a:buFont typeface="Arial" panose="020B0604020202020204" pitchFamily="34" charset="0"/>
              <a:buNone/>
            </a:pPr>
            <a:endParaRPr lang="en-US" altLang="it-IT" sz="1400">
              <a:solidFill>
                <a:srgbClr val="000000"/>
              </a:solidFill>
              <a:latin typeface="Ubuntu" panose="020B0604030602030204" pitchFamily="34" charset="0"/>
              <a:ea typeface="Ubuntu" panose="020B0604030602030204" pitchFamily="34" charset="0"/>
              <a:cs typeface="Ubuntu" panose="020B0604030602030204" pitchFamily="34" charset="0"/>
            </a:endParaRPr>
          </a:p>
          <a:p>
            <a:pPr>
              <a:lnSpc>
                <a:spcPct val="115000"/>
              </a:lnSpc>
              <a:spcBef>
                <a:spcPts val="600"/>
              </a:spcBef>
              <a:buFont typeface="Arial" panose="020B0604020202020204" pitchFamily="34" charset="0"/>
              <a:buAutoNum type="alphaLcParenR"/>
            </a:pPr>
            <a:r>
              <a:rPr lang="it-IT" altLang="en-US" u="sng">
                <a:solidFill>
                  <a:srgbClr val="000000"/>
                </a:solidFill>
                <a:latin typeface="Ubuntu" panose="020B0604030602030204" pitchFamily="34" charset="0"/>
                <a:ea typeface="Ubuntu" panose="020B0604030602030204" pitchFamily="34" charset="0"/>
                <a:cs typeface="Ubuntu" panose="020B0604030602030204" pitchFamily="34" charset="0"/>
              </a:rPr>
              <a:t>Base</a:t>
            </a:r>
            <a:r>
              <a:rPr lang="it-IT" altLang="en-US">
                <a:solidFill>
                  <a:srgbClr val="000000"/>
                </a:solidFill>
                <a:latin typeface="Ubuntu" panose="020B0604030602030204" pitchFamily="34" charset="0"/>
                <a:ea typeface="Ubuntu" panose="020B0604030602030204" pitchFamily="34" charset="0"/>
                <a:cs typeface="Ubuntu" panose="020B0604030602030204" pitchFamily="34" charset="0"/>
              </a:rPr>
              <a:t> su cui si applica il tributo</a:t>
            </a:r>
            <a:endParaRPr lang="en-US" altLang="en-US">
              <a:solidFill>
                <a:srgbClr val="000000"/>
              </a:solidFill>
              <a:latin typeface="Ubuntu" panose="020B0604030602030204" pitchFamily="34" charset="0"/>
              <a:ea typeface="Ubuntu" panose="020B0604030602030204" pitchFamily="34" charset="0"/>
              <a:cs typeface="Ubuntu" panose="020B0604030602030204" pitchFamily="34" charset="0"/>
            </a:endParaRPr>
          </a:p>
          <a:p>
            <a:pPr lvl="1">
              <a:lnSpc>
                <a:spcPct val="115000"/>
              </a:lnSpc>
              <a:spcBef>
                <a:spcPts val="600"/>
              </a:spcBef>
              <a:buFont typeface="Arial" panose="020B0604020202020204" pitchFamily="34" charset="0"/>
              <a:buChar char="•"/>
            </a:pPr>
            <a:r>
              <a:rPr lang="it-IT" altLang="en-US" sz="1600">
                <a:solidFill>
                  <a:srgbClr val="000000"/>
                </a:solidFill>
                <a:latin typeface="Ubuntu" panose="020B0604030602030204" pitchFamily="34" charset="0"/>
                <a:ea typeface="Ubuntu" panose="020B0604030602030204" pitchFamily="34" charset="0"/>
                <a:cs typeface="Ubuntu" panose="020B0604030602030204" pitchFamily="34" charset="0"/>
              </a:rPr>
              <a:t>Intero valore (corrispettivo)</a:t>
            </a:r>
          </a:p>
          <a:p>
            <a:pPr lvl="1">
              <a:lnSpc>
                <a:spcPct val="115000"/>
              </a:lnSpc>
              <a:spcBef>
                <a:spcPts val="600"/>
              </a:spcBef>
              <a:buFont typeface="Arial" panose="020B0604020202020204" pitchFamily="34" charset="0"/>
              <a:buChar char="•"/>
            </a:pPr>
            <a:r>
              <a:rPr lang="it-IT" altLang="en-US" sz="1600">
                <a:solidFill>
                  <a:srgbClr val="000000"/>
                </a:solidFill>
                <a:latin typeface="Ubuntu" panose="020B0604030602030204" pitchFamily="34" charset="0"/>
                <a:ea typeface="Ubuntu" panose="020B0604030602030204" pitchFamily="34" charset="0"/>
                <a:cs typeface="Ubuntu" panose="020B0604030602030204" pitchFamily="34" charset="0"/>
              </a:rPr>
              <a:t>Incremento di valore (margine) </a:t>
            </a:r>
            <a:r>
              <a:rPr lang="it-IT" altLang="en-US" sz="1200">
                <a:solidFill>
                  <a:srgbClr val="000000"/>
                </a:solidFill>
                <a:latin typeface="Ubuntu" panose="020B0604030602030204" pitchFamily="34" charset="0"/>
                <a:ea typeface="Ubuntu" panose="020B0604030602030204" pitchFamily="34" charset="0"/>
                <a:cs typeface="Ubuntu" panose="020B0604030602030204" pitchFamily="34" charset="0"/>
              </a:rPr>
              <a:t>- DL 41/1995 artt. 36-40 (rivendita di beni usati)</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anchor="ctr"/>
          <a:lstStyle/>
          <a:p>
            <a:pPr algn="ctr" fontAlgn="auto"/>
            <a:r>
              <a:rPr lang="en-US" altLang="en-US" sz="2800" b="1" i="1" spc="-1" noProof="1">
                <a:solidFill>
                  <a:srgbClr val="FFFFFF"/>
                </a:solidFill>
                <a:latin typeface="Ubuntu" panose="020B0604030602030204"/>
                <a:ea typeface="Ubuntu" panose="020B0604030602030204"/>
              </a:rPr>
              <a:t>Tax design (2)</a:t>
            </a:r>
          </a:p>
        </p:txBody>
      </p:sp>
      <p:sp>
        <p:nvSpPr>
          <p:cNvPr id="120" name="CustomShape 2"/>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D0138740-C362-4BAF-9B8A-1E13C1973BB1}"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12</a:t>
            </a:fld>
            <a:endParaRPr lang="it-IT" altLang="en-US" sz="1200"/>
          </a:p>
        </p:txBody>
      </p:sp>
      <p:sp>
        <p:nvSpPr>
          <p:cNvPr id="121" name="CustomShape 3"/>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 name="CustomShape 4"/>
          <p:cNvSpPr/>
          <p:nvPr/>
        </p:nvSpPr>
        <p:spPr>
          <a:xfrm>
            <a:off x="147638" y="1268413"/>
            <a:ext cx="8848725" cy="521811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154800"/>
          <a:lstStyle/>
          <a:p>
            <a:pPr marL="571500" lvl="1" fontAlgn="auto">
              <a:lnSpc>
                <a:spcPct val="115000"/>
              </a:lnSpc>
              <a:spcBef>
                <a:spcPts val="600"/>
              </a:spcBef>
              <a:buClr>
                <a:srgbClr val="000000"/>
              </a:buClr>
              <a:buFont typeface="Arial" panose="020B0604020202020204" pitchFamily="34" charset="0"/>
              <a:buNone/>
            </a:pPr>
            <a:endParaRPr lang="en-US" altLang="en-US" sz="1200" spc="-1" noProof="1">
              <a:solidFill>
                <a:srgbClr val="000000"/>
              </a:solidFill>
              <a:latin typeface="Ubuntu" panose="020B0604030602030204"/>
              <a:ea typeface="Ubuntu" panose="020B0604030602030204"/>
              <a:sym typeface="+mn-ea"/>
            </a:endParaRPr>
          </a:p>
        </p:txBody>
      </p:sp>
      <p:graphicFrame>
        <p:nvGraphicFramePr>
          <p:cNvPr id="4" name="Table 3"/>
          <p:cNvGraphicFramePr/>
          <p:nvPr/>
        </p:nvGraphicFramePr>
        <p:xfrm>
          <a:off x="747713" y="1538288"/>
          <a:ext cx="7569200" cy="1524000"/>
        </p:xfrm>
        <a:graphic>
          <a:graphicData uri="http://schemas.openxmlformats.org/drawingml/2006/table">
            <a:tbl>
              <a:tblPr firstRow="1" bandRow="1">
                <a:tableStyleId>{5C22544A-7EE6-4342-B048-85BDC9FD1C3A}</a:tableStyleId>
              </a:tblPr>
              <a:tblGrid>
                <a:gridCol w="3145155">
                  <a:extLst>
                    <a:ext uri="{9D8B030D-6E8A-4147-A177-3AD203B41FA5}">
                      <a16:colId xmlns:a16="http://schemas.microsoft.com/office/drawing/2014/main" val="20000"/>
                    </a:ext>
                  </a:extLst>
                </a:gridCol>
                <a:gridCol w="2280920">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tblGrid>
              <a:tr h="381000">
                <a:tc>
                  <a:txBody>
                    <a:bodyPr/>
                    <a:lstStyle/>
                    <a:p>
                      <a:pPr>
                        <a:buNone/>
                      </a:pPr>
                      <a:endParaRPr lang="en-US"/>
                    </a:p>
                  </a:txBody>
                  <a:tcPr/>
                </a:tc>
                <a:tc>
                  <a:txBody>
                    <a:bodyPr/>
                    <a:lstStyle/>
                    <a:p>
                      <a:pPr>
                        <a:buNone/>
                      </a:pPr>
                      <a:r>
                        <a:rPr lang="en-US" altLang="en-US"/>
                        <a:t>Corrispettivo</a:t>
                      </a:r>
                    </a:p>
                  </a:txBody>
                  <a:tcPr/>
                </a:tc>
                <a:tc>
                  <a:txBody>
                    <a:bodyPr/>
                    <a:lstStyle/>
                    <a:p>
                      <a:pPr>
                        <a:buNone/>
                      </a:pPr>
                      <a:r>
                        <a:rPr lang="en-US" altLang="en-US"/>
                        <a:t>Margine</a:t>
                      </a:r>
                    </a:p>
                  </a:txBody>
                  <a:tcPr/>
                </a:tc>
                <a:extLst>
                  <a:ext uri="{0D108BD9-81ED-4DB2-BD59-A6C34878D82A}">
                    <a16:rowId xmlns:a16="http://schemas.microsoft.com/office/drawing/2014/main" val="10000"/>
                  </a:ext>
                </a:extLst>
              </a:tr>
              <a:tr h="381000">
                <a:tc>
                  <a:txBody>
                    <a:bodyPr/>
                    <a:lstStyle/>
                    <a:p>
                      <a:pPr>
                        <a:buNone/>
                      </a:pPr>
                      <a:r>
                        <a:rPr lang="en-US" altLang="en-US"/>
                        <a:t>A) Produzione</a:t>
                      </a:r>
                    </a:p>
                  </a:txBody>
                  <a:tcPr/>
                </a:tc>
                <a:tc>
                  <a:txBody>
                    <a:bodyPr/>
                    <a:lstStyle/>
                    <a:p>
                      <a:pPr>
                        <a:buNone/>
                      </a:pPr>
                      <a:r>
                        <a:rPr lang="en-US" altLang="en-US"/>
                        <a:t>15</a:t>
                      </a:r>
                    </a:p>
                  </a:txBody>
                  <a:tcPr/>
                </a:tc>
                <a:tc>
                  <a:txBody>
                    <a:bodyPr/>
                    <a:lstStyle/>
                    <a:p>
                      <a:pPr>
                        <a:buNone/>
                      </a:pPr>
                      <a:r>
                        <a:rPr lang="en-US" altLang="en-US"/>
                        <a:t>15</a:t>
                      </a:r>
                    </a:p>
                  </a:txBody>
                  <a:tcPr/>
                </a:tc>
                <a:extLst>
                  <a:ext uri="{0D108BD9-81ED-4DB2-BD59-A6C34878D82A}">
                    <a16:rowId xmlns:a16="http://schemas.microsoft.com/office/drawing/2014/main" val="10001"/>
                  </a:ext>
                </a:extLst>
              </a:tr>
              <a:tr h="381000">
                <a:tc>
                  <a:txBody>
                    <a:bodyPr/>
                    <a:lstStyle/>
                    <a:p>
                      <a:pPr>
                        <a:buNone/>
                      </a:pPr>
                      <a:r>
                        <a:rPr lang="en-US" altLang="en-US"/>
                        <a:t>B) Commercio all’ingrosso</a:t>
                      </a:r>
                    </a:p>
                  </a:txBody>
                  <a:tcPr/>
                </a:tc>
                <a:tc>
                  <a:txBody>
                    <a:bodyPr/>
                    <a:lstStyle/>
                    <a:p>
                      <a:pPr>
                        <a:buNone/>
                      </a:pPr>
                      <a:r>
                        <a:rPr lang="en-US" altLang="en-US"/>
                        <a:t>15 + 25 = 40</a:t>
                      </a:r>
                    </a:p>
                  </a:txBody>
                  <a:tcPr/>
                </a:tc>
                <a:tc>
                  <a:txBody>
                    <a:bodyPr/>
                    <a:lstStyle/>
                    <a:p>
                      <a:pPr>
                        <a:buNone/>
                      </a:pPr>
                      <a:r>
                        <a:rPr lang="en-US" altLang="en-US"/>
                        <a:t>25</a:t>
                      </a:r>
                    </a:p>
                  </a:txBody>
                  <a:tcPr/>
                </a:tc>
                <a:extLst>
                  <a:ext uri="{0D108BD9-81ED-4DB2-BD59-A6C34878D82A}">
                    <a16:rowId xmlns:a16="http://schemas.microsoft.com/office/drawing/2014/main" val="10002"/>
                  </a:ext>
                </a:extLst>
              </a:tr>
              <a:tr h="381000">
                <a:tc>
                  <a:txBody>
                    <a:bodyPr/>
                    <a:lstStyle/>
                    <a:p>
                      <a:pPr>
                        <a:buNone/>
                      </a:pPr>
                      <a:r>
                        <a:rPr lang="en-US" altLang="en-US"/>
                        <a:t>C) Commercio al dettaglio</a:t>
                      </a:r>
                    </a:p>
                  </a:txBody>
                  <a:tcPr/>
                </a:tc>
                <a:tc>
                  <a:txBody>
                    <a:bodyPr/>
                    <a:lstStyle/>
                    <a:p>
                      <a:pPr>
                        <a:buNone/>
                      </a:pPr>
                      <a:r>
                        <a:rPr lang="en-US" altLang="en-US"/>
                        <a:t>15 + 25 + 10 = 50</a:t>
                      </a:r>
                    </a:p>
                  </a:txBody>
                  <a:tcPr/>
                </a:tc>
                <a:tc>
                  <a:txBody>
                    <a:bodyPr/>
                    <a:lstStyle/>
                    <a:p>
                      <a:pPr>
                        <a:buNone/>
                      </a:pPr>
                      <a:r>
                        <a:rPr lang="en-US" altLang="en-US"/>
                        <a:t>10</a:t>
                      </a:r>
                    </a:p>
                  </a:txBody>
                  <a:tcPr/>
                </a:tc>
                <a:extLst>
                  <a:ext uri="{0D108BD9-81ED-4DB2-BD59-A6C34878D82A}">
                    <a16:rowId xmlns:a16="http://schemas.microsoft.com/office/drawing/2014/main" val="10003"/>
                  </a:ext>
                </a:extLst>
              </a:tr>
            </a:tbl>
          </a:graphicData>
        </a:graphic>
      </p:graphicFrame>
      <p:sp>
        <p:nvSpPr>
          <p:cNvPr id="6" name="Text Box 5"/>
          <p:cNvSpPr txBox="1"/>
          <p:nvPr/>
        </p:nvSpPr>
        <p:spPr>
          <a:xfrm>
            <a:off x="496888" y="3400425"/>
            <a:ext cx="8148637" cy="1416050"/>
          </a:xfrm>
          <a:prstGeom prst="rect">
            <a:avLst/>
          </a:prstGeom>
          <a:noFill/>
        </p:spPr>
        <p:txBody>
          <a:bodyPr>
            <a:spAutoFit/>
          </a:bodyPr>
          <a:lstStyle>
            <a:lvl1pPr marL="114300">
              <a:defRPr>
                <a:solidFill>
                  <a:schemeClr val="tx1"/>
                </a:solidFill>
                <a:latin typeface="Arial" panose="020B0604020202020204" pitchFamily="34" charset="0"/>
                <a:ea typeface="DejaVu Sans" panose="020B0603030804020204"/>
                <a:cs typeface="DejaVu Sans" panose="020B0603030804020204"/>
              </a:defRPr>
            </a:lvl1pPr>
            <a:lvl2pPr>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lgn="ctr">
              <a:lnSpc>
                <a:spcPct val="115000"/>
              </a:lnSpc>
              <a:spcBef>
                <a:spcPts val="600"/>
              </a:spcBef>
              <a:buFont typeface="Arial" panose="020B0604020202020204" pitchFamily="34" charset="0"/>
              <a:buNone/>
            </a:pPr>
            <a:r>
              <a:rPr lang="it-IT" altLang="en-US" sz="1400" b="1" u="sng">
                <a:solidFill>
                  <a:srgbClr val="000000"/>
                </a:solidFill>
                <a:latin typeface="Ubuntu" panose="020B0604030602030204" pitchFamily="34" charset="0"/>
                <a:ea typeface="Ubuntu" panose="020B0604030602030204" pitchFamily="34" charset="0"/>
                <a:cs typeface="Ubuntu" panose="020B0604030602030204" pitchFamily="34" charset="0"/>
              </a:rPr>
              <a:t>Regime monofase</a:t>
            </a:r>
            <a:endParaRPr lang="en-US" altLang="en-US" sz="1400" b="1">
              <a:solidFill>
                <a:srgbClr val="000000"/>
              </a:solidFill>
              <a:latin typeface="Ubuntu" panose="020B0604030602030204" pitchFamily="34" charset="0"/>
              <a:ea typeface="Ubuntu" panose="020B0604030602030204" pitchFamily="34" charset="0"/>
              <a:cs typeface="Ubuntu" panose="020B0604030602030204" pitchFamily="34" charset="0"/>
            </a:endParaRPr>
          </a:p>
          <a:p>
            <a:endParaRPr lang="en-US" altLang="zh-CN" sz="1400">
              <a:latin typeface="Ubuntu" panose="020B0604030602030204" pitchFamily="34" charset="0"/>
            </a:endParaRPr>
          </a:p>
          <a:p>
            <a:r>
              <a:rPr lang="it-IT" altLang="en-US" sz="1400">
                <a:latin typeface="Ubuntu" panose="020B0604030602030204" pitchFamily="34" charset="0"/>
              </a:rPr>
              <a:t>L’imposta viene applicata sul corrispettivo di vendita al consumatore finale (50) dal produttore (A) o dal commerciante al dettaglio (C).</a:t>
            </a:r>
          </a:p>
          <a:p>
            <a:endParaRPr lang="it-IT" altLang="en-US" sz="1400">
              <a:latin typeface="Ubuntu" panose="020B0604030602030204" pitchFamily="34" charset="0"/>
            </a:endParaRPr>
          </a:p>
          <a:p>
            <a:endParaRPr lang="en-US" altLang="zh-CN" sz="1400">
              <a:latin typeface="Ubuntu" panose="020B0604030602030204" pitchFamily="34" charset="0"/>
            </a:endParaRPr>
          </a:p>
        </p:txBody>
      </p:sp>
      <p:graphicFrame>
        <p:nvGraphicFramePr>
          <p:cNvPr id="7" name="Table 6"/>
          <p:cNvGraphicFramePr/>
          <p:nvPr/>
        </p:nvGraphicFramePr>
        <p:xfrm>
          <a:off x="1371600" y="4533900"/>
          <a:ext cx="6400800" cy="17526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81000">
                <a:tc>
                  <a:txBody>
                    <a:bodyPr/>
                    <a:lstStyle/>
                    <a:p>
                      <a:pPr>
                        <a:buNone/>
                      </a:pPr>
                      <a:r>
                        <a:rPr lang="en-US" altLang="en-US" sz="1400">
                          <a:latin typeface="Ubuntu" panose="020B0604030602030204" pitchFamily="34" charset="0"/>
                          <a:cs typeface="Ubuntu" panose="020B0604030602030204" pitchFamily="34" charset="0"/>
                        </a:rPr>
                        <a:t>Vantaggi</a:t>
                      </a:r>
                    </a:p>
                  </a:txBody>
                  <a:tcPr/>
                </a:tc>
                <a:tc>
                  <a:txBody>
                    <a:bodyPr/>
                    <a:lstStyle/>
                    <a:p>
                      <a:pPr>
                        <a:buNone/>
                      </a:pPr>
                      <a:r>
                        <a:rPr lang="en-US" altLang="en-US" sz="1400">
                          <a:latin typeface="Ubuntu" panose="020B0604030602030204" pitchFamily="34" charset="0"/>
                          <a:cs typeface="Ubuntu" panose="020B0604030602030204" pitchFamily="34" charset="0"/>
                        </a:rPr>
                        <a:t>Svantaggi</a:t>
                      </a:r>
                    </a:p>
                  </a:txBody>
                  <a:tcPr/>
                </a:tc>
                <a:extLst>
                  <a:ext uri="{0D108BD9-81ED-4DB2-BD59-A6C34878D82A}">
                    <a16:rowId xmlns:a16="http://schemas.microsoft.com/office/drawing/2014/main" val="10000"/>
                  </a:ext>
                </a:extLst>
              </a:tr>
              <a:tr h="381000">
                <a:tc>
                  <a:txBody>
                    <a:bodyPr/>
                    <a:lstStyle/>
                    <a:p>
                      <a:pPr marL="285750" indent="-285750">
                        <a:buFont typeface="Arial" panose="020B0604020202020204" pitchFamily="34" charset="0"/>
                        <a:buChar char="•"/>
                      </a:pPr>
                      <a:r>
                        <a:rPr lang="en-US" altLang="en-US" sz="1400">
                          <a:latin typeface="Ubuntu" panose="020B0604030602030204" pitchFamily="34" charset="0"/>
                          <a:cs typeface="Ubuntu" panose="020B0604030602030204" pitchFamily="34" charset="0"/>
                        </a:rPr>
                        <a:t>Semplicità</a:t>
                      </a:r>
                    </a:p>
                    <a:p>
                      <a:pPr marL="285750" indent="-285750">
                        <a:buFont typeface="Arial" panose="020B0604020202020204" pitchFamily="34" charset="0"/>
                        <a:buChar char="•"/>
                      </a:pPr>
                      <a:r>
                        <a:rPr lang="en-US" altLang="en-US" sz="1400">
                          <a:latin typeface="Ubuntu" panose="020B0604030602030204" pitchFamily="34" charset="0"/>
                          <a:cs typeface="Ubuntu" panose="020B0604030602030204" pitchFamily="34" charset="0"/>
                        </a:rPr>
                        <a:t>Anticipazione del gettito (se applicato dal produttore)</a:t>
                      </a:r>
                    </a:p>
                  </a:txBody>
                  <a:tcPr/>
                </a:tc>
                <a:tc>
                  <a:txBody>
                    <a:bodyPr/>
                    <a:lstStyle/>
                    <a:p>
                      <a:pPr marL="285750" indent="-285750">
                        <a:buFont typeface="Arial" panose="020B0604020202020204" pitchFamily="34" charset="0"/>
                        <a:buChar char="•"/>
                      </a:pPr>
                      <a:r>
                        <a:rPr lang="en-US" altLang="en-US" sz="1400">
                          <a:latin typeface="Ubuntu" panose="020B0604030602030204" pitchFamily="34" charset="0"/>
                          <a:cs typeface="Ubuntu" panose="020B0604030602030204" pitchFamily="34" charset="0"/>
                        </a:rPr>
                        <a:t>Rischio di evasione (difficiltà a controllare tutti i dettaglianti)</a:t>
                      </a:r>
                    </a:p>
                    <a:p>
                      <a:pPr marL="285750" indent="-285750">
                        <a:buFont typeface="Arial" panose="020B0604020202020204" pitchFamily="34" charset="0"/>
                        <a:buChar char="•"/>
                      </a:pPr>
                      <a:r>
                        <a:rPr lang="en-US" altLang="en-US" sz="1400">
                          <a:latin typeface="Ubuntu" panose="020B0604030602030204" pitchFamily="34" charset="0"/>
                          <a:cs typeface="Ubuntu" panose="020B0604030602030204" pitchFamily="34" charset="0"/>
                        </a:rPr>
                        <a:t>Rischio di inefficienza/iniquità (se applicata dal produttore)</a:t>
                      </a:r>
                    </a:p>
                    <a:p>
                      <a:pPr marL="285750" indent="-285750">
                        <a:buFont typeface="Arial" panose="020B0604020202020204" pitchFamily="34" charset="0"/>
                        <a:buChar char="•"/>
                      </a:pPr>
                      <a:r>
                        <a:rPr lang="en-US" altLang="en-US" sz="1400">
                          <a:latin typeface="Ubuntu" panose="020B0604030602030204" pitchFamily="34" charset="0"/>
                          <a:cs typeface="Ubuntu" panose="020B0604030602030204" pitchFamily="34" charset="0"/>
                        </a:rPr>
                        <a:t>Ritardo nel gettito (se applicato dal dettagliante)</a:t>
                      </a:r>
                    </a:p>
                  </a:txBody>
                  <a:tcPr/>
                </a:tc>
                <a:extLst>
                  <a:ext uri="{0D108BD9-81ED-4DB2-BD59-A6C34878D82A}">
                    <a16:rowId xmlns:a16="http://schemas.microsoft.com/office/drawing/2014/main" val="10001"/>
                  </a:ext>
                </a:extLst>
              </a:tr>
            </a:tbl>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3092450" y="98425"/>
            <a:ext cx="6015038" cy="944563"/>
          </a:xfrm>
          <a:prstGeom prst="rect">
            <a:avLst/>
          </a:prstGeom>
          <a:noFill/>
          <a:ln>
            <a:noFill/>
          </a:ln>
        </p:spPr>
        <p:style>
          <a:lnRef idx="0">
            <a:scrgbClr r="0" g="0" b="0"/>
          </a:lnRef>
          <a:fillRef idx="0">
            <a:scrgbClr r="0" g="0" b="0"/>
          </a:fillRef>
          <a:effectRef idx="0">
            <a:scrgbClr r="0" g="0" b="0"/>
          </a:effectRef>
          <a:fontRef idx="minor"/>
        </p:style>
        <p:txBody>
          <a:bodyPr anchor="ctr"/>
          <a:lstStyle/>
          <a:p>
            <a:pPr algn="ctr" fontAlgn="auto"/>
            <a:r>
              <a:rPr lang="en-US" altLang="en-US" sz="2800" b="1" i="1" spc="-1" noProof="1">
                <a:solidFill>
                  <a:srgbClr val="FFFFFF"/>
                </a:solidFill>
                <a:latin typeface="Ubuntu" panose="020B0604030602030204"/>
                <a:ea typeface="Ubuntu" panose="020B0604030602030204"/>
              </a:rPr>
              <a:t>Tax design (3)</a:t>
            </a:r>
          </a:p>
        </p:txBody>
      </p:sp>
      <p:sp>
        <p:nvSpPr>
          <p:cNvPr id="120" name="CustomShape 2"/>
          <p:cNvSpPr/>
          <p:nvPr/>
        </p:nvSpPr>
        <p:spPr>
          <a:xfrm>
            <a:off x="6553200" y="6486525"/>
            <a:ext cx="2443163" cy="371475"/>
          </a:xfrm>
          <a:prstGeom prst="rect">
            <a:avLst/>
          </a:prstGeom>
          <a:noFill/>
          <a:ln>
            <a:noFill/>
          </a:ln>
        </p:spPr>
        <p:style>
          <a:lnRef idx="0">
            <a:scrgbClr r="0" g="0" b="0"/>
          </a:lnRef>
          <a:fillRef idx="0">
            <a:scrgbClr r="0" g="0" b="0"/>
          </a:fillRef>
          <a:effectRef idx="0">
            <a:scrgbClr r="0" g="0" b="0"/>
          </a:effectRef>
          <a:fontRef idx="minor"/>
        </p:style>
        <p:txBody>
          <a:bodyPr anchor="ctr"/>
          <a:lstStyle/>
          <a:p>
            <a:pPr algn="r"/>
            <a:fld id="{6BAE8D2F-D11B-4F30-B5CB-8E6291C446CD}" type="slidenum">
              <a:rPr lang="it-IT" altLang="en-US" sz="1200">
                <a:solidFill>
                  <a:srgbClr val="FFFFFF"/>
                </a:solidFill>
                <a:latin typeface="Ubuntu" panose="020B0604030602030204" pitchFamily="34" charset="0"/>
                <a:ea typeface="Ubuntu" panose="020B0604030602030204" pitchFamily="34" charset="0"/>
                <a:cs typeface="Ubuntu" panose="020B0604030602030204" pitchFamily="34" charset="0"/>
              </a:rPr>
              <a:t>13</a:t>
            </a:fld>
            <a:endParaRPr lang="it-IT" altLang="en-US" sz="1200"/>
          </a:p>
        </p:txBody>
      </p:sp>
      <p:sp>
        <p:nvSpPr>
          <p:cNvPr id="121" name="CustomShape 3"/>
          <p:cNvSpPr/>
          <p:nvPr/>
        </p:nvSpPr>
        <p:spPr>
          <a:xfrm>
            <a:off x="533400" y="968375"/>
            <a:ext cx="8153400" cy="457200"/>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 name="CustomShape 4"/>
          <p:cNvSpPr/>
          <p:nvPr/>
        </p:nvSpPr>
        <p:spPr>
          <a:xfrm>
            <a:off x="147638" y="1268413"/>
            <a:ext cx="8848725" cy="521811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154800"/>
          <a:lstStyle/>
          <a:p>
            <a:pPr marL="571500" lvl="1" fontAlgn="auto">
              <a:lnSpc>
                <a:spcPct val="115000"/>
              </a:lnSpc>
              <a:spcBef>
                <a:spcPts val="600"/>
              </a:spcBef>
              <a:buClr>
                <a:srgbClr val="000000"/>
              </a:buClr>
              <a:buFont typeface="Arial" panose="020B0604020202020204" pitchFamily="34" charset="0"/>
              <a:buNone/>
            </a:pPr>
            <a:endParaRPr lang="en-US" altLang="en-US" sz="1200" spc="-1" noProof="1">
              <a:solidFill>
                <a:srgbClr val="000000"/>
              </a:solidFill>
              <a:latin typeface="Ubuntu" panose="020B0604030602030204"/>
              <a:ea typeface="Ubuntu" panose="020B0604030602030204"/>
              <a:sym typeface="+mn-ea"/>
            </a:endParaRPr>
          </a:p>
        </p:txBody>
      </p:sp>
      <p:sp>
        <p:nvSpPr>
          <p:cNvPr id="6" name="Text Box 5"/>
          <p:cNvSpPr txBox="1"/>
          <p:nvPr/>
        </p:nvSpPr>
        <p:spPr>
          <a:xfrm>
            <a:off x="538163" y="1425575"/>
            <a:ext cx="8148637" cy="4973669"/>
          </a:xfrm>
          <a:prstGeom prst="rect">
            <a:avLst/>
          </a:prstGeom>
          <a:noFill/>
        </p:spPr>
        <p:txBody>
          <a:bodyPr>
            <a:spAutoFit/>
          </a:bodyPr>
          <a:lstStyle>
            <a:lvl1pPr marL="114300">
              <a:defRPr>
                <a:solidFill>
                  <a:schemeClr val="tx1"/>
                </a:solidFill>
                <a:latin typeface="Arial" panose="020B0604020202020204" pitchFamily="34" charset="0"/>
                <a:ea typeface="DejaVu Sans" panose="020B0603030804020204"/>
                <a:cs typeface="DejaVu Sans" panose="020B0603030804020204"/>
              </a:defRPr>
            </a:lvl1pPr>
            <a:lvl2pPr>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lgn="ctr">
              <a:lnSpc>
                <a:spcPct val="115000"/>
              </a:lnSpc>
              <a:spcBef>
                <a:spcPts val="600"/>
              </a:spcBef>
              <a:buFont typeface="Arial" panose="020B0604020202020204" pitchFamily="34" charset="0"/>
              <a:buNone/>
            </a:pPr>
            <a:r>
              <a:rPr lang="en-US"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Regime </a:t>
            </a:r>
            <a:r>
              <a:rPr lang="it-IT"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plurifase (base da base)</a:t>
            </a:r>
            <a:endParaRPr lang="en-US" altLang="en-US" sz="1400" b="1" dirty="0">
              <a:solidFill>
                <a:srgbClr val="000000"/>
              </a:solidFill>
              <a:latin typeface="Ubuntu" panose="020B0604030602030204" pitchFamily="34" charset="0"/>
              <a:ea typeface="Ubuntu" panose="020B0604030602030204" pitchFamily="34" charset="0"/>
              <a:cs typeface="Ubuntu" panose="020B0604030602030204" pitchFamily="34" charset="0"/>
            </a:endParaRPr>
          </a:p>
          <a:p>
            <a:endParaRPr lang="en-US" altLang="zh-CN" sz="1400" dirty="0">
              <a:latin typeface="Ubuntu" panose="020B0604030602030204" pitchFamily="34" charset="0"/>
            </a:endParaRPr>
          </a:p>
          <a:p>
            <a:r>
              <a:rPr lang="en-US" altLang="en-US" sz="1400" dirty="0" err="1">
                <a:latin typeface="Ubuntu" panose="020B0604030602030204" pitchFamily="34" charset="0"/>
              </a:rPr>
              <a:t>L’imposta</a:t>
            </a:r>
            <a:r>
              <a:rPr lang="en-US" altLang="en-US" sz="1400" dirty="0">
                <a:latin typeface="Ubuntu" panose="020B0604030602030204" pitchFamily="34" charset="0"/>
              </a:rPr>
              <a:t> </a:t>
            </a:r>
            <a:r>
              <a:rPr lang="en-US" altLang="en-US" sz="1400" dirty="0" err="1">
                <a:latin typeface="Ubuntu" panose="020B0604030602030204" pitchFamily="34" charset="0"/>
              </a:rPr>
              <a:t>viene</a:t>
            </a:r>
            <a:r>
              <a:rPr lang="en-US" altLang="en-US" sz="1400" dirty="0">
                <a:latin typeface="Ubuntu" panose="020B0604030602030204" pitchFamily="34" charset="0"/>
              </a:rPr>
              <a:t> </a:t>
            </a:r>
            <a:r>
              <a:rPr lang="en-US" altLang="en-US" sz="1400" dirty="0" err="1">
                <a:latin typeface="Ubuntu" panose="020B0604030602030204" pitchFamily="34" charset="0"/>
              </a:rPr>
              <a:t>applicata</a:t>
            </a:r>
            <a:r>
              <a:rPr lang="en-US" altLang="en-US" sz="1400" dirty="0">
                <a:latin typeface="Ubuntu" panose="020B0604030602030204" pitchFamily="34" charset="0"/>
              </a:rPr>
              <a:t> </a:t>
            </a:r>
            <a:r>
              <a:rPr lang="en-US" altLang="en-US" sz="1400" dirty="0" err="1">
                <a:latin typeface="Ubuntu" panose="020B0604030602030204" pitchFamily="34" charset="0"/>
              </a:rPr>
              <a:t>sul</a:t>
            </a:r>
            <a:r>
              <a:rPr lang="it-IT" altLang="en-US" sz="1400" dirty="0">
                <a:latin typeface="Ubuntu" panose="020B0604030602030204" pitchFamily="34" charset="0"/>
              </a:rPr>
              <a:t>la differenza tra corrispettivi lordi ed acquisti lordi e viene quindi “scorporata” dal margine.</a:t>
            </a:r>
          </a:p>
          <a:p>
            <a:pPr marL="400050" indent="-285750">
              <a:buFont typeface="Arial" panose="020B0604020202020204" pitchFamily="34" charset="0"/>
              <a:buChar char="•"/>
            </a:pPr>
            <a:r>
              <a:rPr lang="it-IT" altLang="en-US" sz="1400" dirty="0">
                <a:latin typeface="Ubuntu" panose="020B0604030602030204" pitchFamily="34" charset="0"/>
              </a:rPr>
              <a:t>L’imposta viene “frazionata” lungo la catena del valore (minori rischi di evasione; riscossione tendenzialmente coerente con la fase di creazione del valore aggiunto);</a:t>
            </a:r>
          </a:p>
          <a:p>
            <a:pPr marL="400050" indent="-285750">
              <a:buFont typeface="Arial" panose="020B0604020202020204" pitchFamily="34" charset="0"/>
              <a:buChar char="•"/>
            </a:pPr>
            <a:r>
              <a:rPr lang="it-IT" altLang="en-US" sz="1400" dirty="0">
                <a:latin typeface="Ubuntu" panose="020B0604030602030204" pitchFamily="34" charset="0"/>
              </a:rPr>
              <a:t>se vi sono aliquote diverse, il prezzo al </a:t>
            </a:r>
            <a:r>
              <a:rPr lang="it-IT" altLang="en-US" sz="1400" dirty="0" err="1">
                <a:latin typeface="Ubuntu" panose="020B0604030602030204" pitchFamily="34" charset="0"/>
              </a:rPr>
              <a:t>consumetore</a:t>
            </a:r>
            <a:r>
              <a:rPr lang="it-IT" altLang="en-US" sz="1400" dirty="0">
                <a:latin typeface="Ubuntu" panose="020B0604030602030204" pitchFamily="34" charset="0"/>
              </a:rPr>
              <a:t> finale potrebbe non essere determinabile a priori, dipendendo dall’articolazione dei diversi stadi e dalla ripartizione del valore aggiunto;</a:t>
            </a:r>
          </a:p>
          <a:p>
            <a:pPr marL="400050" indent="-285750">
              <a:buFont typeface="Arial" panose="020B0604020202020204" pitchFamily="34" charset="0"/>
              <a:buChar char="•"/>
            </a:pPr>
            <a:r>
              <a:rPr lang="it-IT" altLang="en-US" sz="1400" dirty="0">
                <a:latin typeface="Ubuntu" panose="020B0604030602030204" pitchFamily="34" charset="0"/>
              </a:rPr>
              <a:t>l’imposta potrebbe non essere neutrale rispetto alle scelte organizzative delle imprese.</a:t>
            </a:r>
          </a:p>
          <a:p>
            <a:endParaRPr lang="en-US" altLang="en-US" sz="1400" dirty="0">
              <a:latin typeface="Ubuntu" panose="020B0604030602030204" pitchFamily="34" charset="0"/>
            </a:endParaRPr>
          </a:p>
          <a:p>
            <a:endParaRPr lang="en-US" altLang="en-US" sz="1400" dirty="0">
              <a:latin typeface="Ubuntu" panose="020B0604030602030204" pitchFamily="34" charset="0"/>
            </a:endParaRPr>
          </a:p>
          <a:p>
            <a:pPr algn="ctr">
              <a:lnSpc>
                <a:spcPct val="115000"/>
              </a:lnSpc>
              <a:spcBef>
                <a:spcPts val="600"/>
              </a:spcBef>
              <a:buFont typeface="Arial" panose="020B0604020202020204" pitchFamily="34" charset="0"/>
              <a:buNone/>
            </a:pPr>
            <a:r>
              <a:rPr lang="en-US"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Regime </a:t>
            </a:r>
            <a:r>
              <a:rPr lang="en-US" altLang="en-US" sz="1400" b="1" u="sng" dirty="0" err="1">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plurifase</a:t>
            </a:r>
            <a:r>
              <a:rPr lang="en-US"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 (</a:t>
            </a:r>
            <a:r>
              <a:rPr lang="it-IT"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imposta </a:t>
            </a:r>
            <a:r>
              <a:rPr lang="en-US"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da </a:t>
            </a:r>
            <a:r>
              <a:rPr lang="it-IT"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imposta</a:t>
            </a:r>
            <a:r>
              <a:rPr lang="en-US" altLang="en-US" sz="1400" b="1" u="sng" dirty="0">
                <a:solidFill>
                  <a:srgbClr val="000000"/>
                </a:solidFill>
                <a:latin typeface="Ubuntu" panose="020B0604030602030204" pitchFamily="34" charset="0"/>
                <a:ea typeface="Ubuntu" panose="020B0604030602030204" pitchFamily="34" charset="0"/>
                <a:cs typeface="Ubuntu" panose="020B0604030602030204" pitchFamily="34" charset="0"/>
                <a:sym typeface="DejaVu Sans" panose="020B0603030804020204"/>
              </a:rPr>
              <a:t>)</a:t>
            </a:r>
            <a:endParaRPr lang="en-US" altLang="en-US" sz="1400" b="1" dirty="0">
              <a:solidFill>
                <a:srgbClr val="000000"/>
              </a:solidFill>
              <a:latin typeface="Ubuntu" panose="020B0604030602030204" pitchFamily="34" charset="0"/>
              <a:ea typeface="Ubuntu" panose="020B0604030602030204" pitchFamily="34" charset="0"/>
              <a:cs typeface="Ubuntu" panose="020B0604030602030204" pitchFamily="34" charset="0"/>
            </a:endParaRPr>
          </a:p>
          <a:p>
            <a:endParaRPr lang="en-US" altLang="zh-CN" sz="1400" dirty="0">
              <a:latin typeface="Ubuntu" panose="020B0604030602030204" pitchFamily="34" charset="0"/>
            </a:endParaRPr>
          </a:p>
          <a:p>
            <a:r>
              <a:rPr lang="en-US" altLang="en-US" sz="1400" dirty="0" err="1">
                <a:latin typeface="Ubuntu" panose="020B0604030602030204" pitchFamily="34" charset="0"/>
              </a:rPr>
              <a:t>L’imposta</a:t>
            </a:r>
            <a:r>
              <a:rPr lang="en-US" altLang="en-US" sz="1400" dirty="0">
                <a:latin typeface="Ubuntu" panose="020B0604030602030204" pitchFamily="34" charset="0"/>
              </a:rPr>
              <a:t> </a:t>
            </a:r>
            <a:r>
              <a:rPr lang="en-US" altLang="en-US" sz="1400" dirty="0" err="1">
                <a:latin typeface="Ubuntu" panose="020B0604030602030204" pitchFamily="34" charset="0"/>
              </a:rPr>
              <a:t>viene</a:t>
            </a:r>
            <a:r>
              <a:rPr lang="en-US" altLang="en-US" sz="1400" dirty="0">
                <a:latin typeface="Ubuntu" panose="020B0604030602030204" pitchFamily="34" charset="0"/>
              </a:rPr>
              <a:t> </a:t>
            </a:r>
            <a:r>
              <a:rPr lang="en-US" altLang="en-US" sz="1400" dirty="0" err="1">
                <a:latin typeface="Ubuntu" panose="020B0604030602030204" pitchFamily="34" charset="0"/>
              </a:rPr>
              <a:t>applicata</a:t>
            </a:r>
            <a:r>
              <a:rPr lang="en-US" altLang="en-US" sz="1400" dirty="0">
                <a:latin typeface="Ubuntu" panose="020B0604030602030204" pitchFamily="34" charset="0"/>
              </a:rPr>
              <a:t> </a:t>
            </a:r>
            <a:r>
              <a:rPr lang="en-US" altLang="en-US" sz="1400" dirty="0" err="1">
                <a:latin typeface="Ubuntu" panose="020B0604030602030204" pitchFamily="34" charset="0"/>
              </a:rPr>
              <a:t>sul</a:t>
            </a:r>
            <a:r>
              <a:rPr lang="en-US" altLang="en-US" sz="1400" dirty="0">
                <a:latin typeface="Ubuntu" panose="020B0604030602030204" pitchFamily="34" charset="0"/>
              </a:rPr>
              <a:t> </a:t>
            </a:r>
            <a:r>
              <a:rPr lang="en-US" altLang="en-US" sz="1400" dirty="0" err="1">
                <a:latin typeface="Ubuntu" panose="020B0604030602030204" pitchFamily="34" charset="0"/>
              </a:rPr>
              <a:t>corrispettivo</a:t>
            </a:r>
            <a:r>
              <a:rPr lang="en-US" altLang="en-US" sz="1400" dirty="0">
                <a:latin typeface="Ubuntu" panose="020B0604030602030204" pitchFamily="34" charset="0"/>
              </a:rPr>
              <a:t> di volta in volta </a:t>
            </a:r>
            <a:r>
              <a:rPr lang="en-US" altLang="en-US" sz="1400" dirty="0" err="1">
                <a:latin typeface="Ubuntu" panose="020B0604030602030204" pitchFamily="34" charset="0"/>
              </a:rPr>
              <a:t>applicato</a:t>
            </a:r>
            <a:r>
              <a:rPr lang="en-US" altLang="en-US" sz="1400" dirty="0">
                <a:latin typeface="Ubuntu" panose="020B0604030602030204" pitchFamily="34" charset="0"/>
              </a:rPr>
              <a:t> in </a:t>
            </a:r>
            <a:r>
              <a:rPr lang="en-US" altLang="en-US" sz="1400" dirty="0" err="1">
                <a:latin typeface="Ubuntu" panose="020B0604030602030204" pitchFamily="34" charset="0"/>
              </a:rPr>
              <a:t>ciascuna</a:t>
            </a:r>
            <a:r>
              <a:rPr lang="en-US" altLang="en-US" sz="1400" dirty="0">
                <a:latin typeface="Ubuntu" panose="020B0604030602030204" pitchFamily="34" charset="0"/>
              </a:rPr>
              <a:t> </a:t>
            </a:r>
            <a:r>
              <a:rPr lang="en-US" altLang="en-US" sz="1400" dirty="0" err="1">
                <a:latin typeface="Ubuntu" panose="020B0604030602030204" pitchFamily="34" charset="0"/>
              </a:rPr>
              <a:t>fase</a:t>
            </a:r>
            <a:r>
              <a:rPr lang="en-US" altLang="en-US" sz="1400" dirty="0">
                <a:latin typeface="Ubuntu" panose="020B0604030602030204" pitchFamily="34" charset="0"/>
              </a:rPr>
              <a:t> (15; 40; 50) da </a:t>
            </a:r>
            <a:r>
              <a:rPr lang="en-US" altLang="en-US" sz="1400" dirty="0" err="1">
                <a:latin typeface="Ubuntu" panose="020B0604030602030204" pitchFamily="34" charset="0"/>
              </a:rPr>
              <a:t>ciascun</a:t>
            </a:r>
            <a:r>
              <a:rPr lang="en-US" altLang="en-US" sz="1400" dirty="0">
                <a:latin typeface="Ubuntu" panose="020B0604030602030204" pitchFamily="34" charset="0"/>
              </a:rPr>
              <a:t> </a:t>
            </a:r>
            <a:r>
              <a:rPr lang="en-US" altLang="en-US" sz="1400" dirty="0" err="1">
                <a:latin typeface="Ubuntu" panose="020B0604030602030204" pitchFamily="34" charset="0"/>
              </a:rPr>
              <a:t>operatore</a:t>
            </a:r>
            <a:r>
              <a:rPr lang="en-US" altLang="en-US" sz="1400" dirty="0">
                <a:latin typeface="Ubuntu" panose="020B0604030602030204" pitchFamily="34" charset="0"/>
              </a:rPr>
              <a:t> </a:t>
            </a:r>
            <a:r>
              <a:rPr lang="it-IT" altLang="en-US" sz="1400" dirty="0">
                <a:latin typeface="Ubuntu" panose="020B0604030602030204" pitchFamily="34" charset="0"/>
              </a:rPr>
              <a:t>economico, che detrae l’imposta assolta sugli acquisti</a:t>
            </a:r>
            <a:r>
              <a:rPr lang="en-US" altLang="en-US" sz="1400" dirty="0">
                <a:latin typeface="Ubuntu" panose="020B0604030602030204" pitchFamily="34" charset="0"/>
              </a:rPr>
              <a:t>.</a:t>
            </a:r>
          </a:p>
          <a:p>
            <a:pPr marL="400050" indent="-285750">
              <a:buFont typeface="Arial" panose="020B0604020202020204" pitchFamily="34" charset="0"/>
              <a:buChar char="•"/>
            </a:pPr>
            <a:r>
              <a:rPr lang="en-US" altLang="en-US" sz="1400" dirty="0" err="1">
                <a:latin typeface="Ubuntu" panose="020B0604030602030204" pitchFamily="34" charset="0"/>
              </a:rPr>
              <a:t>L’imposta</a:t>
            </a:r>
            <a:r>
              <a:rPr lang="en-US" altLang="en-US" sz="1400" dirty="0">
                <a:latin typeface="Ubuntu" panose="020B0604030602030204" pitchFamily="34" charset="0"/>
              </a:rPr>
              <a:t> </a:t>
            </a:r>
            <a:r>
              <a:rPr lang="en-US" altLang="en-US" sz="1400" dirty="0" err="1">
                <a:latin typeface="Ubuntu" panose="020B0604030602030204" pitchFamily="34" charset="0"/>
              </a:rPr>
              <a:t>viene</a:t>
            </a:r>
            <a:r>
              <a:rPr lang="en-US" altLang="en-US" sz="1400" dirty="0">
                <a:latin typeface="Ubuntu" panose="020B0604030602030204" pitchFamily="34" charset="0"/>
              </a:rPr>
              <a:t> “</a:t>
            </a:r>
            <a:r>
              <a:rPr lang="en-US" altLang="en-US" sz="1400" dirty="0" err="1">
                <a:latin typeface="Ubuntu" panose="020B0604030602030204" pitchFamily="34" charset="0"/>
              </a:rPr>
              <a:t>frazionata</a:t>
            </a:r>
            <a:r>
              <a:rPr lang="en-US" altLang="en-US" sz="1400" dirty="0">
                <a:latin typeface="Ubuntu" panose="020B0604030602030204" pitchFamily="34" charset="0"/>
              </a:rPr>
              <a:t>” </a:t>
            </a:r>
            <a:r>
              <a:rPr lang="en-US" altLang="en-US" sz="1400" dirty="0" err="1">
                <a:latin typeface="Ubuntu" panose="020B0604030602030204" pitchFamily="34" charset="0"/>
              </a:rPr>
              <a:t>lungo</a:t>
            </a:r>
            <a:r>
              <a:rPr lang="en-US" altLang="en-US" sz="1400" dirty="0">
                <a:latin typeface="Ubuntu" panose="020B0604030602030204" pitchFamily="34" charset="0"/>
              </a:rPr>
              <a:t> la catena del </a:t>
            </a:r>
            <a:r>
              <a:rPr lang="en-US" altLang="en-US" sz="1400" dirty="0" err="1">
                <a:latin typeface="Ubuntu" panose="020B0604030602030204" pitchFamily="34" charset="0"/>
              </a:rPr>
              <a:t>valore</a:t>
            </a:r>
            <a:r>
              <a:rPr lang="en-US" altLang="en-US" sz="1400" dirty="0">
                <a:latin typeface="Ubuntu" panose="020B0604030602030204" pitchFamily="34" charset="0"/>
              </a:rPr>
              <a:t> (</a:t>
            </a:r>
            <a:r>
              <a:rPr lang="en-US" altLang="en-US" sz="1400" dirty="0" err="1">
                <a:latin typeface="Ubuntu" panose="020B0604030602030204" pitchFamily="34" charset="0"/>
              </a:rPr>
              <a:t>minori</a:t>
            </a:r>
            <a:r>
              <a:rPr lang="en-US" altLang="en-US" sz="1400" dirty="0">
                <a:latin typeface="Ubuntu" panose="020B0604030602030204" pitchFamily="34" charset="0"/>
              </a:rPr>
              <a:t> </a:t>
            </a:r>
            <a:r>
              <a:rPr lang="en-US" altLang="en-US" sz="1400" dirty="0" err="1">
                <a:latin typeface="Ubuntu" panose="020B0604030602030204" pitchFamily="34" charset="0"/>
              </a:rPr>
              <a:t>rischi</a:t>
            </a:r>
            <a:r>
              <a:rPr lang="en-US" altLang="en-US" sz="1400" dirty="0">
                <a:latin typeface="Ubuntu" panose="020B0604030602030204" pitchFamily="34" charset="0"/>
              </a:rPr>
              <a:t> di </a:t>
            </a:r>
            <a:r>
              <a:rPr lang="en-US" altLang="en-US" sz="1400" dirty="0" err="1">
                <a:latin typeface="Ubuntu" panose="020B0604030602030204" pitchFamily="34" charset="0"/>
              </a:rPr>
              <a:t>evasione</a:t>
            </a:r>
            <a:r>
              <a:rPr lang="en-US" altLang="en-US" sz="1400" dirty="0">
                <a:latin typeface="Ubuntu" panose="020B0604030602030204" pitchFamily="34" charset="0"/>
              </a:rPr>
              <a:t>; </a:t>
            </a:r>
            <a:r>
              <a:rPr lang="en-US" altLang="en-US" sz="1400" dirty="0" err="1">
                <a:latin typeface="Ubuntu" panose="020B0604030602030204" pitchFamily="34" charset="0"/>
              </a:rPr>
              <a:t>riscossione</a:t>
            </a:r>
            <a:r>
              <a:rPr lang="en-US" altLang="en-US" sz="1400" dirty="0">
                <a:latin typeface="Ubuntu" panose="020B0604030602030204" pitchFamily="34" charset="0"/>
              </a:rPr>
              <a:t> </a:t>
            </a:r>
            <a:r>
              <a:rPr lang="en-US" altLang="en-US" sz="1400" dirty="0" err="1">
                <a:latin typeface="Ubuntu" panose="020B0604030602030204" pitchFamily="34" charset="0"/>
              </a:rPr>
              <a:t>tendenzialmente</a:t>
            </a:r>
            <a:r>
              <a:rPr lang="en-US" altLang="en-US" sz="1400" dirty="0">
                <a:latin typeface="Ubuntu" panose="020B0604030602030204" pitchFamily="34" charset="0"/>
              </a:rPr>
              <a:t> </a:t>
            </a:r>
            <a:r>
              <a:rPr lang="en-US" altLang="en-US" sz="1400" dirty="0" err="1">
                <a:latin typeface="Ubuntu" panose="020B0604030602030204" pitchFamily="34" charset="0"/>
              </a:rPr>
              <a:t>coerente</a:t>
            </a:r>
            <a:r>
              <a:rPr lang="en-US" altLang="en-US" sz="1400" dirty="0">
                <a:latin typeface="Ubuntu" panose="020B0604030602030204" pitchFamily="34" charset="0"/>
              </a:rPr>
              <a:t> con la </a:t>
            </a:r>
            <a:r>
              <a:rPr lang="en-US" altLang="en-US" sz="1400" dirty="0" err="1">
                <a:latin typeface="Ubuntu" panose="020B0604030602030204" pitchFamily="34" charset="0"/>
              </a:rPr>
              <a:t>fase</a:t>
            </a:r>
            <a:r>
              <a:rPr lang="en-US" altLang="en-US" sz="1400" dirty="0">
                <a:latin typeface="Ubuntu" panose="020B0604030602030204" pitchFamily="34" charset="0"/>
              </a:rPr>
              <a:t> di </a:t>
            </a:r>
            <a:r>
              <a:rPr lang="en-US" altLang="en-US" sz="1400" dirty="0" err="1">
                <a:latin typeface="Ubuntu" panose="020B0604030602030204" pitchFamily="34" charset="0"/>
              </a:rPr>
              <a:t>creazione</a:t>
            </a:r>
            <a:r>
              <a:rPr lang="en-US" altLang="en-US" sz="1400" dirty="0">
                <a:latin typeface="Ubuntu" panose="020B0604030602030204" pitchFamily="34" charset="0"/>
              </a:rPr>
              <a:t> del </a:t>
            </a:r>
            <a:r>
              <a:rPr lang="en-US" altLang="en-US" sz="1400" dirty="0" err="1">
                <a:latin typeface="Ubuntu" panose="020B0604030602030204" pitchFamily="34" charset="0"/>
              </a:rPr>
              <a:t>valore</a:t>
            </a:r>
            <a:r>
              <a:rPr lang="en-US" altLang="en-US" sz="1400" dirty="0">
                <a:latin typeface="Ubuntu" panose="020B0604030602030204" pitchFamily="34" charset="0"/>
              </a:rPr>
              <a:t> </a:t>
            </a:r>
            <a:r>
              <a:rPr lang="en-US" altLang="en-US" sz="1400" dirty="0" err="1">
                <a:latin typeface="Ubuntu" panose="020B0604030602030204" pitchFamily="34" charset="0"/>
              </a:rPr>
              <a:t>aggiunto</a:t>
            </a:r>
            <a:r>
              <a:rPr lang="en-US" altLang="en-US" sz="1400" dirty="0">
                <a:latin typeface="Ubuntu" panose="020B0604030602030204" pitchFamily="34" charset="0"/>
              </a:rPr>
              <a:t>);</a:t>
            </a:r>
          </a:p>
          <a:p>
            <a:pPr marL="400050" indent="-285750">
              <a:buFont typeface="Arial" panose="020B0604020202020204" pitchFamily="34" charset="0"/>
              <a:buChar char="•"/>
            </a:pPr>
            <a:r>
              <a:rPr lang="en-US" altLang="en-US" sz="1400" dirty="0">
                <a:latin typeface="Ubuntu" panose="020B0604030602030204" pitchFamily="34" charset="0"/>
              </a:rPr>
              <a:t>il </a:t>
            </a:r>
            <a:r>
              <a:rPr lang="en-US" altLang="en-US" sz="1400" dirty="0" err="1">
                <a:latin typeface="Ubuntu" panose="020B0604030602030204" pitchFamily="34" charset="0"/>
              </a:rPr>
              <a:t>prezzo</a:t>
            </a:r>
            <a:r>
              <a:rPr lang="en-US" altLang="en-US" sz="1400" dirty="0">
                <a:latin typeface="Ubuntu" panose="020B0604030602030204" pitchFamily="34" charset="0"/>
              </a:rPr>
              <a:t> al </a:t>
            </a:r>
            <a:r>
              <a:rPr lang="en-US" altLang="en-US" sz="1400" dirty="0" err="1">
                <a:latin typeface="Ubuntu" panose="020B0604030602030204" pitchFamily="34" charset="0"/>
              </a:rPr>
              <a:t>consumetore</a:t>
            </a:r>
            <a:r>
              <a:rPr lang="en-US" altLang="en-US" sz="1400" dirty="0">
                <a:latin typeface="Ubuntu" panose="020B0604030602030204" pitchFamily="34" charset="0"/>
              </a:rPr>
              <a:t> finale è </a:t>
            </a:r>
            <a:r>
              <a:rPr lang="en-US" altLang="en-US" sz="1400" dirty="0" err="1">
                <a:latin typeface="Ubuntu" panose="020B0604030602030204" pitchFamily="34" charset="0"/>
              </a:rPr>
              <a:t>determinabile</a:t>
            </a:r>
            <a:r>
              <a:rPr lang="en-US" altLang="en-US" sz="1400" dirty="0">
                <a:latin typeface="Ubuntu" panose="020B0604030602030204" pitchFamily="34" charset="0"/>
              </a:rPr>
              <a:t> a priori </a:t>
            </a:r>
            <a:r>
              <a:rPr lang="it-IT" altLang="en-US" sz="1400" dirty="0">
                <a:latin typeface="Ubuntu" panose="020B0604030602030204" pitchFamily="34" charset="0"/>
              </a:rPr>
              <a:t>(l’imposta è proporzionale al corrispettivo)</a:t>
            </a:r>
            <a:r>
              <a:rPr lang="en-US" altLang="en-US" sz="1400" dirty="0">
                <a:latin typeface="Ubuntu" panose="020B0604030602030204" pitchFamily="34" charset="0"/>
              </a:rPr>
              <a:t>;</a:t>
            </a:r>
          </a:p>
          <a:p>
            <a:pPr marL="400050" indent="-285750">
              <a:buFont typeface="Arial" panose="020B0604020202020204" pitchFamily="34" charset="0"/>
              <a:buChar char="•"/>
            </a:pPr>
            <a:r>
              <a:rPr lang="it-IT" altLang="en-US" sz="1400" dirty="0">
                <a:latin typeface="Ubuntu" panose="020B0604030602030204" pitchFamily="34" charset="0"/>
              </a:rPr>
              <a:t>semplicità di calcolo e trasparenza;</a:t>
            </a:r>
          </a:p>
          <a:p>
            <a:pPr marL="400050" indent="-285750">
              <a:buFont typeface="Arial" panose="020B0604020202020204" pitchFamily="34" charset="0"/>
              <a:buChar char="•"/>
            </a:pPr>
            <a:r>
              <a:rPr lang="it-IT" altLang="en-US" sz="1400" dirty="0">
                <a:latin typeface="Ubuntu" panose="020B0604030602030204" pitchFamily="34" charset="0"/>
              </a:rPr>
              <a:t>contrasto di interessi (l’Iva assolta sugli acquisti può essere detratta nella successiva fase)</a:t>
            </a:r>
            <a:endParaRPr lang="en-US" altLang="zh-CN" sz="1400" dirty="0">
              <a:latin typeface="Ubuntu" panose="020B060403060203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Funzionamento del «sistema IVA»</a:t>
            </a:r>
            <a:endParaRPr lang="it-IT" sz="2800" spc="-1" noProof="1"/>
          </a:p>
        </p:txBody>
      </p:sp>
      <p:sp>
        <p:nvSpPr>
          <p:cNvPr id="162"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63" name="CustomShape 3"/>
          <p:cNvSpPr/>
          <p:nvPr/>
        </p:nvSpPr>
        <p:spPr>
          <a:xfrm>
            <a:off x="592138" y="1452563"/>
            <a:ext cx="8093075" cy="509587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fontAlgn="auto"/>
            <a:r>
              <a:rPr lang="it-IT" sz="1600" spc="-1" noProof="1">
                <a:solidFill>
                  <a:srgbClr val="000000"/>
                </a:solidFill>
                <a:latin typeface="Tahoma"/>
              </a:rPr>
              <a:t>L'Iva è un'imposta periodica: ai fini della determinazione dell'imposta dovuta dal soggetto passivo e da versare all'Erario, viene in evidenza l'attività economica svolta nel corso dell'</a:t>
            </a:r>
            <a:r>
              <a:rPr lang="it-IT" sz="1600" b="1" spc="-1" noProof="1">
                <a:solidFill>
                  <a:srgbClr val="004586"/>
                </a:solidFill>
                <a:latin typeface="Tahoma"/>
              </a:rPr>
              <a:t>anno solare</a:t>
            </a:r>
            <a:r>
              <a:rPr lang="it-IT" sz="1600" spc="-1" noProof="1">
                <a:solidFill>
                  <a:srgbClr val="000000"/>
                </a:solidFill>
                <a:latin typeface="Tahoma"/>
              </a:rPr>
              <a:t>.</a:t>
            </a:r>
            <a:endParaRPr lang="it-IT" sz="1600" spc="-1" noProof="1"/>
          </a:p>
          <a:p>
            <a:pPr fontAlgn="auto"/>
            <a:r>
              <a:rPr lang="it-IT" sz="1600" spc="-1" noProof="1">
                <a:solidFill>
                  <a:srgbClr val="000000"/>
                </a:solidFill>
                <a:latin typeface="Tahoma"/>
              </a:rPr>
              <a:t>L'imposta dovuta viene determinata con il sistema di detrazione “</a:t>
            </a:r>
            <a:r>
              <a:rPr lang="it-IT" sz="1600" b="1" spc="-1" noProof="1">
                <a:solidFill>
                  <a:srgbClr val="004586"/>
                </a:solidFill>
                <a:latin typeface="Tahoma"/>
              </a:rPr>
              <a:t>imposta da imposta</a:t>
            </a:r>
            <a:r>
              <a:rPr lang="it-IT" sz="1600" spc="-1" noProof="1">
                <a:solidFill>
                  <a:srgbClr val="000000"/>
                </a:solidFill>
                <a:latin typeface="Tahoma"/>
              </a:rPr>
              <a:t>” (dall'Iva relativa viene sottratta l'Iva detraibile), anziché con il sistema “</a:t>
            </a:r>
            <a:r>
              <a:rPr lang="it-IT" sz="1600" b="1" spc="-1" noProof="1">
                <a:solidFill>
                  <a:srgbClr val="004586"/>
                </a:solidFill>
                <a:latin typeface="Tahoma"/>
              </a:rPr>
              <a:t>base da base</a:t>
            </a:r>
            <a:r>
              <a:rPr lang="it-IT" sz="1600" spc="-1" noProof="1">
                <a:solidFill>
                  <a:srgbClr val="000000"/>
                </a:solidFill>
                <a:latin typeface="Tahoma"/>
              </a:rPr>
              <a:t>” che avrebbe potuto creare effetti distorsivi (salvo eccezioni: agenzie di viaggio – art. 74ter DPR 633/1972).</a:t>
            </a:r>
            <a:endParaRPr lang="it-IT" sz="1600" spc="-1" noProof="1"/>
          </a:p>
          <a:p>
            <a:pPr fontAlgn="auto"/>
            <a:endParaRPr lang="it-IT" sz="1600" spc="-1" noProof="1"/>
          </a:p>
          <a:p>
            <a:pPr fontAlgn="auto"/>
            <a:endParaRPr lang="it-IT" sz="1600" spc="-1" noProof="1"/>
          </a:p>
        </p:txBody>
      </p:sp>
      <p:sp>
        <p:nvSpPr>
          <p:cNvPr id="164" name="CustomShape 4"/>
          <p:cNvSpPr/>
          <p:nvPr/>
        </p:nvSpPr>
        <p:spPr>
          <a:xfrm>
            <a:off x="566738" y="3429000"/>
            <a:ext cx="3319462" cy="1223963"/>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ctr" fontAlgn="auto"/>
            <a:r>
              <a:rPr lang="it-IT" sz="1600" spc="-1" noProof="1">
                <a:solidFill>
                  <a:srgbClr val="004586"/>
                </a:solidFill>
                <a:latin typeface="Tahoma"/>
              </a:rPr>
              <a:t>Operazioni attive:</a:t>
            </a:r>
            <a:endParaRPr lang="it-IT" sz="1600" spc="-1" noProof="1"/>
          </a:p>
          <a:p>
            <a:pPr algn="ctr" fontAlgn="auto"/>
            <a:r>
              <a:rPr lang="it-IT" sz="1600" spc="-1" noProof="1">
                <a:solidFill>
                  <a:srgbClr val="004586"/>
                </a:solidFill>
                <a:latin typeface="Tahoma"/>
              </a:rPr>
              <a:t>Iva relativa a tutte le operazioni effettuate nell'anno </a:t>
            </a:r>
            <a:endParaRPr lang="it-IT" sz="1600" spc="-1" noProof="1"/>
          </a:p>
          <a:p>
            <a:pPr algn="ctr" fontAlgn="auto"/>
            <a:r>
              <a:rPr lang="it-IT" sz="1600" spc="-1" noProof="1">
                <a:solidFill>
                  <a:srgbClr val="004586"/>
                </a:solidFill>
                <a:latin typeface="Tahoma"/>
              </a:rPr>
              <a:t>+ le operazioni in “reverse charge”</a:t>
            </a:r>
            <a:endParaRPr lang="it-IT" sz="1600" spc="-1" noProof="1"/>
          </a:p>
        </p:txBody>
      </p:sp>
      <p:sp>
        <p:nvSpPr>
          <p:cNvPr id="165" name="CustomShape 5"/>
          <p:cNvSpPr/>
          <p:nvPr/>
        </p:nvSpPr>
        <p:spPr>
          <a:xfrm>
            <a:off x="5097463" y="3429000"/>
            <a:ext cx="3257550" cy="1200150"/>
          </a:xfrm>
          <a:prstGeom prst="rect">
            <a:avLst/>
          </a:prstGeom>
          <a:ln>
            <a:solidFill>
              <a:srgbClr val="F59240"/>
            </a:solidFill>
            <a:round/>
          </a:ln>
          <a:effectLst>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p:style>
        <p:txBody>
          <a:bodyPr lIns="90000" tIns="45000" rIns="90000" bIns="45000" anchor="ctr"/>
          <a:lstStyle/>
          <a:p>
            <a:pPr algn="ctr" fontAlgn="auto"/>
            <a:r>
              <a:rPr lang="it-IT" sz="1600" spc="-1" noProof="1">
                <a:solidFill>
                  <a:srgbClr val="DC2300"/>
                </a:solidFill>
                <a:latin typeface="Tahoma"/>
              </a:rPr>
              <a:t>Operazioni passive:</a:t>
            </a:r>
            <a:endParaRPr lang="it-IT" sz="1600" spc="-1" noProof="1"/>
          </a:p>
          <a:p>
            <a:pPr algn="ctr" fontAlgn="auto"/>
            <a:r>
              <a:rPr lang="it-IT" sz="1600" spc="-1" noProof="1">
                <a:solidFill>
                  <a:srgbClr val="DC2300"/>
                </a:solidFill>
                <a:latin typeface="Tahoma"/>
              </a:rPr>
              <a:t>Iva detratta nell'anno sugli acquisti di beni e servizi</a:t>
            </a:r>
            <a:endParaRPr lang="it-IT" sz="1600" spc="-1" noProof="1"/>
          </a:p>
        </p:txBody>
      </p:sp>
      <p:sp>
        <p:nvSpPr>
          <p:cNvPr id="166" name="CustomShape 6"/>
          <p:cNvSpPr/>
          <p:nvPr/>
        </p:nvSpPr>
        <p:spPr>
          <a:xfrm>
            <a:off x="4059238" y="3860800"/>
            <a:ext cx="865187" cy="3587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fontAlgn="auto"/>
            <a:r>
              <a:rPr lang="it-IT" spc="-1" noProof="1">
                <a:solidFill>
                  <a:srgbClr val="004586"/>
                </a:solidFill>
                <a:latin typeface="Tahoma"/>
              </a:rPr>
              <a:t>meno</a:t>
            </a:r>
            <a:endParaRPr lang="it-IT" spc="-1" noProof="1"/>
          </a:p>
        </p:txBody>
      </p:sp>
      <p:sp>
        <p:nvSpPr>
          <p:cNvPr id="167" name="CustomShape 7"/>
          <p:cNvSpPr/>
          <p:nvPr/>
        </p:nvSpPr>
        <p:spPr>
          <a:xfrm>
            <a:off x="4370388" y="4654550"/>
            <a:ext cx="242887" cy="404813"/>
          </a:xfrm>
          <a:prstGeom prst="downArrow">
            <a:avLst>
              <a:gd name="adj1" fmla="val 50000"/>
              <a:gd name="adj2" fmla="val 50000"/>
            </a:avLst>
          </a:prstGeom>
          <a:ln>
            <a:round/>
          </a:ln>
        </p:spPr>
        <p:style>
          <a:lnRef idx="2">
            <a:schemeClr val="accent1">
              <a:shade val="50000"/>
            </a:schemeClr>
          </a:lnRef>
          <a:fillRef idx="1">
            <a:schemeClr val="accent1"/>
          </a:fillRef>
          <a:effectRef idx="0">
            <a:schemeClr val="accent1"/>
          </a:effectRef>
          <a:fontRef idx="minor"/>
        </p:style>
        <p:txBody>
          <a:bodyPr/>
          <a:lstStyle/>
          <a:p>
            <a:endParaRPr lang="it-IT"/>
          </a:p>
        </p:txBody>
      </p:sp>
      <p:sp>
        <p:nvSpPr>
          <p:cNvPr id="168" name="CustomShape 8"/>
          <p:cNvSpPr/>
          <p:nvPr/>
        </p:nvSpPr>
        <p:spPr>
          <a:xfrm>
            <a:off x="1836738" y="5408613"/>
            <a:ext cx="5468937" cy="91598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fontAlgn="auto"/>
            <a:r>
              <a:rPr lang="it-IT" spc="-1" noProof="1">
                <a:solidFill>
                  <a:srgbClr val="004586"/>
                </a:solidFill>
                <a:latin typeface="Tahoma"/>
              </a:rPr>
              <a:t>Imposta dovuta </a:t>
            </a:r>
            <a:endParaRPr lang="it-IT" spc="-1" noProof="1"/>
          </a:p>
          <a:p>
            <a:pPr algn="ctr" fontAlgn="auto"/>
            <a:r>
              <a:rPr lang="it-IT" spc="-1" noProof="1">
                <a:solidFill>
                  <a:srgbClr val="004586"/>
                </a:solidFill>
                <a:latin typeface="Tahoma"/>
              </a:rPr>
              <a:t>o</a:t>
            </a:r>
            <a:endParaRPr lang="it-IT" spc="-1" noProof="1"/>
          </a:p>
          <a:p>
            <a:pPr algn="ctr" fontAlgn="auto"/>
            <a:r>
              <a:rPr lang="it-IT" spc="-1" noProof="1">
                <a:solidFill>
                  <a:srgbClr val="004586"/>
                </a:solidFill>
                <a:latin typeface="Tahoma"/>
              </a:rPr>
              <a:t>Eccedenza a credito</a:t>
            </a:r>
            <a:endParaRPr lang="it-IT" spc="-1" noProof="1"/>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5CB9A-67FD-5CE6-7005-A143A6CE75D6}"/>
            </a:ext>
          </a:extLst>
        </p:cNvPr>
        <p:cNvGrpSpPr/>
        <p:nvPr/>
      </p:nvGrpSpPr>
      <p:grpSpPr>
        <a:xfrm>
          <a:off x="0" y="0"/>
          <a:ext cx="0" cy="0"/>
          <a:chOff x="0" y="0"/>
          <a:chExt cx="0" cy="0"/>
        </a:xfrm>
      </p:grpSpPr>
      <p:sp>
        <p:nvSpPr>
          <p:cNvPr id="127" name="CustomShape 1">
            <a:extLst>
              <a:ext uri="{FF2B5EF4-FFF2-40B4-BE49-F238E27FC236}">
                <a16:creationId xmlns:a16="http://schemas.microsoft.com/office/drawing/2014/main" id="{4D3833B1-C5DD-E55E-6518-EDABA90585CE}"/>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8" name="CustomShape 2">
            <a:extLst>
              <a:ext uri="{FF2B5EF4-FFF2-40B4-BE49-F238E27FC236}">
                <a16:creationId xmlns:a16="http://schemas.microsoft.com/office/drawing/2014/main" id="{1F5E5AB6-7E21-0F77-DC5D-DF64A7C06288}"/>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9" name="CustomShape 3">
            <a:extLst>
              <a:ext uri="{FF2B5EF4-FFF2-40B4-BE49-F238E27FC236}">
                <a16:creationId xmlns:a16="http://schemas.microsoft.com/office/drawing/2014/main" id="{108B0870-3A07-11B2-7DEA-2621E6599D30}"/>
              </a:ext>
            </a:extLst>
          </p:cNvPr>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0" name="CustomShape 4">
            <a:extLst>
              <a:ext uri="{FF2B5EF4-FFF2-40B4-BE49-F238E27FC236}">
                <a16:creationId xmlns:a16="http://schemas.microsoft.com/office/drawing/2014/main" id="{DBDEDF93-F099-7184-84E3-90FA8EF38FF2}"/>
              </a:ext>
            </a:extLst>
          </p:cNvPr>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1" name="CustomShape 5">
            <a:extLst>
              <a:ext uri="{FF2B5EF4-FFF2-40B4-BE49-F238E27FC236}">
                <a16:creationId xmlns:a16="http://schemas.microsoft.com/office/drawing/2014/main" id="{6AFE5668-D694-5DE3-1EF4-900AA9BE24C7}"/>
              </a:ext>
            </a:extLst>
          </p:cNvPr>
          <p:cNvSpPr/>
          <p:nvPr/>
        </p:nvSpPr>
        <p:spPr>
          <a:xfrm>
            <a:off x="1701800" y="2995613"/>
            <a:ext cx="5661025" cy="76041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r>
              <a:rPr lang="it-IT" sz="4400" b="1" spc="-1" noProof="1">
                <a:solidFill>
                  <a:srgbClr val="336699"/>
                </a:solidFill>
                <a:latin typeface="Calibri" panose="020F0502020204030204"/>
                <a:ea typeface="ヒラギノ角ゴ ProN W3"/>
              </a:rPr>
              <a:t>Il principio di «</a:t>
            </a:r>
            <a:r>
              <a:rPr lang="it-IT" sz="4400" b="1" i="1" spc="-1" noProof="1">
                <a:solidFill>
                  <a:srgbClr val="336699"/>
                </a:solidFill>
                <a:latin typeface="Calibri" panose="020F0502020204030204"/>
                <a:ea typeface="ヒラギノ角ゴ ProN W3"/>
              </a:rPr>
              <a:t>neutralità</a:t>
            </a:r>
            <a:r>
              <a:rPr lang="it-IT" sz="4400" b="1" spc="-1" noProof="1">
                <a:solidFill>
                  <a:srgbClr val="336699"/>
                </a:solidFill>
                <a:latin typeface="Calibri" panose="020F0502020204030204"/>
                <a:ea typeface="ヒラギノ角ゴ ProN W3"/>
              </a:rPr>
              <a:t>»</a:t>
            </a:r>
            <a:endParaRPr lang="it-IT" sz="4400" spc="-1" noProof="1"/>
          </a:p>
        </p:txBody>
      </p:sp>
    </p:spTree>
    <p:extLst>
      <p:ext uri="{BB962C8B-B14F-4D97-AF65-F5344CB8AC3E}">
        <p14:creationId xmlns:p14="http://schemas.microsoft.com/office/powerpoint/2010/main" val="21144974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Il funzionamento del «sistema IVA»</a:t>
            </a:r>
            <a:endParaRPr lang="it-IT" sz="2800" spc="-1" noProof="1"/>
          </a:p>
        </p:txBody>
      </p:sp>
      <p:sp>
        <p:nvSpPr>
          <p:cNvPr id="133"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4"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5" name="CustomShape 4"/>
          <p:cNvSpPr/>
          <p:nvPr/>
        </p:nvSpPr>
        <p:spPr>
          <a:xfrm>
            <a:off x="147638" y="1268413"/>
            <a:ext cx="8847137"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6" name="CustomShape 5"/>
          <p:cNvSpPr/>
          <p:nvPr/>
        </p:nvSpPr>
        <p:spPr>
          <a:xfrm>
            <a:off x="366713" y="1439863"/>
            <a:ext cx="8318500" cy="154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600" spc="-1" noProof="1">
                <a:solidFill>
                  <a:srgbClr val="000000"/>
                </a:solidFill>
                <a:latin typeface="Tahoma"/>
                <a:ea typeface="Tahoma"/>
              </a:rPr>
              <a:t>Il sistema dell’IVA si basa sul </a:t>
            </a:r>
            <a:r>
              <a:rPr lang="it-IT" sz="1600" b="1" spc="-1" noProof="1">
                <a:solidFill>
                  <a:srgbClr val="000000"/>
                </a:solidFill>
                <a:latin typeface="Tahoma"/>
                <a:ea typeface="Tahoma"/>
              </a:rPr>
              <a:t>principio della neutralità</a:t>
            </a:r>
            <a:r>
              <a:rPr lang="it-IT" sz="1600" spc="-1" noProof="1">
                <a:solidFill>
                  <a:srgbClr val="000000"/>
                </a:solidFill>
                <a:latin typeface="Tahoma"/>
                <a:ea typeface="Tahoma"/>
              </a:rPr>
              <a:t>: l’imposta, calcolata sul corrispettivo del bene ceduto o del servizio reso, è dovuta allo Stato da ciascun soggetto passivo (cedente o prestatore), </a:t>
            </a:r>
            <a:r>
              <a:rPr lang="it-IT" sz="1600" u="sng" spc="-1" noProof="1">
                <a:solidFill>
                  <a:srgbClr val="000000"/>
                </a:solidFill>
                <a:latin typeface="Tahoma"/>
                <a:ea typeface="Tahoma"/>
              </a:rPr>
              <a:t>che però dal debito IVA detrae l’imposta che ha gravato i suoi acquisti</a:t>
            </a:r>
            <a:r>
              <a:rPr lang="it-IT" sz="1600" spc="-1" noProof="1">
                <a:solidFill>
                  <a:srgbClr val="000000"/>
                </a:solidFill>
                <a:latin typeface="Tahoma"/>
                <a:ea typeface="Tahoma"/>
              </a:rPr>
              <a:t>. </a:t>
            </a:r>
            <a:endParaRPr lang="it-IT" sz="1600" spc="-1" noProof="1"/>
          </a:p>
          <a:p>
            <a:pPr fontAlgn="auto"/>
            <a:r>
              <a:rPr lang="it-IT" sz="1600" spc="-1" noProof="1">
                <a:solidFill>
                  <a:srgbClr val="000000"/>
                </a:solidFill>
                <a:latin typeface="Tahoma"/>
                <a:ea typeface="Tahoma"/>
              </a:rPr>
              <a:t>Chiude il ciclo l’IVA dovuta dal venditore di un bene sull’ultimo passaggio, cioè nello stadio del commercio al minuto (cessione al cd. consumatore finale)</a:t>
            </a:r>
            <a:endParaRPr lang="it-IT" sz="1600" spc="-1" noProof="1"/>
          </a:p>
        </p:txBody>
      </p:sp>
      <p:sp>
        <p:nvSpPr>
          <p:cNvPr id="137" name="CustomShape 6"/>
          <p:cNvSpPr/>
          <p:nvPr/>
        </p:nvSpPr>
        <p:spPr>
          <a:xfrm>
            <a:off x="4421188" y="3287713"/>
            <a:ext cx="217487" cy="371475"/>
          </a:xfrm>
          <a:prstGeom prst="downArrow">
            <a:avLst>
              <a:gd name="adj1" fmla="val 50000"/>
              <a:gd name="adj2" fmla="val 50000"/>
            </a:avLst>
          </a:prstGeom>
          <a:ln>
            <a:round/>
          </a:ln>
        </p:spPr>
        <p:style>
          <a:lnRef idx="2">
            <a:schemeClr val="accent1">
              <a:shade val="50000"/>
            </a:schemeClr>
          </a:lnRef>
          <a:fillRef idx="1">
            <a:schemeClr val="accent1"/>
          </a:fillRef>
          <a:effectRef idx="0">
            <a:schemeClr val="accent1"/>
          </a:effectRef>
          <a:fontRef idx="minor"/>
        </p:style>
        <p:txBody>
          <a:bodyPr/>
          <a:lstStyle/>
          <a:p>
            <a:endParaRPr lang="it-IT"/>
          </a:p>
        </p:txBody>
      </p:sp>
      <p:sp>
        <p:nvSpPr>
          <p:cNvPr id="138" name="CustomShape 7"/>
          <p:cNvSpPr/>
          <p:nvPr/>
        </p:nvSpPr>
        <p:spPr>
          <a:xfrm>
            <a:off x="3109913" y="4087813"/>
            <a:ext cx="2952750" cy="1430337"/>
          </a:xfrm>
          <a:prstGeom prst="rect">
            <a:avLst/>
          </a:prstGeom>
          <a:solidFill>
            <a:schemeClr val="bg1"/>
          </a:solidFill>
          <a:ln>
            <a:round/>
          </a:ln>
        </p:spPr>
        <p:style>
          <a:lnRef idx="2">
            <a:schemeClr val="accent1">
              <a:shade val="50000"/>
            </a:schemeClr>
          </a:lnRef>
          <a:fillRef idx="1">
            <a:schemeClr val="accent1"/>
          </a:fillRef>
          <a:effectRef idx="0">
            <a:schemeClr val="accent1"/>
          </a:effectRef>
          <a:fontRef idx="minor"/>
        </p:style>
        <p:txBody>
          <a:bodyPr lIns="90000" tIns="45000" rIns="90000" bIns="45000" anchor="ctr"/>
          <a:lstStyle/>
          <a:p>
            <a:pPr algn="ctr" fontAlgn="auto"/>
            <a:r>
              <a:rPr lang="it-IT" sz="1600" u="sng" spc="-1" noProof="1">
                <a:solidFill>
                  <a:srgbClr val="000000"/>
                </a:solidFill>
                <a:latin typeface="Tahoma"/>
                <a:ea typeface="Tahoma"/>
              </a:rPr>
              <a:t>In sintesi</a:t>
            </a:r>
            <a:r>
              <a:rPr lang="it-IT" sz="1600" spc="-1" noProof="1">
                <a:solidFill>
                  <a:srgbClr val="000000"/>
                </a:solidFill>
                <a:latin typeface="Tahoma"/>
                <a:ea typeface="Tahoma"/>
              </a:rPr>
              <a:t>: ad ogni passaggio, lo Stato deve incassare la differenza tra Iva sugli acquisti e Iva sulle vendite di ogni soggetto passivo</a:t>
            </a:r>
            <a:endParaRPr lang="it-IT" sz="1600" spc="-1" noProof="1"/>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en-US" altLang="it-IT" sz="2800" b="1" spc="-1" noProof="1">
                <a:solidFill>
                  <a:srgbClr val="FFFFFF"/>
                </a:solidFill>
                <a:latin typeface="Ubuntu" panose="020B0604030602030204"/>
              </a:rPr>
              <a:t>Neutralità – articolazione</a:t>
            </a:r>
          </a:p>
        </p:txBody>
      </p:sp>
      <p:sp>
        <p:nvSpPr>
          <p:cNvPr id="162"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63" name="CustomShape 3"/>
          <p:cNvSpPr/>
          <p:nvPr/>
        </p:nvSpPr>
        <p:spPr>
          <a:xfrm>
            <a:off x="592138" y="1452563"/>
            <a:ext cx="8093075" cy="509587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lvl1pPr>
              <a:defRPr>
                <a:solidFill>
                  <a:schemeClr val="tx1"/>
                </a:solidFill>
                <a:latin typeface="Arial" panose="020B0604020202020204" pitchFamily="34" charset="0"/>
                <a:ea typeface="DejaVu Sans" panose="020B0603030804020204"/>
                <a:cs typeface="DejaVu Sans" panose="020B0603030804020204"/>
              </a:defRPr>
            </a:lvl1pPr>
            <a:lvl2pPr marL="800100" indent="-342900">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r>
              <a:rPr lang="it-IT" altLang="it-IT" sz="1400" dirty="0">
                <a:solidFill>
                  <a:srgbClr val="000000"/>
                </a:solidFill>
                <a:latin typeface="Ubuntu" panose="020B0604030602030204" pitchFamily="34" charset="0"/>
              </a:rPr>
              <a:t>Tradizionalmente, la neutralità è stata approcciata da due prospettive, una </a:t>
            </a:r>
            <a:r>
              <a:rPr lang="it-IT" altLang="it-IT" sz="1400" i="1" dirty="0">
                <a:solidFill>
                  <a:srgbClr val="000000"/>
                </a:solidFill>
                <a:latin typeface="Ubuntu" panose="020B0604030602030204" pitchFamily="34" charset="0"/>
              </a:rPr>
              <a:t>interna </a:t>
            </a:r>
            <a:r>
              <a:rPr lang="it-IT" altLang="it-IT" sz="1400" dirty="0">
                <a:solidFill>
                  <a:srgbClr val="000000"/>
                </a:solidFill>
                <a:latin typeface="Ubuntu" panose="020B0604030602030204" pitchFamily="34" charset="0"/>
              </a:rPr>
              <a:t>(in relazione al cd. mercato domestico) ed una </a:t>
            </a:r>
            <a:r>
              <a:rPr lang="it-IT" altLang="it-IT" sz="1400" i="1" dirty="0">
                <a:solidFill>
                  <a:srgbClr val="000000"/>
                </a:solidFill>
                <a:latin typeface="Ubuntu" panose="020B0604030602030204" pitchFamily="34" charset="0"/>
              </a:rPr>
              <a:t>esterna </a:t>
            </a:r>
            <a:r>
              <a:rPr lang="it-IT" altLang="it-IT" sz="1400" dirty="0">
                <a:solidFill>
                  <a:srgbClr val="000000"/>
                </a:solidFill>
                <a:latin typeface="Ubuntu" panose="020B0604030602030204" pitchFamily="34" charset="0"/>
              </a:rPr>
              <a:t>(in relazione agli aspetti transnazionali). Il concetto può quindi essere articolato in relazione ai seguenti elementi.</a:t>
            </a:r>
            <a:endParaRPr lang="it-IT" altLang="it-IT" sz="1600" dirty="0">
              <a:solidFill>
                <a:srgbClr val="000000"/>
              </a:solidFill>
              <a:latin typeface="Ubuntu" panose="020B0604030602030204" pitchFamily="34" charset="0"/>
            </a:endParaRPr>
          </a:p>
          <a:p>
            <a:endParaRPr lang="it-IT" altLang="it-IT" sz="1600" dirty="0">
              <a:solidFill>
                <a:srgbClr val="000000"/>
              </a:solidFill>
              <a:latin typeface="Ubuntu" panose="020B0604030602030204" pitchFamily="34" charset="0"/>
            </a:endParaRPr>
          </a:p>
          <a:p>
            <a:pPr indent="0">
              <a:buFont typeface="Arial" panose="020B0604020202020204" pitchFamily="34" charset="0"/>
              <a:buNone/>
            </a:pPr>
            <a:r>
              <a:rPr lang="it-IT" altLang="it-IT" sz="1600" b="1" dirty="0">
                <a:solidFill>
                  <a:srgbClr val="F79646"/>
                </a:solidFill>
                <a:latin typeface="Ubuntu" panose="020B0604030602030204" pitchFamily="34" charset="0"/>
              </a:rPr>
              <a:t>L’Iva non è un costo</a:t>
            </a:r>
            <a:r>
              <a:rPr lang="it-IT" altLang="it-IT" sz="1600" b="1" dirty="0">
                <a:latin typeface="Ubuntu" panose="020B0604030602030204" pitchFamily="34" charset="0"/>
              </a:rPr>
              <a:t>. </a:t>
            </a:r>
          </a:p>
          <a:p>
            <a:pPr lvl="1">
              <a:buFont typeface="Arial" panose="020B0604020202020204" pitchFamily="34" charset="0"/>
              <a:buChar char="•"/>
            </a:pPr>
            <a:r>
              <a:rPr lang="it-IT" altLang="it-IT" sz="1600" dirty="0">
                <a:latin typeface="Ubuntu" panose="020B0604030602030204" pitchFamily="34" charset="0"/>
              </a:rPr>
              <a:t>concetto contabile</a:t>
            </a:r>
          </a:p>
          <a:p>
            <a:pPr lvl="1">
              <a:buFont typeface="Arial" panose="020B0604020202020204" pitchFamily="34" charset="0"/>
              <a:buChar char="•"/>
            </a:pPr>
            <a:r>
              <a:rPr lang="it-IT" altLang="it-IT" sz="1600" dirty="0">
                <a:latin typeface="Ubuntu" panose="020B0604030602030204" pitchFamily="34" charset="0"/>
              </a:rPr>
              <a:t>traslazione (economica e giuridica) dell’onere sul consumatore finale</a:t>
            </a:r>
          </a:p>
          <a:p>
            <a:pPr lvl="1">
              <a:buFont typeface="Arial" panose="020B0604020202020204" pitchFamily="34" charset="0"/>
              <a:buChar char="•"/>
            </a:pPr>
            <a:r>
              <a:rPr lang="it-IT" altLang="it-IT" sz="1600" dirty="0">
                <a:latin typeface="Ubuntu" panose="020B0604030602030204" pitchFamily="34" charset="0"/>
              </a:rPr>
              <a:t>ruolo di “collettore dell’imposta per l’Erario”, come definito dalla CGUE (C-317/94 </a:t>
            </a:r>
            <a:r>
              <a:rPr lang="it-IT" altLang="it-IT" sz="1600" i="1" dirty="0">
                <a:latin typeface="Ubuntu" panose="020B0604030602030204" pitchFamily="34" charset="0"/>
              </a:rPr>
              <a:t>Elida Gibbs </a:t>
            </a:r>
            <a:r>
              <a:rPr lang="it-IT" altLang="it-IT" sz="1600" dirty="0">
                <a:latin typeface="Ubuntu" panose="020B0604030602030204" pitchFamily="34" charset="0"/>
              </a:rPr>
              <a:t>§ 22), insieme al meccanismo di rivalsa/detrazione</a:t>
            </a:r>
          </a:p>
          <a:p>
            <a:pPr lvl="1">
              <a:buFont typeface="Arial" panose="020B0604020202020204" pitchFamily="34" charset="0"/>
              <a:buChar char="•"/>
            </a:pPr>
            <a:r>
              <a:rPr lang="it-IT" altLang="it-IT" sz="1600" dirty="0">
                <a:latin typeface="Ubuntu" panose="020B0604030602030204" pitchFamily="34" charset="0"/>
              </a:rPr>
              <a:t>aggiustamenti delle detrazioni (artt. 184-185-186 Direttiva Iva)</a:t>
            </a:r>
          </a:p>
          <a:p>
            <a:pPr lvl="1">
              <a:buFont typeface="Arial" panose="020B0604020202020204" pitchFamily="34" charset="0"/>
              <a:buChar char="•"/>
            </a:pPr>
            <a:r>
              <a:rPr lang="it-IT" altLang="it-IT" sz="1600" dirty="0">
                <a:latin typeface="Ubuntu" panose="020B0604030602030204" pitchFamily="34" charset="0"/>
              </a:rPr>
              <a:t>aspetti temporali (detrazione immediata)</a:t>
            </a:r>
          </a:p>
          <a:p>
            <a:pPr lvl="1">
              <a:buFont typeface="Arial" panose="020B0604020202020204" pitchFamily="34" charset="0"/>
              <a:buNone/>
            </a:pPr>
            <a:r>
              <a:rPr lang="it-IT" altLang="it-IT" sz="1600" dirty="0">
                <a:latin typeface="Ubuntu" panose="020B0604030602030204" pitchFamily="34" charset="0"/>
              </a:rPr>
              <a:t>	 </a:t>
            </a:r>
          </a:p>
          <a:p>
            <a:pPr indent="0">
              <a:buFont typeface="Arial" panose="020B0604020202020204" pitchFamily="34" charset="0"/>
              <a:buNone/>
            </a:pPr>
            <a:r>
              <a:rPr lang="it-IT" altLang="en-US" sz="1600" b="1" dirty="0">
                <a:solidFill>
                  <a:srgbClr val="F79646"/>
                </a:solidFill>
                <a:latin typeface="Ubuntu" panose="020B0604030602030204" pitchFamily="34" charset="0"/>
              </a:rPr>
              <a:t>Assenza di distorsione nel mercato interno</a:t>
            </a:r>
            <a:r>
              <a:rPr lang="en-US" altLang="it-IT" sz="1600" b="1" dirty="0">
                <a:latin typeface="Ubuntu" panose="020B0604030602030204" pitchFamily="34" charset="0"/>
              </a:rPr>
              <a:t>. </a:t>
            </a:r>
          </a:p>
          <a:p>
            <a:pPr lvl="1">
              <a:buFont typeface="Arial" panose="020B0604020202020204" pitchFamily="34" charset="0"/>
              <a:buChar char="•"/>
            </a:pPr>
            <a:r>
              <a:rPr lang="it-IT" altLang="en-US" sz="1600" dirty="0">
                <a:latin typeface="Ubuntu" panose="020B0604030602030204" pitchFamily="34" charset="0"/>
              </a:rPr>
              <a:t>tassazione a destinazione (</a:t>
            </a:r>
            <a:r>
              <a:rPr lang="it-IT" altLang="en-US" sz="1600" i="1" dirty="0" err="1">
                <a:latin typeface="Ubuntu" panose="020B0604030602030204" pitchFamily="34" charset="0"/>
              </a:rPr>
              <a:t>destination</a:t>
            </a:r>
            <a:r>
              <a:rPr lang="it-IT" altLang="en-US" sz="1600" i="1" dirty="0">
                <a:latin typeface="Ubuntu" panose="020B0604030602030204" pitchFamily="34" charset="0"/>
              </a:rPr>
              <a:t> </a:t>
            </a:r>
            <a:r>
              <a:rPr lang="it-IT" altLang="en-US" sz="1600" i="1" dirty="0" err="1">
                <a:latin typeface="Ubuntu" panose="020B0604030602030204" pitchFamily="34" charset="0"/>
              </a:rPr>
              <a:t>based</a:t>
            </a:r>
            <a:r>
              <a:rPr lang="it-IT" altLang="en-US" sz="1600" i="1" dirty="0">
                <a:latin typeface="Ubuntu" panose="020B0604030602030204" pitchFamily="34" charset="0"/>
              </a:rPr>
              <a:t> VAT system</a:t>
            </a:r>
            <a:r>
              <a:rPr lang="it-IT" altLang="en-US" sz="1600" dirty="0">
                <a:latin typeface="Ubuntu" panose="020B0604030602030204" pitchFamily="34" charset="0"/>
              </a:rPr>
              <a:t>)</a:t>
            </a:r>
            <a:endParaRPr lang="en-US" altLang="it-IT" sz="1600" dirty="0">
              <a:latin typeface="Ubuntu" panose="020B0604030602030204" pitchFamily="34" charset="0"/>
            </a:endParaRPr>
          </a:p>
          <a:p>
            <a:pPr lvl="1">
              <a:buFont typeface="Arial" panose="020B0604020202020204" pitchFamily="34" charset="0"/>
              <a:buChar char="•"/>
            </a:pPr>
            <a:r>
              <a:rPr lang="it-IT" altLang="it-IT" sz="1600" dirty="0">
                <a:latin typeface="Ubuntu" panose="020B0604030602030204" pitchFamily="34" charset="0"/>
              </a:rPr>
              <a:t>rimborsi ai non residenti</a:t>
            </a:r>
            <a:endParaRPr lang="it-IT" altLang="en-US" sz="1600" dirty="0">
              <a:latin typeface="Ubuntu" panose="020B0604030602030204" pitchFamily="34" charset="0"/>
            </a:endParaRPr>
          </a:p>
          <a:p>
            <a:endParaRPr lang="it-IT" altLang="en-US" sz="1600" dirty="0">
              <a:latin typeface="Ubuntu" panose="020B0604030602030204" pitchFamily="34" charset="0"/>
            </a:endParaRPr>
          </a:p>
          <a:p>
            <a:pPr indent="0">
              <a:buFont typeface="Arial" panose="020B0604020202020204" pitchFamily="34" charset="0"/>
              <a:buNone/>
            </a:pPr>
            <a:r>
              <a:rPr lang="it-IT" altLang="en-US" sz="1600" b="1" dirty="0">
                <a:solidFill>
                  <a:srgbClr val="F79646"/>
                </a:solidFill>
                <a:latin typeface="Ubuntu" panose="020B0604030602030204" pitchFamily="34" charset="0"/>
                <a:sym typeface="DejaVu Sans" panose="020B0603030804020204"/>
              </a:rPr>
              <a:t>Uguale trattamento</a:t>
            </a:r>
            <a:r>
              <a:rPr lang="en-US" altLang="it-IT" sz="1600" b="1" dirty="0">
                <a:latin typeface="Ubuntu" panose="020B0604030602030204" pitchFamily="34" charset="0"/>
                <a:sym typeface="DejaVu Sans" panose="020B0603030804020204"/>
              </a:rPr>
              <a:t>. </a:t>
            </a:r>
            <a:endParaRPr lang="en-US" altLang="it-IT" sz="1600" b="1" dirty="0">
              <a:latin typeface="Ubuntu" panose="020B0604030602030204" pitchFamily="34" charset="0"/>
            </a:endParaRPr>
          </a:p>
          <a:p>
            <a:pPr lvl="1">
              <a:buFont typeface="Arial" panose="020B0604020202020204" pitchFamily="34" charset="0"/>
              <a:buChar char="•"/>
            </a:pPr>
            <a:r>
              <a:rPr lang="it-IT" altLang="it-IT" sz="1600" dirty="0">
                <a:latin typeface="Ubuntu" panose="020B0604030602030204" pitchFamily="34" charset="0"/>
              </a:rPr>
              <a:t>correzione di errori ed irregolarità</a:t>
            </a:r>
          </a:p>
          <a:p>
            <a:pPr lvl="1">
              <a:buFont typeface="Arial" panose="020B0604020202020204" pitchFamily="34" charset="0"/>
              <a:buChar char="•"/>
            </a:pPr>
            <a:r>
              <a:rPr lang="it-IT" altLang="it-IT" sz="1600" dirty="0">
                <a:latin typeface="Ubuntu" panose="020B0604030602030204" pitchFamily="34" charset="0"/>
              </a:rPr>
              <a:t>ripristino delle situazioni caratterizzate da frodi e abusi</a:t>
            </a:r>
            <a:endParaRPr lang="it-IT" altLang="en-US" sz="1600" dirty="0">
              <a:latin typeface="Ubuntu" panose="020B0604030602030204" pitchFamily="34" charset="0"/>
            </a:endParaRPr>
          </a:p>
          <a:p>
            <a:endParaRPr lang="it-IT" altLang="en-US" sz="1600" dirty="0">
              <a:latin typeface="Ubuntu" panose="020B0604030602030204" pitchFamily="3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e 1">
            <a:extLst>
              <a:ext uri="{FF2B5EF4-FFF2-40B4-BE49-F238E27FC236}">
                <a16:creationId xmlns:a16="http://schemas.microsoft.com/office/drawing/2014/main" id="{A5320034-F2ED-A58B-DA51-918414595EE6}"/>
              </a:ext>
            </a:extLst>
          </p:cNvPr>
          <p:cNvSpPr/>
          <p:nvPr/>
        </p:nvSpPr>
        <p:spPr>
          <a:xfrm>
            <a:off x="95250" y="4314825"/>
            <a:ext cx="1666875" cy="1452562"/>
          </a:xfrm>
          <a:prstGeom prst="ellipse">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it-IT" sz="1200" dirty="0">
                <a:hlinkClick r:id="rId3"/>
              </a:rPr>
              <a:t>Accertamento</a:t>
            </a:r>
            <a:r>
              <a:rPr lang="it-IT" sz="1200" dirty="0"/>
              <a:t> e </a:t>
            </a:r>
            <a:r>
              <a:rPr lang="it-IT" sz="1200" dirty="0">
                <a:hlinkClick r:id="rId4"/>
              </a:rPr>
              <a:t>scorporo IVA</a:t>
            </a:r>
            <a:br>
              <a:rPr lang="it-IT" sz="1200" dirty="0"/>
            </a:br>
            <a:br>
              <a:rPr lang="it-IT" sz="1200" dirty="0"/>
            </a:br>
            <a:r>
              <a:rPr lang="it-IT" sz="1200" dirty="0">
                <a:hlinkClick r:id="rId5"/>
              </a:rPr>
              <a:t>Revirement</a:t>
            </a:r>
            <a:endParaRPr lang="it-IT" sz="1200" dirty="0"/>
          </a:p>
        </p:txBody>
      </p:sp>
      <p:sp>
        <p:nvSpPr>
          <p:cNvPr id="155"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 Rivalsa</a:t>
            </a:r>
            <a:endParaRPr lang="it-IT" sz="2800" spc="-1" noProof="1"/>
          </a:p>
        </p:txBody>
      </p:sp>
      <p:sp>
        <p:nvSpPr>
          <p:cNvPr id="156"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57" name="CustomShape 3"/>
          <p:cNvSpPr/>
          <p:nvPr/>
        </p:nvSpPr>
        <p:spPr>
          <a:xfrm>
            <a:off x="631825" y="1385888"/>
            <a:ext cx="8226425" cy="547052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r>
              <a:rPr lang="it-IT" sz="1500" spc="-1" noProof="1">
                <a:solidFill>
                  <a:srgbClr val="000000"/>
                </a:solidFill>
                <a:latin typeface="Tahoma"/>
                <a:ea typeface="ヒラギノ角ゴ ProN W6"/>
              </a:rPr>
              <a:t>Sebbene il soggetto passivo nei confronti dello Stato sia normalmente il cedente del bene o il prestatore del servizio, solo sul consumatore finale deve far carico l'intero onere tributario e quindi il cedente/prestatore non fa altro che “anticipare” una somma che deve poter recuperare nei confronti della controparte (cd. “</a:t>
            </a:r>
            <a:r>
              <a:rPr lang="it-IT" sz="1500" b="1" spc="-1" noProof="1">
                <a:solidFill>
                  <a:srgbClr val="3465A4"/>
                </a:solidFill>
                <a:latin typeface="Tahoma"/>
                <a:ea typeface="ヒラギノ角ゴ ProN W6"/>
              </a:rPr>
              <a:t>collettore di imposta</a:t>
            </a:r>
            <a:r>
              <a:rPr lang="it-IT" sz="1500" spc="-1" noProof="1">
                <a:solidFill>
                  <a:srgbClr val="000000"/>
                </a:solidFill>
                <a:latin typeface="Tahoma"/>
                <a:ea typeface="ヒラギノ角ゴ ProN W6"/>
              </a:rPr>
              <a:t>” per l'Erario).</a:t>
            </a:r>
            <a:endParaRPr lang="it-IT" sz="1500" spc="-1" noProof="1"/>
          </a:p>
          <a:p>
            <a:pPr algn="just" fontAlgn="auto">
              <a:lnSpc>
                <a:spcPct val="90000"/>
              </a:lnSpc>
            </a:pPr>
            <a:endParaRPr lang="it-IT" sz="1500" spc="-1" noProof="1"/>
          </a:p>
          <a:p>
            <a:pPr algn="ctr" fontAlgn="auto">
              <a:lnSpc>
                <a:spcPct val="90000"/>
              </a:lnSpc>
            </a:pPr>
            <a:r>
              <a:rPr lang="it-IT" sz="1500" i="1" spc="-1" noProof="1">
                <a:solidFill>
                  <a:srgbClr val="000000"/>
                </a:solidFill>
                <a:latin typeface="Tahoma"/>
                <a:ea typeface="ヒラギノ角ゴ ProN W6"/>
              </a:rPr>
              <a:t>L'operatore economico non deve sopportare l'onere dell'imposta </a:t>
            </a:r>
            <a:endParaRPr lang="it-IT" sz="1500" spc="-1" noProof="1"/>
          </a:p>
          <a:p>
            <a:pPr algn="ctr" fontAlgn="auto">
              <a:lnSpc>
                <a:spcPct val="90000"/>
              </a:lnSpc>
            </a:pPr>
            <a:r>
              <a:rPr lang="it-IT" sz="1500" i="1" spc="-1" noProof="1">
                <a:solidFill>
                  <a:srgbClr val="000000"/>
                </a:solidFill>
                <a:latin typeface="Tahoma"/>
                <a:ea typeface="ヒラギノ角ゴ ProN W6"/>
              </a:rPr>
              <a:t>ma deve trasferirla sul consumatore.</a:t>
            </a:r>
            <a:endParaRPr lang="it-IT" sz="1500" spc="-1" noProof="1"/>
          </a:p>
          <a:p>
            <a:pPr algn="just" fontAlgn="auto">
              <a:lnSpc>
                <a:spcPct val="90000"/>
              </a:lnSpc>
            </a:pPr>
            <a:endParaRPr lang="it-IT" sz="1500" spc="-1" noProof="1"/>
          </a:p>
          <a:p>
            <a:pPr algn="just" fontAlgn="auto">
              <a:lnSpc>
                <a:spcPct val="90000"/>
              </a:lnSpc>
            </a:pPr>
            <a:r>
              <a:rPr lang="it-IT" sz="1500" spc="-1" noProof="1">
                <a:solidFill>
                  <a:srgbClr val="000000"/>
                </a:solidFill>
                <a:latin typeface="Tahoma"/>
                <a:ea typeface="ヒラギノ角ゴ ProN W6"/>
              </a:rPr>
              <a:t>La possibilità di recuperare l'Iva viene attribuita tramite la </a:t>
            </a:r>
            <a:r>
              <a:rPr lang="it-IT" sz="1500" b="1" spc="-1" noProof="1">
                <a:solidFill>
                  <a:srgbClr val="3465A4"/>
                </a:solidFill>
                <a:latin typeface="Tahoma"/>
                <a:ea typeface="ヒラギノ角ゴ ProN W6"/>
              </a:rPr>
              <a:t>rivalsa </a:t>
            </a:r>
            <a:r>
              <a:rPr lang="it-IT" sz="1500" spc="-1" noProof="1">
                <a:solidFill>
                  <a:srgbClr val="000000"/>
                </a:solidFill>
                <a:latin typeface="Tahoma"/>
                <a:ea typeface="ヒラギノ角ゴ ProN W6"/>
              </a:rPr>
              <a:t>(art. 18 DPR 633/1972), tramite la quale l'operatore economico ha </a:t>
            </a:r>
            <a:r>
              <a:rPr lang="it-IT" sz="1500" u="sng" spc="-1" noProof="1">
                <a:solidFill>
                  <a:srgbClr val="000000"/>
                </a:solidFill>
                <a:latin typeface="Tahoma"/>
                <a:ea typeface="ヒラギノ角ゴ ProN W6"/>
              </a:rPr>
              <a:t>diritto</a:t>
            </a:r>
            <a:r>
              <a:rPr lang="it-IT" sz="1500" spc="-1" noProof="1">
                <a:solidFill>
                  <a:srgbClr val="000000"/>
                </a:solidFill>
                <a:latin typeface="Tahoma"/>
                <a:ea typeface="ヒラギノ角ゴ ProN W6"/>
              </a:rPr>
              <a:t> al regresso per l'imposta nei confronti dell'acquirente. Lo strumento per l'esercizio della rivalsa è la </a:t>
            </a:r>
            <a:r>
              <a:rPr lang="it-IT" sz="1500" u="sng" spc="-1" noProof="1">
                <a:solidFill>
                  <a:srgbClr val="000000"/>
                </a:solidFill>
                <a:latin typeface="Tahoma"/>
                <a:ea typeface="ヒラギノ角ゴ ProN W6"/>
              </a:rPr>
              <a:t>fattura</a:t>
            </a:r>
            <a:r>
              <a:rPr lang="it-IT" sz="1500" spc="-1" noProof="1">
                <a:solidFill>
                  <a:srgbClr val="000000"/>
                </a:solidFill>
                <a:latin typeface="Tahoma"/>
                <a:ea typeface="ヒラギノ角ゴ ProN W6"/>
              </a:rPr>
              <a:t>.</a:t>
            </a:r>
            <a:endParaRPr lang="it-IT" sz="1500" spc="-1" noProof="1"/>
          </a:p>
          <a:p>
            <a:pPr algn="just" fontAlgn="auto">
              <a:lnSpc>
                <a:spcPct val="90000"/>
              </a:lnSpc>
            </a:pPr>
            <a:r>
              <a:rPr lang="it-IT" sz="1500" spc="-1" noProof="1">
                <a:solidFill>
                  <a:srgbClr val="000000"/>
                </a:solidFill>
                <a:latin typeface="Tahoma"/>
                <a:ea typeface="ヒラギノ角ゴ ProN W6"/>
              </a:rPr>
              <a:t>Ovviamente, al consumatore finale non è consentita alcuna rivalsa (il peso economico dell'imposta viene così a gravare sul consumatore).</a:t>
            </a:r>
            <a:endParaRPr lang="it-IT" sz="1500" spc="-1" noProof="1"/>
          </a:p>
          <a:p>
            <a:pPr algn="just" fontAlgn="auto">
              <a:lnSpc>
                <a:spcPct val="90000"/>
              </a:lnSpc>
            </a:pPr>
            <a:endParaRPr lang="it-IT" sz="1500" b="1" spc="-1" noProof="1"/>
          </a:p>
          <a:p>
            <a:pPr marL="1200150" lvl="2" indent="-283845" algn="just" fontAlgn="auto">
              <a:buClr>
                <a:srgbClr val="1F497D"/>
              </a:buClr>
              <a:buFont typeface="Wingdings" panose="05000000000000000000" pitchFamily="2" charset="2"/>
              <a:buChar char=""/>
            </a:pPr>
            <a:r>
              <a:rPr lang="it-IT" sz="1500" spc="-1" noProof="1">
                <a:solidFill>
                  <a:srgbClr val="000000"/>
                </a:solidFill>
                <a:latin typeface="Tahoma"/>
                <a:ea typeface="ヒラギノ角ゴ ProN W6"/>
              </a:rPr>
              <a:t>Nel caso di operazioni in cui l'emissione della fattura non è obbligatoria (es. scontrino per le attività di commercio al minuto), il prezzo complessivo si intende comprensivo dell'Iva, che deve così essere “scomputata” algebricamente. </a:t>
            </a:r>
            <a:endParaRPr lang="it-IT" sz="1500" spc="-1" noProof="1"/>
          </a:p>
          <a:p>
            <a:pPr marL="1200150" lvl="2" indent="-283845" algn="just" fontAlgn="auto">
              <a:buClr>
                <a:srgbClr val="1F497D"/>
              </a:buClr>
              <a:buFont typeface="Wingdings" panose="05000000000000000000" pitchFamily="2" charset="2"/>
              <a:buChar char=""/>
            </a:pPr>
            <a:r>
              <a:rPr lang="it-IT" sz="1500" spc="-1" noProof="1">
                <a:solidFill>
                  <a:srgbClr val="000000"/>
                </a:solidFill>
                <a:latin typeface="Tahoma"/>
                <a:ea typeface="ヒラギノ角ゴ ProN W6"/>
              </a:rPr>
              <a:t>La rivalsa costituisce anche un </a:t>
            </a:r>
            <a:r>
              <a:rPr lang="it-IT" sz="1500" u="sng" spc="-1" noProof="1">
                <a:solidFill>
                  <a:srgbClr val="000000"/>
                </a:solidFill>
                <a:latin typeface="Tahoma"/>
                <a:ea typeface="ヒラギノ角ゴ ProN W6"/>
              </a:rPr>
              <a:t>dovere</a:t>
            </a:r>
            <a:r>
              <a:rPr lang="it-IT" sz="1500" spc="-1" noProof="1">
                <a:solidFill>
                  <a:srgbClr val="000000"/>
                </a:solidFill>
                <a:latin typeface="Tahoma"/>
                <a:ea typeface="ヒラギノ角ゴ ProN W6"/>
              </a:rPr>
              <a:t> inderogabile nella generalità dei casi, al fine di tutelare -per gli effetti- il principio costituzionale della capacità contributiva che trova manifestazione nel fenomeno economico del “consumo” (non nell'attività economica dell'imprenditore o del professionista). </a:t>
            </a:r>
            <a:endParaRPr lang="it-IT" sz="1500" spc="-1" noProof="1"/>
          </a:p>
          <a:p>
            <a:pPr marL="1200150" lvl="2" indent="-283845" algn="just" fontAlgn="auto">
              <a:buClr>
                <a:srgbClr val="1F497D"/>
              </a:buClr>
              <a:buFont typeface="Wingdings" panose="05000000000000000000" pitchFamily="2" charset="2"/>
              <a:buChar char=""/>
            </a:pPr>
            <a:r>
              <a:rPr lang="it-IT" sz="1500" spc="-1" noProof="1">
                <a:solidFill>
                  <a:srgbClr val="000000"/>
                </a:solidFill>
                <a:latin typeface="Tahoma"/>
                <a:ea typeface="ヒラギノ角ゴ ProN W6"/>
              </a:rPr>
              <a:t>Casi particolari: autoconsumo e cessioni gratuite (facoltà); art.60 DPR 633/1972.</a:t>
            </a:r>
            <a:endParaRPr lang="it-IT" sz="1500" spc="-1" noProof="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     Detrazione</a:t>
            </a:r>
            <a:endParaRPr lang="it-IT" sz="2800" spc="-1" noProof="1"/>
          </a:p>
        </p:txBody>
      </p:sp>
      <p:sp>
        <p:nvSpPr>
          <p:cNvPr id="159"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60" name="CustomShape 3"/>
          <p:cNvSpPr/>
          <p:nvPr/>
        </p:nvSpPr>
        <p:spPr>
          <a:xfrm>
            <a:off x="498475" y="1385888"/>
            <a:ext cx="8226425" cy="547052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fontAlgn="auto"/>
            <a:r>
              <a:rPr lang="it-IT" sz="1600" spc="-1" noProof="1">
                <a:solidFill>
                  <a:srgbClr val="000000"/>
                </a:solidFill>
                <a:latin typeface="Tahoma"/>
              </a:rPr>
              <a:t>E' il principio generale e fondamentale (deroghe solo se espressamente previste) secondo il quale il soggetto passivo ha diritto (nello stato in cui effettua le operazioni) di detrarre l'Iva dovuta sulle operazioni passive (“a monte”) nella misura in cui i beni o servizi acquistati siano impiegati ai fini delle operazioni soggette ad imposta (“a valle”).</a:t>
            </a:r>
            <a:endParaRPr lang="it-IT" sz="1600" spc="-1" noProof="1"/>
          </a:p>
          <a:p>
            <a:pPr fontAlgn="auto"/>
            <a:endParaRPr lang="it-IT" sz="1600" spc="-1" noProof="1"/>
          </a:p>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Attuazione del principio della </a:t>
            </a:r>
            <a:r>
              <a:rPr lang="it-IT" sz="1600" b="1" spc="-1" noProof="1">
                <a:solidFill>
                  <a:srgbClr val="004586"/>
                </a:solidFill>
                <a:latin typeface="Tahoma"/>
              </a:rPr>
              <a:t>neutralità</a:t>
            </a:r>
            <a:r>
              <a:rPr lang="it-IT" sz="1600" spc="-1" noProof="1">
                <a:solidFill>
                  <a:srgbClr val="000000"/>
                </a:solidFill>
                <a:latin typeface="Tahoma"/>
              </a:rPr>
              <a:t> dell'Iva per l'operatore economico (impresa o professionista); </a:t>
            </a:r>
            <a:endParaRPr lang="it-IT" sz="1600" spc="-1" noProof="1"/>
          </a:p>
          <a:p>
            <a:pPr fontAlgn="auto"/>
            <a:endParaRPr lang="it-IT" sz="1600" spc="-1" noProof="1"/>
          </a:p>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Verifica della correlazione tra operazioni a monte ed operazioni a valle;</a:t>
            </a:r>
            <a:endParaRPr lang="it-IT" sz="1600" spc="-1" noProof="1"/>
          </a:p>
          <a:p>
            <a:pPr fontAlgn="auto"/>
            <a:endParaRPr lang="it-IT" sz="1600" spc="-1" noProof="1"/>
          </a:p>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Negazione, in linea generale, della detrazione per acquisti di beni e servizi utilizzati in operazioni “a valle” non soggette all'imposta o esenti (salvo eccezioni).</a:t>
            </a:r>
            <a:endParaRPr lang="it-IT" sz="1600" spc="-1" noProof="1"/>
          </a:p>
          <a:p>
            <a:pPr fontAlgn="auto"/>
            <a:endParaRPr lang="it-IT" sz="1600" spc="-1" noProof="1"/>
          </a:p>
        </p:txBody>
      </p:sp>
      <p:sp>
        <p:nvSpPr>
          <p:cNvPr id="2" name="Rettangolo 1">
            <a:extLst>
              <a:ext uri="{FF2B5EF4-FFF2-40B4-BE49-F238E27FC236}">
                <a16:creationId xmlns:a16="http://schemas.microsoft.com/office/drawing/2014/main" id="{E135BFD0-6D8C-152C-AE34-CAB7DA5DE65B}"/>
              </a:ext>
            </a:extLst>
          </p:cNvPr>
          <p:cNvSpPr/>
          <p:nvPr/>
        </p:nvSpPr>
        <p:spPr>
          <a:xfrm>
            <a:off x="1895475" y="4876800"/>
            <a:ext cx="5676900" cy="90487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it-IT" dirty="0">
                <a:hlinkClick r:id="rId3"/>
              </a:rPr>
              <a:t>Rassegna giurisprudenza CGUE sulla detrazione</a:t>
            </a:r>
            <a:endParaRPr lang="it-IT"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en-US" altLang="it-IT" sz="2800" b="1" spc="-1" noProof="1">
                <a:solidFill>
                  <a:srgbClr val="FFFFFF"/>
                </a:solidFill>
                <a:latin typeface="Ubuntu" panose="020B0604030602030204"/>
              </a:rPr>
              <a:t>Neutralità - limiti</a:t>
            </a:r>
          </a:p>
        </p:txBody>
      </p:sp>
      <p:sp>
        <p:nvSpPr>
          <p:cNvPr id="162"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63" name="CustomShape 3"/>
          <p:cNvSpPr/>
          <p:nvPr/>
        </p:nvSpPr>
        <p:spPr>
          <a:xfrm>
            <a:off x="592138" y="1679482"/>
            <a:ext cx="8093075" cy="4868956"/>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nchor="t"/>
          <a:lstStyle/>
          <a:p>
            <a:pPr fontAlgn="auto"/>
            <a:r>
              <a:rPr lang="en-US" altLang="en-US" sz="1600" i="1" u="sng" spc="-1" noProof="1">
                <a:solidFill>
                  <a:srgbClr val="000000"/>
                </a:solidFill>
                <a:latin typeface="Ubuntu"/>
                <a:cs typeface="Ubuntu" panose="020B0604030602030204" pitchFamily="34" charset="0"/>
              </a:rPr>
              <a:t>L</a:t>
            </a:r>
            <a:r>
              <a:rPr lang="en-US" sz="1600" i="1" u="sng" spc="-1" noProof="1">
                <a:solidFill>
                  <a:srgbClr val="000000"/>
                </a:solidFill>
                <a:latin typeface="Ubuntu"/>
                <a:cs typeface="Ubuntu" panose="020B0604030602030204" pitchFamily="34" charset="0"/>
              </a:rPr>
              <a:t>imiti al «mito» della neutralità</a:t>
            </a:r>
          </a:p>
          <a:p>
            <a:pPr fontAlgn="auto"/>
            <a:endParaRPr lang="en-US" altLang="it-IT" sz="1600" spc="-1" noProof="1">
              <a:solidFill>
                <a:srgbClr val="000000"/>
              </a:solidFill>
              <a:latin typeface="Ubuntu" panose="020B0604030602030204" pitchFamily="34" charset="0"/>
              <a:cs typeface="Ubuntu" panose="020B0604030602030204" pitchFamily="34" charset="0"/>
            </a:endParaRPr>
          </a:p>
          <a:p>
            <a:pPr fontAlgn="auto"/>
            <a:endParaRPr lang="en-US" altLang="it-IT" sz="1600" spc="-1" noProof="1">
              <a:solidFill>
                <a:srgbClr val="000000"/>
              </a:solidFill>
              <a:latin typeface="Ubuntu" panose="020B0604030602030204" pitchFamily="34" charset="0"/>
              <a:cs typeface="Ubuntu" panose="020B0604030602030204" pitchFamily="34" charset="0"/>
            </a:endParaRP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Iva indetraibile</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Beni utilizzati per cd. “finalità estranee” all’attività di impresa</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Iva su attività esenti/fuori campo</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Costi amministrativi</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Anticipazione finanziaria dell’Iva</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Ritardi nei rimborsi e connessi costi per garanzie</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rPr>
              <a:t>Responsabilità e rischi di “compliance”</a:t>
            </a: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sym typeface="+mn-ea"/>
              </a:rPr>
              <a:t>Differenze nelle aliquote all’interno della UE</a:t>
            </a:r>
            <a:endParaRPr lang="en-US" altLang="en-US" sz="1600" spc="-1" noProof="1">
              <a:latin typeface="Ubuntu"/>
              <a:cs typeface="Ubuntu" panose="020B0604030602030204" pitchFamily="34" charset="0"/>
            </a:endParaRP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sym typeface="+mn-ea"/>
              </a:rPr>
              <a:t>Regimi speciali</a:t>
            </a:r>
            <a:endParaRPr lang="en-US" altLang="en-US" sz="1600" spc="-1" noProof="1">
              <a:latin typeface="Ubuntu"/>
              <a:cs typeface="Ubuntu" panose="020B0604030602030204" pitchFamily="34" charset="0"/>
            </a:endParaRPr>
          </a:p>
          <a:p>
            <a:pPr marL="285750" indent="-285750" fontAlgn="auto">
              <a:lnSpc>
                <a:spcPct val="110000"/>
              </a:lnSpc>
              <a:buFont typeface="Arial" panose="020B0604020202020204" pitchFamily="34" charset="0"/>
              <a:buChar char="•"/>
            </a:pPr>
            <a:r>
              <a:rPr lang="en-US" altLang="en-US" sz="1600" spc="-1" noProof="1">
                <a:latin typeface="Ubuntu"/>
                <a:cs typeface="Ubuntu" panose="020B0604030602030204" pitchFamily="34" charset="0"/>
                <a:sym typeface="+mn-ea"/>
              </a:rPr>
              <a:t>Organizzazione dei gruppi multinazionali (PE)</a:t>
            </a:r>
            <a:endParaRPr lang="en-US" altLang="en-US" sz="1600" spc="-1" noProof="1">
              <a:latin typeface="Ubuntu"/>
              <a:cs typeface="Ubuntu" panose="020B0604030602030204" pitchFamily="34" charset="0"/>
            </a:endParaRPr>
          </a:p>
          <a:p>
            <a:pPr fontAlgn="auto">
              <a:lnSpc>
                <a:spcPct val="110000"/>
              </a:lnSpc>
              <a:buFont typeface="Arial" panose="020B0604020202020204" pitchFamily="34" charset="0"/>
              <a:buNone/>
            </a:pPr>
            <a:endParaRPr lang="it-IT" sz="1600" spc="-1" noProof="1">
              <a:latin typeface="Ubuntu" panose="020B0604030602030204" pitchFamily="34" charset="0"/>
              <a:cs typeface="Ubuntu" panose="020B0604030602030204" pitchFamily="3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E4CD8-AE92-4DA3-6027-C772223322D1}"/>
            </a:ext>
          </a:extLst>
        </p:cNvPr>
        <p:cNvGrpSpPr/>
        <p:nvPr/>
      </p:nvGrpSpPr>
      <p:grpSpPr>
        <a:xfrm>
          <a:off x="0" y="0"/>
          <a:ext cx="0" cy="0"/>
          <a:chOff x="0" y="0"/>
          <a:chExt cx="0" cy="0"/>
        </a:xfrm>
      </p:grpSpPr>
      <p:sp>
        <p:nvSpPr>
          <p:cNvPr id="127" name="CustomShape 1">
            <a:extLst>
              <a:ext uri="{FF2B5EF4-FFF2-40B4-BE49-F238E27FC236}">
                <a16:creationId xmlns:a16="http://schemas.microsoft.com/office/drawing/2014/main" id="{AFD2D59C-DE11-10E1-D3CE-4AB02DF170AB}"/>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8" name="CustomShape 2">
            <a:extLst>
              <a:ext uri="{FF2B5EF4-FFF2-40B4-BE49-F238E27FC236}">
                <a16:creationId xmlns:a16="http://schemas.microsoft.com/office/drawing/2014/main" id="{AF514A5F-728E-C846-1E42-6C36957333BC}"/>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9" name="CustomShape 3">
            <a:extLst>
              <a:ext uri="{FF2B5EF4-FFF2-40B4-BE49-F238E27FC236}">
                <a16:creationId xmlns:a16="http://schemas.microsoft.com/office/drawing/2014/main" id="{C5C815AD-0596-6BBE-4E72-7ED2F99AB7B2}"/>
              </a:ext>
            </a:extLst>
          </p:cNvPr>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0" name="CustomShape 4">
            <a:extLst>
              <a:ext uri="{FF2B5EF4-FFF2-40B4-BE49-F238E27FC236}">
                <a16:creationId xmlns:a16="http://schemas.microsoft.com/office/drawing/2014/main" id="{C06A54A4-0FDA-E891-1EFD-D08D0572E4AE}"/>
              </a:ext>
            </a:extLst>
          </p:cNvPr>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1" name="CustomShape 5">
            <a:extLst>
              <a:ext uri="{FF2B5EF4-FFF2-40B4-BE49-F238E27FC236}">
                <a16:creationId xmlns:a16="http://schemas.microsoft.com/office/drawing/2014/main" id="{1F0C0A2D-9A84-041F-3192-735367B2F422}"/>
              </a:ext>
            </a:extLst>
          </p:cNvPr>
          <p:cNvSpPr/>
          <p:nvPr/>
        </p:nvSpPr>
        <p:spPr>
          <a:xfrm>
            <a:off x="1701800" y="2995613"/>
            <a:ext cx="5661025" cy="76041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r>
              <a:rPr lang="it-IT" sz="4400" b="1" spc="-1" noProof="1">
                <a:solidFill>
                  <a:srgbClr val="336699"/>
                </a:solidFill>
                <a:latin typeface="Calibri" panose="020F0502020204030204"/>
                <a:ea typeface="ヒラギノ角ゴ ProN W3"/>
              </a:rPr>
              <a:t>Il debitore d’imposta</a:t>
            </a:r>
            <a:br>
              <a:rPr lang="it-IT" sz="4400" b="1" spc="-1" noProof="1">
                <a:solidFill>
                  <a:srgbClr val="336699"/>
                </a:solidFill>
                <a:latin typeface="Calibri" panose="020F0502020204030204"/>
                <a:ea typeface="ヒラギノ角ゴ ProN W3"/>
              </a:rPr>
            </a:br>
            <a:r>
              <a:rPr lang="it-IT" sz="4400" b="1" spc="-1" noProof="1">
                <a:solidFill>
                  <a:srgbClr val="336699"/>
                </a:solidFill>
                <a:latin typeface="Calibri" panose="020F0502020204030204"/>
                <a:ea typeface="ヒラギノ角ゴ ProN W3"/>
              </a:rPr>
              <a:t>e il reverse charge</a:t>
            </a:r>
          </a:p>
          <a:p>
            <a:pPr algn="ctr" fontAlgn="auto"/>
            <a:endParaRPr lang="it-IT" sz="4400" spc="-1" noProof="1"/>
          </a:p>
        </p:txBody>
      </p:sp>
    </p:spTree>
    <p:extLst>
      <p:ext uri="{BB962C8B-B14F-4D97-AF65-F5344CB8AC3E}">
        <p14:creationId xmlns:p14="http://schemas.microsoft.com/office/powerpoint/2010/main" val="288558798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84756-A897-BB88-5683-987C9950C994}"/>
            </a:ext>
          </a:extLst>
        </p:cNvPr>
        <p:cNvGrpSpPr/>
        <p:nvPr/>
      </p:nvGrpSpPr>
      <p:grpSpPr>
        <a:xfrm>
          <a:off x="0" y="0"/>
          <a:ext cx="0" cy="0"/>
          <a:chOff x="0" y="0"/>
          <a:chExt cx="0" cy="0"/>
        </a:xfrm>
      </p:grpSpPr>
      <p:sp>
        <p:nvSpPr>
          <p:cNvPr id="161" name="CustomShape 1">
            <a:extLst>
              <a:ext uri="{FF2B5EF4-FFF2-40B4-BE49-F238E27FC236}">
                <a16:creationId xmlns:a16="http://schemas.microsoft.com/office/drawing/2014/main" id="{14CC842A-A670-EFA1-559E-498E73D1B78A}"/>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en-US" altLang="it-IT" sz="2800" b="1" spc="-1" noProof="1">
                <a:solidFill>
                  <a:srgbClr val="FFFFFF"/>
                </a:solidFill>
                <a:latin typeface="Ubuntu" panose="020B0604030602030204"/>
              </a:rPr>
              <a:t>Debitore d’imposta</a:t>
            </a:r>
          </a:p>
        </p:txBody>
      </p:sp>
      <p:sp>
        <p:nvSpPr>
          <p:cNvPr id="162" name="CustomShape 2">
            <a:extLst>
              <a:ext uri="{FF2B5EF4-FFF2-40B4-BE49-F238E27FC236}">
                <a16:creationId xmlns:a16="http://schemas.microsoft.com/office/drawing/2014/main" id="{A184BB2D-932B-5A45-768F-C895AC0245AE}"/>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 name="CasellaDiTesto 2">
            <a:extLst>
              <a:ext uri="{FF2B5EF4-FFF2-40B4-BE49-F238E27FC236}">
                <a16:creationId xmlns:a16="http://schemas.microsoft.com/office/drawing/2014/main" id="{2F965743-74EA-1C98-E87C-A7C0C558992B}"/>
              </a:ext>
            </a:extLst>
          </p:cNvPr>
          <p:cNvSpPr txBox="1"/>
          <p:nvPr/>
        </p:nvSpPr>
        <p:spPr>
          <a:xfrm>
            <a:off x="529119" y="1409442"/>
            <a:ext cx="8173092" cy="738664"/>
          </a:xfrm>
          <a:prstGeom prst="rect">
            <a:avLst/>
          </a:prstGeom>
          <a:noFill/>
        </p:spPr>
        <p:txBody>
          <a:bodyPr wrap="square">
            <a:spAutoFit/>
          </a:bodyPr>
          <a:lstStyle/>
          <a:p>
            <a:pPr algn="l">
              <a:buNone/>
            </a:pPr>
            <a:r>
              <a:rPr lang="it-IT" sz="1400" b="1" i="0" dirty="0">
                <a:solidFill>
                  <a:srgbClr val="333333"/>
                </a:solidFill>
                <a:effectLst/>
                <a:latin typeface="Segoe UI" panose="020B0502040204020203" pitchFamily="34" charset="0"/>
              </a:rPr>
              <a:t>Definizione e Inquadramento Sistematico</a:t>
            </a:r>
          </a:p>
          <a:p>
            <a:pPr algn="l"/>
            <a:r>
              <a:rPr lang="it-IT" sz="1400" b="0" i="0" dirty="0">
                <a:solidFill>
                  <a:srgbClr val="333333"/>
                </a:solidFill>
                <a:effectLst/>
                <a:latin typeface="Segoe UI" panose="020B0502040204020203" pitchFamily="34" charset="0"/>
              </a:rPr>
              <a:t>Vi è una </a:t>
            </a:r>
            <a:r>
              <a:rPr lang="it-IT" sz="1400" b="0" i="1" dirty="0">
                <a:solidFill>
                  <a:srgbClr val="333333"/>
                </a:solidFill>
                <a:effectLst/>
                <a:latin typeface="Segoe UI" panose="020B0502040204020203" pitchFamily="34" charset="0"/>
              </a:rPr>
              <a:t>scissione soggettiva</a:t>
            </a:r>
            <a:r>
              <a:rPr lang="it-IT" sz="1400" b="0" i="0" dirty="0">
                <a:solidFill>
                  <a:srgbClr val="333333"/>
                </a:solidFill>
                <a:effectLst/>
                <a:latin typeface="Segoe UI" panose="020B0502040204020203" pitchFamily="34" charset="0"/>
              </a:rPr>
              <a:t> tra la figura del "soggetto passivo" dell'operazione e quella del «debitore d'imposta», che emerge in presenza del «reverse </a:t>
            </a:r>
            <a:r>
              <a:rPr lang="it-IT" sz="1400" b="0" i="0" dirty="0" err="1">
                <a:solidFill>
                  <a:srgbClr val="333333"/>
                </a:solidFill>
                <a:effectLst/>
                <a:latin typeface="Segoe UI" panose="020B0502040204020203" pitchFamily="34" charset="0"/>
              </a:rPr>
              <a:t>charge</a:t>
            </a:r>
            <a:r>
              <a:rPr lang="it-IT" sz="1400" dirty="0">
                <a:solidFill>
                  <a:srgbClr val="333333"/>
                </a:solidFill>
                <a:latin typeface="Segoe UI" panose="020B0502040204020203" pitchFamily="34" charset="0"/>
              </a:rPr>
              <a:t>».</a:t>
            </a:r>
            <a:endParaRPr lang="it-IT" sz="1400" b="0" i="0" dirty="0">
              <a:solidFill>
                <a:srgbClr val="333333"/>
              </a:solidFill>
              <a:effectLst/>
              <a:latin typeface="Segoe UI" panose="020B0502040204020203" pitchFamily="34" charset="0"/>
            </a:endParaRPr>
          </a:p>
        </p:txBody>
      </p:sp>
      <p:sp>
        <p:nvSpPr>
          <p:cNvPr id="4" name="Rettangolo 3">
            <a:extLst>
              <a:ext uri="{FF2B5EF4-FFF2-40B4-BE49-F238E27FC236}">
                <a16:creationId xmlns:a16="http://schemas.microsoft.com/office/drawing/2014/main" id="{AFB82659-DBF8-ECFB-1640-7EF255C47FDF}"/>
              </a:ext>
            </a:extLst>
          </p:cNvPr>
          <p:cNvSpPr/>
          <p:nvPr/>
        </p:nvSpPr>
        <p:spPr>
          <a:xfrm>
            <a:off x="657546" y="2373330"/>
            <a:ext cx="3626778" cy="201373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it-IT" sz="1400" b="1" dirty="0">
                <a:latin typeface="Segoe UI" panose="020B0502040204020203" pitchFamily="34" charset="0"/>
                <a:cs typeface="Segoe UI" panose="020B0502040204020203" pitchFamily="34" charset="0"/>
              </a:rPr>
              <a:t>Regola Generale (Art. 17, co. 1)</a:t>
            </a:r>
          </a:p>
          <a:p>
            <a:endParaRPr lang="it-IT" sz="1400" b="1" dirty="0">
              <a:latin typeface="Segoe UI" panose="020B0502040204020203" pitchFamily="34" charset="0"/>
              <a:cs typeface="Segoe UI" panose="020B0502040204020203" pitchFamily="34" charset="0"/>
            </a:endParaRPr>
          </a:p>
          <a:p>
            <a:r>
              <a:rPr lang="it-IT" sz="1400" b="1" dirty="0">
                <a:latin typeface="Segoe UI" panose="020B0502040204020203" pitchFamily="34" charset="0"/>
                <a:cs typeface="Segoe UI" panose="020B0502040204020203" pitchFamily="34" charset="0"/>
              </a:rPr>
              <a:t>Soggetto Passivo:</a:t>
            </a:r>
            <a:r>
              <a:rPr lang="it-IT" sz="1400" dirty="0">
                <a:latin typeface="Segoe UI" panose="020B0502040204020203" pitchFamily="34" charset="0"/>
                <a:cs typeface="Segoe UI" panose="020B0502040204020203" pitchFamily="34" charset="0"/>
              </a:rPr>
              <a:t> Fornitore (chi effettua l'operazione)</a:t>
            </a:r>
          </a:p>
          <a:p>
            <a:r>
              <a:rPr lang="it-IT" sz="1400" b="1" dirty="0">
                <a:latin typeface="Segoe UI" panose="020B0502040204020203" pitchFamily="34" charset="0"/>
                <a:cs typeface="Segoe UI" panose="020B0502040204020203" pitchFamily="34" charset="0"/>
              </a:rPr>
              <a:t>Debitore d'Imposta:</a:t>
            </a:r>
            <a:r>
              <a:rPr lang="it-IT" sz="1400" dirty="0">
                <a:latin typeface="Segoe UI" panose="020B0502040204020203" pitchFamily="34" charset="0"/>
                <a:cs typeface="Segoe UI" panose="020B0502040204020203" pitchFamily="34" charset="0"/>
              </a:rPr>
              <a:t> Fornitore (stesso soggetto)</a:t>
            </a:r>
          </a:p>
          <a:p>
            <a:r>
              <a:rPr lang="it-IT" sz="1400" b="1" dirty="0">
                <a:latin typeface="Segoe UI" panose="020B0502040204020203" pitchFamily="34" charset="0"/>
                <a:cs typeface="Segoe UI" panose="020B0502040204020203" pitchFamily="34" charset="0"/>
              </a:rPr>
              <a:t>Principio:</a:t>
            </a:r>
            <a:r>
              <a:rPr lang="it-IT" sz="1400" dirty="0">
                <a:latin typeface="Segoe UI" panose="020B0502040204020203" pitchFamily="34" charset="0"/>
                <a:cs typeface="Segoe UI" panose="020B0502040204020203" pitchFamily="34" charset="0"/>
              </a:rPr>
              <a:t> Coincidenza soggettiva</a:t>
            </a:r>
          </a:p>
          <a:p>
            <a:r>
              <a:rPr lang="it-IT" sz="1400" b="1" dirty="0">
                <a:latin typeface="Segoe UI" panose="020B0502040204020203" pitchFamily="34" charset="0"/>
                <a:cs typeface="Segoe UI" panose="020B0502040204020203" pitchFamily="34" charset="0"/>
              </a:rPr>
              <a:t>Normalità:</a:t>
            </a:r>
            <a:r>
              <a:rPr lang="it-IT" sz="1400" dirty="0">
                <a:latin typeface="Segoe UI" panose="020B0502040204020203" pitchFamily="34" charset="0"/>
                <a:cs typeface="Segoe UI" panose="020B0502040204020203" pitchFamily="34" charset="0"/>
              </a:rPr>
              <a:t> Un solo soggetto assume entrambe le qualifiche</a:t>
            </a:r>
          </a:p>
        </p:txBody>
      </p:sp>
      <p:sp>
        <p:nvSpPr>
          <p:cNvPr id="5" name="Rettangolo 4">
            <a:extLst>
              <a:ext uri="{FF2B5EF4-FFF2-40B4-BE49-F238E27FC236}">
                <a16:creationId xmlns:a16="http://schemas.microsoft.com/office/drawing/2014/main" id="{004BF267-7E0D-39FE-2D19-5CDE3331D0B2}"/>
              </a:ext>
            </a:extLst>
          </p:cNvPr>
          <p:cNvSpPr/>
          <p:nvPr/>
        </p:nvSpPr>
        <p:spPr>
          <a:xfrm>
            <a:off x="4859678" y="2373329"/>
            <a:ext cx="3626776" cy="2013735"/>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it-IT" sz="1400" b="1" dirty="0">
                <a:latin typeface="Segoe UI" panose="020B0502040204020203" pitchFamily="34" charset="0"/>
                <a:cs typeface="Segoe UI" panose="020B0502040204020203" pitchFamily="34" charset="0"/>
              </a:rPr>
              <a:t>Deroga del Reverse </a:t>
            </a:r>
            <a:r>
              <a:rPr lang="it-IT" sz="1400" b="1" dirty="0" err="1">
                <a:latin typeface="Segoe UI" panose="020B0502040204020203" pitchFamily="34" charset="0"/>
                <a:cs typeface="Segoe UI" panose="020B0502040204020203" pitchFamily="34" charset="0"/>
              </a:rPr>
              <a:t>Charge</a:t>
            </a:r>
            <a:endParaRPr lang="it-IT" sz="1400" b="1" dirty="0">
              <a:latin typeface="Segoe UI" panose="020B0502040204020203" pitchFamily="34" charset="0"/>
              <a:cs typeface="Segoe UI" panose="020B0502040204020203" pitchFamily="34" charset="0"/>
            </a:endParaRPr>
          </a:p>
          <a:p>
            <a:endParaRPr lang="it-IT" sz="1400" b="1" dirty="0">
              <a:latin typeface="Segoe UI" panose="020B0502040204020203" pitchFamily="34" charset="0"/>
              <a:cs typeface="Segoe UI" panose="020B0502040204020203" pitchFamily="34" charset="0"/>
            </a:endParaRPr>
          </a:p>
          <a:p>
            <a:r>
              <a:rPr lang="it-IT" sz="1400" b="1" dirty="0">
                <a:latin typeface="Segoe UI" panose="020B0502040204020203" pitchFamily="34" charset="0"/>
                <a:cs typeface="Segoe UI" panose="020B0502040204020203" pitchFamily="34" charset="0"/>
              </a:rPr>
              <a:t>Soggetto Passivo:</a:t>
            </a:r>
            <a:r>
              <a:rPr lang="it-IT" sz="1400" dirty="0">
                <a:latin typeface="Segoe UI" panose="020B0502040204020203" pitchFamily="34" charset="0"/>
                <a:cs typeface="Segoe UI" panose="020B0502040204020203" pitchFamily="34" charset="0"/>
              </a:rPr>
              <a:t> Fornitore (operazione)</a:t>
            </a:r>
          </a:p>
          <a:p>
            <a:r>
              <a:rPr lang="it-IT" sz="1400" b="1" dirty="0">
                <a:latin typeface="Segoe UI" panose="020B0502040204020203" pitchFamily="34" charset="0"/>
                <a:cs typeface="Segoe UI" panose="020B0502040204020203" pitchFamily="34" charset="0"/>
              </a:rPr>
              <a:t>Debitore d'Imposta:</a:t>
            </a:r>
            <a:r>
              <a:rPr lang="it-IT" sz="1400" dirty="0">
                <a:latin typeface="Segoe UI" panose="020B0502040204020203" pitchFamily="34" charset="0"/>
                <a:cs typeface="Segoe UI" panose="020B0502040204020203" pitchFamily="34" charset="0"/>
              </a:rPr>
              <a:t> Cliente (assolvimento)</a:t>
            </a:r>
          </a:p>
          <a:p>
            <a:r>
              <a:rPr lang="it-IT" sz="1400" b="1" dirty="0">
                <a:latin typeface="Segoe UI" panose="020B0502040204020203" pitchFamily="34" charset="0"/>
                <a:cs typeface="Segoe UI" panose="020B0502040204020203" pitchFamily="34" charset="0"/>
              </a:rPr>
              <a:t>Principio:</a:t>
            </a:r>
            <a:r>
              <a:rPr lang="it-IT" sz="1400" dirty="0">
                <a:latin typeface="Segoe UI" panose="020B0502040204020203" pitchFamily="34" charset="0"/>
                <a:cs typeface="Segoe UI" panose="020B0502040204020203" pitchFamily="34" charset="0"/>
              </a:rPr>
              <a:t> Scissione soggettiva</a:t>
            </a:r>
          </a:p>
          <a:p>
            <a:r>
              <a:rPr lang="it-IT" sz="1400" b="1" dirty="0">
                <a:latin typeface="Segoe UI" panose="020B0502040204020203" pitchFamily="34" charset="0"/>
                <a:cs typeface="Segoe UI" panose="020B0502040204020203" pitchFamily="34" charset="0"/>
              </a:rPr>
              <a:t>⚡ Deroga:</a:t>
            </a:r>
            <a:r>
              <a:rPr lang="it-IT" sz="1400" dirty="0">
                <a:latin typeface="Segoe UI" panose="020B0502040204020203" pitchFamily="34" charset="0"/>
                <a:cs typeface="Segoe UI" panose="020B0502040204020203" pitchFamily="34" charset="0"/>
              </a:rPr>
              <a:t> Due soggetti distinti per responsabilità diverse</a:t>
            </a:r>
          </a:p>
        </p:txBody>
      </p:sp>
      <p:sp>
        <p:nvSpPr>
          <p:cNvPr id="6" name="Rettangolo 5">
            <a:extLst>
              <a:ext uri="{FF2B5EF4-FFF2-40B4-BE49-F238E27FC236}">
                <a16:creationId xmlns:a16="http://schemas.microsoft.com/office/drawing/2014/main" id="{B49689EB-672F-5652-2745-4ED4DA4F8B8B}"/>
              </a:ext>
            </a:extLst>
          </p:cNvPr>
          <p:cNvSpPr/>
          <p:nvPr/>
        </p:nvSpPr>
        <p:spPr>
          <a:xfrm>
            <a:off x="657546" y="4698544"/>
            <a:ext cx="7828908" cy="1500027"/>
          </a:xfrm>
          <a:prstGeom prst="rect">
            <a:avLst/>
          </a:prstGeom>
        </p:spPr>
        <p:style>
          <a:lnRef idx="2">
            <a:schemeClr val="accent2"/>
          </a:lnRef>
          <a:fillRef idx="1">
            <a:schemeClr val="lt1"/>
          </a:fillRef>
          <a:effectRef idx="0">
            <a:schemeClr val="accent2"/>
          </a:effectRef>
          <a:fontRef idx="minor">
            <a:schemeClr val="dk1"/>
          </a:fontRef>
        </p:style>
        <p:txBody>
          <a:bodyPr numCol="2" rtlCol="0" anchor="ctr"/>
          <a:lstStyle/>
          <a:p>
            <a:pPr algn="ctr"/>
            <a:endParaRPr lang="it-IT" sz="1400" b="1" dirty="0"/>
          </a:p>
          <a:p>
            <a:pPr algn="ctr"/>
            <a:r>
              <a:rPr lang="it-IT" sz="1400" b="1" dirty="0"/>
              <a:t>Reverse </a:t>
            </a:r>
            <a:r>
              <a:rPr lang="it-IT" sz="1400" b="1" dirty="0" err="1"/>
              <a:t>Charge</a:t>
            </a:r>
            <a:r>
              <a:rPr lang="it-IT" sz="1400" b="1" dirty="0"/>
              <a:t> Esterno</a:t>
            </a:r>
          </a:p>
          <a:p>
            <a:pPr algn="ctr"/>
            <a:endParaRPr lang="it-IT" sz="1400" b="1" dirty="0"/>
          </a:p>
          <a:p>
            <a:pPr algn="ctr"/>
            <a:r>
              <a:rPr lang="it-IT" sz="1400" dirty="0"/>
              <a:t>Semplificazione operativa</a:t>
            </a:r>
          </a:p>
          <a:p>
            <a:pPr algn="ctr"/>
            <a:r>
              <a:rPr lang="it-IT" sz="1400" dirty="0"/>
              <a:t>Tassazione a destinazione</a:t>
            </a:r>
          </a:p>
          <a:p>
            <a:pPr algn="ctr"/>
            <a:r>
              <a:rPr lang="it-IT" sz="1400" dirty="0"/>
              <a:t>Garanzia riscossione da non residenti</a:t>
            </a:r>
          </a:p>
          <a:p>
            <a:pPr algn="ctr"/>
            <a:endParaRPr lang="it-IT" sz="1400" dirty="0"/>
          </a:p>
          <a:p>
            <a:pPr algn="ctr"/>
            <a:r>
              <a:rPr lang="it-IT" sz="1400" dirty="0"/>
              <a:t>	</a:t>
            </a:r>
          </a:p>
          <a:p>
            <a:pPr algn="ctr"/>
            <a:r>
              <a:rPr lang="it-IT" sz="1400" b="1" dirty="0"/>
              <a:t>Reverse </a:t>
            </a:r>
            <a:r>
              <a:rPr lang="it-IT" sz="1400" b="1" dirty="0" err="1"/>
              <a:t>Charge</a:t>
            </a:r>
            <a:r>
              <a:rPr lang="it-IT" sz="1400" b="1" dirty="0"/>
              <a:t> Interno</a:t>
            </a:r>
          </a:p>
          <a:p>
            <a:pPr algn="ctr"/>
            <a:endParaRPr lang="it-IT" sz="1400" b="1" dirty="0"/>
          </a:p>
          <a:p>
            <a:pPr algn="ctr"/>
            <a:r>
              <a:rPr lang="it-IT" sz="1400" dirty="0"/>
              <a:t>Contrasto frodi "carosello"</a:t>
            </a:r>
          </a:p>
          <a:p>
            <a:pPr algn="ctr"/>
            <a:r>
              <a:rPr lang="it-IT" sz="1400" dirty="0"/>
              <a:t>Neutralizzazione </a:t>
            </a:r>
            <a:r>
              <a:rPr lang="it-IT" sz="1400" dirty="0" err="1"/>
              <a:t>Missing</a:t>
            </a:r>
            <a:r>
              <a:rPr lang="it-IT" sz="1400" dirty="0"/>
              <a:t> Trader</a:t>
            </a:r>
          </a:p>
          <a:p>
            <a:pPr algn="ctr"/>
            <a:r>
              <a:rPr lang="it-IT" sz="1400" dirty="0"/>
              <a:t>Settori ad alto rischio</a:t>
            </a:r>
          </a:p>
          <a:p>
            <a:pPr algn="ctr"/>
            <a:endParaRPr lang="it-IT" sz="1400" dirty="0"/>
          </a:p>
        </p:txBody>
      </p:sp>
    </p:spTree>
    <p:extLst>
      <p:ext uri="{BB962C8B-B14F-4D97-AF65-F5344CB8AC3E}">
        <p14:creationId xmlns:p14="http://schemas.microsoft.com/office/powerpoint/2010/main" val="91227580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0C563-7C97-4A91-9989-E9F25141A999}"/>
            </a:ext>
          </a:extLst>
        </p:cNvPr>
        <p:cNvGrpSpPr/>
        <p:nvPr/>
      </p:nvGrpSpPr>
      <p:grpSpPr>
        <a:xfrm>
          <a:off x="0" y="0"/>
          <a:ext cx="0" cy="0"/>
          <a:chOff x="0" y="0"/>
          <a:chExt cx="0" cy="0"/>
        </a:xfrm>
      </p:grpSpPr>
      <p:sp>
        <p:nvSpPr>
          <p:cNvPr id="7" name="Rettangolo 6">
            <a:extLst>
              <a:ext uri="{FF2B5EF4-FFF2-40B4-BE49-F238E27FC236}">
                <a16:creationId xmlns:a16="http://schemas.microsoft.com/office/drawing/2014/main" id="{D5E6DB43-C545-8AB9-D983-74B0631B80D3}"/>
              </a:ext>
            </a:extLst>
          </p:cNvPr>
          <p:cNvSpPr/>
          <p:nvPr/>
        </p:nvSpPr>
        <p:spPr>
          <a:xfrm>
            <a:off x="657546" y="3049003"/>
            <a:ext cx="7828908" cy="2118897"/>
          </a:xfrm>
          <a:prstGeom prst="rect">
            <a:avLst/>
          </a:prstGeom>
          <a:ln>
            <a:prstDash val="dash"/>
          </a:ln>
        </p:spPr>
        <p:style>
          <a:lnRef idx="2">
            <a:schemeClr val="accent1"/>
          </a:lnRef>
          <a:fillRef idx="1">
            <a:schemeClr val="lt1"/>
          </a:fillRef>
          <a:effectRef idx="0">
            <a:schemeClr val="accent1"/>
          </a:effectRef>
          <a:fontRef idx="minor">
            <a:schemeClr val="dk1"/>
          </a:fontRef>
        </p:style>
        <p:txBody>
          <a:bodyPr numCol="1" rtlCol="0" anchor="ctr"/>
          <a:lstStyle/>
          <a:p>
            <a:pPr algn="ctr"/>
            <a:r>
              <a:rPr lang="it-IT" sz="1400" b="1" dirty="0">
                <a:solidFill>
                  <a:schemeClr val="accent1"/>
                </a:solidFill>
                <a:latin typeface="Segoe UI" panose="020B0502040204020203" pitchFamily="34" charset="0"/>
                <a:cs typeface="Segoe UI" panose="020B0502040204020203" pitchFamily="34" charset="0"/>
              </a:rPr>
              <a:t>Modalità applicative</a:t>
            </a:r>
          </a:p>
          <a:p>
            <a:pPr algn="ctr"/>
            <a:endParaRPr lang="it-IT" sz="1400" b="1" dirty="0">
              <a:solidFill>
                <a:schemeClr val="accent1"/>
              </a:solidFill>
              <a:latin typeface="Segoe UI" panose="020B0502040204020203" pitchFamily="34" charset="0"/>
              <a:cs typeface="Segoe UI" panose="020B0502040204020203" pitchFamily="34" charset="0"/>
            </a:endParaRPr>
          </a:p>
          <a:p>
            <a:pPr algn="ctr"/>
            <a:endParaRPr lang="it-IT" sz="1400" b="1" dirty="0">
              <a:solidFill>
                <a:schemeClr val="accent1"/>
              </a:solidFill>
              <a:latin typeface="Segoe UI" panose="020B0502040204020203" pitchFamily="34" charset="0"/>
              <a:cs typeface="Segoe UI" panose="020B0502040204020203" pitchFamily="34" charset="0"/>
            </a:endParaRPr>
          </a:p>
          <a:p>
            <a:pPr algn="ctr"/>
            <a:endParaRPr lang="it-IT" sz="1400" b="1" dirty="0">
              <a:solidFill>
                <a:schemeClr val="accent1"/>
              </a:solidFill>
              <a:latin typeface="Segoe UI" panose="020B0502040204020203" pitchFamily="34" charset="0"/>
              <a:cs typeface="Segoe UI" panose="020B0502040204020203" pitchFamily="34" charset="0"/>
            </a:endParaRPr>
          </a:p>
          <a:p>
            <a:pPr algn="ctr"/>
            <a:endParaRPr lang="it-IT" sz="1400" b="1" dirty="0">
              <a:solidFill>
                <a:schemeClr val="accent1"/>
              </a:solidFill>
              <a:latin typeface="Segoe UI" panose="020B0502040204020203" pitchFamily="34" charset="0"/>
              <a:cs typeface="Segoe UI" panose="020B0502040204020203" pitchFamily="34" charset="0"/>
            </a:endParaRPr>
          </a:p>
          <a:p>
            <a:pPr algn="ctr"/>
            <a:endParaRPr lang="it-IT" sz="1400" b="1" dirty="0">
              <a:solidFill>
                <a:schemeClr val="accent1"/>
              </a:solidFill>
              <a:latin typeface="Segoe UI" panose="020B0502040204020203" pitchFamily="34" charset="0"/>
              <a:cs typeface="Segoe UI" panose="020B0502040204020203" pitchFamily="34" charset="0"/>
            </a:endParaRPr>
          </a:p>
          <a:p>
            <a:pPr algn="ctr"/>
            <a:endParaRPr lang="it-IT" sz="1400" b="1" dirty="0">
              <a:solidFill>
                <a:schemeClr val="accent1"/>
              </a:solidFill>
              <a:latin typeface="Segoe UI" panose="020B0502040204020203" pitchFamily="34" charset="0"/>
              <a:cs typeface="Segoe UI" panose="020B0502040204020203" pitchFamily="34" charset="0"/>
            </a:endParaRPr>
          </a:p>
          <a:p>
            <a:pPr algn="ctr"/>
            <a:endParaRPr lang="it-IT" sz="1400" b="1" dirty="0">
              <a:solidFill>
                <a:schemeClr val="accent1"/>
              </a:solidFill>
              <a:latin typeface="Segoe UI" panose="020B0502040204020203" pitchFamily="34" charset="0"/>
              <a:cs typeface="Segoe UI" panose="020B0502040204020203" pitchFamily="34" charset="0"/>
            </a:endParaRPr>
          </a:p>
        </p:txBody>
      </p:sp>
      <p:sp>
        <p:nvSpPr>
          <p:cNvPr id="161" name="CustomShape 1">
            <a:extLst>
              <a:ext uri="{FF2B5EF4-FFF2-40B4-BE49-F238E27FC236}">
                <a16:creationId xmlns:a16="http://schemas.microsoft.com/office/drawing/2014/main" id="{10B8C4FD-C6F5-E940-3386-DE5AEF2D4BBF}"/>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en-US" altLang="it-IT" sz="2800" b="1" spc="-1" noProof="1">
                <a:solidFill>
                  <a:srgbClr val="FFFFFF"/>
                </a:solidFill>
                <a:latin typeface="Ubuntu" panose="020B0604030602030204"/>
              </a:rPr>
              <a:t>Reverse Charge “esterno”</a:t>
            </a:r>
          </a:p>
        </p:txBody>
      </p:sp>
      <p:sp>
        <p:nvSpPr>
          <p:cNvPr id="162" name="CustomShape 2">
            <a:extLst>
              <a:ext uri="{FF2B5EF4-FFF2-40B4-BE49-F238E27FC236}">
                <a16:creationId xmlns:a16="http://schemas.microsoft.com/office/drawing/2014/main" id="{EA4FD436-1F38-4742-FAF7-AC72B5F4A5EF}"/>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latin typeface="Segoe UI" panose="020B0502040204020203" pitchFamily="34" charset="0"/>
              <a:cs typeface="Segoe UI" panose="020B0502040204020203" pitchFamily="34" charset="0"/>
            </a:endParaRPr>
          </a:p>
        </p:txBody>
      </p:sp>
      <p:sp>
        <p:nvSpPr>
          <p:cNvPr id="3" name="CasellaDiTesto 2">
            <a:extLst>
              <a:ext uri="{FF2B5EF4-FFF2-40B4-BE49-F238E27FC236}">
                <a16:creationId xmlns:a16="http://schemas.microsoft.com/office/drawing/2014/main" id="{FCB473F2-FEF2-97E0-E99B-03E198280950}"/>
              </a:ext>
            </a:extLst>
          </p:cNvPr>
          <p:cNvSpPr txBox="1"/>
          <p:nvPr/>
        </p:nvSpPr>
        <p:spPr>
          <a:xfrm>
            <a:off x="529119" y="1409442"/>
            <a:ext cx="8173092" cy="677108"/>
          </a:xfrm>
          <a:prstGeom prst="rect">
            <a:avLst/>
          </a:prstGeom>
          <a:noFill/>
        </p:spPr>
        <p:txBody>
          <a:bodyPr wrap="square">
            <a:spAutoFit/>
          </a:bodyPr>
          <a:lstStyle/>
          <a:p>
            <a:pPr algn="ctr">
              <a:buNone/>
            </a:pPr>
            <a:r>
              <a:rPr lang="it-IT" sz="1400" b="1" i="0" dirty="0">
                <a:solidFill>
                  <a:schemeClr val="accent1"/>
                </a:solidFill>
                <a:effectLst/>
                <a:latin typeface="Segoe UI" panose="020B0502040204020203" pitchFamily="34" charset="0"/>
                <a:cs typeface="Segoe UI" panose="020B0502040204020203" pitchFamily="34" charset="0"/>
              </a:rPr>
              <a:t>Operazioni transfrontaliere</a:t>
            </a:r>
          </a:p>
          <a:p>
            <a:r>
              <a:rPr lang="it-IT" sz="1200" b="1" i="1" dirty="0">
                <a:latin typeface="Segoe UI" panose="020B0502040204020203" pitchFamily="34" charset="0"/>
                <a:cs typeface="Segoe UI" panose="020B0502040204020203" pitchFamily="34" charset="0"/>
              </a:rPr>
              <a:t>Presupposto di applicazione:</a:t>
            </a:r>
            <a:r>
              <a:rPr lang="it-IT" sz="1200" i="1" dirty="0">
                <a:latin typeface="Segoe UI" panose="020B0502040204020203" pitchFamily="34" charset="0"/>
                <a:cs typeface="Segoe UI" panose="020B0502040204020203" pitchFamily="34" charset="0"/>
              </a:rPr>
              <a:t> Cessioni di beni e prestazioni di servizi territorialmente rilevanti in Italia, effettuate da un soggetto passivo non residente nei confronti di un soggetto passivo stabilito in Italia.</a:t>
            </a:r>
            <a:endParaRPr lang="it-IT" sz="1200" b="0" i="0" dirty="0">
              <a:solidFill>
                <a:srgbClr val="333333"/>
              </a:solidFill>
              <a:effectLst/>
              <a:latin typeface="Segoe UI" panose="020B0502040204020203" pitchFamily="34" charset="0"/>
              <a:cs typeface="Segoe UI" panose="020B0502040204020203" pitchFamily="34" charset="0"/>
            </a:endParaRPr>
          </a:p>
        </p:txBody>
      </p:sp>
      <p:sp>
        <p:nvSpPr>
          <p:cNvPr id="4" name="Rettangolo con due angoli in diagonale ritagliati 3">
            <a:extLst>
              <a:ext uri="{FF2B5EF4-FFF2-40B4-BE49-F238E27FC236}">
                <a16:creationId xmlns:a16="http://schemas.microsoft.com/office/drawing/2014/main" id="{B614C495-A73F-7C9C-FDC4-303EA38F21B6}"/>
              </a:ext>
            </a:extLst>
          </p:cNvPr>
          <p:cNvSpPr/>
          <p:nvPr/>
        </p:nvSpPr>
        <p:spPr>
          <a:xfrm>
            <a:off x="760290" y="3644024"/>
            <a:ext cx="3626778" cy="1285027"/>
          </a:xfrm>
          <a:prstGeom prst="snip2Diag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it-IT" sz="1400" b="1" dirty="0"/>
              <a:t>Fornitore UE</a:t>
            </a:r>
          </a:p>
          <a:p>
            <a:r>
              <a:rPr lang="it-IT" sz="1400" dirty="0"/>
              <a:t>Cliente riceve fattura </a:t>
            </a:r>
            <a:r>
              <a:rPr lang="it-IT" sz="1400" b="1" dirty="0"/>
              <a:t>senza IVA</a:t>
            </a:r>
            <a:endParaRPr lang="it-IT" sz="1400" dirty="0"/>
          </a:p>
          <a:p>
            <a:r>
              <a:rPr lang="it-IT" sz="1400" b="1" dirty="0"/>
              <a:t>Integrazione</a:t>
            </a:r>
            <a:r>
              <a:rPr lang="it-IT" sz="1400" dirty="0"/>
              <a:t> del documento</a:t>
            </a:r>
          </a:p>
          <a:p>
            <a:r>
              <a:rPr lang="it-IT" sz="1400" dirty="0"/>
              <a:t>Indicazione aliquota e imposta</a:t>
            </a:r>
          </a:p>
          <a:p>
            <a:r>
              <a:rPr lang="it-IT" sz="1400" dirty="0"/>
              <a:t>Doppia registrazione (vendite + acquisti)</a:t>
            </a:r>
          </a:p>
        </p:txBody>
      </p:sp>
      <p:sp>
        <p:nvSpPr>
          <p:cNvPr id="5" name="Rettangolo con due angoli in diagonale ritagliati 4">
            <a:extLst>
              <a:ext uri="{FF2B5EF4-FFF2-40B4-BE49-F238E27FC236}">
                <a16:creationId xmlns:a16="http://schemas.microsoft.com/office/drawing/2014/main" id="{58452A48-303F-822B-1454-1A1790AE546F}"/>
              </a:ext>
            </a:extLst>
          </p:cNvPr>
          <p:cNvSpPr/>
          <p:nvPr/>
        </p:nvSpPr>
        <p:spPr>
          <a:xfrm>
            <a:off x="4739812" y="3644024"/>
            <a:ext cx="3626776" cy="1285027"/>
          </a:xfrm>
          <a:prstGeom prst="snip2Diag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400" b="1" dirty="0"/>
              <a:t>Fornitore Extra-UE</a:t>
            </a:r>
          </a:p>
          <a:p>
            <a:r>
              <a:rPr lang="it-IT" sz="1400" dirty="0"/>
              <a:t>Cliente emette </a:t>
            </a:r>
            <a:r>
              <a:rPr lang="it-IT" sz="1400" b="1" dirty="0"/>
              <a:t>autofattura</a:t>
            </a:r>
            <a:endParaRPr lang="it-IT" sz="1400" dirty="0"/>
          </a:p>
          <a:p>
            <a:r>
              <a:rPr lang="it-IT" sz="1400" dirty="0"/>
              <a:t>Documento in </a:t>
            </a:r>
            <a:r>
              <a:rPr lang="it-IT" sz="1400" b="1" dirty="0"/>
              <a:t>unico esemplare</a:t>
            </a:r>
            <a:endParaRPr lang="it-IT" sz="1400" dirty="0"/>
          </a:p>
          <a:p>
            <a:r>
              <a:rPr lang="it-IT" sz="1400" dirty="0"/>
              <a:t>Indicazione imposta dovuta</a:t>
            </a:r>
          </a:p>
          <a:p>
            <a:r>
              <a:rPr lang="it-IT" sz="1400" dirty="0"/>
              <a:t>Effetto </a:t>
            </a:r>
            <a:r>
              <a:rPr lang="it-IT" sz="1400" b="1" dirty="0"/>
              <a:t>finanziariamente neutro</a:t>
            </a:r>
            <a:endParaRPr lang="it-IT" sz="1400" dirty="0"/>
          </a:p>
        </p:txBody>
      </p:sp>
      <p:sp>
        <p:nvSpPr>
          <p:cNvPr id="6" name="Rettangolo 5">
            <a:extLst>
              <a:ext uri="{FF2B5EF4-FFF2-40B4-BE49-F238E27FC236}">
                <a16:creationId xmlns:a16="http://schemas.microsoft.com/office/drawing/2014/main" id="{C9BD69BB-FBD3-FC33-E8D3-F9AF588D7A94}"/>
              </a:ext>
            </a:extLst>
          </p:cNvPr>
          <p:cNvSpPr/>
          <p:nvPr/>
        </p:nvSpPr>
        <p:spPr>
          <a:xfrm>
            <a:off x="657546" y="5308229"/>
            <a:ext cx="7828908" cy="1037967"/>
          </a:xfrm>
          <a:prstGeom prst="rect">
            <a:avLst/>
          </a:prstGeom>
        </p:spPr>
        <p:style>
          <a:lnRef idx="2">
            <a:schemeClr val="accent2"/>
          </a:lnRef>
          <a:fillRef idx="1">
            <a:schemeClr val="lt1"/>
          </a:fillRef>
          <a:effectRef idx="0">
            <a:schemeClr val="accent2"/>
          </a:effectRef>
          <a:fontRef idx="minor">
            <a:schemeClr val="dk1"/>
          </a:fontRef>
        </p:style>
        <p:txBody>
          <a:bodyPr numCol="1" rtlCol="0" anchor="ctr"/>
          <a:lstStyle/>
          <a:p>
            <a:r>
              <a:rPr lang="it-IT" sz="1400" b="1" dirty="0"/>
              <a:t>Punto di Attenzione Critico</a:t>
            </a:r>
          </a:p>
          <a:p>
            <a:r>
              <a:rPr lang="it-IT" sz="1400" dirty="0"/>
              <a:t>La presenza di una </a:t>
            </a:r>
            <a:r>
              <a:rPr lang="it-IT" sz="1400" b="1" dirty="0"/>
              <a:t>stabile organizzazione</a:t>
            </a:r>
            <a:r>
              <a:rPr lang="it-IT" sz="1400" dirty="0"/>
              <a:t> del soggetto estero in Italia che partecipa all'operazione </a:t>
            </a:r>
            <a:r>
              <a:rPr lang="it-IT" sz="1400" i="1" dirty="0"/>
              <a:t>esclude</a:t>
            </a:r>
            <a:r>
              <a:rPr lang="it-IT" sz="1400" dirty="0"/>
              <a:t> l'applicazione del reverse </a:t>
            </a:r>
            <a:r>
              <a:rPr lang="it-IT" sz="1400" dirty="0" err="1"/>
              <a:t>charge</a:t>
            </a:r>
            <a:r>
              <a:rPr lang="it-IT" sz="1400" dirty="0"/>
              <a:t>, ripristinando il meccanismo ordinario (art. 17, co. 4).</a:t>
            </a:r>
          </a:p>
        </p:txBody>
      </p:sp>
      <p:sp>
        <p:nvSpPr>
          <p:cNvPr id="2" name="Rettangolo 1">
            <a:extLst>
              <a:ext uri="{FF2B5EF4-FFF2-40B4-BE49-F238E27FC236}">
                <a16:creationId xmlns:a16="http://schemas.microsoft.com/office/drawing/2014/main" id="{1F579691-2454-AF46-5AC9-816101334F16}"/>
              </a:ext>
            </a:extLst>
          </p:cNvPr>
          <p:cNvSpPr/>
          <p:nvPr/>
        </p:nvSpPr>
        <p:spPr>
          <a:xfrm>
            <a:off x="657546" y="2159456"/>
            <a:ext cx="7828908" cy="768679"/>
          </a:xfrm>
          <a:prstGeom prst="rect">
            <a:avLst/>
          </a:prstGeom>
          <a:solidFill>
            <a:schemeClr val="accent6">
              <a:lumMod val="20000"/>
              <a:lumOff val="80000"/>
            </a:schemeClr>
          </a:solidFill>
          <a:ln>
            <a:noFill/>
          </a:ln>
        </p:spPr>
        <p:style>
          <a:lnRef idx="2">
            <a:schemeClr val="accent2"/>
          </a:lnRef>
          <a:fillRef idx="1">
            <a:schemeClr val="lt1"/>
          </a:fillRef>
          <a:effectRef idx="0">
            <a:schemeClr val="accent2"/>
          </a:effectRef>
          <a:fontRef idx="minor">
            <a:schemeClr val="dk1"/>
          </a:fontRef>
        </p:style>
        <p:txBody>
          <a:bodyPr numCol="1" rtlCol="0" anchor="ctr"/>
          <a:lstStyle/>
          <a:p>
            <a:r>
              <a:rPr lang="it-IT" sz="1200" b="1" dirty="0">
                <a:latin typeface="Segoe UI" panose="020B0502040204020203" pitchFamily="34" charset="0"/>
                <a:cs typeface="Segoe UI" panose="020B0502040204020203" pitchFamily="34" charset="0"/>
              </a:rPr>
              <a:t>Logica Giuridica Sottostante</a:t>
            </a:r>
          </a:p>
          <a:p>
            <a:r>
              <a:rPr lang="it-IT" sz="1200" dirty="0">
                <a:latin typeface="Segoe UI" panose="020B0502040204020203" pitchFamily="34" charset="0"/>
                <a:cs typeface="Segoe UI" panose="020B0502040204020203" pitchFamily="34" charset="0"/>
              </a:rPr>
              <a:t>L'ordinamento pone l'onere dell'assolvimento dell'imposta sul soggetto </a:t>
            </a:r>
            <a:r>
              <a:rPr lang="it-IT" sz="1200" b="1" dirty="0">
                <a:latin typeface="Segoe UI" panose="020B0502040204020203" pitchFamily="34" charset="0"/>
                <a:cs typeface="Segoe UI" panose="020B0502040204020203" pitchFamily="34" charset="0"/>
              </a:rPr>
              <a:t>stabilito nel territorio</a:t>
            </a:r>
            <a:r>
              <a:rPr lang="it-IT" sz="1200" dirty="0">
                <a:latin typeface="Segoe UI" panose="020B0502040204020203" pitchFamily="34" charset="0"/>
                <a:cs typeface="Segoe UI" panose="020B0502040204020203" pitchFamily="34" charset="0"/>
              </a:rPr>
              <a:t>, considerato più "affidabile" ai fini della riscossione rispetto a un operatore estero privo di stabile organizzazione</a:t>
            </a:r>
          </a:p>
        </p:txBody>
      </p:sp>
    </p:spTree>
    <p:extLst>
      <p:ext uri="{BB962C8B-B14F-4D97-AF65-F5344CB8AC3E}">
        <p14:creationId xmlns:p14="http://schemas.microsoft.com/office/powerpoint/2010/main" val="2429586130"/>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4F4B8-A8F0-657E-5A8F-7C95D786A96C}"/>
            </a:ext>
          </a:extLst>
        </p:cNvPr>
        <p:cNvGrpSpPr/>
        <p:nvPr/>
      </p:nvGrpSpPr>
      <p:grpSpPr>
        <a:xfrm>
          <a:off x="0" y="0"/>
          <a:ext cx="0" cy="0"/>
          <a:chOff x="0" y="0"/>
          <a:chExt cx="0" cy="0"/>
        </a:xfrm>
      </p:grpSpPr>
      <p:sp>
        <p:nvSpPr>
          <p:cNvPr id="7" name="Rettangolo 6">
            <a:extLst>
              <a:ext uri="{FF2B5EF4-FFF2-40B4-BE49-F238E27FC236}">
                <a16:creationId xmlns:a16="http://schemas.microsoft.com/office/drawing/2014/main" id="{A9927CEF-9187-9597-14CA-B296CFBE79A5}"/>
              </a:ext>
            </a:extLst>
          </p:cNvPr>
          <p:cNvSpPr/>
          <p:nvPr/>
        </p:nvSpPr>
        <p:spPr>
          <a:xfrm>
            <a:off x="485454" y="2136307"/>
            <a:ext cx="8173092" cy="4125695"/>
          </a:xfrm>
          <a:prstGeom prst="rect">
            <a:avLst/>
          </a:prstGeom>
          <a:ln>
            <a:prstDash val="dash"/>
          </a:ln>
        </p:spPr>
        <p:style>
          <a:lnRef idx="2">
            <a:schemeClr val="accent1"/>
          </a:lnRef>
          <a:fillRef idx="1">
            <a:schemeClr val="lt1"/>
          </a:fillRef>
          <a:effectRef idx="0">
            <a:schemeClr val="accent1"/>
          </a:effectRef>
          <a:fontRef idx="minor">
            <a:schemeClr val="dk1"/>
          </a:fontRef>
        </p:style>
        <p:txBody>
          <a:bodyPr numCol="1" rtlCol="0" anchor="t"/>
          <a:lstStyle/>
          <a:p>
            <a:pPr algn="ctr"/>
            <a:r>
              <a:rPr lang="it-IT" sz="1200" b="1" dirty="0">
                <a:solidFill>
                  <a:schemeClr val="accent1"/>
                </a:solidFill>
                <a:latin typeface="Segoe UI" panose="020B0502040204020203" pitchFamily="34" charset="0"/>
                <a:cs typeface="Segoe UI" panose="020B0502040204020203" pitchFamily="34" charset="0"/>
              </a:rPr>
              <a:t>Ambiti di applicazione</a:t>
            </a:r>
          </a:p>
          <a:p>
            <a:r>
              <a:rPr lang="it-IT" sz="1200" b="1" dirty="0">
                <a:latin typeface="Segoe UI" panose="020B0502040204020203" pitchFamily="34" charset="0"/>
                <a:cs typeface="Segoe UI" panose="020B0502040204020203" pitchFamily="34" charset="0"/>
              </a:rPr>
              <a:t>1. Settore Edile e Immobiliare</a:t>
            </a:r>
            <a:endParaRPr lang="it-IT" sz="1200" dirty="0">
              <a:latin typeface="Segoe UI" panose="020B0502040204020203" pitchFamily="34" charset="0"/>
              <a:cs typeface="Segoe UI" panose="020B0502040204020203" pitchFamily="34" charset="0"/>
            </a:endParaRPr>
          </a:p>
          <a:p>
            <a:pPr lvl="1"/>
            <a:r>
              <a:rPr lang="it-IT" sz="1050" b="1" dirty="0">
                <a:latin typeface="Segoe UI" panose="020B0502040204020203" pitchFamily="34" charset="0"/>
                <a:cs typeface="Segoe UI" panose="020B0502040204020203" pitchFamily="34" charset="0"/>
              </a:rPr>
              <a:t>Subappalti nel settore edile:</a:t>
            </a:r>
            <a:r>
              <a:rPr lang="it-IT" sz="1050" dirty="0">
                <a:latin typeface="Segoe UI" panose="020B0502040204020203" pitchFamily="34" charset="0"/>
                <a:cs typeface="Segoe UI" panose="020B0502040204020203" pitchFamily="34" charset="0"/>
              </a:rPr>
              <a:t> Prestazioni di servizi (inclusa manodopera) rese da subappaltatori a imprese edili, all'appaltatore principale o ad altri subappaltatori.</a:t>
            </a:r>
          </a:p>
          <a:p>
            <a:pPr lvl="1"/>
            <a:r>
              <a:rPr lang="it-IT" sz="1050" b="1" dirty="0">
                <a:latin typeface="Segoe UI" panose="020B0502040204020203" pitchFamily="34" charset="0"/>
                <a:cs typeface="Segoe UI" panose="020B0502040204020203" pitchFamily="34" charset="0"/>
              </a:rPr>
              <a:t>Servizi specifici su edifici:</a:t>
            </a:r>
            <a:r>
              <a:rPr lang="it-IT" sz="1050" dirty="0">
                <a:latin typeface="Segoe UI" panose="020B0502040204020203" pitchFamily="34" charset="0"/>
                <a:cs typeface="Segoe UI" panose="020B0502040204020203" pitchFamily="34" charset="0"/>
              </a:rPr>
              <a:t> Prestazioni di pulizia, demolizione, installazione di impianti e completamento relative a edifici, a prescindere dal rapporto contrattuale (subappalto o meno).</a:t>
            </a:r>
          </a:p>
          <a:p>
            <a:pPr lvl="1"/>
            <a:r>
              <a:rPr lang="it-IT" sz="1050" b="1" dirty="0">
                <a:latin typeface="Segoe UI" panose="020B0502040204020203" pitchFamily="34" charset="0"/>
                <a:cs typeface="Segoe UI" panose="020B0502040204020203" pitchFamily="34" charset="0"/>
              </a:rPr>
              <a:t>Cessioni di Fabbricati (con opzione IVA):</a:t>
            </a:r>
            <a:r>
              <a:rPr lang="it-IT" sz="1050" dirty="0">
                <a:latin typeface="Segoe UI" panose="020B0502040204020203" pitchFamily="34" charset="0"/>
                <a:cs typeface="Segoe UI" panose="020B0502040204020203" pitchFamily="34" charset="0"/>
              </a:rPr>
              <a:t> Cessioni di fabbricati strumentali o abitativi, normalmente esenti, per le quali il cedente abbia esercitato l'opzione per l'imponibilità IVA nell'atto di compravendita.</a:t>
            </a:r>
          </a:p>
          <a:p>
            <a:r>
              <a:rPr lang="it-IT" sz="1200" b="1" dirty="0">
                <a:latin typeface="Segoe UI" panose="020B0502040204020203" pitchFamily="34" charset="0"/>
                <a:cs typeface="Segoe UI" panose="020B0502040204020203" pitchFamily="34" charset="0"/>
              </a:rPr>
              <a:t>2. Settore Energetico e Ambientale</a:t>
            </a:r>
            <a:endParaRPr lang="it-IT" sz="1200" dirty="0">
              <a:latin typeface="Segoe UI" panose="020B0502040204020203" pitchFamily="34" charset="0"/>
              <a:cs typeface="Segoe UI" panose="020B0502040204020203" pitchFamily="34" charset="0"/>
            </a:endParaRPr>
          </a:p>
          <a:p>
            <a:pPr lvl="1"/>
            <a:r>
              <a:rPr lang="it-IT" sz="1050" b="1" dirty="0">
                <a:latin typeface="Segoe UI" panose="020B0502040204020203" pitchFamily="34" charset="0"/>
                <a:cs typeface="Segoe UI" panose="020B0502040204020203" pitchFamily="34" charset="0"/>
              </a:rPr>
              <a:t>Quote di Emissioni e Certificati Verdi: </a:t>
            </a:r>
            <a:r>
              <a:rPr lang="it-IT" sz="1050" dirty="0">
                <a:latin typeface="Segoe UI" panose="020B0502040204020203" pitchFamily="34" charset="0"/>
                <a:cs typeface="Segoe UI" panose="020B0502040204020203" pitchFamily="34" charset="0"/>
              </a:rPr>
              <a:t>Trasferimenti di quote di emissione di gas a effetto serra (lett. d-bis). Trasferimenti di certificati relativi a gas ed energia elettrica.</a:t>
            </a:r>
          </a:p>
          <a:p>
            <a:pPr lvl="1"/>
            <a:r>
              <a:rPr lang="it-IT" sz="1050" b="1" dirty="0">
                <a:latin typeface="Segoe UI" panose="020B0502040204020203" pitchFamily="34" charset="0"/>
                <a:cs typeface="Segoe UI" panose="020B0502040204020203" pitchFamily="34" charset="0"/>
              </a:rPr>
              <a:t>Cessioni di Gas ed Energia Elettrica:</a:t>
            </a:r>
            <a:r>
              <a:rPr lang="it-IT" sz="1050" dirty="0">
                <a:latin typeface="Segoe UI" panose="020B0502040204020203" pitchFamily="34" charset="0"/>
                <a:cs typeface="Segoe UI" panose="020B0502040204020203" pitchFamily="34" charset="0"/>
              </a:rPr>
              <a:t> Cessioni effettuate nei confronti di un "soggetto passivo-rivenditore".</a:t>
            </a:r>
          </a:p>
          <a:p>
            <a:r>
              <a:rPr lang="it-IT" sz="1200" b="1" dirty="0">
                <a:latin typeface="Segoe UI" panose="020B0502040204020203" pitchFamily="34" charset="0"/>
                <a:cs typeface="Segoe UI" panose="020B0502040204020203" pitchFamily="34" charset="0"/>
              </a:rPr>
              <a:t>3. Settore dell'Elettronica e delle Telecomunicazioni</a:t>
            </a:r>
            <a:endParaRPr lang="it-IT" sz="1200" dirty="0">
              <a:latin typeface="Segoe UI" panose="020B0502040204020203" pitchFamily="34" charset="0"/>
              <a:cs typeface="Segoe UI" panose="020B0502040204020203" pitchFamily="34" charset="0"/>
            </a:endParaRPr>
          </a:p>
          <a:p>
            <a:pPr lvl="1"/>
            <a:r>
              <a:rPr lang="it-IT" sz="1050" b="1" dirty="0">
                <a:latin typeface="Segoe UI" panose="020B0502040204020203" pitchFamily="34" charset="0"/>
                <a:cs typeface="Segoe UI" panose="020B0502040204020203" pitchFamily="34" charset="0"/>
              </a:rPr>
              <a:t>Apparecchiature per Telecomunicazioni:</a:t>
            </a:r>
            <a:r>
              <a:rPr lang="it-IT" sz="1050" dirty="0">
                <a:latin typeface="Segoe UI" panose="020B0502040204020203" pitchFamily="34" charset="0"/>
                <a:cs typeface="Segoe UI" panose="020B0502040204020203" pitchFamily="34" charset="0"/>
              </a:rPr>
              <a:t> Cessioni di telefoni cellulari e altre apparecchiature soggette a tassa di concessione governativa.</a:t>
            </a:r>
          </a:p>
          <a:p>
            <a:pPr lvl="1"/>
            <a:r>
              <a:rPr lang="it-IT" sz="1050" b="1" dirty="0">
                <a:latin typeface="Segoe UI" panose="020B0502040204020203" pitchFamily="34" charset="0"/>
                <a:cs typeface="Segoe UI" panose="020B0502040204020203" pitchFamily="34" charset="0"/>
              </a:rPr>
              <a:t>Dispositivi Elettronici:</a:t>
            </a:r>
            <a:r>
              <a:rPr lang="it-IT" sz="1050" dirty="0">
                <a:latin typeface="Segoe UI" panose="020B0502040204020203" pitchFamily="34" charset="0"/>
                <a:cs typeface="Segoe UI" panose="020B0502040204020203" pitchFamily="34" charset="0"/>
              </a:rPr>
              <a:t> Cessioni di console da gioco, tablet PC, laptop e componenti elettronici (microprocessori, CPU) effettuate in una fase distributiva antecedente all'installazione in prodotti destinati al consumatore finale.</a:t>
            </a:r>
          </a:p>
          <a:p>
            <a:r>
              <a:rPr lang="it-IT" sz="1200" b="1" dirty="0">
                <a:latin typeface="Segoe UI" panose="020B0502040204020203" pitchFamily="34" charset="0"/>
                <a:cs typeface="Segoe UI" panose="020B0502040204020203" pitchFamily="34" charset="0"/>
              </a:rPr>
              <a:t>4. Settore della Logistica e dei Trasporti</a:t>
            </a:r>
            <a:endParaRPr lang="it-IT" sz="1200" dirty="0">
              <a:latin typeface="Segoe UI" panose="020B0502040204020203" pitchFamily="34" charset="0"/>
              <a:cs typeface="Segoe UI" panose="020B0502040204020203" pitchFamily="34" charset="0"/>
            </a:endParaRPr>
          </a:p>
          <a:p>
            <a:pPr lvl="1"/>
            <a:r>
              <a:rPr lang="it-IT" sz="1050" b="1" dirty="0">
                <a:latin typeface="Segoe UI" panose="020B0502040204020203" pitchFamily="34" charset="0"/>
                <a:cs typeface="Segoe UI" panose="020B0502040204020203" pitchFamily="34" charset="0"/>
              </a:rPr>
              <a:t>Servizi a Imprese di Logistica:</a:t>
            </a:r>
            <a:r>
              <a:rPr lang="it-IT" sz="1050" dirty="0">
                <a:latin typeface="Segoe UI" panose="020B0502040204020203" pitchFamily="34" charset="0"/>
                <a:cs typeface="Segoe UI" panose="020B0502040204020203" pitchFamily="34" charset="0"/>
              </a:rPr>
              <a:t> Prestazioni di servizi (diverse da quelle edili) rese tramite appalto o subappalto a imprese che svolgono attività di trasporto, movimentazione merci e logistica.</a:t>
            </a:r>
          </a:p>
          <a:p>
            <a:pPr lvl="1"/>
            <a:endParaRPr lang="it-IT" sz="1050" dirty="0">
              <a:latin typeface="Segoe UI" panose="020B0502040204020203" pitchFamily="34" charset="0"/>
              <a:cs typeface="Segoe UI" panose="020B0502040204020203" pitchFamily="34" charset="0"/>
            </a:endParaRPr>
          </a:p>
          <a:p>
            <a:r>
              <a:rPr lang="it-IT" sz="1200" b="1" dirty="0">
                <a:latin typeface="Segoe UI" panose="020B0502040204020203" pitchFamily="34" charset="0"/>
                <a:cs typeface="Segoe UI" panose="020B0502040204020203" pitchFamily="34" charset="0"/>
              </a:rPr>
              <a:t>5. Appalti Pubblici (Norma soggetta ad autorizzazione UE)</a:t>
            </a:r>
            <a:endParaRPr lang="it-IT" sz="1200" dirty="0">
              <a:latin typeface="Segoe UI" panose="020B0502040204020203" pitchFamily="34" charset="0"/>
              <a:cs typeface="Segoe UI" panose="020B0502040204020203" pitchFamily="34" charset="0"/>
            </a:endParaRPr>
          </a:p>
          <a:p>
            <a:pPr lvl="1"/>
            <a:r>
              <a:rPr lang="it-IT" sz="1050" b="1" dirty="0">
                <a:latin typeface="Segoe UI" panose="020B0502040204020203" pitchFamily="34" charset="0"/>
                <a:cs typeface="Segoe UI" panose="020B0502040204020203" pitchFamily="34" charset="0"/>
              </a:rPr>
              <a:t>Prestazioni a Consorzi aggiudicatari:</a:t>
            </a:r>
            <a:r>
              <a:rPr lang="it-IT" sz="1050" dirty="0">
                <a:latin typeface="Segoe UI" panose="020B0502040204020203" pitchFamily="34" charset="0"/>
                <a:cs typeface="Segoe UI" panose="020B0502040204020203" pitchFamily="34" charset="0"/>
              </a:rPr>
              <a:t> Servizi resi dalle imprese consorziate al proprio consorzio, quando quest'ultimo è aggiudicatario di una commessa verso un ente pubblico e soggetto allo </a:t>
            </a:r>
            <a:r>
              <a:rPr lang="it-IT" sz="1050" i="1" dirty="0">
                <a:latin typeface="Segoe UI" panose="020B0502040204020203" pitchFamily="34" charset="0"/>
                <a:cs typeface="Segoe UI" panose="020B0502040204020203" pitchFamily="34" charset="0"/>
              </a:rPr>
              <a:t>split payment.</a:t>
            </a:r>
            <a:endParaRPr lang="it-IT" sz="1050" dirty="0">
              <a:latin typeface="Segoe UI" panose="020B0502040204020203" pitchFamily="34" charset="0"/>
              <a:cs typeface="Segoe UI" panose="020B0502040204020203" pitchFamily="34" charset="0"/>
            </a:endParaRPr>
          </a:p>
          <a:p>
            <a:pPr algn="ctr"/>
            <a:endParaRPr lang="it-IT" sz="1200" b="1" dirty="0">
              <a:solidFill>
                <a:schemeClr val="accent1"/>
              </a:solidFill>
              <a:latin typeface="Segoe UI" panose="020B0502040204020203" pitchFamily="34" charset="0"/>
              <a:cs typeface="Segoe UI" panose="020B0502040204020203" pitchFamily="34" charset="0"/>
            </a:endParaRPr>
          </a:p>
          <a:p>
            <a:pPr algn="ctr"/>
            <a:endParaRPr lang="it-IT" sz="1200" b="1" dirty="0">
              <a:solidFill>
                <a:schemeClr val="accent1"/>
              </a:solidFill>
              <a:latin typeface="Segoe UI" panose="020B0502040204020203" pitchFamily="34" charset="0"/>
              <a:cs typeface="Segoe UI" panose="020B0502040204020203" pitchFamily="34" charset="0"/>
            </a:endParaRPr>
          </a:p>
          <a:p>
            <a:pPr algn="ctr"/>
            <a:endParaRPr lang="it-IT" sz="1200" b="1" dirty="0">
              <a:solidFill>
                <a:schemeClr val="accent1"/>
              </a:solidFill>
              <a:latin typeface="Segoe UI" panose="020B0502040204020203" pitchFamily="34" charset="0"/>
              <a:cs typeface="Segoe UI" panose="020B0502040204020203" pitchFamily="34" charset="0"/>
            </a:endParaRPr>
          </a:p>
          <a:p>
            <a:pPr algn="ctr"/>
            <a:endParaRPr lang="it-IT" sz="1200" b="1" dirty="0">
              <a:solidFill>
                <a:schemeClr val="accent1"/>
              </a:solidFill>
              <a:latin typeface="Segoe UI" panose="020B0502040204020203" pitchFamily="34" charset="0"/>
              <a:cs typeface="Segoe UI" panose="020B0502040204020203" pitchFamily="34" charset="0"/>
            </a:endParaRPr>
          </a:p>
          <a:p>
            <a:pPr algn="ctr"/>
            <a:endParaRPr lang="it-IT" sz="1200" b="1" dirty="0">
              <a:solidFill>
                <a:schemeClr val="accent1"/>
              </a:solidFill>
              <a:latin typeface="Segoe UI" panose="020B0502040204020203" pitchFamily="34" charset="0"/>
              <a:cs typeface="Segoe UI" panose="020B0502040204020203" pitchFamily="34" charset="0"/>
            </a:endParaRPr>
          </a:p>
          <a:p>
            <a:pPr algn="ctr"/>
            <a:endParaRPr lang="it-IT" sz="1200" b="1" dirty="0">
              <a:solidFill>
                <a:schemeClr val="accent1"/>
              </a:solidFill>
              <a:latin typeface="Segoe UI" panose="020B0502040204020203" pitchFamily="34" charset="0"/>
              <a:cs typeface="Segoe UI" panose="020B0502040204020203" pitchFamily="34" charset="0"/>
            </a:endParaRPr>
          </a:p>
        </p:txBody>
      </p:sp>
      <p:sp>
        <p:nvSpPr>
          <p:cNvPr id="161" name="CustomShape 1">
            <a:extLst>
              <a:ext uri="{FF2B5EF4-FFF2-40B4-BE49-F238E27FC236}">
                <a16:creationId xmlns:a16="http://schemas.microsoft.com/office/drawing/2014/main" id="{6020824E-9A8E-9CFA-9D40-9E47C56FDBF5}"/>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en-US" altLang="it-IT" sz="2800" b="1" spc="-1" noProof="1">
                <a:solidFill>
                  <a:srgbClr val="FFFFFF"/>
                </a:solidFill>
                <a:latin typeface="Ubuntu" panose="020B0604030602030204"/>
              </a:rPr>
              <a:t>Reverse Charge “interno”</a:t>
            </a:r>
          </a:p>
        </p:txBody>
      </p:sp>
      <p:sp>
        <p:nvSpPr>
          <p:cNvPr id="162" name="CustomShape 2">
            <a:extLst>
              <a:ext uri="{FF2B5EF4-FFF2-40B4-BE49-F238E27FC236}">
                <a16:creationId xmlns:a16="http://schemas.microsoft.com/office/drawing/2014/main" id="{DBE914B6-BE42-B6C5-A8B2-A9305CE5B433}"/>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latin typeface="Segoe UI" panose="020B0502040204020203" pitchFamily="34" charset="0"/>
              <a:cs typeface="Segoe UI" panose="020B0502040204020203" pitchFamily="34" charset="0"/>
            </a:endParaRPr>
          </a:p>
        </p:txBody>
      </p:sp>
      <p:sp>
        <p:nvSpPr>
          <p:cNvPr id="3" name="CasellaDiTesto 2">
            <a:extLst>
              <a:ext uri="{FF2B5EF4-FFF2-40B4-BE49-F238E27FC236}">
                <a16:creationId xmlns:a16="http://schemas.microsoft.com/office/drawing/2014/main" id="{4EB2443B-BB4D-DE2A-A2A5-283F12962297}"/>
              </a:ext>
            </a:extLst>
          </p:cNvPr>
          <p:cNvSpPr txBox="1"/>
          <p:nvPr/>
        </p:nvSpPr>
        <p:spPr>
          <a:xfrm>
            <a:off x="485454" y="1377714"/>
            <a:ext cx="8173092" cy="646331"/>
          </a:xfrm>
          <a:prstGeom prst="rect">
            <a:avLst/>
          </a:prstGeom>
          <a:solidFill>
            <a:schemeClr val="accent6">
              <a:lumMod val="20000"/>
              <a:lumOff val="80000"/>
            </a:schemeClr>
          </a:solidFill>
        </p:spPr>
        <p:txBody>
          <a:bodyPr wrap="square">
            <a:spAutoFit/>
          </a:bodyPr>
          <a:lstStyle/>
          <a:p>
            <a:r>
              <a:rPr lang="it-IT" sz="1200" dirty="0">
                <a:latin typeface="Segoe UI" panose="020B0502040204020203" pitchFamily="34" charset="0"/>
                <a:cs typeface="Segoe UI" panose="020B0502040204020203" pitchFamily="34" charset="0"/>
              </a:rPr>
              <a:t>Misura speciale </a:t>
            </a:r>
            <a:r>
              <a:rPr lang="it-IT" sz="1200" b="1" dirty="0">
                <a:latin typeface="Segoe UI" panose="020B0502040204020203" pitchFamily="34" charset="0"/>
                <a:cs typeface="Segoe UI" panose="020B0502040204020203" pitchFamily="34" charset="0"/>
              </a:rPr>
              <a:t>autorizzata dall'Unione Europea</a:t>
            </a:r>
            <a:r>
              <a:rPr lang="it-IT" sz="1200" dirty="0">
                <a:latin typeface="Segoe UI" panose="020B0502040204020203" pitchFamily="34" charset="0"/>
                <a:cs typeface="Segoe UI" panose="020B0502040204020203" pitchFamily="34" charset="0"/>
              </a:rPr>
              <a:t>, applicabile a operazioni puramente domestiche in settori specifici ad alto rischio di evasione. </a:t>
            </a:r>
            <a:r>
              <a:rPr lang="it-IT" sz="1200" i="1" dirty="0">
                <a:latin typeface="Segoe UI" panose="020B0502040204020203" pitchFamily="34" charset="0"/>
                <a:cs typeface="Segoe UI" panose="020B0502040204020203" pitchFamily="34" charset="0"/>
              </a:rPr>
              <a:t>Finalità:</a:t>
            </a:r>
            <a:r>
              <a:rPr lang="it-IT" sz="1200" dirty="0">
                <a:latin typeface="Segoe UI" panose="020B0502040204020203" pitchFamily="34" charset="0"/>
                <a:cs typeface="Segoe UI" panose="020B0502040204020203" pitchFamily="34" charset="0"/>
              </a:rPr>
              <a:t> Impedire al cedente/prestatore di incassare l'IVA dal cliente e sottrarsi al successivo versamento all'Erario.</a:t>
            </a:r>
          </a:p>
        </p:txBody>
      </p:sp>
      <p:sp>
        <p:nvSpPr>
          <p:cNvPr id="9" name="Ovale 8">
            <a:extLst>
              <a:ext uri="{FF2B5EF4-FFF2-40B4-BE49-F238E27FC236}">
                <a16:creationId xmlns:a16="http://schemas.microsoft.com/office/drawing/2014/main" id="{ECFA7843-CE0E-6969-B00B-2A50A4EF11DC}"/>
              </a:ext>
            </a:extLst>
          </p:cNvPr>
          <p:cNvSpPr/>
          <p:nvPr/>
        </p:nvSpPr>
        <p:spPr>
          <a:xfrm>
            <a:off x="7114854" y="5394561"/>
            <a:ext cx="2029146" cy="472840"/>
          </a:xfrm>
          <a:prstGeom prst="ellipse">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it-IT" sz="1200" dirty="0">
                <a:latin typeface="Segoe UI" panose="020B0502040204020203" pitchFamily="34" charset="0"/>
                <a:cs typeface="Segoe UI" panose="020B0502040204020203" pitchFamily="34" charset="0"/>
                <a:hlinkClick r:id="rId3"/>
              </a:rPr>
              <a:t>San Domenico Vetraria</a:t>
            </a:r>
            <a:endParaRPr lang="it-IT" sz="12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484535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79222-9A2E-9E35-A475-3E2C58C4F09D}"/>
            </a:ext>
          </a:extLst>
        </p:cNvPr>
        <p:cNvGrpSpPr/>
        <p:nvPr/>
      </p:nvGrpSpPr>
      <p:grpSpPr>
        <a:xfrm>
          <a:off x="0" y="0"/>
          <a:ext cx="0" cy="0"/>
          <a:chOff x="0" y="0"/>
          <a:chExt cx="0" cy="0"/>
        </a:xfrm>
      </p:grpSpPr>
      <p:sp>
        <p:nvSpPr>
          <p:cNvPr id="161" name="CustomShape 1">
            <a:extLst>
              <a:ext uri="{FF2B5EF4-FFF2-40B4-BE49-F238E27FC236}">
                <a16:creationId xmlns:a16="http://schemas.microsoft.com/office/drawing/2014/main" id="{3426F2CF-43D4-26CC-4501-5AF83E8BA5D9}"/>
              </a:ext>
            </a:extLst>
          </p:cNvPr>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en-US" altLang="it-IT" sz="2800" b="1" spc="-1" noProof="1">
                <a:solidFill>
                  <a:srgbClr val="FFFFFF"/>
                </a:solidFill>
                <a:latin typeface="Ubuntu" panose="020B0604030602030204"/>
              </a:rPr>
              <a:t>Reverse Charge - sinossi</a:t>
            </a:r>
          </a:p>
        </p:txBody>
      </p:sp>
      <p:sp>
        <p:nvSpPr>
          <p:cNvPr id="162" name="CustomShape 2">
            <a:extLst>
              <a:ext uri="{FF2B5EF4-FFF2-40B4-BE49-F238E27FC236}">
                <a16:creationId xmlns:a16="http://schemas.microsoft.com/office/drawing/2014/main" id="{B3018BDB-0AAE-7B77-42E6-D6AA60A8F9DE}"/>
              </a:ext>
            </a:extLst>
          </p:cNvPr>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graphicFrame>
        <p:nvGraphicFramePr>
          <p:cNvPr id="8" name="Tabella 7">
            <a:extLst>
              <a:ext uri="{FF2B5EF4-FFF2-40B4-BE49-F238E27FC236}">
                <a16:creationId xmlns:a16="http://schemas.microsoft.com/office/drawing/2014/main" id="{D45F2746-97B0-F3D7-5B8B-5BE3045990CA}"/>
              </a:ext>
            </a:extLst>
          </p:cNvPr>
          <p:cNvGraphicFramePr>
            <a:graphicFrameLocks noGrp="1"/>
          </p:cNvGraphicFramePr>
          <p:nvPr>
            <p:extLst>
              <p:ext uri="{D42A27DB-BD31-4B8C-83A1-F6EECF244321}">
                <p14:modId xmlns:p14="http://schemas.microsoft.com/office/powerpoint/2010/main" val="2502141950"/>
              </p:ext>
            </p:extLst>
          </p:nvPr>
        </p:nvGraphicFramePr>
        <p:xfrm>
          <a:off x="671512" y="1615523"/>
          <a:ext cx="7800976" cy="3307868"/>
        </p:xfrm>
        <a:graphic>
          <a:graphicData uri="http://schemas.openxmlformats.org/drawingml/2006/table">
            <a:tbl>
              <a:tblPr firstRow="1">
                <a:tableStyleId>{10A1B5D5-9B99-4C35-A422-299274C87663}</a:tableStyleId>
              </a:tblPr>
              <a:tblGrid>
                <a:gridCol w="1950244">
                  <a:extLst>
                    <a:ext uri="{9D8B030D-6E8A-4147-A177-3AD203B41FA5}">
                      <a16:colId xmlns:a16="http://schemas.microsoft.com/office/drawing/2014/main" val="3872266764"/>
                    </a:ext>
                  </a:extLst>
                </a:gridCol>
                <a:gridCol w="1950244">
                  <a:extLst>
                    <a:ext uri="{9D8B030D-6E8A-4147-A177-3AD203B41FA5}">
                      <a16:colId xmlns:a16="http://schemas.microsoft.com/office/drawing/2014/main" val="822912138"/>
                    </a:ext>
                  </a:extLst>
                </a:gridCol>
                <a:gridCol w="1950244">
                  <a:extLst>
                    <a:ext uri="{9D8B030D-6E8A-4147-A177-3AD203B41FA5}">
                      <a16:colId xmlns:a16="http://schemas.microsoft.com/office/drawing/2014/main" val="2328490518"/>
                    </a:ext>
                  </a:extLst>
                </a:gridCol>
                <a:gridCol w="1950244">
                  <a:extLst>
                    <a:ext uri="{9D8B030D-6E8A-4147-A177-3AD203B41FA5}">
                      <a16:colId xmlns:a16="http://schemas.microsoft.com/office/drawing/2014/main" val="433952985"/>
                    </a:ext>
                  </a:extLst>
                </a:gridCol>
              </a:tblGrid>
              <a:tr h="564845">
                <a:tc>
                  <a:txBody>
                    <a:bodyPr/>
                    <a:lstStyle/>
                    <a:p>
                      <a:pPr algn="l"/>
                      <a:r>
                        <a:rPr lang="it-IT" sz="1400" b="1" dirty="0">
                          <a:solidFill>
                            <a:srgbClr val="FFFFFF"/>
                          </a:solidFill>
                          <a:effectLst/>
                          <a:latin typeface="Segoe UI" panose="020B0502040204020203" pitchFamily="34" charset="0"/>
                          <a:cs typeface="Segoe UI" panose="020B0502040204020203" pitchFamily="34" charset="0"/>
                        </a:rPr>
                        <a:t>Criterio di Analisi</a:t>
                      </a:r>
                    </a:p>
                  </a:txBody>
                  <a:tcPr marL="110874" marR="110874" marT="110874" marB="110874" anchor="ctr"/>
                </a:tc>
                <a:tc>
                  <a:txBody>
                    <a:bodyPr/>
                    <a:lstStyle/>
                    <a:p>
                      <a:pPr algn="l"/>
                      <a:r>
                        <a:rPr lang="it-IT" sz="1400" b="1" dirty="0">
                          <a:solidFill>
                            <a:srgbClr val="FFFFFF"/>
                          </a:solidFill>
                          <a:effectLst/>
                          <a:latin typeface="Segoe UI" panose="020B0502040204020203" pitchFamily="34" charset="0"/>
                          <a:cs typeface="Segoe UI" panose="020B0502040204020203" pitchFamily="34" charset="0"/>
                        </a:rPr>
                        <a:t>Regime Ordinario</a:t>
                      </a:r>
                    </a:p>
                  </a:txBody>
                  <a:tcPr marL="110874" marR="110874" marT="110874" marB="110874" anchor="ctr"/>
                </a:tc>
                <a:tc>
                  <a:txBody>
                    <a:bodyPr/>
                    <a:lstStyle/>
                    <a:p>
                      <a:pPr algn="l"/>
                      <a:r>
                        <a:rPr lang="it-IT" sz="1400" b="1" dirty="0">
                          <a:solidFill>
                            <a:srgbClr val="FFFFFF"/>
                          </a:solidFill>
                          <a:effectLst/>
                          <a:latin typeface="Segoe UI" panose="020B0502040204020203" pitchFamily="34" charset="0"/>
                          <a:cs typeface="Segoe UI" panose="020B0502040204020203" pitchFamily="34" charset="0"/>
                        </a:rPr>
                        <a:t>Reverse </a:t>
                      </a:r>
                      <a:r>
                        <a:rPr lang="it-IT" sz="1400" b="1" dirty="0" err="1">
                          <a:solidFill>
                            <a:srgbClr val="FFFFFF"/>
                          </a:solidFill>
                          <a:effectLst/>
                          <a:latin typeface="Segoe UI" panose="020B0502040204020203" pitchFamily="34" charset="0"/>
                          <a:cs typeface="Segoe UI" panose="020B0502040204020203" pitchFamily="34" charset="0"/>
                        </a:rPr>
                        <a:t>Charge</a:t>
                      </a:r>
                      <a:r>
                        <a:rPr lang="it-IT" sz="1400" b="1" dirty="0">
                          <a:solidFill>
                            <a:srgbClr val="FFFFFF"/>
                          </a:solidFill>
                          <a:effectLst/>
                          <a:latin typeface="Segoe UI" panose="020B0502040204020203" pitchFamily="34" charset="0"/>
                          <a:cs typeface="Segoe UI" panose="020B0502040204020203" pitchFamily="34" charset="0"/>
                        </a:rPr>
                        <a:t> Interno</a:t>
                      </a:r>
                    </a:p>
                  </a:txBody>
                  <a:tcPr marL="110874" marR="110874" marT="110874" marB="110874" anchor="ctr"/>
                </a:tc>
                <a:tc>
                  <a:txBody>
                    <a:bodyPr/>
                    <a:lstStyle/>
                    <a:p>
                      <a:pPr algn="l"/>
                      <a:r>
                        <a:rPr lang="it-IT" sz="1400" b="1" dirty="0">
                          <a:solidFill>
                            <a:srgbClr val="FFFFFF"/>
                          </a:solidFill>
                          <a:effectLst/>
                          <a:latin typeface="Segoe UI" panose="020B0502040204020203" pitchFamily="34" charset="0"/>
                          <a:cs typeface="Segoe UI" panose="020B0502040204020203" pitchFamily="34" charset="0"/>
                        </a:rPr>
                        <a:t>Reverse </a:t>
                      </a:r>
                      <a:r>
                        <a:rPr lang="it-IT" sz="1400" b="1" dirty="0" err="1">
                          <a:solidFill>
                            <a:srgbClr val="FFFFFF"/>
                          </a:solidFill>
                          <a:effectLst/>
                          <a:latin typeface="Segoe UI" panose="020B0502040204020203" pitchFamily="34" charset="0"/>
                          <a:cs typeface="Segoe UI" panose="020B0502040204020203" pitchFamily="34" charset="0"/>
                        </a:rPr>
                        <a:t>Charge</a:t>
                      </a:r>
                      <a:r>
                        <a:rPr lang="it-IT" sz="1400" b="1" dirty="0">
                          <a:solidFill>
                            <a:srgbClr val="FFFFFF"/>
                          </a:solidFill>
                          <a:effectLst/>
                          <a:latin typeface="Segoe UI" panose="020B0502040204020203" pitchFamily="34" charset="0"/>
                          <a:cs typeface="Segoe UI" panose="020B0502040204020203" pitchFamily="34" charset="0"/>
                        </a:rPr>
                        <a:t> Esterno</a:t>
                      </a:r>
                    </a:p>
                  </a:txBody>
                  <a:tcPr marL="110874" marR="110874" marT="110874" marB="110874" anchor="ctr"/>
                </a:tc>
                <a:extLst>
                  <a:ext uri="{0D108BD9-81ED-4DB2-BD59-A6C34878D82A}">
                    <a16:rowId xmlns:a16="http://schemas.microsoft.com/office/drawing/2014/main" val="1689153557"/>
                  </a:ext>
                </a:extLst>
              </a:tr>
              <a:tr h="353487">
                <a:tc>
                  <a:txBody>
                    <a:bodyPr/>
                    <a:lstStyle/>
                    <a:p>
                      <a:pPr fontAlgn="t"/>
                      <a:r>
                        <a:rPr lang="it-IT" sz="1400" b="1" dirty="0">
                          <a:effectLst/>
                          <a:latin typeface="Segoe UI" panose="020B0502040204020203" pitchFamily="34" charset="0"/>
                          <a:cs typeface="Segoe UI" panose="020B0502040204020203" pitchFamily="34" charset="0"/>
                        </a:rPr>
                        <a:t>Debitore d'Imposta</a:t>
                      </a:r>
                      <a:endParaRPr lang="it-IT" sz="1400" dirty="0">
                        <a:effectLst/>
                        <a:latin typeface="Segoe UI" panose="020B0502040204020203" pitchFamily="34" charset="0"/>
                        <a:cs typeface="Segoe UI" panose="020B0502040204020203" pitchFamily="34" charset="0"/>
                      </a:endParaRP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Fornitore</a:t>
                      </a:r>
                    </a:p>
                  </a:txBody>
                  <a:tcPr marL="110874" marR="110874" marT="92395" marB="92395"/>
                </a:tc>
                <a:tc>
                  <a:txBody>
                    <a:bodyPr/>
                    <a:lstStyle/>
                    <a:p>
                      <a:pPr fontAlgn="t"/>
                      <a:r>
                        <a:rPr lang="it-IT" sz="1400">
                          <a:effectLst/>
                          <a:latin typeface="Segoe UI" panose="020B0502040204020203" pitchFamily="34" charset="0"/>
                          <a:cs typeface="Segoe UI" panose="020B0502040204020203" pitchFamily="34" charset="0"/>
                        </a:rPr>
                        <a:t>Cliente</a:t>
                      </a:r>
                    </a:p>
                  </a:txBody>
                  <a:tcPr marL="110874" marR="110874" marT="92395" marB="92395"/>
                </a:tc>
                <a:tc>
                  <a:txBody>
                    <a:bodyPr/>
                    <a:lstStyle/>
                    <a:p>
                      <a:pPr fontAlgn="t"/>
                      <a:r>
                        <a:rPr lang="it-IT" sz="1400">
                          <a:effectLst/>
                          <a:latin typeface="Segoe UI" panose="020B0502040204020203" pitchFamily="34" charset="0"/>
                          <a:cs typeface="Segoe UI" panose="020B0502040204020203" pitchFamily="34" charset="0"/>
                        </a:rPr>
                        <a:t>Cliente</a:t>
                      </a:r>
                    </a:p>
                  </a:txBody>
                  <a:tcPr marL="110874" marR="110874" marT="92395" marB="92395"/>
                </a:tc>
                <a:extLst>
                  <a:ext uri="{0D108BD9-81ED-4DB2-BD59-A6C34878D82A}">
                    <a16:rowId xmlns:a16="http://schemas.microsoft.com/office/drawing/2014/main" val="278597477"/>
                  </a:ext>
                </a:extLst>
              </a:tr>
              <a:tr h="705138">
                <a:tc>
                  <a:txBody>
                    <a:bodyPr/>
                    <a:lstStyle/>
                    <a:p>
                      <a:pPr fontAlgn="t"/>
                      <a:r>
                        <a:rPr lang="it-IT" sz="1400" b="1">
                          <a:effectLst/>
                          <a:latin typeface="Segoe UI" panose="020B0502040204020203" pitchFamily="34" charset="0"/>
                          <a:cs typeface="Segoe UI" panose="020B0502040204020203" pitchFamily="34" charset="0"/>
                        </a:rPr>
                        <a:t>Documento Fiscale</a:t>
                      </a:r>
                      <a:endParaRPr lang="it-IT" sz="1400">
                        <a:effectLst/>
                        <a:latin typeface="Segoe UI" panose="020B0502040204020203" pitchFamily="34" charset="0"/>
                        <a:cs typeface="Segoe UI" panose="020B0502040204020203" pitchFamily="34" charset="0"/>
                      </a:endParaRP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Fattura con IVA in rivalsa</a:t>
                      </a: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Fattura senza IVA con dicitura "inversione contabile"</a:t>
                      </a:r>
                    </a:p>
                  </a:txBody>
                  <a:tcPr marL="110874" marR="110874" marT="92395" marB="92395"/>
                </a:tc>
                <a:tc>
                  <a:txBody>
                    <a:bodyPr/>
                    <a:lstStyle/>
                    <a:p>
                      <a:pPr fontAlgn="t"/>
                      <a:r>
                        <a:rPr lang="it-IT" sz="1400">
                          <a:effectLst/>
                          <a:latin typeface="Segoe UI" panose="020B0502040204020203" pitchFamily="34" charset="0"/>
                          <a:cs typeface="Segoe UI" panose="020B0502040204020203" pitchFamily="34" charset="0"/>
                        </a:rPr>
                        <a:t>Fattura senza IVA (dal fornitore)</a:t>
                      </a:r>
                    </a:p>
                  </a:txBody>
                  <a:tcPr marL="110874" marR="110874" marT="92395" marB="92395"/>
                </a:tc>
                <a:extLst>
                  <a:ext uri="{0D108BD9-81ED-4DB2-BD59-A6C34878D82A}">
                    <a16:rowId xmlns:a16="http://schemas.microsoft.com/office/drawing/2014/main" val="198826591"/>
                  </a:ext>
                </a:extLst>
              </a:tr>
              <a:tr h="689395">
                <a:tc>
                  <a:txBody>
                    <a:bodyPr/>
                    <a:lstStyle/>
                    <a:p>
                      <a:pPr fontAlgn="t"/>
                      <a:r>
                        <a:rPr lang="it-IT" sz="1400" b="1">
                          <a:effectLst/>
                          <a:latin typeface="Segoe UI" panose="020B0502040204020203" pitchFamily="34" charset="0"/>
                          <a:cs typeface="Segoe UI" panose="020B0502040204020203" pitchFamily="34" charset="0"/>
                        </a:rPr>
                        <a:t>Adempimento Cliente</a:t>
                      </a:r>
                      <a:endParaRPr lang="it-IT" sz="1400">
                        <a:effectLst/>
                        <a:latin typeface="Segoe UI" panose="020B0502040204020203" pitchFamily="34" charset="0"/>
                        <a:cs typeface="Segoe UI" panose="020B0502040204020203" pitchFamily="34" charset="0"/>
                      </a:endParaRPr>
                    </a:p>
                  </a:txBody>
                  <a:tcPr marL="110874" marR="110874" marT="92395" marB="92395"/>
                </a:tc>
                <a:tc>
                  <a:txBody>
                    <a:bodyPr/>
                    <a:lstStyle/>
                    <a:p>
                      <a:pPr fontAlgn="t"/>
                      <a:r>
                        <a:rPr lang="it-IT" sz="1400">
                          <a:effectLst/>
                          <a:latin typeface="Segoe UI" panose="020B0502040204020203" pitchFamily="34" charset="0"/>
                          <a:cs typeface="Segoe UI" panose="020B0502040204020203" pitchFamily="34" charset="0"/>
                        </a:rPr>
                        <a:t>Registra fattura d'acquisto</a:t>
                      </a: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Integra fattura e registra in entrambi i registri</a:t>
                      </a:r>
                    </a:p>
                  </a:txBody>
                  <a:tcPr marL="110874" marR="110874" marT="92395" marB="92395"/>
                </a:tc>
                <a:tc>
                  <a:txBody>
                    <a:bodyPr/>
                    <a:lstStyle/>
                    <a:p>
                      <a:pPr fontAlgn="t"/>
                      <a:r>
                        <a:rPr lang="it-IT" sz="1400">
                          <a:effectLst/>
                          <a:latin typeface="Segoe UI" panose="020B0502040204020203" pitchFamily="34" charset="0"/>
                          <a:cs typeface="Segoe UI" panose="020B0502040204020203" pitchFamily="34" charset="0"/>
                        </a:rPr>
                        <a:t>Integra (UE) o emette autofattura (extra-UE)</a:t>
                      </a:r>
                    </a:p>
                  </a:txBody>
                  <a:tcPr marL="110874" marR="110874" marT="92395" marB="92395"/>
                </a:tc>
                <a:extLst>
                  <a:ext uri="{0D108BD9-81ED-4DB2-BD59-A6C34878D82A}">
                    <a16:rowId xmlns:a16="http://schemas.microsoft.com/office/drawing/2014/main" val="903470080"/>
                  </a:ext>
                </a:extLst>
              </a:tr>
              <a:tr h="529312">
                <a:tc>
                  <a:txBody>
                    <a:bodyPr/>
                    <a:lstStyle/>
                    <a:p>
                      <a:pPr fontAlgn="t"/>
                      <a:r>
                        <a:rPr lang="it-IT" sz="1400" b="1" dirty="0">
                          <a:effectLst/>
                          <a:latin typeface="Segoe UI" panose="020B0502040204020203" pitchFamily="34" charset="0"/>
                          <a:cs typeface="Segoe UI" panose="020B0502040204020203" pitchFamily="34" charset="0"/>
                        </a:rPr>
                        <a:t>Finalità Prevalente</a:t>
                      </a:r>
                      <a:endParaRPr lang="it-IT" sz="1400" dirty="0">
                        <a:effectLst/>
                        <a:latin typeface="Segoe UI" panose="020B0502040204020203" pitchFamily="34" charset="0"/>
                        <a:cs typeface="Segoe UI" panose="020B0502040204020203" pitchFamily="34" charset="0"/>
                      </a:endParaRP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Funzionamento standard</a:t>
                      </a: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Anti-frode</a:t>
                      </a:r>
                    </a:p>
                  </a:txBody>
                  <a:tcPr marL="110874" marR="110874" marT="92395" marB="92395"/>
                </a:tc>
                <a:tc>
                  <a:txBody>
                    <a:bodyPr/>
                    <a:lstStyle/>
                    <a:p>
                      <a:pPr fontAlgn="t"/>
                      <a:r>
                        <a:rPr lang="it-IT" sz="1400" dirty="0">
                          <a:effectLst/>
                          <a:latin typeface="Segoe UI" panose="020B0502040204020203" pitchFamily="34" charset="0"/>
                          <a:cs typeface="Segoe UI" panose="020B0502040204020203" pitchFamily="34" charset="0"/>
                        </a:rPr>
                        <a:t>Semplificazione/Tassazione a destinazione</a:t>
                      </a:r>
                    </a:p>
                  </a:txBody>
                  <a:tcPr marL="110874" marR="110874" marT="92395" marB="92395"/>
                </a:tc>
                <a:extLst>
                  <a:ext uri="{0D108BD9-81ED-4DB2-BD59-A6C34878D82A}">
                    <a16:rowId xmlns:a16="http://schemas.microsoft.com/office/drawing/2014/main" val="3809384589"/>
                  </a:ext>
                </a:extLst>
              </a:tr>
            </a:tbl>
          </a:graphicData>
        </a:graphic>
      </p:graphicFrame>
      <p:sp>
        <p:nvSpPr>
          <p:cNvPr id="9" name="Rettangolo 8">
            <a:extLst>
              <a:ext uri="{FF2B5EF4-FFF2-40B4-BE49-F238E27FC236}">
                <a16:creationId xmlns:a16="http://schemas.microsoft.com/office/drawing/2014/main" id="{CF048980-4C6E-36DA-1600-8937429D0EAA}"/>
              </a:ext>
            </a:extLst>
          </p:cNvPr>
          <p:cNvSpPr/>
          <p:nvPr/>
        </p:nvSpPr>
        <p:spPr>
          <a:xfrm>
            <a:off x="671512" y="5105400"/>
            <a:ext cx="4833938" cy="120015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r>
              <a:rPr lang="it-IT" sz="1050" b="1" dirty="0">
                <a:solidFill>
                  <a:schemeClr val="bg1"/>
                </a:solidFill>
                <a:latin typeface="Segoe UI" panose="020B0502040204020203" pitchFamily="34" charset="0"/>
                <a:cs typeface="Segoe UI" panose="020B0502040204020203" pitchFamily="34" charset="0"/>
              </a:rPr>
              <a:t>Il Regime Sanzionatorio del </a:t>
            </a:r>
            <a:r>
              <a:rPr lang="it-IT" sz="1050" b="1" i="1" dirty="0">
                <a:solidFill>
                  <a:schemeClr val="bg1"/>
                </a:solidFill>
                <a:latin typeface="Segoe UI" panose="020B0502040204020203" pitchFamily="34" charset="0"/>
                <a:cs typeface="Segoe UI" panose="020B0502040204020203" pitchFamily="34" charset="0"/>
              </a:rPr>
              <a:t>Reverse </a:t>
            </a:r>
            <a:r>
              <a:rPr lang="it-IT" sz="1050" b="1" i="1" dirty="0" err="1">
                <a:solidFill>
                  <a:schemeClr val="bg1"/>
                </a:solidFill>
                <a:latin typeface="Segoe UI" panose="020B0502040204020203" pitchFamily="34" charset="0"/>
                <a:cs typeface="Segoe UI" panose="020B0502040204020203" pitchFamily="34" charset="0"/>
              </a:rPr>
              <a:t>Charge</a:t>
            </a:r>
            <a:r>
              <a:rPr lang="it-IT" sz="1050" b="1" dirty="0">
                <a:solidFill>
                  <a:schemeClr val="bg1"/>
                </a:solidFill>
                <a:latin typeface="Segoe UI" panose="020B0502040204020203" pitchFamily="34" charset="0"/>
                <a:cs typeface="Segoe UI" panose="020B0502040204020203" pitchFamily="34" charset="0"/>
              </a:rPr>
              <a:t> (Art. 6, </a:t>
            </a:r>
            <a:r>
              <a:rPr lang="it-IT" sz="1050" b="1" dirty="0" err="1">
                <a:solidFill>
                  <a:schemeClr val="bg1"/>
                </a:solidFill>
                <a:latin typeface="Segoe UI" panose="020B0502040204020203" pitchFamily="34" charset="0"/>
                <a:cs typeface="Segoe UI" panose="020B0502040204020203" pitchFamily="34" charset="0"/>
              </a:rPr>
              <a:t>D.Lgs.</a:t>
            </a:r>
            <a:r>
              <a:rPr lang="it-IT" sz="1050" b="1" dirty="0">
                <a:solidFill>
                  <a:schemeClr val="bg1"/>
                </a:solidFill>
                <a:latin typeface="Segoe UI" panose="020B0502040204020203" pitchFamily="34" charset="0"/>
                <a:cs typeface="Segoe UI" panose="020B0502040204020203" pitchFamily="34" charset="0"/>
              </a:rPr>
              <a:t> 471/1997)</a:t>
            </a:r>
            <a:endParaRPr lang="it-IT" sz="1050" dirty="0">
              <a:solidFill>
                <a:schemeClr val="bg1"/>
              </a:solidFill>
              <a:latin typeface="Segoe UI" panose="020B0502040204020203" pitchFamily="34" charset="0"/>
              <a:cs typeface="Segoe UI" panose="020B0502040204020203" pitchFamily="34" charset="0"/>
            </a:endParaRPr>
          </a:p>
          <a:p>
            <a:endParaRPr lang="it-IT" sz="1050" dirty="0">
              <a:solidFill>
                <a:schemeClr val="bg1"/>
              </a:solidFill>
              <a:latin typeface="Segoe UI" panose="020B0502040204020203" pitchFamily="34" charset="0"/>
              <a:cs typeface="Segoe UI" panose="020B0502040204020203" pitchFamily="34" charset="0"/>
            </a:endParaRPr>
          </a:p>
          <a:p>
            <a:r>
              <a:rPr lang="it-IT" sz="1050" dirty="0">
                <a:solidFill>
                  <a:schemeClr val="bg1"/>
                </a:solidFill>
                <a:latin typeface="Segoe UI" panose="020B0502040204020203" pitchFamily="34" charset="0"/>
                <a:cs typeface="Segoe UI" panose="020B0502040204020203" pitchFamily="34" charset="0"/>
              </a:rPr>
              <a:t>1. Omessa Applicazione del </a:t>
            </a:r>
            <a:r>
              <a:rPr lang="it-IT" sz="1050" i="1" dirty="0">
                <a:solidFill>
                  <a:schemeClr val="bg1"/>
                </a:solidFill>
                <a:latin typeface="Segoe UI" panose="020B0502040204020203" pitchFamily="34" charset="0"/>
                <a:cs typeface="Segoe UI" panose="020B0502040204020203" pitchFamily="34" charset="0"/>
              </a:rPr>
              <a:t>Reverse </a:t>
            </a:r>
            <a:r>
              <a:rPr lang="it-IT" sz="1050" i="1" dirty="0" err="1">
                <a:solidFill>
                  <a:schemeClr val="bg1"/>
                </a:solidFill>
                <a:latin typeface="Segoe UI" panose="020B0502040204020203" pitchFamily="34" charset="0"/>
                <a:cs typeface="Segoe UI" panose="020B0502040204020203" pitchFamily="34" charset="0"/>
              </a:rPr>
              <a:t>Charge</a:t>
            </a:r>
            <a:r>
              <a:rPr lang="it-IT" sz="1050" dirty="0">
                <a:solidFill>
                  <a:schemeClr val="bg1"/>
                </a:solidFill>
                <a:latin typeface="Segoe UI" panose="020B0502040204020203" pitchFamily="34" charset="0"/>
                <a:cs typeface="Segoe UI" panose="020B0502040204020203" pitchFamily="34" charset="0"/>
              </a:rPr>
              <a:t> da parte del Cliente</a:t>
            </a:r>
          </a:p>
          <a:p>
            <a:r>
              <a:rPr lang="it-IT" sz="1050" dirty="0">
                <a:solidFill>
                  <a:schemeClr val="bg1"/>
                </a:solidFill>
                <a:latin typeface="Segoe UI" panose="020B0502040204020203" pitchFamily="34" charset="0"/>
                <a:cs typeface="Segoe UI" panose="020B0502040204020203" pitchFamily="34" charset="0"/>
              </a:rPr>
              <a:t>2. Errata Applicazione del Regime IVA</a:t>
            </a:r>
          </a:p>
          <a:p>
            <a:pPr lvl="1"/>
            <a:r>
              <a:rPr lang="it-IT" sz="1050" dirty="0">
                <a:solidFill>
                  <a:schemeClr val="bg1"/>
                </a:solidFill>
                <a:latin typeface="Segoe UI" panose="020B0502040204020203" pitchFamily="34" charset="0"/>
                <a:cs typeface="Segoe UI" panose="020B0502040204020203" pitchFamily="34" charset="0"/>
              </a:rPr>
              <a:t>Caso 1: Applicazione del regime ordinario anziché del </a:t>
            </a:r>
            <a:r>
              <a:rPr lang="it-IT" sz="1050" i="1" dirty="0">
                <a:solidFill>
                  <a:schemeClr val="bg1"/>
                </a:solidFill>
                <a:latin typeface="Segoe UI" panose="020B0502040204020203" pitchFamily="34" charset="0"/>
                <a:cs typeface="Segoe UI" panose="020B0502040204020203" pitchFamily="34" charset="0"/>
              </a:rPr>
              <a:t>reverse </a:t>
            </a:r>
            <a:r>
              <a:rPr lang="it-IT" sz="1050" i="1" dirty="0" err="1">
                <a:solidFill>
                  <a:schemeClr val="bg1"/>
                </a:solidFill>
                <a:latin typeface="Segoe UI" panose="020B0502040204020203" pitchFamily="34" charset="0"/>
                <a:cs typeface="Segoe UI" panose="020B0502040204020203" pitchFamily="34" charset="0"/>
              </a:rPr>
              <a:t>charge</a:t>
            </a:r>
            <a:r>
              <a:rPr lang="it-IT" sz="1050" dirty="0">
                <a:solidFill>
                  <a:schemeClr val="bg1"/>
                </a:solidFill>
                <a:latin typeface="Segoe UI" panose="020B0502040204020203" pitchFamily="34" charset="0"/>
                <a:cs typeface="Segoe UI" panose="020B0502040204020203" pitchFamily="34" charset="0"/>
              </a:rPr>
              <a:t>.</a:t>
            </a:r>
          </a:p>
          <a:p>
            <a:pPr lvl="1"/>
            <a:r>
              <a:rPr lang="it-IT" sz="1050" dirty="0">
                <a:solidFill>
                  <a:schemeClr val="bg1"/>
                </a:solidFill>
                <a:latin typeface="Segoe UI" panose="020B0502040204020203" pitchFamily="34" charset="0"/>
                <a:cs typeface="Segoe UI" panose="020B0502040204020203" pitchFamily="34" charset="0"/>
              </a:rPr>
              <a:t>Caso 2: Applicazione del </a:t>
            </a:r>
            <a:r>
              <a:rPr lang="it-IT" sz="1050" i="1" dirty="0">
                <a:solidFill>
                  <a:schemeClr val="bg1"/>
                </a:solidFill>
                <a:latin typeface="Segoe UI" panose="020B0502040204020203" pitchFamily="34" charset="0"/>
                <a:cs typeface="Segoe UI" panose="020B0502040204020203" pitchFamily="34" charset="0"/>
              </a:rPr>
              <a:t>reverse </a:t>
            </a:r>
            <a:r>
              <a:rPr lang="it-IT" sz="1050" i="1" dirty="0" err="1">
                <a:solidFill>
                  <a:schemeClr val="bg1"/>
                </a:solidFill>
                <a:latin typeface="Segoe UI" panose="020B0502040204020203" pitchFamily="34" charset="0"/>
                <a:cs typeface="Segoe UI" panose="020B0502040204020203" pitchFamily="34" charset="0"/>
              </a:rPr>
              <a:t>charge</a:t>
            </a:r>
            <a:r>
              <a:rPr lang="it-IT" sz="1050" dirty="0">
                <a:solidFill>
                  <a:schemeClr val="bg1"/>
                </a:solidFill>
                <a:latin typeface="Segoe UI" panose="020B0502040204020203" pitchFamily="34" charset="0"/>
                <a:cs typeface="Segoe UI" panose="020B0502040204020203" pitchFamily="34" charset="0"/>
              </a:rPr>
              <a:t> anziché del regime ordinario.</a:t>
            </a:r>
          </a:p>
          <a:p>
            <a:r>
              <a:rPr lang="it-IT" sz="1050" dirty="0">
                <a:solidFill>
                  <a:schemeClr val="bg1"/>
                </a:solidFill>
                <a:latin typeface="Segoe UI" panose="020B0502040204020203" pitchFamily="34" charset="0"/>
                <a:cs typeface="Segoe UI" panose="020B0502040204020203" pitchFamily="34" charset="0"/>
              </a:rPr>
              <a:t>3. Applicazione Indebita del </a:t>
            </a:r>
            <a:r>
              <a:rPr lang="it-IT" sz="1050" i="1" dirty="0">
                <a:solidFill>
                  <a:schemeClr val="bg1"/>
                </a:solidFill>
                <a:latin typeface="Segoe UI" panose="020B0502040204020203" pitchFamily="34" charset="0"/>
                <a:cs typeface="Segoe UI" panose="020B0502040204020203" pitchFamily="34" charset="0"/>
              </a:rPr>
              <a:t>Reverse </a:t>
            </a:r>
            <a:r>
              <a:rPr lang="it-IT" sz="1050" i="1" dirty="0" err="1">
                <a:solidFill>
                  <a:schemeClr val="bg1"/>
                </a:solidFill>
                <a:latin typeface="Segoe UI" panose="020B0502040204020203" pitchFamily="34" charset="0"/>
                <a:cs typeface="Segoe UI" panose="020B0502040204020203" pitchFamily="34" charset="0"/>
              </a:rPr>
              <a:t>Charge</a:t>
            </a:r>
            <a:r>
              <a:rPr lang="it-IT" sz="1050" dirty="0">
                <a:solidFill>
                  <a:schemeClr val="bg1"/>
                </a:solidFill>
                <a:latin typeface="Segoe UI" panose="020B0502040204020203" pitchFamily="34" charset="0"/>
                <a:cs typeface="Segoe UI" panose="020B0502040204020203" pitchFamily="34" charset="0"/>
              </a:rPr>
              <a:t> a Operazioni non Imponibili</a:t>
            </a:r>
          </a:p>
        </p:txBody>
      </p:sp>
      <p:sp>
        <p:nvSpPr>
          <p:cNvPr id="10" name="Ovale 9">
            <a:extLst>
              <a:ext uri="{FF2B5EF4-FFF2-40B4-BE49-F238E27FC236}">
                <a16:creationId xmlns:a16="http://schemas.microsoft.com/office/drawing/2014/main" id="{917559C8-3966-0061-4589-AC348FE29931}"/>
              </a:ext>
            </a:extLst>
          </p:cNvPr>
          <p:cNvSpPr/>
          <p:nvPr/>
        </p:nvSpPr>
        <p:spPr>
          <a:xfrm>
            <a:off x="5915025" y="5104366"/>
            <a:ext cx="2771775" cy="1200150"/>
          </a:xfrm>
          <a:prstGeom prst="ellipse">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it-IT" sz="1400" dirty="0">
                <a:latin typeface="Segoe UI" panose="020B0502040204020203" pitchFamily="34" charset="0"/>
                <a:cs typeface="Segoe UI" panose="020B0502040204020203" pitchFamily="34" charset="0"/>
              </a:rPr>
              <a:t>Estensione alle operazioni inesistenti?</a:t>
            </a:r>
            <a:br>
              <a:rPr lang="it-IT" sz="1400" dirty="0">
                <a:latin typeface="Segoe UI" panose="020B0502040204020203" pitchFamily="34" charset="0"/>
                <a:cs typeface="Segoe UI" panose="020B0502040204020203" pitchFamily="34" charset="0"/>
              </a:rPr>
            </a:br>
            <a:br>
              <a:rPr lang="it-IT" sz="1400" dirty="0">
                <a:latin typeface="Segoe UI" panose="020B0502040204020203" pitchFamily="34" charset="0"/>
                <a:cs typeface="Segoe UI" panose="020B0502040204020203" pitchFamily="34" charset="0"/>
              </a:rPr>
            </a:br>
            <a:r>
              <a:rPr lang="it-IT" sz="1200" b="1" dirty="0">
                <a:latin typeface="Segoe UI" panose="020B0502040204020203" pitchFamily="34" charset="0"/>
                <a:cs typeface="Segoe UI" panose="020B0502040204020203" pitchFamily="34" charset="0"/>
                <a:hlinkClick r:id="rId3"/>
              </a:rPr>
              <a:t>Cass. SSUU 22727/2022</a:t>
            </a:r>
            <a:endParaRPr lang="it-IT" sz="1400" b="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2609034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8"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29"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0" name="CustomShape 4"/>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31" name="CustomShape 5"/>
          <p:cNvSpPr/>
          <p:nvPr/>
        </p:nvSpPr>
        <p:spPr>
          <a:xfrm>
            <a:off x="1701800" y="2995613"/>
            <a:ext cx="5661025" cy="76041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fontAlgn="auto"/>
            <a:r>
              <a:rPr lang="it-IT" sz="4400" b="1" spc="-1" noProof="1">
                <a:solidFill>
                  <a:srgbClr val="336699"/>
                </a:solidFill>
                <a:latin typeface="Calibri" panose="020F0502020204030204"/>
                <a:ea typeface="ヒラギノ角ゴ ProN W3"/>
              </a:rPr>
              <a:t>Il meccanismo in sintesi</a:t>
            </a:r>
            <a:endParaRPr lang="it-IT" sz="4400" spc="-1" noProof="1"/>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0"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Obblighi dei soggetti passivi</a:t>
            </a:r>
            <a:endParaRPr lang="it-IT" sz="2800" spc="-1" noProof="1"/>
          </a:p>
        </p:txBody>
      </p:sp>
      <p:graphicFrame>
        <p:nvGraphicFramePr>
          <p:cNvPr id="171" name="Table 3"/>
          <p:cNvGraphicFramePr/>
          <p:nvPr>
            <p:extLst>
              <p:ext uri="{D42A27DB-BD31-4B8C-83A1-F6EECF244321}">
                <p14:modId xmlns:p14="http://schemas.microsoft.com/office/powerpoint/2010/main" val="3760034074"/>
              </p:ext>
            </p:extLst>
          </p:nvPr>
        </p:nvGraphicFramePr>
        <p:xfrm>
          <a:off x="457993" y="2534896"/>
          <a:ext cx="8228013" cy="2922587"/>
        </p:xfrm>
        <a:graphic>
          <a:graphicData uri="http://schemas.openxmlformats.org/drawingml/2006/table">
            <a:tbl>
              <a:tblPr/>
              <a:tblGrid>
                <a:gridCol w="4113827">
                  <a:extLst>
                    <a:ext uri="{9D8B030D-6E8A-4147-A177-3AD203B41FA5}">
                      <a16:colId xmlns:a16="http://schemas.microsoft.com/office/drawing/2014/main" val="20000"/>
                    </a:ext>
                  </a:extLst>
                </a:gridCol>
                <a:gridCol w="4114186">
                  <a:extLst>
                    <a:ext uri="{9D8B030D-6E8A-4147-A177-3AD203B41FA5}">
                      <a16:colId xmlns:a16="http://schemas.microsoft.com/office/drawing/2014/main" val="20001"/>
                    </a:ext>
                  </a:extLst>
                </a:gridCol>
              </a:tblGrid>
              <a:tr h="417461">
                <a:tc>
                  <a:txBody>
                    <a:bodyPr/>
                    <a:lstStyle/>
                    <a:p>
                      <a:pPr algn="ctr">
                        <a:lnSpc>
                          <a:spcPct val="100000"/>
                        </a:lnSpc>
                      </a:pPr>
                      <a:r>
                        <a:rPr lang="it-IT" sz="1800" b="1" strike="noStrike" spc="-1">
                          <a:solidFill>
                            <a:srgbClr val="000000"/>
                          </a:solidFill>
                          <a:latin typeface="Arial" panose="020B0604020202020204"/>
                          <a:ea typeface="DejaVu Sans" panose="020B0603030804020204"/>
                        </a:rPr>
                        <a:t>Direttiva  112/2006</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tc>
                  <a:txBody>
                    <a:bodyPr/>
                    <a:lstStyle/>
                    <a:p>
                      <a:pPr algn="ctr">
                        <a:lnSpc>
                          <a:spcPct val="100000"/>
                        </a:lnSpc>
                      </a:pPr>
                      <a:r>
                        <a:rPr lang="it-IT" sz="1800" b="1" strike="noStrike" spc="-1" dirty="0">
                          <a:solidFill>
                            <a:srgbClr val="000000"/>
                          </a:solidFill>
                          <a:latin typeface="Arial" panose="020B0604020202020204"/>
                          <a:ea typeface="DejaVu Sans" panose="020B0603030804020204"/>
                        </a:rPr>
                        <a:t>D.P.R. 633/1972</a:t>
                      </a:r>
                      <a:endParaRPr lang="it-IT" sz="1800" b="0" strike="noStrike" spc="-1" dirty="0">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extLst>
                  <a:ext uri="{0D108BD9-81ED-4DB2-BD59-A6C34878D82A}">
                    <a16:rowId xmlns:a16="http://schemas.microsoft.com/office/drawing/2014/main" val="10000"/>
                  </a:ext>
                </a:extLst>
              </a:tr>
              <a:tr h="417461">
                <a:tc>
                  <a:txBody>
                    <a:bodyPr/>
                    <a:lstStyle/>
                    <a:p>
                      <a:pPr>
                        <a:lnSpc>
                          <a:spcPct val="100000"/>
                        </a:lnSpc>
                      </a:pPr>
                      <a:r>
                        <a:rPr lang="it-IT" sz="1800" b="0" strike="noStrike" spc="-1">
                          <a:solidFill>
                            <a:srgbClr val="000000"/>
                          </a:solidFill>
                          <a:latin typeface="Arial" panose="020B0604020202020204"/>
                          <a:ea typeface="DejaVu Sans" panose="020B0603030804020204"/>
                        </a:rPr>
                        <a:t>Obbligo di pagamento</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FFFFFF"/>
                    </a:solidFill>
                  </a:tcPr>
                </a:tc>
                <a:tc>
                  <a:txBody>
                    <a:bodyPr/>
                    <a:lstStyle/>
                    <a:p>
                      <a:pPr>
                        <a:lnSpc>
                          <a:spcPct val="100000"/>
                        </a:lnSpc>
                      </a:pPr>
                      <a:r>
                        <a:rPr lang="it-IT" sz="1800" b="0" strike="noStrike" spc="-1">
                          <a:solidFill>
                            <a:srgbClr val="000000"/>
                          </a:solidFill>
                          <a:latin typeface="Arial" panose="020B0604020202020204"/>
                          <a:ea typeface="DejaVu Sans" panose="020B0603030804020204"/>
                        </a:rPr>
                        <a:t>Fatturazione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FFFFFF"/>
                    </a:solidFill>
                  </a:tcPr>
                </a:tc>
                <a:extLst>
                  <a:ext uri="{0D108BD9-81ED-4DB2-BD59-A6C34878D82A}">
                    <a16:rowId xmlns:a16="http://schemas.microsoft.com/office/drawing/2014/main" val="10001"/>
                  </a:ext>
                </a:extLst>
              </a:tr>
              <a:tr h="417461">
                <a:tc>
                  <a:txBody>
                    <a:bodyPr/>
                    <a:lstStyle/>
                    <a:p>
                      <a:pPr>
                        <a:lnSpc>
                          <a:spcPct val="100000"/>
                        </a:lnSpc>
                      </a:pPr>
                      <a:r>
                        <a:rPr lang="it-IT" sz="1800" b="0" strike="noStrike" spc="-1">
                          <a:solidFill>
                            <a:srgbClr val="000000"/>
                          </a:solidFill>
                          <a:latin typeface="Arial" panose="020B0604020202020204"/>
                          <a:ea typeface="DejaVu Sans" panose="020B0603030804020204"/>
                        </a:rPr>
                        <a:t>Identificazione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tc>
                  <a:txBody>
                    <a:bodyPr/>
                    <a:lstStyle/>
                    <a:p>
                      <a:pPr>
                        <a:lnSpc>
                          <a:spcPct val="100000"/>
                        </a:lnSpc>
                      </a:pPr>
                      <a:r>
                        <a:rPr lang="it-IT" sz="1800" b="0" strike="noStrike" spc="-1">
                          <a:solidFill>
                            <a:srgbClr val="000000"/>
                          </a:solidFill>
                          <a:latin typeface="Arial" panose="020B0604020202020204"/>
                          <a:ea typeface="DejaVu Sans" panose="020B0603030804020204"/>
                        </a:rPr>
                        <a:t>Registrazione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extLst>
                  <a:ext uri="{0D108BD9-81ED-4DB2-BD59-A6C34878D82A}">
                    <a16:rowId xmlns:a16="http://schemas.microsoft.com/office/drawing/2014/main" val="10002"/>
                  </a:ext>
                </a:extLst>
              </a:tr>
              <a:tr h="417461">
                <a:tc>
                  <a:txBody>
                    <a:bodyPr/>
                    <a:lstStyle/>
                    <a:p>
                      <a:pPr>
                        <a:lnSpc>
                          <a:spcPct val="100000"/>
                        </a:lnSpc>
                      </a:pPr>
                      <a:r>
                        <a:rPr lang="it-IT" sz="1800" b="0" strike="noStrike" spc="-1">
                          <a:solidFill>
                            <a:srgbClr val="000000"/>
                          </a:solidFill>
                          <a:latin typeface="Arial" panose="020B0604020202020204"/>
                          <a:ea typeface="DejaVu Sans" panose="020B0603030804020204"/>
                        </a:rPr>
                        <a:t>Fatturazione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FFFFFF"/>
                    </a:solidFill>
                  </a:tcPr>
                </a:tc>
                <a:tc>
                  <a:txBody>
                    <a:bodyPr/>
                    <a:lstStyle/>
                    <a:p>
                      <a:pPr>
                        <a:lnSpc>
                          <a:spcPct val="100000"/>
                        </a:lnSpc>
                      </a:pPr>
                      <a:r>
                        <a:rPr lang="it-IT" sz="1800" b="0" strike="noStrike" spc="-1">
                          <a:solidFill>
                            <a:srgbClr val="000000"/>
                          </a:solidFill>
                          <a:latin typeface="Arial" panose="020B0604020202020204"/>
                          <a:ea typeface="DejaVu Sans" panose="020B0603030804020204"/>
                        </a:rPr>
                        <a:t>Liquidazione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FFFFFF"/>
                    </a:solidFill>
                  </a:tcPr>
                </a:tc>
                <a:extLst>
                  <a:ext uri="{0D108BD9-81ED-4DB2-BD59-A6C34878D82A}">
                    <a16:rowId xmlns:a16="http://schemas.microsoft.com/office/drawing/2014/main" val="10003"/>
                  </a:ext>
                </a:extLst>
              </a:tr>
              <a:tr h="417461">
                <a:tc>
                  <a:txBody>
                    <a:bodyPr/>
                    <a:lstStyle/>
                    <a:p>
                      <a:pPr>
                        <a:lnSpc>
                          <a:spcPct val="100000"/>
                        </a:lnSpc>
                      </a:pPr>
                      <a:r>
                        <a:rPr lang="it-IT" sz="1800" b="0" strike="noStrike" spc="-1">
                          <a:solidFill>
                            <a:srgbClr val="000000"/>
                          </a:solidFill>
                          <a:latin typeface="Arial" panose="020B0604020202020204"/>
                          <a:ea typeface="DejaVu Sans" panose="020B0603030804020204"/>
                        </a:rPr>
                        <a:t>Contabilità</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tc>
                  <a:txBody>
                    <a:bodyPr/>
                    <a:lstStyle/>
                    <a:p>
                      <a:pPr>
                        <a:lnSpc>
                          <a:spcPct val="100000"/>
                        </a:lnSpc>
                      </a:pPr>
                      <a:r>
                        <a:rPr lang="it-IT" sz="1800" b="0" strike="noStrike" spc="-1">
                          <a:solidFill>
                            <a:srgbClr val="000000"/>
                          </a:solidFill>
                          <a:latin typeface="Arial" panose="020B0604020202020204"/>
                          <a:ea typeface="DejaVu Sans" panose="020B0603030804020204"/>
                        </a:rPr>
                        <a:t>Versamento</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extLst>
                  <a:ext uri="{0D108BD9-81ED-4DB2-BD59-A6C34878D82A}">
                    <a16:rowId xmlns:a16="http://schemas.microsoft.com/office/drawing/2014/main" val="10004"/>
                  </a:ext>
                </a:extLst>
              </a:tr>
              <a:tr h="417461">
                <a:tc>
                  <a:txBody>
                    <a:bodyPr/>
                    <a:lstStyle/>
                    <a:p>
                      <a:pPr>
                        <a:lnSpc>
                          <a:spcPct val="100000"/>
                        </a:lnSpc>
                      </a:pPr>
                      <a:r>
                        <a:rPr lang="it-IT" sz="1800" b="0" strike="noStrike" spc="-1">
                          <a:solidFill>
                            <a:srgbClr val="000000"/>
                          </a:solidFill>
                          <a:latin typeface="Arial" panose="020B0604020202020204"/>
                          <a:ea typeface="DejaVu Sans" panose="020B0603030804020204"/>
                        </a:rPr>
                        <a:t>Dichiarazione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FFFFFF"/>
                    </a:solidFill>
                  </a:tcPr>
                </a:tc>
                <a:tc>
                  <a:txBody>
                    <a:bodyPr/>
                    <a:lstStyle/>
                    <a:p>
                      <a:pPr>
                        <a:lnSpc>
                          <a:spcPct val="100000"/>
                        </a:lnSpc>
                      </a:pPr>
                      <a:r>
                        <a:rPr lang="it-IT" sz="1800" b="0" strike="noStrike" spc="-1">
                          <a:solidFill>
                            <a:srgbClr val="000000"/>
                          </a:solidFill>
                          <a:latin typeface="Arial" panose="020B0604020202020204"/>
                          <a:ea typeface="DejaVu Sans" panose="020B0603030804020204"/>
                        </a:rPr>
                        <a:t>Dichiarazione</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FFFFFF"/>
                    </a:solidFill>
                  </a:tcPr>
                </a:tc>
                <a:extLst>
                  <a:ext uri="{0D108BD9-81ED-4DB2-BD59-A6C34878D82A}">
                    <a16:rowId xmlns:a16="http://schemas.microsoft.com/office/drawing/2014/main" val="10005"/>
                  </a:ext>
                </a:extLst>
              </a:tr>
              <a:tr h="417821">
                <a:tc>
                  <a:txBody>
                    <a:bodyPr/>
                    <a:lstStyle/>
                    <a:p>
                      <a:pPr>
                        <a:lnSpc>
                          <a:spcPct val="100000"/>
                        </a:lnSpc>
                      </a:pPr>
                      <a:r>
                        <a:rPr lang="it-IT" sz="1800" b="0" strike="noStrike" spc="-1">
                          <a:solidFill>
                            <a:srgbClr val="000000"/>
                          </a:solidFill>
                          <a:latin typeface="Arial" panose="020B0604020202020204"/>
                          <a:ea typeface="DejaVu Sans" panose="020B0603030804020204"/>
                        </a:rPr>
                        <a:t>Elenchi riepilogativi</a:t>
                      </a:r>
                      <a:endParaRPr lang="it-IT" sz="1800" b="0" strike="noStrike" spc="-1">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tc>
                  <a:txBody>
                    <a:bodyPr/>
                    <a:lstStyle/>
                    <a:p>
                      <a:pPr>
                        <a:lnSpc>
                          <a:spcPct val="100000"/>
                        </a:lnSpc>
                      </a:pPr>
                      <a:r>
                        <a:rPr lang="it-IT" sz="1800" b="0" strike="noStrike" spc="-1" dirty="0">
                          <a:solidFill>
                            <a:srgbClr val="000000"/>
                          </a:solidFill>
                          <a:latin typeface="Arial" panose="020B0604020202020204"/>
                          <a:ea typeface="DejaVu Sans" panose="020B0603030804020204"/>
                        </a:rPr>
                        <a:t>Altri adempimenti</a:t>
                      </a:r>
                      <a:endParaRPr lang="it-IT" sz="1800" b="0" strike="noStrike" spc="-1" dirty="0">
                        <a:latin typeface="Arial" panose="020B0604020202020204"/>
                      </a:endParaRPr>
                    </a:p>
                  </a:txBody>
                  <a:tcPr marL="91426" marR="91426" marT="45705" marB="45705">
                    <a:lnL w="12240">
                      <a:solidFill>
                        <a:srgbClr val="4F81BD"/>
                      </a:solidFill>
                    </a:lnL>
                    <a:lnR w="12240">
                      <a:solidFill>
                        <a:srgbClr val="4F81BD"/>
                      </a:solidFill>
                    </a:lnR>
                    <a:lnT w="12240">
                      <a:solidFill>
                        <a:srgbClr val="4F81BD"/>
                      </a:solidFill>
                    </a:lnT>
                    <a:lnB w="12240">
                      <a:solidFill>
                        <a:srgbClr val="4F81BD"/>
                      </a:solidFill>
                    </a:lnB>
                    <a:solidFill>
                      <a:srgbClr val="DCE6F2"/>
                    </a:solidFill>
                  </a:tcPr>
                </a:tc>
                <a:extLst>
                  <a:ext uri="{0D108BD9-81ED-4DB2-BD59-A6C34878D82A}">
                    <a16:rowId xmlns:a16="http://schemas.microsoft.com/office/drawing/2014/main" val="10006"/>
                  </a:ext>
                </a:extLst>
              </a:tr>
            </a:tbl>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3"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4"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5" name="CustomShape 4"/>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6" name="CustomShape 5"/>
          <p:cNvSpPr/>
          <p:nvPr/>
        </p:nvSpPr>
        <p:spPr>
          <a:xfrm>
            <a:off x="3114675" y="3108325"/>
            <a:ext cx="3062288" cy="758825"/>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fontAlgn="auto"/>
            <a:r>
              <a:rPr lang="it-IT" sz="4400" b="1" spc="-1" noProof="1">
                <a:solidFill>
                  <a:srgbClr val="336699"/>
                </a:solidFill>
                <a:latin typeface="Calibri" panose="020F0502020204030204"/>
                <a:ea typeface="ヒラギノ角ゴ ProN W3"/>
              </a:rPr>
              <a:t>Fatturazione</a:t>
            </a:r>
            <a:endParaRPr lang="it-IT" sz="4400" spc="-1" noProof="1"/>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8"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La «fattura» nel diritto commerciale (1) </a:t>
            </a:r>
            <a:endParaRPr lang="it-IT" sz="2800" spc="-1" noProof="1"/>
          </a:p>
        </p:txBody>
      </p:sp>
      <p:sp>
        <p:nvSpPr>
          <p:cNvPr id="179" name="CustomShape 3"/>
          <p:cNvSpPr/>
          <p:nvPr/>
        </p:nvSpPr>
        <p:spPr>
          <a:xfrm>
            <a:off x="484188" y="1452563"/>
            <a:ext cx="8154987" cy="463391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r>
              <a:rPr lang="it-IT" sz="1400" spc="-1" noProof="1">
                <a:solidFill>
                  <a:srgbClr val="000000"/>
                </a:solidFill>
                <a:latin typeface="Tahoma"/>
                <a:ea typeface="ヒラギノ角ゴ ProN W6"/>
              </a:rPr>
              <a:t>Il documento “fattura” nasce prima dell’introduzione dell’Iva.</a:t>
            </a:r>
            <a:endParaRPr lang="it-IT" sz="1400" spc="-1" noProof="1"/>
          </a:p>
          <a:p>
            <a:pPr algn="just" fontAlgn="auto">
              <a:lnSpc>
                <a:spcPct val="90000"/>
              </a:lnSpc>
            </a:pPr>
            <a:r>
              <a:rPr lang="it-IT" sz="1400" spc="-1" noProof="1">
                <a:solidFill>
                  <a:srgbClr val="000000"/>
                </a:solidFill>
                <a:latin typeface="Tahoma"/>
                <a:ea typeface="ヒラギノ角ゴ ProN W6"/>
              </a:rPr>
              <a:t>Rileva anzitutto quale </a:t>
            </a:r>
            <a:r>
              <a:rPr lang="it-IT" sz="1400" b="1" spc="-1" noProof="1">
                <a:solidFill>
                  <a:srgbClr val="000000"/>
                </a:solidFill>
                <a:latin typeface="Tahoma"/>
                <a:ea typeface="ヒラギノ角ゴ ProN W6"/>
              </a:rPr>
              <a:t>strumento di prova </a:t>
            </a:r>
            <a:r>
              <a:rPr lang="it-IT" sz="1400" spc="-1" noProof="1">
                <a:solidFill>
                  <a:srgbClr val="000000"/>
                </a:solidFill>
                <a:latin typeface="Tahoma"/>
                <a:ea typeface="ヒラギノ角ゴ ProN W6"/>
              </a:rPr>
              <a:t>nel codice civile e nel codice di procedura civile.</a:t>
            </a:r>
            <a:endParaRPr lang="it-IT" sz="1400" spc="-1" noProof="1"/>
          </a:p>
          <a:p>
            <a:pPr algn="just" fontAlgn="auto">
              <a:lnSpc>
                <a:spcPct val="90000"/>
              </a:lnSpc>
            </a:pPr>
            <a:endParaRPr lang="it-IT" sz="1400" spc="-1" noProof="1"/>
          </a:p>
          <a:p>
            <a:pPr marL="742950" lvl="1" indent="-283845" algn="just" fontAlgn="auto">
              <a:buClr>
                <a:srgbClr val="1F497D"/>
              </a:buClr>
              <a:buFont typeface="Wingdings" panose="05000000000000000000" pitchFamily="2" charset="2"/>
              <a:buChar char=""/>
            </a:pPr>
            <a:r>
              <a:rPr lang="it-IT" sz="1400" spc="-1" noProof="1">
                <a:solidFill>
                  <a:srgbClr val="000000"/>
                </a:solidFill>
                <a:latin typeface="Tahoma"/>
                <a:ea typeface="ヒラギノ角ゴ ProN W6"/>
              </a:rPr>
              <a:t>Art. 2709 c.c.: «</a:t>
            </a:r>
            <a:r>
              <a:rPr lang="it-IT" sz="1400" i="1" spc="-1" noProof="1">
                <a:solidFill>
                  <a:srgbClr val="000000"/>
                </a:solidFill>
                <a:latin typeface="Tahoma"/>
                <a:ea typeface="ヒラギノ角ゴ ProN W6"/>
              </a:rPr>
              <a:t>I libri e le altre scritture contabili delle imprese soggette a registrazione fanno prova contro l’imprenditore. Tuttavia chi vuol trarne vantaggio non può scinderne il contenuto</a:t>
            </a:r>
            <a:r>
              <a:rPr lang="it-IT" sz="1400" spc="-1" noProof="1">
                <a:solidFill>
                  <a:srgbClr val="000000"/>
                </a:solidFill>
                <a:latin typeface="Tahoma"/>
                <a:ea typeface="ヒラギノ角ゴ ProN W6"/>
              </a:rPr>
              <a:t>». </a:t>
            </a:r>
            <a:endParaRPr lang="it-IT" sz="1400" spc="-1" noProof="1"/>
          </a:p>
          <a:p>
            <a:pPr algn="just" fontAlgn="auto"/>
            <a:endParaRPr lang="it-IT" sz="1400" spc="-1" noProof="1"/>
          </a:p>
          <a:p>
            <a:pPr marL="742950" lvl="1" indent="-283845" algn="just" fontAlgn="auto">
              <a:buClr>
                <a:srgbClr val="1F497D"/>
              </a:buClr>
              <a:buFont typeface="Wingdings" panose="05000000000000000000" pitchFamily="2" charset="2"/>
              <a:buChar char=""/>
            </a:pPr>
            <a:r>
              <a:rPr lang="it-IT" sz="1400" spc="-1" noProof="1">
                <a:solidFill>
                  <a:srgbClr val="000000"/>
                </a:solidFill>
                <a:latin typeface="Tahoma"/>
                <a:ea typeface="ヒラギノ角ゴ ProN W6"/>
              </a:rPr>
              <a:t>Art. 2214 c.c.: «</a:t>
            </a:r>
            <a:r>
              <a:rPr lang="it-IT" sz="1400" i="1" spc="-1" noProof="1">
                <a:solidFill>
                  <a:srgbClr val="000000"/>
                </a:solidFill>
                <a:latin typeface="Tahoma"/>
                <a:ea typeface="ヒラギノ角ゴ ProN W6"/>
              </a:rPr>
              <a:t>L’imprenditore che esercita un’attività commerciale deve tenere il libro giornale e il libro degli inventari. Deve altresì tenere le altre scritture contabili che siano richieste dalla natura e dalle dimensioni dell'impresa e conservare ordinatamente per ciascun affare gli originali delle lettere, dei telegrammi e delle fatture ricevute, nonché le copie delle lettere, dei telegrammi e delle fatture spedite. Le disposizioni di questo paragrafo non si applicano ai piccoli imprenditori</a:t>
            </a:r>
            <a:r>
              <a:rPr lang="it-IT" sz="1400" spc="-1" noProof="1">
                <a:solidFill>
                  <a:srgbClr val="000000"/>
                </a:solidFill>
                <a:latin typeface="Tahoma"/>
                <a:ea typeface="ヒラギノ角ゴ ProN W6"/>
              </a:rPr>
              <a:t>».</a:t>
            </a:r>
            <a:endParaRPr lang="it-IT" sz="1400" spc="-1" noProof="1"/>
          </a:p>
          <a:p>
            <a:pPr algn="just" fontAlgn="auto"/>
            <a:endParaRPr lang="it-IT" sz="1400" spc="-1" noProof="1"/>
          </a:p>
          <a:p>
            <a:pPr marL="742950" lvl="1" indent="-283845" algn="just" fontAlgn="auto">
              <a:buClr>
                <a:srgbClr val="1F497D"/>
              </a:buClr>
              <a:buFont typeface="Wingdings" panose="05000000000000000000" pitchFamily="2" charset="2"/>
              <a:buChar char=""/>
            </a:pPr>
            <a:r>
              <a:rPr lang="it-IT" sz="1400" spc="-1" noProof="1">
                <a:solidFill>
                  <a:srgbClr val="000000"/>
                </a:solidFill>
                <a:latin typeface="Tahoma"/>
                <a:ea typeface="ヒラギノ角ゴ ProN W6"/>
              </a:rPr>
              <a:t>Art. 634, comma 2, c.p.c.: «</a:t>
            </a:r>
            <a:r>
              <a:rPr lang="it-IT" sz="1400" i="1" spc="-1" noProof="1">
                <a:solidFill>
                  <a:srgbClr val="000000"/>
                </a:solidFill>
                <a:latin typeface="Tahoma"/>
                <a:ea typeface="ヒラギノ角ゴ ProN W6"/>
              </a:rPr>
              <a:t>Per i crediti relativi a somministrazioni di merci e di danaro nonché per prestazioni di servizi fatte da imprenditori che esercitano un’attività commerciale, anche a persone che non esercitano tale attività, sono altresì prove scritte idonee gli estratti autentici delle scritture contabili di cui agli artt. 2214 e seguenti del codice civile, purché bollate e vidimate nelle forme di legge e regolarmente tenute, nonché gli estratti autentici delle scritture contabili prescritte dalle leggi tributarie, quando siano tenute con l’osservanza delle norme stabilite per tali scritture</a:t>
            </a:r>
            <a:r>
              <a:rPr lang="it-IT" sz="1400" spc="-1" noProof="1">
                <a:solidFill>
                  <a:srgbClr val="000000"/>
                </a:solidFill>
                <a:latin typeface="Tahoma"/>
                <a:ea typeface="ヒラギノ角ゴ ProN W6"/>
              </a:rPr>
              <a:t>».</a:t>
            </a:r>
            <a:endParaRPr lang="it-IT" sz="1400" spc="-1" noProof="1"/>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81"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La «fattura» nel diritto commerciale (2)</a:t>
            </a:r>
            <a:endParaRPr lang="it-IT" sz="2800" spc="-1" noProof="1"/>
          </a:p>
        </p:txBody>
      </p:sp>
      <p:sp>
        <p:nvSpPr>
          <p:cNvPr id="182" name="CustomShape 3"/>
          <p:cNvSpPr/>
          <p:nvPr/>
        </p:nvSpPr>
        <p:spPr>
          <a:xfrm>
            <a:off x="382588" y="1389063"/>
            <a:ext cx="8188325" cy="509746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marL="342900" indent="-342900" algn="just" fontAlgn="auto">
              <a:lnSpc>
                <a:spcPct val="112000"/>
              </a:lnSpc>
              <a:spcBef>
                <a:spcPts val="200"/>
              </a:spcBef>
              <a:spcAft>
                <a:spcPts val="1200"/>
              </a:spcAft>
              <a:buFont typeface="Arial" panose="020B0604020202020204" pitchFamily="34" charset="0"/>
              <a:buChar char="•"/>
            </a:pPr>
            <a:r>
              <a:rPr lang="it-IT" sz="1900" dirty="0">
                <a:solidFill>
                  <a:srgbClr val="202020"/>
                </a:solidFill>
                <a:latin typeface="Tahoma" panose="020B0604030504040204" pitchFamily="34" charset="0"/>
                <a:ea typeface="Tahoma" panose="020B0604030504040204" pitchFamily="34" charset="0"/>
                <a:cs typeface="Tahoma" panose="020B0604030504040204" pitchFamily="34" charset="0"/>
              </a:rPr>
              <a:t>Atto giuridico a formazione unilaterale ex parte </a:t>
            </a:r>
            <a:r>
              <a:rPr lang="it-IT" sz="1900" dirty="0" err="1">
                <a:solidFill>
                  <a:srgbClr val="202020"/>
                </a:solidFill>
                <a:latin typeface="Tahoma" panose="020B0604030504040204" pitchFamily="34" charset="0"/>
                <a:ea typeface="Tahoma" panose="020B0604030504040204" pitchFamily="34" charset="0"/>
                <a:cs typeface="Tahoma" panose="020B0604030504040204" pitchFamily="34" charset="0"/>
              </a:rPr>
              <a:t>creditoris</a:t>
            </a:r>
            <a:r>
              <a:rPr lang="it-IT" sz="1900" dirty="0">
                <a:solidFill>
                  <a:srgbClr val="202020"/>
                </a:solidFill>
                <a:latin typeface="Tahoma" panose="020B0604030504040204" pitchFamily="34" charset="0"/>
                <a:ea typeface="Tahoma" panose="020B0604030504040204" pitchFamily="34" charset="0"/>
                <a:cs typeface="Tahoma" panose="020B0604030504040204" pitchFamily="34" charset="0"/>
              </a:rPr>
              <a:t> (dichiarazione a contenuto partecipativo).</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342900" indent="-342900">
              <a:lnSpc>
                <a:spcPct val="112000"/>
              </a:lnSpc>
              <a:spcBef>
                <a:spcPts val="200"/>
              </a:spcBef>
              <a:spcAft>
                <a:spcPts val="1200"/>
              </a:spcAft>
              <a:buFont typeface="Arial" panose="020B0604020202020204" pitchFamily="34" charset="0"/>
              <a:buChar char="•"/>
            </a:pPr>
            <a:r>
              <a:rPr lang="it-IT" sz="1900" dirty="0">
                <a:solidFill>
                  <a:srgbClr val="202020"/>
                </a:solidFill>
                <a:latin typeface="Tahoma" panose="020B0604030504040204" pitchFamily="34" charset="0"/>
                <a:ea typeface="Tahoma" panose="020B0604030504040204" pitchFamily="34" charset="0"/>
                <a:cs typeface="Tahoma" panose="020B0604030504040204" pitchFamily="34" charset="0"/>
              </a:rPr>
              <a:t>Nessun valore probatorio assoluto del credito: se il rapporto è contestato, è al più un indizio.</a:t>
            </a:r>
          </a:p>
          <a:p>
            <a:pPr marL="342900" indent="-342900">
              <a:lnSpc>
                <a:spcPct val="112000"/>
              </a:lnSpc>
              <a:spcBef>
                <a:spcPts val="200"/>
              </a:spcBef>
              <a:spcAft>
                <a:spcPts val="1200"/>
              </a:spcAft>
              <a:buFont typeface="Arial" panose="020B0604020202020204" pitchFamily="34" charset="0"/>
              <a:buChar char="•"/>
            </a:pPr>
            <a:r>
              <a:rPr lang="it-IT" sz="1900" dirty="0">
                <a:solidFill>
                  <a:srgbClr val="202020"/>
                </a:solidFill>
                <a:latin typeface="Tahoma" panose="020B0604030504040204" pitchFamily="34" charset="0"/>
                <a:ea typeface="Tahoma" panose="020B0604030504040204" pitchFamily="34" charset="0"/>
                <a:cs typeface="Tahoma" panose="020B0604030504040204" pitchFamily="34" charset="0"/>
              </a:rPr>
              <a:t>Prova scritta idonea per il decreto ingiuntivo (se regolare sul piano amministrativo-fiscale).</a:t>
            </a:r>
          </a:p>
          <a:p>
            <a:pPr marL="342900" indent="-342900">
              <a:lnSpc>
                <a:spcPct val="112000"/>
              </a:lnSpc>
              <a:spcBef>
                <a:spcPts val="200"/>
              </a:spcBef>
              <a:spcAft>
                <a:spcPts val="1200"/>
              </a:spcAft>
              <a:buFont typeface="Arial" panose="020B0604020202020204" pitchFamily="34" charset="0"/>
              <a:buChar char="•"/>
            </a:pPr>
            <a:r>
              <a:rPr lang="it-IT" sz="1900" dirty="0">
                <a:solidFill>
                  <a:srgbClr val="202020"/>
                </a:solidFill>
                <a:latin typeface="Tahoma" panose="020B0604030504040204" pitchFamily="34" charset="0"/>
                <a:ea typeface="Tahoma" panose="020B0604030504040204" pitchFamily="34" charset="0"/>
                <a:cs typeface="Tahoma" panose="020B0604030504040204" pitchFamily="34" charset="0"/>
              </a:rPr>
              <a:t>Nessun valore, neppure indiziario, sulla rispondenza della prestazione a quella pattuita.</a:t>
            </a:r>
          </a:p>
          <a:p>
            <a:pPr algn="just" fontAlgn="auto">
              <a:lnSpc>
                <a:spcPct val="90000"/>
              </a:lnSpc>
            </a:pPr>
            <a:r>
              <a:rPr lang="it-IT" sz="1400" spc="-1" noProof="1">
                <a:solidFill>
                  <a:srgbClr val="000000"/>
                </a:solidFill>
                <a:latin typeface="Tahoma" panose="020B0604030504040204" pitchFamily="34" charset="0"/>
                <a:ea typeface="Tahoma" panose="020B0604030504040204" pitchFamily="34" charset="0"/>
                <a:cs typeface="Tahoma" panose="020B0604030504040204" pitchFamily="34" charset="0"/>
              </a:rPr>
              <a:t>«</a:t>
            </a:r>
            <a:r>
              <a:rPr lang="it-IT" sz="1400" i="1" spc="-1" noProof="1">
                <a:solidFill>
                  <a:srgbClr val="000000"/>
                </a:solidFill>
                <a:latin typeface="Tahoma" panose="020B0604030504040204" pitchFamily="34" charset="0"/>
                <a:ea typeface="Tahoma" panose="020B0604030504040204" pitchFamily="34" charset="0"/>
                <a:cs typeface="Tahoma" panose="020B0604030504040204" pitchFamily="34" charset="0"/>
              </a:rPr>
              <a:t>La fattura, infatti, si inquadra tra gli atti giuridici a contenuto partecipativo, consistendo nella dichiarazione indirizzata all'altra parte di fatti concernenti un rapporto già costituito, per cui quando tale rapporto sia contestato tra le parti, la fattura, ancorché annotata nei libri obbligatori, proprio per la sua formazione a opera della stessa parte che intende avvalersene, non può assurgere a prova del contratto, ma, al più, può rappresentare un mero indizio della stipulazione di esso e dell'esecuzione della prestazione, mentre nessun valore, neppure indiziario, le si può riconoscere in ordine alla rispondenza della prestazione stessa a quella pattuita, come agli altri elementi costitutivi del contratto</a:t>
            </a:r>
            <a:r>
              <a:rPr lang="it-IT" sz="1400" spc="-1" noProof="1">
                <a:solidFill>
                  <a:srgbClr val="000000"/>
                </a:solidFill>
                <a:latin typeface="Tahoma" panose="020B0604030504040204" pitchFamily="34" charset="0"/>
                <a:ea typeface="Tahoma" panose="020B0604030504040204" pitchFamily="34" charset="0"/>
                <a:cs typeface="Tahoma" panose="020B0604030504040204" pitchFamily="34" charset="0"/>
              </a:rPr>
              <a:t>». (Cass. 11 marzo 2008, n. 8549; cfr. anche: Cass. 4 marzo 2003, n. 3188; Cass. 28 aprile 2004, n. 8126; Cass. 8 giugno 2004, n. 10830).</a:t>
            </a:r>
            <a:endParaRPr lang="it-IT" sz="1400" spc="-1" noProof="1">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84"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La «fattura» nel diritto tributario (IVA)</a:t>
            </a:r>
            <a:endParaRPr lang="it-IT" sz="2800" spc="-1" noProof="1"/>
          </a:p>
        </p:txBody>
      </p:sp>
      <p:sp>
        <p:nvSpPr>
          <p:cNvPr id="185" name="CustomShape 3"/>
          <p:cNvSpPr/>
          <p:nvPr/>
        </p:nvSpPr>
        <p:spPr>
          <a:xfrm>
            <a:off x="590550" y="1319213"/>
            <a:ext cx="8161338" cy="509746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r>
              <a:rPr lang="it-IT" sz="1600" spc="-1" noProof="1">
                <a:solidFill>
                  <a:srgbClr val="000000"/>
                </a:solidFill>
                <a:latin typeface="Tahoma"/>
                <a:ea typeface="ヒラギノ角ゴ ProN W6"/>
              </a:rPr>
              <a:t>Il documento “fattura” è il cardine attorno al quale ruota la tecnica dell'imposta. </a:t>
            </a:r>
            <a:r>
              <a:rPr lang="it-IT" sz="1600" spc="-1" noProof="1">
                <a:solidFill>
                  <a:srgbClr val="000000"/>
                </a:solidFill>
                <a:latin typeface="Wingdings" panose="05000000000000000000"/>
                <a:ea typeface="ヒラギノ角ゴ ProN W6"/>
              </a:rPr>
              <a:t></a:t>
            </a:r>
            <a:r>
              <a:rPr lang="it-IT" sz="1600" spc="-1" noProof="1">
                <a:solidFill>
                  <a:srgbClr val="000000"/>
                </a:solidFill>
                <a:latin typeface="Tahoma"/>
                <a:ea typeface="ヒラギノ角ゴ ProN W6"/>
              </a:rPr>
              <a:t> </a:t>
            </a:r>
            <a:r>
              <a:rPr lang="it-IT" sz="1600" b="1" spc="-1" noProof="1">
                <a:solidFill>
                  <a:srgbClr val="000000"/>
                </a:solidFill>
                <a:latin typeface="Tahoma"/>
                <a:ea typeface="ヒラギノ角ゴ ProN W6"/>
              </a:rPr>
              <a:t>Non c'è una definizione di fattura</a:t>
            </a:r>
            <a:r>
              <a:rPr lang="it-IT" sz="1600" spc="-1" noProof="1">
                <a:solidFill>
                  <a:srgbClr val="000000"/>
                </a:solidFill>
                <a:latin typeface="Tahoma"/>
                <a:ea typeface="ヒラギノ角ゴ ProN W6"/>
              </a:rPr>
              <a:t> (si può inferire che sia il documento in cui viene esposta e addebitata l'Iva). L'obbligo di fatturazione è funzionale a:</a:t>
            </a:r>
            <a:endParaRPr lang="it-IT" sz="1600" spc="-1" noProof="1"/>
          </a:p>
          <a:p>
            <a:pPr algn="just" fontAlgn="auto">
              <a:lnSpc>
                <a:spcPct val="90000"/>
              </a:lnSpc>
            </a:pPr>
            <a:endParaRPr lang="it-IT" sz="1600" spc="-1" noProof="1"/>
          </a:p>
          <a:p>
            <a:pPr marL="1200150" lvl="2" indent="-283845" algn="just" fontAlgn="auto">
              <a:buClr>
                <a:srgbClr val="1F497D"/>
              </a:buClr>
              <a:buFont typeface="Wingdings" panose="05000000000000000000" pitchFamily="2" charset="2"/>
              <a:buChar char=""/>
            </a:pPr>
            <a:r>
              <a:rPr lang="it-IT" sz="1600" spc="-1" noProof="1">
                <a:solidFill>
                  <a:srgbClr val="000000"/>
                </a:solidFill>
                <a:latin typeface="Tahoma"/>
                <a:ea typeface="ヒラギノ角ゴ ProN W6"/>
              </a:rPr>
              <a:t>Esercizio della rivalsa per il cedente/prestatore;</a:t>
            </a:r>
            <a:endParaRPr lang="it-IT" sz="1600" spc="-1" noProof="1"/>
          </a:p>
          <a:p>
            <a:pPr marL="1200150" lvl="2" indent="-283845" algn="just" fontAlgn="auto">
              <a:buClr>
                <a:srgbClr val="1F497D"/>
              </a:buClr>
              <a:buFont typeface="Wingdings" panose="05000000000000000000" pitchFamily="2" charset="2"/>
              <a:buChar char=""/>
            </a:pPr>
            <a:r>
              <a:rPr lang="it-IT" sz="1600" spc="-1" noProof="1">
                <a:solidFill>
                  <a:srgbClr val="000000"/>
                </a:solidFill>
                <a:latin typeface="Tahoma"/>
                <a:ea typeface="ヒラギノ角ゴ ProN W6"/>
              </a:rPr>
              <a:t>Esercizio della detrazione per il cessionario/acquirente;</a:t>
            </a:r>
          </a:p>
          <a:p>
            <a:pPr marL="1200150" lvl="2" indent="-283845" algn="just" fontAlgn="auto">
              <a:buClr>
                <a:srgbClr val="1F497D"/>
              </a:buClr>
              <a:buFont typeface="Wingdings" panose="05000000000000000000" pitchFamily="2" charset="2"/>
              <a:buChar char=""/>
            </a:pPr>
            <a:endParaRPr lang="it-IT" sz="1600" spc="-1" noProof="1">
              <a:solidFill>
                <a:srgbClr val="000000"/>
              </a:solidFill>
              <a:latin typeface="Tahoma"/>
              <a:ea typeface="ヒラギノ角ゴ ProN W6"/>
            </a:endParaRPr>
          </a:p>
          <a:p>
            <a:pPr marL="1200150" lvl="2" indent="-283845" algn="just" fontAlgn="auto">
              <a:buClr>
                <a:srgbClr val="1F497D"/>
              </a:buClr>
              <a:buFont typeface="Wingdings" panose="05000000000000000000" pitchFamily="2" charset="2"/>
              <a:buChar char=""/>
            </a:pPr>
            <a:r>
              <a:rPr lang="it-IT" sz="1600" spc="-1" noProof="1">
                <a:solidFill>
                  <a:srgbClr val="000000"/>
                </a:solidFill>
                <a:latin typeface="Tahoma"/>
                <a:ea typeface="ヒラギノ角ゴ ProN W6"/>
              </a:rPr>
              <a:t>Esigenze di documentazione e controllo (come nella </a:t>
            </a:r>
            <a:r>
              <a:rPr lang="it-IT" sz="1600" i="1" spc="-1" noProof="1">
                <a:solidFill>
                  <a:srgbClr val="000000"/>
                </a:solidFill>
                <a:latin typeface="Tahoma"/>
                <a:ea typeface="ヒラギノ角ゴ ProN W6"/>
              </a:rPr>
              <a:t>ratio </a:t>
            </a:r>
            <a:r>
              <a:rPr lang="it-IT" sz="1600" spc="-1" noProof="1">
                <a:solidFill>
                  <a:srgbClr val="000000"/>
                </a:solidFill>
                <a:latin typeface="Tahoma"/>
                <a:ea typeface="ヒラギノ角ゴ ProN W6"/>
              </a:rPr>
              <a:t>civilistica);</a:t>
            </a:r>
            <a:endParaRPr lang="it-IT" sz="1600" spc="-1" noProof="1"/>
          </a:p>
          <a:p>
            <a:pPr marL="916305" lvl="2" algn="just" fontAlgn="auto">
              <a:buClr>
                <a:srgbClr val="1F497D"/>
              </a:buClr>
            </a:pPr>
            <a:endParaRPr lang="it-IT" sz="1600" spc="-1" noProof="1"/>
          </a:p>
          <a:p>
            <a:pPr marL="1200150" lvl="2" indent="-283845" algn="just" fontAlgn="auto">
              <a:buClr>
                <a:srgbClr val="1F497D"/>
              </a:buClr>
              <a:buFont typeface="Wingdings" panose="05000000000000000000" pitchFamily="2" charset="2"/>
              <a:buChar char=""/>
            </a:pPr>
            <a:r>
              <a:rPr lang="it-IT" sz="1600" spc="-1" noProof="1">
                <a:solidFill>
                  <a:srgbClr val="000000"/>
                </a:solidFill>
                <a:latin typeface="Tahoma"/>
                <a:ea typeface="ヒラギノ角ゴ ProN W6"/>
              </a:rPr>
              <a:t>Titolo per esigere il versamento del tributo da parte dell'Erario (art. 203 Direttiva 2006/112/CE) – secondo il principio di </a:t>
            </a:r>
            <a:r>
              <a:rPr lang="it-IT" sz="1600" b="1" spc="-1" noProof="1">
                <a:solidFill>
                  <a:srgbClr val="004586"/>
                </a:solidFill>
                <a:latin typeface="Tahoma"/>
                <a:ea typeface="ヒラギノ角ゴ ProN W6"/>
              </a:rPr>
              <a:t>cartolarità</a:t>
            </a:r>
            <a:r>
              <a:rPr lang="it-IT" sz="1600" spc="-1" noProof="1">
                <a:solidFill>
                  <a:srgbClr val="000000"/>
                </a:solidFill>
                <a:latin typeface="Tahoma"/>
                <a:ea typeface="ヒラギノ角ゴ ProN W6"/>
              </a:rPr>
              <a:t>. </a:t>
            </a:r>
            <a:endParaRPr lang="it-IT" sz="1600" spc="-1" noProof="1"/>
          </a:p>
          <a:p>
            <a:pPr algn="just" fontAlgn="auto"/>
            <a:endParaRPr lang="it-IT" sz="1600" spc="-1" noProof="1"/>
          </a:p>
          <a:p>
            <a:pPr algn="just" fontAlgn="auto"/>
            <a:r>
              <a:rPr lang="it-IT" sz="1600" spc="-1" noProof="1">
                <a:solidFill>
                  <a:srgbClr val="000000"/>
                </a:solidFill>
                <a:latin typeface="Tahoma"/>
                <a:ea typeface="ヒラギノ角ゴ ProN W6"/>
              </a:rPr>
              <a:t>La cartolarità non deve intendersi nel senso che l’Iva sia una imposta cartolare (l'Iva è una imposta periodica e l’obbligazione tributaria sorge anche in mancanza di documenti che attestino le operazioni effettuate) ma per l’esigenza di evitare che, dopo l’emissione del documento, il soggetto passivo non paghi l’imposta adducendo la non corrispondenza al vero dell’imposta indicata in fattura.</a:t>
            </a:r>
            <a:endParaRPr lang="it-IT" sz="1600" spc="-1" noProof="1"/>
          </a:p>
          <a:p>
            <a:pPr algn="just" fontAlgn="auto"/>
            <a:endParaRPr lang="it-IT" sz="1600" spc="-1" noProof="1"/>
          </a:p>
          <a:p>
            <a:pPr algn="just" fontAlgn="auto"/>
            <a:r>
              <a:rPr lang="it-IT" sz="1600" spc="-1" noProof="1">
                <a:solidFill>
                  <a:srgbClr val="000000"/>
                </a:solidFill>
                <a:latin typeface="Wingdings" panose="05000000000000000000"/>
                <a:ea typeface="ヒラギノ角ゴ ProN W6"/>
              </a:rPr>
              <a:t></a:t>
            </a:r>
            <a:r>
              <a:rPr lang="it-IT" sz="1600" spc="-1" noProof="1">
                <a:solidFill>
                  <a:srgbClr val="000000"/>
                </a:solidFill>
                <a:latin typeface="Tahoma"/>
                <a:ea typeface="ヒラギノ角ゴ ProN W6"/>
              </a:rPr>
              <a:t> Senza però creare nuovi “soggetti passivi” (CGCE, sent. 6.11.2003, cause riunite C-78/02, C-79/02 e C-80/02 </a:t>
            </a:r>
            <a:r>
              <a:rPr lang="it-IT" sz="1600" i="1" spc="-1" noProof="1">
                <a:solidFill>
                  <a:srgbClr val="000000"/>
                </a:solidFill>
                <a:latin typeface="Tahoma"/>
                <a:ea typeface="ヒラギノ角ゴ ProN W6"/>
              </a:rPr>
              <a:t>Karageorgu </a:t>
            </a:r>
            <a:r>
              <a:rPr lang="it-IT" sz="1600" spc="-1" noProof="1">
                <a:solidFill>
                  <a:srgbClr val="000000"/>
                </a:solidFill>
                <a:latin typeface="Tahoma"/>
                <a:ea typeface="ヒラギノ角ゴ ProN W6"/>
              </a:rPr>
              <a:t>e altri).</a:t>
            </a:r>
            <a:endParaRPr lang="it-IT" sz="1600" spc="-1" noProof="1"/>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87"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Rilevanza sostanziale della «fattura»</a:t>
            </a:r>
            <a:endParaRPr lang="it-IT" sz="2800" spc="-1" noProof="1"/>
          </a:p>
        </p:txBody>
      </p:sp>
      <p:sp>
        <p:nvSpPr>
          <p:cNvPr id="188" name="CustomShape 3"/>
          <p:cNvSpPr/>
          <p:nvPr/>
        </p:nvSpPr>
        <p:spPr>
          <a:xfrm>
            <a:off x="457200" y="1452563"/>
            <a:ext cx="8228013" cy="509746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endParaRPr lang="it-IT" spc="-1" noProof="1"/>
          </a:p>
          <a:p>
            <a:pPr algn="just" fontAlgn="auto"/>
            <a:endParaRPr lang="it-IT" spc="-1" noProof="1"/>
          </a:p>
          <a:p>
            <a:pPr algn="just" fontAlgn="auto"/>
            <a:endParaRPr lang="it-IT" spc="-1" noProof="1"/>
          </a:p>
          <a:p>
            <a:pPr algn="just" fontAlgn="auto"/>
            <a:r>
              <a:rPr lang="it-IT" sz="1600" spc="-1" noProof="1">
                <a:solidFill>
                  <a:srgbClr val="000000"/>
                </a:solidFill>
                <a:latin typeface="Tahoma"/>
                <a:ea typeface="ヒラギノ角ゴ ProN W6"/>
              </a:rPr>
              <a:t>“</a:t>
            </a:r>
            <a:r>
              <a:rPr lang="it-IT" sz="1600" i="1" spc="-1" noProof="1">
                <a:solidFill>
                  <a:srgbClr val="000000"/>
                </a:solidFill>
                <a:latin typeface="Tahoma"/>
                <a:ea typeface="ヒラギノ角ゴ ProN W6"/>
              </a:rPr>
              <a:t>E’ </a:t>
            </a:r>
            <a:r>
              <a:rPr lang="it-IT" sz="1600" b="1" i="1" spc="-1" noProof="1">
                <a:solidFill>
                  <a:srgbClr val="000000"/>
                </a:solidFill>
                <a:latin typeface="Tahoma"/>
                <a:ea typeface="ヒラギノ角ゴ ProN W6"/>
              </a:rPr>
              <a:t>solo</a:t>
            </a:r>
            <a:r>
              <a:rPr lang="it-IT" sz="1600" i="1" spc="-1" noProof="1">
                <a:solidFill>
                  <a:srgbClr val="000000"/>
                </a:solidFill>
                <a:latin typeface="Tahoma"/>
                <a:ea typeface="ヒラギノ角ゴ ProN W6"/>
              </a:rPr>
              <a:t> attraverso l’emissione della fattura che il soggetto passivo può addebitare in rivalsa l’imposta al cessionario o committente ed è </a:t>
            </a:r>
            <a:r>
              <a:rPr lang="it-IT" sz="1600" b="1" i="1" spc="-1" noProof="1">
                <a:solidFill>
                  <a:srgbClr val="000000"/>
                </a:solidFill>
                <a:latin typeface="Tahoma"/>
                <a:ea typeface="ヒラギノ角ゴ ProN W6"/>
              </a:rPr>
              <a:t>solo</a:t>
            </a:r>
            <a:r>
              <a:rPr lang="it-IT" sz="1600" i="1" spc="-1" noProof="1">
                <a:solidFill>
                  <a:srgbClr val="000000"/>
                </a:solidFill>
                <a:latin typeface="Tahoma"/>
                <a:ea typeface="ヒラギノ角ゴ ProN W6"/>
              </a:rPr>
              <a:t> attraverso il possesso della medesima e la sua registrazione che il cessionario o committente, avente la qualifica di produttore, può esercitare il diritto di detrazione: è intorno all’adempimento contabile della fatturazione che ruota il meccanismo di applicazione dell’IVA.</a:t>
            </a:r>
            <a:endParaRPr lang="it-IT" sz="1600" spc="-1" noProof="1"/>
          </a:p>
          <a:p>
            <a:pPr algn="just" fontAlgn="auto"/>
            <a:r>
              <a:rPr lang="it-IT" sz="1600" i="1" spc="-1" noProof="1">
                <a:solidFill>
                  <a:srgbClr val="000000"/>
                </a:solidFill>
                <a:latin typeface="Tahoma"/>
                <a:ea typeface="ヒラギノ角ゴ ProN W6"/>
              </a:rPr>
              <a:t>Il documento assume, quindi, rilevanza non solo formale, ma anche sostanziale agli effetti del funzionamento del sistema, permettendo l’addebito in rivalsa e la detrazione dell’imposta addebitata</a:t>
            </a:r>
            <a:r>
              <a:rPr lang="it-IT" sz="1600" spc="-1" noProof="1">
                <a:solidFill>
                  <a:srgbClr val="000000"/>
                </a:solidFill>
                <a:latin typeface="Tahoma"/>
                <a:ea typeface="ヒラギノ角ゴ ProN W6"/>
              </a:rPr>
              <a:t>” (M.Logozzo)</a:t>
            </a:r>
            <a:endParaRPr lang="it-IT" sz="1600" spc="-1" noProof="1"/>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90"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graphicFrame>
        <p:nvGraphicFramePr>
          <p:cNvPr id="2" name="Tabella 2">
            <a:extLst>
              <a:ext uri="{FF2B5EF4-FFF2-40B4-BE49-F238E27FC236}">
                <a16:creationId xmlns:a16="http://schemas.microsoft.com/office/drawing/2014/main" id="{66BC549E-05F2-5DFA-2B74-5A4755B7A017}"/>
              </a:ext>
            </a:extLst>
          </p:cNvPr>
          <p:cNvGraphicFramePr>
            <a:graphicFrameLocks noGrp="1"/>
          </p:cNvGraphicFramePr>
          <p:nvPr>
            <p:extLst>
              <p:ext uri="{D42A27DB-BD31-4B8C-83A1-F6EECF244321}">
                <p14:modId xmlns:p14="http://schemas.microsoft.com/office/powerpoint/2010/main" val="975565896"/>
              </p:ext>
            </p:extLst>
          </p:nvPr>
        </p:nvGraphicFramePr>
        <p:xfrm>
          <a:off x="633356" y="1512391"/>
          <a:ext cx="8009405" cy="3083559"/>
        </p:xfrm>
        <a:graphic>
          <a:graphicData uri="http://schemas.openxmlformats.org/drawingml/2006/table">
            <a:tbl>
              <a:tblPr>
                <a:tableStyleId>{B301B821-A1FF-4177-AEE7-76D212191A09}</a:tableStyleId>
              </a:tblPr>
              <a:tblGrid>
                <a:gridCol w="1504388">
                  <a:extLst>
                    <a:ext uri="{9D8B030D-6E8A-4147-A177-3AD203B41FA5}">
                      <a16:colId xmlns:a16="http://schemas.microsoft.com/office/drawing/2014/main" val="4015896168"/>
                    </a:ext>
                  </a:extLst>
                </a:gridCol>
                <a:gridCol w="3008779">
                  <a:extLst>
                    <a:ext uri="{9D8B030D-6E8A-4147-A177-3AD203B41FA5}">
                      <a16:colId xmlns:a16="http://schemas.microsoft.com/office/drawing/2014/main" val="3304494826"/>
                    </a:ext>
                  </a:extLst>
                </a:gridCol>
                <a:gridCol w="3496238">
                  <a:extLst>
                    <a:ext uri="{9D8B030D-6E8A-4147-A177-3AD203B41FA5}">
                      <a16:colId xmlns:a16="http://schemas.microsoft.com/office/drawing/2014/main" val="1564859644"/>
                    </a:ext>
                  </a:extLst>
                </a:gridCol>
              </a:tblGrid>
              <a:tr h="370839">
                <a:tc>
                  <a:txBody>
                    <a:bodyPr/>
                    <a:lstStyle/>
                    <a:p>
                      <a:pPr lvl="0" algn="ctr">
                        <a:lnSpc>
                          <a:spcPct val="100000"/>
                        </a:lnSpc>
                        <a:buNone/>
                      </a:pPr>
                      <a:endParaRPr lang="it-IT" sz="1400" dirty="0">
                        <a:latin typeface="Calibri"/>
                      </a:endParaRPr>
                    </a:p>
                  </a:txBody>
                  <a:tcPr anchor="ctr">
                    <a:lnL w="3174">
                      <a:solidFill>
                        <a:schemeClr val="accent1"/>
                      </a:solidFill>
                    </a:lnL>
                    <a:lnR w="3174">
                      <a:solidFill>
                        <a:schemeClr val="accent1"/>
                      </a:solidFill>
                    </a:lnR>
                    <a:lnT w="3174">
                      <a:solidFill>
                        <a:schemeClr val="accent1"/>
                      </a:solidFill>
                    </a:lnT>
                    <a:lnB w="3174">
                      <a:solidFill>
                        <a:schemeClr val="accent1"/>
                      </a:solidFill>
                    </a:lnB>
                  </a:tcPr>
                </a:tc>
                <a:tc>
                  <a:txBody>
                    <a:bodyPr/>
                    <a:lstStyle/>
                    <a:p>
                      <a:pPr lvl="0" algn="ctr">
                        <a:lnSpc>
                          <a:spcPct val="100000"/>
                        </a:lnSpc>
                        <a:spcBef>
                          <a:spcPts val="0"/>
                        </a:spcBef>
                        <a:spcAft>
                          <a:spcPts val="0"/>
                        </a:spcAft>
                        <a:buNone/>
                      </a:pPr>
                      <a:r>
                        <a:rPr lang="it-IT" sz="1400" b="1" i="0" u="none" strike="noStrike" noProof="0" dirty="0">
                          <a:solidFill>
                            <a:srgbClr val="000000"/>
                          </a:solidFill>
                          <a:latin typeface="Calibri"/>
                        </a:rPr>
                        <a:t>Regola generale</a:t>
                      </a:r>
                    </a:p>
                  </a:txBody>
                  <a:tcPr anchor="ctr">
                    <a:lnL w="3174">
                      <a:solidFill>
                        <a:schemeClr val="accent1"/>
                      </a:solidFill>
                    </a:lnL>
                    <a:lnR w="3174">
                      <a:solidFill>
                        <a:schemeClr val="accent1"/>
                      </a:solidFill>
                    </a:lnR>
                    <a:lnT w="3174">
                      <a:solidFill>
                        <a:schemeClr val="accent1"/>
                      </a:solidFill>
                    </a:lnT>
                    <a:lnB w="3174">
                      <a:solidFill>
                        <a:schemeClr val="accent1"/>
                      </a:solidFill>
                    </a:lnB>
                  </a:tcPr>
                </a:tc>
                <a:tc>
                  <a:txBody>
                    <a:bodyPr/>
                    <a:lstStyle/>
                    <a:p>
                      <a:pPr marL="0" lvl="0" indent="0" algn="ctr">
                        <a:lnSpc>
                          <a:spcPct val="100000"/>
                        </a:lnSpc>
                        <a:spcBef>
                          <a:spcPct val="0"/>
                        </a:spcBef>
                        <a:spcAft>
                          <a:spcPct val="0"/>
                        </a:spcAft>
                        <a:buNone/>
                      </a:pPr>
                      <a:r>
                        <a:rPr lang="it-IT" sz="1400" b="1" i="0" u="none" strike="noStrike" noProof="0" dirty="0">
                          <a:solidFill>
                            <a:srgbClr val="000000"/>
                          </a:solidFill>
                          <a:latin typeface="Calibri"/>
                        </a:rPr>
                        <a:t>Eccezioni</a:t>
                      </a:r>
                    </a:p>
                  </a:txBody>
                  <a:tcPr anchor="ctr">
                    <a:lnL w="3174">
                      <a:solidFill>
                        <a:schemeClr val="accent1"/>
                      </a:solidFill>
                    </a:lnL>
                    <a:lnR w="3174">
                      <a:solidFill>
                        <a:schemeClr val="accent1"/>
                      </a:solidFill>
                    </a:lnR>
                    <a:lnT w="3174">
                      <a:solidFill>
                        <a:schemeClr val="accent1"/>
                      </a:solidFill>
                    </a:lnT>
                    <a:lnB w="3174">
                      <a:solidFill>
                        <a:schemeClr val="accent1"/>
                      </a:solidFill>
                    </a:lnB>
                  </a:tcPr>
                </a:tc>
                <a:extLst>
                  <a:ext uri="{0D108BD9-81ED-4DB2-BD59-A6C34878D82A}">
                    <a16:rowId xmlns:a16="http://schemas.microsoft.com/office/drawing/2014/main" val="237842109"/>
                  </a:ext>
                </a:extLst>
              </a:tr>
              <a:tr h="370840">
                <a:tc>
                  <a:txBody>
                    <a:bodyPr/>
                    <a:lstStyle/>
                    <a:p>
                      <a:pPr>
                        <a:lnSpc>
                          <a:spcPct val="100000"/>
                        </a:lnSpc>
                      </a:pPr>
                      <a:r>
                        <a:rPr lang="it-IT" sz="1400" dirty="0">
                          <a:latin typeface="Calibri"/>
                        </a:rPr>
                        <a:t>Obbligo</a:t>
                      </a:r>
                    </a:p>
                  </a:txBody>
                  <a:tcPr anchor="ctr">
                    <a:lnL w="3175">
                      <a:solidFill>
                        <a:schemeClr val="accent1"/>
                      </a:solidFill>
                    </a:lnL>
                    <a:lnR w="3175">
                      <a:solidFill>
                        <a:schemeClr val="accent1"/>
                      </a:solidFill>
                    </a:lnR>
                    <a:lnT w="3174" cap="flat" cmpd="sng" algn="ctr">
                      <a:solidFill>
                        <a:schemeClr val="accent1"/>
                      </a:solidFill>
                      <a:prstDash val="solid"/>
                      <a:round/>
                      <a:headEnd type="none" w="med" len="med"/>
                      <a:tailEnd type="none" w="med" len="med"/>
                    </a:lnT>
                    <a:lnB w="3175">
                      <a:solidFill>
                        <a:schemeClr val="accent1"/>
                      </a:solidFill>
                    </a:lnB>
                  </a:tcPr>
                </a:tc>
                <a:tc>
                  <a:txBody>
                    <a:bodyPr/>
                    <a:lstStyle/>
                    <a:p>
                      <a:pPr lvl="0" algn="just">
                        <a:lnSpc>
                          <a:spcPct val="100000"/>
                        </a:lnSpc>
                        <a:spcBef>
                          <a:spcPts val="0"/>
                        </a:spcBef>
                        <a:spcAft>
                          <a:spcPts val="0"/>
                        </a:spcAft>
                        <a:buNone/>
                      </a:pPr>
                      <a:r>
                        <a:rPr lang="it-IT" sz="1400" b="0" i="0" u="none" strike="noStrike" noProof="0" dirty="0">
                          <a:solidFill>
                            <a:srgbClr val="000000"/>
                          </a:solidFill>
                          <a:latin typeface="Calibri"/>
                        </a:rPr>
                        <a:t>La fattura si deve emettere per ciascuna operazione.</a:t>
                      </a:r>
                    </a:p>
                  </a:txBody>
                  <a:tcPr anchor="ctr">
                    <a:lnL w="3175">
                      <a:solidFill>
                        <a:schemeClr val="accent1"/>
                      </a:solidFill>
                    </a:lnL>
                    <a:lnR w="3175" cap="flat" cmpd="sng" algn="ctr">
                      <a:solidFill>
                        <a:schemeClr val="accent1"/>
                      </a:solidFill>
                      <a:prstDash val="solid"/>
                      <a:round/>
                      <a:headEnd type="none" w="med" len="med"/>
                      <a:tailEnd type="none" w="med" len="med"/>
                    </a:lnR>
                    <a:lnT w="3174" cap="flat" cmpd="sng" algn="ctr">
                      <a:solidFill>
                        <a:schemeClr val="accent1"/>
                      </a:solidFill>
                      <a:prstDash val="solid"/>
                      <a:round/>
                      <a:headEnd type="none" w="med" len="med"/>
                      <a:tailEnd type="none" w="med" len="med"/>
                    </a:lnT>
                    <a:lnB w="3175">
                      <a:solidFill>
                        <a:schemeClr val="accent1"/>
                      </a:solidFill>
                    </a:lnB>
                  </a:tcPr>
                </a:tc>
                <a:tc>
                  <a:txBody>
                    <a:bodyPr/>
                    <a:lstStyle/>
                    <a:p>
                      <a:pPr marL="0" marR="0" lvl="0" indent="0" algn="just">
                        <a:lnSpc>
                          <a:spcPct val="100000"/>
                        </a:lnSpc>
                        <a:spcBef>
                          <a:spcPct val="0"/>
                        </a:spcBef>
                        <a:spcAft>
                          <a:spcPct val="0"/>
                        </a:spcAft>
                        <a:buNone/>
                      </a:pPr>
                      <a:r>
                        <a:rPr lang="it-IT" sz="1400" b="0" i="0" u="none" strike="noStrike" noProof="0" dirty="0">
                          <a:solidFill>
                            <a:srgbClr val="000000"/>
                          </a:solidFill>
                          <a:latin typeface="Calibri"/>
                        </a:rPr>
                        <a:t>Commercio al minuto e altre attività esonerate (art. 22 DPR 633/1972) - documentazione dell'operazione: scontrino, ricevuta.</a:t>
                      </a:r>
                      <a:endParaRPr lang="it-IT" sz="1400" dirty="0">
                        <a:latin typeface="Calibri"/>
                      </a:endParaRPr>
                    </a:p>
                  </a:txBody>
                  <a:tcPr anchor="ctr">
                    <a:lnL w="3175" cap="flat" cmpd="sng" algn="ctr">
                      <a:solidFill>
                        <a:schemeClr val="accent1"/>
                      </a:solidFill>
                      <a:prstDash val="solid"/>
                      <a:round/>
                      <a:headEnd type="none" w="med" len="med"/>
                      <a:tailEnd type="none" w="med" len="med"/>
                    </a:lnL>
                    <a:lnR w="3174">
                      <a:solidFill>
                        <a:schemeClr val="accent1"/>
                      </a:solidFill>
                    </a:lnR>
                    <a:lnT w="3174" cap="flat" cmpd="sng" algn="ctr">
                      <a:solidFill>
                        <a:schemeClr val="accent1"/>
                      </a:solidFill>
                      <a:prstDash val="solid"/>
                      <a:round/>
                      <a:headEnd type="none" w="med" len="med"/>
                      <a:tailEnd type="none" w="med" len="med"/>
                    </a:lnT>
                    <a:lnB w="3174">
                      <a:solidFill>
                        <a:schemeClr val="accent1"/>
                      </a:solidFill>
                    </a:lnB>
                  </a:tcPr>
                </a:tc>
                <a:extLst>
                  <a:ext uri="{0D108BD9-81ED-4DB2-BD59-A6C34878D82A}">
                    <a16:rowId xmlns:a16="http://schemas.microsoft.com/office/drawing/2014/main" val="3941420326"/>
                  </a:ext>
                </a:extLst>
              </a:tr>
              <a:tr h="512669">
                <a:tc>
                  <a:txBody>
                    <a:bodyPr/>
                    <a:lstStyle/>
                    <a:p>
                      <a:pPr>
                        <a:lnSpc>
                          <a:spcPct val="100000"/>
                        </a:lnSpc>
                      </a:pPr>
                      <a:r>
                        <a:rPr lang="it-IT" sz="1400" dirty="0">
                          <a:latin typeface="Calibri"/>
                        </a:rPr>
                        <a:t>Emittente</a:t>
                      </a:r>
                    </a:p>
                  </a:txBody>
                  <a:tcPr anchor="ctr">
                    <a:lnL w="3175">
                      <a:solidFill>
                        <a:schemeClr val="accent1"/>
                      </a:solidFill>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a:solidFill>
                        <a:schemeClr val="accent1"/>
                      </a:solidFill>
                    </a:lnB>
                  </a:tcPr>
                </a:tc>
                <a:tc>
                  <a:txBody>
                    <a:bodyPr/>
                    <a:lstStyle/>
                    <a:p>
                      <a:pPr lvl="0">
                        <a:lnSpc>
                          <a:spcPct val="100000"/>
                        </a:lnSpc>
                        <a:buNone/>
                      </a:pPr>
                      <a:r>
                        <a:rPr lang="it-IT" sz="1400" b="0" i="0" u="none" strike="noStrike" noProof="0" dirty="0">
                          <a:solidFill>
                            <a:srgbClr val="000000"/>
                          </a:solidFill>
                          <a:latin typeface="Calibri"/>
                        </a:rPr>
                        <a:t>Colui che effettua la cessione o la prestazione (regola: la fattura segue la merce) </a:t>
                      </a:r>
                    </a:p>
                  </a:txBody>
                  <a:tcPr anchor="ctr">
                    <a:lnL w="3175" cap="flat" cmpd="sng" algn="ctr">
                      <a:solidFill>
                        <a:schemeClr val="accent1"/>
                      </a:solidFill>
                      <a:prstDash val="solid"/>
                      <a:round/>
                      <a:headEnd type="none" w="med" len="med"/>
                      <a:tailEnd type="none" w="med" len="med"/>
                    </a:lnL>
                    <a:lnR w="3175" cap="flat" cmpd="sng" algn="ctr">
                      <a:solidFill>
                        <a:schemeClr val="accent1"/>
                      </a:solidFill>
                      <a:prstDash val="solid"/>
                      <a:round/>
                      <a:headEnd type="none" w="med" len="med"/>
                      <a:tailEnd type="none" w="med" len="med"/>
                    </a:lnR>
                    <a:lnT w="3175" cap="flat" cmpd="sng" algn="ctr">
                      <a:solidFill>
                        <a:schemeClr val="accent1"/>
                      </a:solidFill>
                      <a:prstDash val="solid"/>
                      <a:round/>
                      <a:headEnd type="none" w="med" len="med"/>
                      <a:tailEnd type="none" w="med" len="med"/>
                    </a:lnT>
                    <a:lnB w="3175">
                      <a:solidFill>
                        <a:schemeClr val="accent1"/>
                      </a:solidFill>
                    </a:lnB>
                  </a:tcPr>
                </a:tc>
                <a:tc>
                  <a:txBody>
                    <a:bodyPr/>
                    <a:lstStyle/>
                    <a:p>
                      <a:pPr lvl="0" algn="l">
                        <a:lnSpc>
                          <a:spcPct val="100000"/>
                        </a:lnSpc>
                        <a:spcBef>
                          <a:spcPts val="0"/>
                        </a:spcBef>
                        <a:spcAft>
                          <a:spcPts val="0"/>
                        </a:spcAft>
                        <a:buNone/>
                      </a:pPr>
                      <a:r>
                        <a:rPr lang="it-IT" sz="1400" b="0" i="0" u="none" strike="noStrike" noProof="0" dirty="0">
                          <a:solidFill>
                            <a:srgbClr val="000000"/>
                          </a:solidFill>
                          <a:latin typeface="Calibri"/>
                        </a:rPr>
                        <a:t>Fattura emessa dall'acquirente o da un terzo</a:t>
                      </a:r>
                    </a:p>
                  </a:txBody>
                  <a:tcPr anchor="ctr">
                    <a:lnL w="3175" cap="flat" cmpd="sng" algn="ctr">
                      <a:solidFill>
                        <a:schemeClr val="accent1"/>
                      </a:solidFill>
                      <a:prstDash val="solid"/>
                      <a:round/>
                      <a:headEnd type="none" w="med" len="med"/>
                      <a:tailEnd type="none" w="med" len="med"/>
                    </a:lnL>
                    <a:lnR w="3174">
                      <a:solidFill>
                        <a:schemeClr val="accent1"/>
                      </a:solidFill>
                    </a:lnR>
                    <a:lnT w="3174" cap="flat" cmpd="sng" algn="ctr">
                      <a:solidFill>
                        <a:schemeClr val="accent1"/>
                      </a:solidFill>
                      <a:prstDash val="solid"/>
                      <a:round/>
                      <a:headEnd type="none" w="med" len="med"/>
                      <a:tailEnd type="none" w="med" len="med"/>
                    </a:lnT>
                    <a:lnB w="3174">
                      <a:solidFill>
                        <a:schemeClr val="accent1"/>
                      </a:solidFill>
                    </a:lnB>
                  </a:tcPr>
                </a:tc>
                <a:extLst>
                  <a:ext uri="{0D108BD9-81ED-4DB2-BD59-A6C34878D82A}">
                    <a16:rowId xmlns:a16="http://schemas.microsoft.com/office/drawing/2014/main" val="547596875"/>
                  </a:ext>
                </a:extLst>
              </a:tr>
              <a:tr h="370840">
                <a:tc>
                  <a:txBody>
                    <a:bodyPr/>
                    <a:lstStyle/>
                    <a:p>
                      <a:pPr>
                        <a:lnSpc>
                          <a:spcPct val="100000"/>
                        </a:lnSpc>
                      </a:pPr>
                      <a:r>
                        <a:rPr lang="it-IT" sz="1400" dirty="0">
                          <a:latin typeface="Calibri"/>
                        </a:rPr>
                        <a:t>Tempo di emissione</a:t>
                      </a:r>
                    </a:p>
                  </a:txBody>
                  <a:tcPr anchor="ctr">
                    <a:lnL w="3175">
                      <a:solidFill>
                        <a:schemeClr val="accent1"/>
                      </a:solidFill>
                    </a:lnL>
                    <a:lnR w="3175">
                      <a:solidFill>
                        <a:schemeClr val="accent1"/>
                      </a:solidFill>
                    </a:lnR>
                    <a:lnT w="3175">
                      <a:solidFill>
                        <a:schemeClr val="accent1"/>
                      </a:solidFill>
                    </a:lnT>
                    <a:lnB w="3175">
                      <a:solidFill>
                        <a:schemeClr val="accent1"/>
                      </a:solidFill>
                    </a:lnB>
                  </a:tcPr>
                </a:tc>
                <a:tc>
                  <a:txBody>
                    <a:bodyPr/>
                    <a:lstStyle/>
                    <a:p>
                      <a:pPr marL="0" marR="0" lvl="0" indent="0" algn="l">
                        <a:lnSpc>
                          <a:spcPct val="100000"/>
                        </a:lnSpc>
                        <a:spcBef>
                          <a:spcPct val="0"/>
                        </a:spcBef>
                        <a:spcAft>
                          <a:spcPct val="0"/>
                        </a:spcAft>
                        <a:buNone/>
                      </a:pPr>
                      <a:r>
                        <a:rPr lang="it-IT" sz="1400" b="0" i="0" u="none" strike="noStrike" noProof="0" dirty="0">
                          <a:solidFill>
                            <a:srgbClr val="000000"/>
                          </a:solidFill>
                          <a:latin typeface="Calibri"/>
                        </a:rPr>
                        <a:t>Al realizzarsi del momento impositivo (art. 6 DPR 633/1972) </a:t>
                      </a:r>
                    </a:p>
                  </a:txBody>
                  <a:tcPr anchor="ctr">
                    <a:lnL w="3175">
                      <a:solidFill>
                        <a:schemeClr val="accent1"/>
                      </a:solidFill>
                    </a:lnL>
                    <a:lnR w="3175" cap="flat" cmpd="sng" algn="ctr">
                      <a:solidFill>
                        <a:schemeClr val="accent1"/>
                      </a:solidFill>
                      <a:prstDash val="solid"/>
                      <a:round/>
                      <a:headEnd type="none" w="med" len="med"/>
                      <a:tailEnd type="none" w="med" len="med"/>
                    </a:lnR>
                    <a:lnT w="3175">
                      <a:solidFill>
                        <a:schemeClr val="accent1"/>
                      </a:solidFill>
                    </a:lnT>
                    <a:lnB w="3175">
                      <a:solidFill>
                        <a:schemeClr val="accent1"/>
                      </a:solidFill>
                    </a:lnB>
                  </a:tcPr>
                </a:tc>
                <a:tc>
                  <a:txBody>
                    <a:bodyPr/>
                    <a:lstStyle/>
                    <a:p>
                      <a:pPr lvl="0" algn="l">
                        <a:lnSpc>
                          <a:spcPct val="100000"/>
                        </a:lnSpc>
                        <a:spcBef>
                          <a:spcPts val="0"/>
                        </a:spcBef>
                        <a:spcAft>
                          <a:spcPts val="0"/>
                        </a:spcAft>
                        <a:buNone/>
                      </a:pPr>
                      <a:r>
                        <a:rPr lang="it-IT" sz="1400" b="0" i="0" u="none" strike="noStrike" noProof="0" dirty="0">
                          <a:solidFill>
                            <a:srgbClr val="000000"/>
                          </a:solidFill>
                          <a:latin typeface="Calibri"/>
                        </a:rPr>
                        <a:t>Art. 21 co. 4 DPR 633/1972.</a:t>
                      </a:r>
                    </a:p>
                    <a:p>
                      <a:pPr marL="0" lvl="0" indent="0" algn="l">
                        <a:lnSpc>
                          <a:spcPct val="100000"/>
                        </a:lnSpc>
                        <a:spcBef>
                          <a:spcPct val="0"/>
                        </a:spcBef>
                        <a:spcAft>
                          <a:spcPct val="0"/>
                        </a:spcAft>
                        <a:buNone/>
                      </a:pPr>
                      <a:endParaRPr lang="it-IT" sz="1400" b="0" i="0" u="none" strike="noStrike" noProof="0" dirty="0">
                        <a:solidFill>
                          <a:srgbClr val="000000"/>
                        </a:solidFill>
                        <a:latin typeface="Calibri"/>
                      </a:endParaRPr>
                    </a:p>
                  </a:txBody>
                  <a:tcPr anchor="ctr">
                    <a:lnL w="3175" cap="flat" cmpd="sng" algn="ctr">
                      <a:solidFill>
                        <a:schemeClr val="accent1"/>
                      </a:solidFill>
                      <a:prstDash val="solid"/>
                      <a:round/>
                      <a:headEnd type="none" w="med" len="med"/>
                      <a:tailEnd type="none" w="med" len="med"/>
                    </a:lnL>
                    <a:lnR w="3174">
                      <a:solidFill>
                        <a:schemeClr val="accent1"/>
                      </a:solidFill>
                    </a:lnR>
                    <a:lnT w="3174">
                      <a:solidFill>
                        <a:schemeClr val="accent1"/>
                      </a:solidFill>
                    </a:lnT>
                    <a:lnB w="3174">
                      <a:solidFill>
                        <a:schemeClr val="accent1"/>
                      </a:solidFill>
                    </a:lnB>
                  </a:tcPr>
                </a:tc>
                <a:extLst>
                  <a:ext uri="{0D108BD9-81ED-4DB2-BD59-A6C34878D82A}">
                    <a16:rowId xmlns:a16="http://schemas.microsoft.com/office/drawing/2014/main" val="1413335495"/>
                  </a:ext>
                </a:extLst>
              </a:tr>
              <a:tr h="370840">
                <a:tc>
                  <a:txBody>
                    <a:bodyPr/>
                    <a:lstStyle/>
                    <a:p>
                      <a:pPr lvl="0">
                        <a:lnSpc>
                          <a:spcPct val="100000"/>
                        </a:lnSpc>
                        <a:buNone/>
                      </a:pPr>
                      <a:r>
                        <a:rPr lang="it-IT" sz="1400" dirty="0">
                          <a:latin typeface="Calibri"/>
                        </a:rPr>
                        <a:t>Tipologia</a:t>
                      </a:r>
                    </a:p>
                  </a:txBody>
                  <a:tcPr anchor="ctr">
                    <a:lnL w="3175">
                      <a:solidFill>
                        <a:schemeClr val="accent1"/>
                      </a:solidFill>
                    </a:lnL>
                    <a:lnR w="3175">
                      <a:solidFill>
                        <a:schemeClr val="accent1"/>
                      </a:solidFill>
                    </a:lnR>
                    <a:lnT w="3175">
                      <a:solidFill>
                        <a:schemeClr val="accent1"/>
                      </a:solidFill>
                    </a:lnT>
                    <a:lnB w="3175">
                      <a:solidFill>
                        <a:schemeClr val="accent1"/>
                      </a:solidFill>
                    </a:lnB>
                  </a:tcPr>
                </a:tc>
                <a:tc>
                  <a:txBody>
                    <a:bodyPr/>
                    <a:lstStyle/>
                    <a:p>
                      <a:pPr lvl="0">
                        <a:lnSpc>
                          <a:spcPct val="100000"/>
                        </a:lnSpc>
                        <a:buNone/>
                      </a:pPr>
                      <a:r>
                        <a:rPr lang="it-IT" sz="1400" b="0" i="0" u="none" strike="noStrike" noProof="0" dirty="0">
                          <a:solidFill>
                            <a:srgbClr val="000000"/>
                          </a:solidFill>
                          <a:latin typeface="Calibri"/>
                        </a:rPr>
                        <a:t>Immediata, Differita, Autofattura, Fattura Semplificata</a:t>
                      </a:r>
                      <a:endParaRPr lang="it-IT" sz="1400" dirty="0">
                        <a:latin typeface="Calibri"/>
                      </a:endParaRPr>
                    </a:p>
                  </a:txBody>
                  <a:tcPr anchor="ctr">
                    <a:lnL w="3175">
                      <a:solidFill>
                        <a:schemeClr val="accent1"/>
                      </a:solidFill>
                    </a:lnL>
                    <a:lnR w="3175" cap="flat" cmpd="sng" algn="ctr">
                      <a:solidFill>
                        <a:schemeClr val="accent1"/>
                      </a:solidFill>
                      <a:prstDash val="solid"/>
                      <a:round/>
                      <a:headEnd type="none" w="med" len="med"/>
                      <a:tailEnd type="none" w="med" len="med"/>
                    </a:lnR>
                    <a:lnT w="3175">
                      <a:solidFill>
                        <a:schemeClr val="accent1"/>
                      </a:solidFill>
                    </a:lnT>
                    <a:lnB w="3175">
                      <a:solidFill>
                        <a:schemeClr val="accent1"/>
                      </a:solidFill>
                    </a:lnB>
                  </a:tcPr>
                </a:tc>
                <a:tc>
                  <a:txBody>
                    <a:bodyPr/>
                    <a:lstStyle/>
                    <a:p>
                      <a:pPr lvl="0">
                        <a:lnSpc>
                          <a:spcPct val="100000"/>
                        </a:lnSpc>
                        <a:buNone/>
                      </a:pPr>
                      <a:endParaRPr lang="it-IT" sz="1400" b="0" i="0" u="none" strike="noStrike" noProof="0" dirty="0">
                        <a:solidFill>
                          <a:srgbClr val="000000"/>
                        </a:solidFill>
                        <a:latin typeface="Calibri"/>
                      </a:endParaRPr>
                    </a:p>
                  </a:txBody>
                  <a:tcPr anchor="ctr">
                    <a:lnL w="3175" cap="flat" cmpd="sng" algn="ctr">
                      <a:solidFill>
                        <a:schemeClr val="accent1"/>
                      </a:solidFill>
                      <a:prstDash val="solid"/>
                      <a:round/>
                      <a:headEnd type="none" w="med" len="med"/>
                      <a:tailEnd type="none" w="med" len="med"/>
                    </a:lnL>
                    <a:lnR w="3174">
                      <a:solidFill>
                        <a:schemeClr val="accent1"/>
                      </a:solidFill>
                    </a:lnR>
                    <a:lnT w="3174">
                      <a:solidFill>
                        <a:schemeClr val="accent1"/>
                      </a:solidFill>
                    </a:lnT>
                    <a:lnB w="3174">
                      <a:solidFill>
                        <a:schemeClr val="accent1"/>
                      </a:solidFill>
                    </a:lnB>
                  </a:tcPr>
                </a:tc>
                <a:extLst>
                  <a:ext uri="{0D108BD9-81ED-4DB2-BD59-A6C34878D82A}">
                    <a16:rowId xmlns:a16="http://schemas.microsoft.com/office/drawing/2014/main" val="478398489"/>
                  </a:ext>
                </a:extLst>
              </a:tr>
            </a:tbl>
          </a:graphicData>
        </a:graphic>
      </p:graphicFrame>
      <p:sp>
        <p:nvSpPr>
          <p:cNvPr id="4" name="CustomShape 3">
            <a:extLst>
              <a:ext uri="{FF2B5EF4-FFF2-40B4-BE49-F238E27FC236}">
                <a16:creationId xmlns:a16="http://schemas.microsoft.com/office/drawing/2014/main" id="{DD9696E8-20AA-2C38-0750-35DD308664DA}"/>
              </a:ext>
            </a:extLst>
          </p:cNvPr>
          <p:cNvSpPr/>
          <p:nvPr/>
        </p:nvSpPr>
        <p:spPr>
          <a:xfrm>
            <a:off x="533400" y="4850465"/>
            <a:ext cx="8241834" cy="1258329"/>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nchor="t"/>
          <a:lstStyle/>
          <a:p>
            <a:pPr marL="171450" indent="-171450" algn="just" fontAlgn="auto">
              <a:lnSpc>
                <a:spcPct val="90000"/>
              </a:lnSpc>
              <a:buFont typeface="Arial"/>
              <a:buChar char="•"/>
            </a:pPr>
            <a:endParaRPr lang="it-IT" sz="1200" spc="-1" noProof="1">
              <a:latin typeface="Calibri"/>
            </a:endParaRPr>
          </a:p>
          <a:p>
            <a:pPr marL="173355" indent="-171450" fontAlgn="auto">
              <a:lnSpc>
                <a:spcPct val="90000"/>
              </a:lnSpc>
              <a:buClr>
                <a:srgbClr val="1F497D"/>
              </a:buClr>
              <a:buFont typeface="Arial"/>
              <a:buChar char="•"/>
            </a:pPr>
            <a:r>
              <a:rPr lang="it-IT" sz="1200" spc="-1" noProof="1">
                <a:solidFill>
                  <a:srgbClr val="000000"/>
                </a:solidFill>
                <a:latin typeface="Calibri"/>
                <a:ea typeface="Tahoma"/>
              </a:rPr>
              <a:t>Si ha per emessa all'atto della sua consegna o spedizione, trasmissione o messa a disposizione (art. 21 primo comma); in assenza di una specifica indicazione la data in fattura coincide con quella di consegna o spedizione.</a:t>
            </a:r>
            <a:endParaRPr lang="it-IT" sz="1200" spc="-1" noProof="1">
              <a:latin typeface="Calibri"/>
            </a:endParaRPr>
          </a:p>
          <a:p>
            <a:pPr marL="173355" indent="-171450" fontAlgn="auto">
              <a:lnSpc>
                <a:spcPct val="90000"/>
              </a:lnSpc>
              <a:buClr>
                <a:srgbClr val="1F497D"/>
              </a:buClr>
              <a:buFont typeface="Arial"/>
              <a:buChar char="•"/>
            </a:pPr>
            <a:r>
              <a:rPr lang="it-IT" sz="1200" spc="-1" noProof="1">
                <a:solidFill>
                  <a:srgbClr val="000000"/>
                </a:solidFill>
                <a:latin typeface="Calibri"/>
                <a:ea typeface="Tahoma"/>
              </a:rPr>
              <a:t>Deve essere compilata in due esemplari, uno dei quali consegnato o spedito all'altra parte; deve essere emesso in un solo esemplare se emessa ai sensi dell'art. 17 – “reverse charge”.</a:t>
            </a:r>
            <a:endParaRPr lang="it-IT" sz="1200" spc="-1" noProof="1">
              <a:latin typeface="Calibri"/>
              <a:ea typeface="Tahoma"/>
            </a:endParaRPr>
          </a:p>
          <a:p>
            <a:pPr marL="173355" indent="-171450" fontAlgn="auto">
              <a:lnSpc>
                <a:spcPct val="90000"/>
              </a:lnSpc>
              <a:buClr>
                <a:srgbClr val="1F497D"/>
              </a:buClr>
              <a:buFont typeface="Arial"/>
              <a:buChar char="•"/>
            </a:pPr>
            <a:r>
              <a:rPr lang="it-IT" sz="1200" spc="-1" noProof="1">
                <a:solidFill>
                  <a:srgbClr val="000000"/>
                </a:solidFill>
                <a:latin typeface="Calibri"/>
                <a:ea typeface="Tahoma"/>
              </a:rPr>
              <a:t>Le spese di emissione non possono formare oggetto di addebito specifico.</a:t>
            </a:r>
            <a:endParaRPr lang="it-IT" sz="1200" spc="-1" noProof="1">
              <a:latin typeface="Calibri"/>
              <a:ea typeface="Tahoma"/>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96"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197" name="CustomShape 3"/>
          <p:cNvSpPr/>
          <p:nvPr/>
        </p:nvSpPr>
        <p:spPr>
          <a:xfrm>
            <a:off x="457200" y="1371600"/>
            <a:ext cx="8274050" cy="526415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algn="ctr" fontAlgn="auto"/>
            <a:r>
              <a:rPr lang="it-IT" b="1" spc="-1" noProof="1">
                <a:solidFill>
                  <a:srgbClr val="004586"/>
                </a:solidFill>
                <a:latin typeface="Tahoma" panose="020B0604030504040204" pitchFamily="34" charset="0"/>
                <a:ea typeface="Tahoma" panose="020B0604030504040204" pitchFamily="34" charset="0"/>
                <a:cs typeface="Tahoma" panose="020B0604030504040204" pitchFamily="34" charset="0"/>
              </a:rPr>
              <a:t>Contenuto della fattura</a:t>
            </a:r>
            <a:br>
              <a:rPr lang="it-IT" b="1" spc="-1" noProof="1">
                <a:latin typeface="Tahoma" panose="020B0604030504040204" pitchFamily="34" charset="0"/>
                <a:ea typeface="Tahoma" panose="020B0604030504040204" pitchFamily="34" charset="0"/>
                <a:cs typeface="Tahoma" panose="020B0604030504040204" pitchFamily="34" charset="0"/>
              </a:rPr>
            </a:br>
            <a:endParaRPr lang="it-IT" b="1" spc="-1" noProof="1">
              <a:latin typeface="Tahoma" panose="020B0604030504040204" pitchFamily="34" charset="0"/>
              <a:ea typeface="Tahoma" panose="020B0604030504040204" pitchFamily="34" charset="0"/>
              <a:cs typeface="Tahoma" panose="020B0604030504040204" pitchFamily="34" charset="0"/>
            </a:endParaRPr>
          </a:p>
          <a:p>
            <a:pPr fontAlgn="auto"/>
            <a:r>
              <a:rPr lang="it-IT" sz="1900" dirty="0">
                <a:latin typeface="Tahoma" panose="020B0604030504040204" pitchFamily="34" charset="0"/>
                <a:ea typeface="Tahoma" panose="020B0604030504040204" pitchFamily="34" charset="0"/>
                <a:cs typeface="Tahoma" panose="020B0604030504040204" pitchFamily="34" charset="0"/>
              </a:rPr>
              <a:t>Elementi essenziali:</a:t>
            </a:r>
          </a:p>
          <a:p>
            <a:pPr algn="ctr" fontAlgn="auto"/>
            <a:r>
              <a:rPr lang="it-IT" sz="1900" b="1" dirty="0">
                <a:latin typeface="Tahoma" panose="020B0604030504040204" pitchFamily="34" charset="0"/>
                <a:ea typeface="Tahoma" panose="020B0604030504040204" pitchFamily="34" charset="0"/>
                <a:cs typeface="Tahoma" panose="020B0604030504040204" pitchFamily="34" charset="0"/>
              </a:rPr>
              <a:t>Art. 21, c. 2, DPR 633/1972</a:t>
            </a:r>
          </a:p>
          <a:p>
            <a:pPr fontAlgn="auto"/>
            <a:endParaRPr lang="it-IT" spc="-1" noProof="1">
              <a:latin typeface="Tahoma" panose="020B0604030504040204" pitchFamily="34" charset="0"/>
              <a:ea typeface="Tahoma" panose="020B0604030504040204" pitchFamily="34" charset="0"/>
              <a:cs typeface="Tahoma" panose="020B0604030504040204" pitchFamily="34" charset="0"/>
            </a:endParaRPr>
          </a:p>
          <a:p>
            <a:pPr marL="742950" lvl="1" indent="-285750">
              <a:lnSpc>
                <a:spcPct val="112000"/>
              </a:lnSpc>
              <a:spcBef>
                <a:spcPts val="200"/>
              </a:spcBef>
              <a:spcAft>
                <a:spcPts val="500"/>
              </a:spcAft>
              <a:buFont typeface="Arial" panose="020B0604020202020204" pitchFamily="34" charset="0"/>
              <a:buChar char="•"/>
            </a:pPr>
            <a:r>
              <a:rPr lang="it-IT" sz="1600" dirty="0">
                <a:latin typeface="Tahoma" panose="020B0604030504040204" pitchFamily="34" charset="0"/>
                <a:ea typeface="Tahoma" panose="020B0604030504040204" pitchFamily="34" charset="0"/>
                <a:cs typeface="Tahoma" panose="020B0604030504040204" pitchFamily="34" charset="0"/>
              </a:rPr>
              <a:t>data e numero progressivo univoco;</a:t>
            </a:r>
          </a:p>
          <a:p>
            <a:pPr marL="742950" lvl="1" indent="-285750">
              <a:lnSpc>
                <a:spcPct val="112000"/>
              </a:lnSpc>
              <a:spcBef>
                <a:spcPts val="200"/>
              </a:spcBef>
              <a:spcAft>
                <a:spcPts val="500"/>
              </a:spcAft>
              <a:buFont typeface="Arial" panose="020B0604020202020204" pitchFamily="34" charset="0"/>
              <a:buChar char="•"/>
            </a:pPr>
            <a:r>
              <a:rPr lang="it-IT" sz="1600" dirty="0">
                <a:latin typeface="Tahoma" panose="020B0604030504040204" pitchFamily="34" charset="0"/>
                <a:ea typeface="Tahoma" panose="020B0604030504040204" pitchFamily="34" charset="0"/>
                <a:cs typeface="Tahoma" panose="020B0604030504040204" pitchFamily="34" charset="0"/>
              </a:rPr>
              <a:t>dati identificativi e n. partita IVA di cedente e cessionario (o C.F. se privato);</a:t>
            </a:r>
          </a:p>
          <a:p>
            <a:pPr marL="742950" lvl="1" indent="-285750">
              <a:lnSpc>
                <a:spcPct val="112000"/>
              </a:lnSpc>
              <a:spcBef>
                <a:spcPts val="200"/>
              </a:spcBef>
              <a:spcAft>
                <a:spcPts val="500"/>
              </a:spcAft>
              <a:buFont typeface="Arial" panose="020B0604020202020204" pitchFamily="34" charset="0"/>
              <a:buChar char="•"/>
            </a:pPr>
            <a:r>
              <a:rPr lang="it-IT" sz="1600" dirty="0">
                <a:latin typeface="Tahoma" panose="020B0604030504040204" pitchFamily="34" charset="0"/>
                <a:ea typeface="Tahoma" panose="020B0604030504040204" pitchFamily="34" charset="0"/>
                <a:cs typeface="Tahoma" panose="020B0604030504040204" pitchFamily="34" charset="0"/>
              </a:rPr>
              <a:t>natura, qualità e quantità di beni/servizi;</a:t>
            </a:r>
          </a:p>
          <a:p>
            <a:pPr marL="742950" lvl="1" indent="-285750">
              <a:lnSpc>
                <a:spcPct val="112000"/>
              </a:lnSpc>
              <a:spcBef>
                <a:spcPts val="200"/>
              </a:spcBef>
              <a:spcAft>
                <a:spcPts val="500"/>
              </a:spcAft>
              <a:buFont typeface="Arial" panose="020B0604020202020204" pitchFamily="34" charset="0"/>
              <a:buChar char="•"/>
            </a:pPr>
            <a:r>
              <a:rPr lang="it-IT" sz="1600" dirty="0">
                <a:latin typeface="Tahoma" panose="020B0604030504040204" pitchFamily="34" charset="0"/>
                <a:ea typeface="Tahoma" panose="020B0604030504040204" pitchFamily="34" charset="0"/>
                <a:cs typeface="Tahoma" panose="020B0604030504040204" pitchFamily="34" charset="0"/>
              </a:rPr>
              <a:t>base imponibile, aliquota, imposta e imponibile;</a:t>
            </a:r>
          </a:p>
          <a:p>
            <a:pPr marL="742950" lvl="1" indent="-285750">
              <a:lnSpc>
                <a:spcPct val="112000"/>
              </a:lnSpc>
              <a:spcBef>
                <a:spcPts val="200"/>
              </a:spcBef>
              <a:spcAft>
                <a:spcPts val="500"/>
              </a:spcAft>
              <a:buFont typeface="Arial" panose="020B0604020202020204" pitchFamily="34" charset="0"/>
              <a:buChar char="•"/>
            </a:pPr>
            <a:r>
              <a:rPr lang="it-IT" sz="1600" dirty="0">
                <a:latin typeface="Tahoma" panose="020B0604030504040204" pitchFamily="34" charset="0"/>
                <a:ea typeface="Tahoma" panose="020B0604030504040204" pitchFamily="34" charset="0"/>
                <a:cs typeface="Tahoma" panose="020B0604030504040204" pitchFamily="34" charset="0"/>
              </a:rPr>
              <a:t>dati speciali (mezzi di trasporto nuovi; emissione per conto terzi). </a:t>
            </a:r>
          </a:p>
          <a:p>
            <a:pPr marL="742950" lvl="1" indent="-285750">
              <a:lnSpc>
                <a:spcPct val="112000"/>
              </a:lnSpc>
              <a:spcBef>
                <a:spcPts val="200"/>
              </a:spcBef>
              <a:spcAft>
                <a:spcPts val="500"/>
              </a:spcAft>
              <a:buFont typeface="Arial" panose="020B0604020202020204" pitchFamily="34" charset="0"/>
              <a:buChar char="•"/>
            </a:pPr>
            <a:r>
              <a:rPr lang="it-IT" sz="1600" noProof="1">
                <a:latin typeface="Tahoma" panose="020B0604030504040204" pitchFamily="34" charset="0"/>
                <a:ea typeface="Tahoma" panose="020B0604030504040204" pitchFamily="34" charset="0"/>
                <a:cs typeface="Tahoma" panose="020B0604030504040204" pitchFamily="34" charset="0"/>
              </a:rPr>
              <a:t>corrispettivi relativi agli altri beni ceduti a titolo di sconto, premio o abbuono; </a:t>
            </a:r>
          </a:p>
          <a:p>
            <a:pPr marL="742950" lvl="1" indent="-285750">
              <a:lnSpc>
                <a:spcPct val="112000"/>
              </a:lnSpc>
              <a:spcBef>
                <a:spcPts val="200"/>
              </a:spcBef>
              <a:spcAft>
                <a:spcPts val="500"/>
              </a:spcAft>
              <a:buFont typeface="Arial" panose="020B0604020202020204" pitchFamily="34" charset="0"/>
              <a:buChar char="•"/>
            </a:pPr>
            <a:r>
              <a:rPr lang="it-IT" sz="1600" noProof="1">
                <a:latin typeface="Tahoma" panose="020B0604030504040204" pitchFamily="34" charset="0"/>
                <a:ea typeface="Tahoma" panose="020B0604030504040204" pitchFamily="34" charset="0"/>
                <a:cs typeface="Tahoma" panose="020B0604030504040204" pitchFamily="34" charset="0"/>
              </a:rPr>
              <a:t>annotazione che la fattura stessa è emessa, per conto del cedente o prestatore, dal cessionario o committente ovvero da un terzo.</a:t>
            </a:r>
          </a:p>
          <a:p>
            <a:pPr>
              <a:lnSpc>
                <a:spcPct val="112000"/>
              </a:lnSpc>
              <a:spcBef>
                <a:spcPts val="200"/>
              </a:spcBef>
              <a:spcAft>
                <a:spcPts val="500"/>
              </a:spcAft>
            </a:pPr>
            <a:r>
              <a:rPr lang="it-IT" sz="1600" noProof="1">
                <a:latin typeface="Tahoma" panose="020B0604030504040204" pitchFamily="34" charset="0"/>
                <a:ea typeface="Tahoma" panose="020B0604030504040204" pitchFamily="34" charset="0"/>
                <a:cs typeface="Tahoma" panose="020B0604030504040204" pitchFamily="34" charset="0"/>
              </a:rPr>
              <a:t>«</a:t>
            </a:r>
            <a:r>
              <a:rPr lang="it-IT" sz="1600" i="1" dirty="0">
                <a:latin typeface="Tahoma" panose="020B0604030504040204" pitchFamily="34" charset="0"/>
                <a:ea typeface="Tahoma" panose="020B0604030504040204" pitchFamily="34" charset="0"/>
                <a:cs typeface="Tahoma" panose="020B0604030504040204" pitchFamily="34" charset="0"/>
              </a:rPr>
              <a:t>Gli Stati membri non possono condizionare il diritto alla detrazione dell’IVA al rispetto di condizioni riguardanti il contenuto delle fatture che non siano espressamente previste dalle disposizioni della direttiva 2006/112» (</a:t>
            </a:r>
            <a:r>
              <a:rPr lang="it-IT" sz="1600" dirty="0">
                <a:latin typeface="Tahoma" panose="020B0604030504040204" pitchFamily="34" charset="0"/>
                <a:ea typeface="Tahoma" panose="020B0604030504040204" pitchFamily="34" charset="0"/>
                <a:cs typeface="Tahoma" panose="020B0604030504040204" pitchFamily="34" charset="0"/>
              </a:rPr>
              <a:t>CGUE, C-368-09 </a:t>
            </a:r>
            <a:r>
              <a:rPr lang="it-IT" sz="1600" i="1" dirty="0">
                <a:latin typeface="Tahoma" panose="020B0604030504040204" pitchFamily="34" charset="0"/>
                <a:ea typeface="Tahoma" panose="020B0604030504040204" pitchFamily="34" charset="0"/>
                <a:cs typeface="Tahoma" panose="020B0604030504040204" pitchFamily="34" charset="0"/>
              </a:rPr>
              <a:t>Pannon)</a:t>
            </a:r>
            <a:endParaRPr lang="it-IT" sz="1600" noProof="1">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99"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200" name="CustomShape 3"/>
          <p:cNvSpPr/>
          <p:nvPr/>
        </p:nvSpPr>
        <p:spPr>
          <a:xfrm>
            <a:off x="481806" y="1290637"/>
            <a:ext cx="8180388" cy="5195888"/>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algn="ctr" fontAlgn="auto"/>
            <a:r>
              <a:rPr lang="it-IT" sz="1600" b="1" spc="-1" noProof="1">
                <a:solidFill>
                  <a:srgbClr val="004586"/>
                </a:solidFill>
                <a:latin typeface="Tahoma"/>
              </a:rPr>
              <a:t>Contenuto della fattura</a:t>
            </a:r>
            <a:endParaRPr lang="it-IT" sz="1600" spc="-1" noProof="1"/>
          </a:p>
          <a:p>
            <a:pPr algn="ctr" fontAlgn="auto"/>
            <a:endParaRPr lang="it-IT" sz="16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rPr>
              <a:t>Per le operazioni senza addebito dell'imposta, l'art. 21 prevede l'indicazione dettagliata di annotazioni, con l'eventuale indicazione della relativa norma comunitaria o nazionale, distinguendo -a seconda dei casi- tra:</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"operazione non soggetta";</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"operazione non imponibile";</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"operazione esente";</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"regime del margine - beni usati", "regime del margine - oggetti d'arte" o "regime del margine - oggetti di antiquariato o da collezione"; </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"regime del margine - agenzie di viaggio"</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rPr>
              <a:t>I soggetti passivi stabiliti nel territorio dello Stato emettono la fattura </a:t>
            </a:r>
            <a:r>
              <a:rPr lang="it-IT" sz="1400" u="sng" spc="-1" noProof="1">
                <a:solidFill>
                  <a:srgbClr val="000000"/>
                </a:solidFill>
                <a:latin typeface="Tahoma"/>
              </a:rPr>
              <a:t>anche per alcune tipologie di operazioni quando non sono soggette all'imposta ai sensi degli articoli da 7 a 7-septies </a:t>
            </a:r>
            <a:r>
              <a:rPr lang="it-IT" sz="1400" spc="-1" noProof="1">
                <a:solidFill>
                  <a:srgbClr val="000000"/>
                </a:solidFill>
                <a:latin typeface="Tahoma"/>
              </a:rPr>
              <a:t>e indicando, in luogo dell'ammontare dell'imposta, specifiche annotazioni con l'eventuale indicazione della relativa norma comunitaria o nazionale: </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cessioni di beni e prestazioni di servizi, diverse da quelle di cui all'articolo 10, nn. da 1) a 4) e 9), effettuate nei confronti di un soggetto passivo che è debitore dell'imposta in un altro Stato membro dell'Unione europea, con l'annotazione "inversione contabile";</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cessioni di beni e prestazioni di servizi che si considerano effettuate fuori dell'Unione europea, con l'annotazione "operazione non soggetta".</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rPr>
              <a:t>Le fatture emesse dal cessionario di un bene o dal committente di un servizio in virtù di un obbligo proprio recano l'annotazione "autofatturazione".</a:t>
            </a:r>
            <a:endParaRPr lang="it-IT" sz="1400" spc="-1" noProof="1"/>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170"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ea typeface="Ubuntu" panose="020B0604030602030204"/>
              </a:rPr>
              <a:t>Fatturazione</a:t>
            </a:r>
            <a:endParaRPr lang="it-IT" sz="2800" spc="-1" noProof="1"/>
          </a:p>
        </p:txBody>
      </p:sp>
      <p:pic>
        <p:nvPicPr>
          <p:cNvPr id="3" name="Immagine 2" descr="Immagine che contiene albero, aria aperta, cielo, cartello&#10;&#10;Descrizione generata automaticamente">
            <a:extLst>
              <a:ext uri="{FF2B5EF4-FFF2-40B4-BE49-F238E27FC236}">
                <a16:creationId xmlns:a16="http://schemas.microsoft.com/office/drawing/2014/main" id="{EB6CC22A-BA6A-B5CE-281B-382506D5AF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3093" y="1604433"/>
            <a:ext cx="6443132" cy="4534056"/>
          </a:xfrm>
          <a:prstGeom prst="rect">
            <a:avLst/>
          </a:prstGeom>
        </p:spPr>
      </p:pic>
    </p:spTree>
    <p:extLst>
      <p:ext uri="{BB962C8B-B14F-4D97-AF65-F5344CB8AC3E}">
        <p14:creationId xmlns:p14="http://schemas.microsoft.com/office/powerpoint/2010/main" val="25114305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08"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209" name="CustomShape 3"/>
          <p:cNvSpPr/>
          <p:nvPr/>
        </p:nvSpPr>
        <p:spPr>
          <a:xfrm>
            <a:off x="334963" y="1566863"/>
            <a:ext cx="8391525" cy="131445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algn="ctr" fontAlgn="auto"/>
            <a:r>
              <a:rPr lang="it-IT" sz="1600" b="1" spc="-1" noProof="1">
                <a:solidFill>
                  <a:srgbClr val="004586"/>
                </a:solidFill>
                <a:latin typeface="Tahoma"/>
              </a:rPr>
              <a:t>Fattura differita</a:t>
            </a:r>
            <a:endParaRPr lang="it-IT" sz="1600" spc="-1" noProof="1"/>
          </a:p>
          <a:p>
            <a:pPr algn="ctr" fontAlgn="auto"/>
            <a:endParaRPr lang="it-IT" sz="16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rPr>
              <a:t>È la fattura emessa oltre il giorno di effettuazione dell'operazione, ma entro il 15° giorno del mese successivo.</a:t>
            </a:r>
            <a:endParaRPr lang="it-IT" sz="1400" spc="-1" noProof="1"/>
          </a:p>
          <a:p>
            <a:pPr algn="ctr" fontAlgn="auto"/>
            <a:r>
              <a:rPr lang="it-IT" sz="1400" spc="-1" noProof="1">
                <a:solidFill>
                  <a:srgbClr val="000000"/>
                </a:solidFill>
                <a:latin typeface="Tahoma"/>
              </a:rPr>
              <a:t>Si può emettere: </a:t>
            </a:r>
            <a:endParaRPr lang="it-IT" sz="1400" spc="-1" noProof="1"/>
          </a:p>
          <a:p>
            <a:pPr fontAlgn="auto"/>
            <a:endParaRPr lang="it-IT" sz="1400" spc="-1" noProof="1"/>
          </a:p>
        </p:txBody>
      </p:sp>
      <p:sp>
        <p:nvSpPr>
          <p:cNvPr id="210" name="CustomShape 4"/>
          <p:cNvSpPr/>
          <p:nvPr/>
        </p:nvSpPr>
        <p:spPr>
          <a:xfrm flipH="1">
            <a:off x="3092450" y="2720975"/>
            <a:ext cx="1198563" cy="382588"/>
          </a:xfrm>
          <a:custGeom>
            <a:avLst/>
            <a:gdLst/>
            <a:ahLst/>
            <a:cxnLst/>
            <a:rect l="l" t="t" r="r" b="b"/>
            <a:pathLst>
              <a:path w="21600" h="21600">
                <a:moveTo>
                  <a:pt x="0" y="0"/>
                </a:moveTo>
                <a:lnTo>
                  <a:pt x="21600" y="21600"/>
                </a:lnTo>
              </a:path>
            </a:pathLst>
          </a:cu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11" name="CustomShape 5"/>
          <p:cNvSpPr/>
          <p:nvPr/>
        </p:nvSpPr>
        <p:spPr>
          <a:xfrm>
            <a:off x="4294188" y="2720975"/>
            <a:ext cx="1441450" cy="458788"/>
          </a:xfrm>
          <a:custGeom>
            <a:avLst/>
            <a:gdLst/>
            <a:ahLst/>
            <a:cxnLst/>
            <a:rect l="l" t="t" r="r" b="b"/>
            <a:pathLst>
              <a:path w="21600" h="21600">
                <a:moveTo>
                  <a:pt x="0" y="0"/>
                </a:moveTo>
                <a:lnTo>
                  <a:pt x="21600" y="21600"/>
                </a:lnTo>
              </a:path>
            </a:pathLst>
          </a:cu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12" name="CustomShape 6"/>
          <p:cNvSpPr/>
          <p:nvPr/>
        </p:nvSpPr>
        <p:spPr>
          <a:xfrm>
            <a:off x="458788" y="2935288"/>
            <a:ext cx="2924175" cy="94138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ea typeface="Tahoma"/>
              </a:rPr>
              <a:t>1) sia per cessioni di beni per i quali è stato emesso il documento di consegna o di trasporto di cui al D.P.R. 472/1996.</a:t>
            </a:r>
            <a:endParaRPr lang="it-IT" sz="1400" spc="-1" noProof="1"/>
          </a:p>
        </p:txBody>
      </p:sp>
      <p:sp>
        <p:nvSpPr>
          <p:cNvPr id="213" name="CustomShape 7"/>
          <p:cNvSpPr/>
          <p:nvPr/>
        </p:nvSpPr>
        <p:spPr>
          <a:xfrm>
            <a:off x="5368925" y="2990850"/>
            <a:ext cx="3136900" cy="5143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fontAlgn="auto"/>
            <a:r>
              <a:rPr lang="it-IT" sz="1400" spc="-1" noProof="1">
                <a:solidFill>
                  <a:srgbClr val="000000"/>
                </a:solidFill>
                <a:latin typeface="Tahoma"/>
                <a:ea typeface="Tahoma"/>
              </a:rPr>
              <a:t>2) sia per prestazioni di servizi (dal 2013). </a:t>
            </a:r>
            <a:endParaRPr lang="it-IT" sz="1400" spc="-1" noProof="1"/>
          </a:p>
        </p:txBody>
      </p:sp>
      <p:sp>
        <p:nvSpPr>
          <p:cNvPr id="214" name="CustomShape 8"/>
          <p:cNvSpPr/>
          <p:nvPr/>
        </p:nvSpPr>
        <p:spPr>
          <a:xfrm flipH="1">
            <a:off x="2209800" y="3768725"/>
            <a:ext cx="3175" cy="322263"/>
          </a:xfrm>
          <a:custGeom>
            <a:avLst/>
            <a:gdLst/>
            <a:ahLst/>
            <a:cxnLst/>
            <a:rect l="l" t="t" r="r" b="b"/>
            <a:pathLst>
              <a:path w="21600" h="21600">
                <a:moveTo>
                  <a:pt x="0" y="0"/>
                </a:moveTo>
                <a:lnTo>
                  <a:pt x="21600" y="21600"/>
                </a:lnTo>
              </a:path>
            </a:pathLst>
          </a:cu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15" name="CustomShape 9"/>
          <p:cNvSpPr/>
          <p:nvPr/>
        </p:nvSpPr>
        <p:spPr>
          <a:xfrm>
            <a:off x="7280275" y="3529013"/>
            <a:ext cx="9525" cy="696912"/>
          </a:xfrm>
          <a:custGeom>
            <a:avLst/>
            <a:gdLst/>
            <a:ahLst/>
            <a:cxnLst/>
            <a:rect l="l" t="t" r="r" b="b"/>
            <a:pathLst>
              <a:path w="21600" h="21600">
                <a:moveTo>
                  <a:pt x="0" y="0"/>
                </a:moveTo>
                <a:lnTo>
                  <a:pt x="21600" y="21600"/>
                </a:lnTo>
              </a:path>
            </a:pathLst>
          </a:cu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16" name="CustomShape 10"/>
          <p:cNvSpPr/>
          <p:nvPr/>
        </p:nvSpPr>
        <p:spPr>
          <a:xfrm>
            <a:off x="468313" y="4217988"/>
            <a:ext cx="4614862" cy="19510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rPr>
              <a:t>Per le cessioni di beni, l'operazione deve essere documentata tramite DDT (</a:t>
            </a:r>
            <a:r>
              <a:rPr lang="it-IT" sz="1400" b="1" spc="-1" noProof="1">
                <a:solidFill>
                  <a:srgbClr val="004586"/>
                </a:solidFill>
                <a:latin typeface="Tahoma"/>
              </a:rPr>
              <a:t>documento di trasporto</a:t>
            </a:r>
            <a:r>
              <a:rPr lang="it-IT" sz="1400" spc="-1" noProof="1">
                <a:solidFill>
                  <a:srgbClr val="000000"/>
                </a:solidFill>
                <a:latin typeface="Tahoma"/>
              </a:rPr>
              <a:t>) o documento analogo idoneo a identificare i soggetti.</a:t>
            </a:r>
            <a:endParaRPr lang="it-IT" sz="1400" spc="-1" noProof="1"/>
          </a:p>
          <a:p>
            <a:pPr fontAlgn="auto"/>
            <a:endParaRPr lang="it-IT" sz="1400" spc="-1" noProof="1"/>
          </a:p>
          <a:p>
            <a:pPr fontAlgn="auto"/>
            <a:r>
              <a:rPr lang="it-IT" sz="1400" spc="-1" noProof="1">
                <a:solidFill>
                  <a:srgbClr val="000000"/>
                </a:solidFill>
                <a:latin typeface="Tahoma"/>
              </a:rPr>
              <a:t>Il DDT è un documento che individua il cedente (anche C.F. e P.Iva) ed il cessionario, natura quantità e qualità dei beni, ed eventualmente il vettore e/o il luogo di consegna (ed eventualmente il destinatario diverso dall'acquirente).</a:t>
            </a:r>
            <a:endParaRPr lang="it-IT" sz="1400" spc="-1" noProof="1"/>
          </a:p>
          <a:p>
            <a:pPr marL="457200" fontAlgn="auto"/>
            <a:r>
              <a:rPr lang="it-IT" sz="1400" spc="-1" noProof="1">
                <a:solidFill>
                  <a:srgbClr val="000000"/>
                </a:solidFill>
                <a:latin typeface="Wingdings" panose="05000000000000000000"/>
              </a:rPr>
              <a:t></a:t>
            </a:r>
            <a:r>
              <a:rPr lang="it-IT" sz="1400" spc="-1" noProof="1">
                <a:solidFill>
                  <a:srgbClr val="000000"/>
                </a:solidFill>
                <a:latin typeface="Tahoma"/>
              </a:rPr>
              <a:t> Finalità probatorie extrafiscali.</a:t>
            </a:r>
            <a:endParaRPr lang="it-IT" sz="1400" spc="-1" noProof="1"/>
          </a:p>
        </p:txBody>
      </p:sp>
      <p:sp>
        <p:nvSpPr>
          <p:cNvPr id="217" name="CustomShape 11"/>
          <p:cNvSpPr/>
          <p:nvPr/>
        </p:nvSpPr>
        <p:spPr>
          <a:xfrm>
            <a:off x="5084763" y="4175125"/>
            <a:ext cx="3705225" cy="16129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rPr>
              <a:t>Per le prestazioni di servizi occorre </a:t>
            </a:r>
            <a:r>
              <a:rPr lang="it-IT" sz="1400" b="1" spc="-1" noProof="1">
                <a:solidFill>
                  <a:srgbClr val="004586"/>
                </a:solidFill>
                <a:latin typeface="Tahoma"/>
              </a:rPr>
              <a:t>idonea documentazione</a:t>
            </a:r>
            <a:r>
              <a:rPr lang="it-IT" sz="1400" spc="-1" noProof="1">
                <a:solidFill>
                  <a:srgbClr val="000000"/>
                </a:solidFill>
                <a:latin typeface="Tahoma"/>
              </a:rPr>
              <a:t>. La norma non specifica né vincola il tipo di documentazione. Si rinvia alla Circolare 18/E del 2004 (si deve individuare con certezza: 1) la prestazione eseguita; 2) la data di effettuazione; 3) le parti contraenti)</a:t>
            </a:r>
            <a:endParaRPr lang="it-IT" sz="1400" spc="-1" noProof="1"/>
          </a:p>
          <a:p>
            <a:pPr fontAlgn="auto"/>
            <a:r>
              <a:rPr lang="it-IT" sz="1400" spc="-1" noProof="1">
                <a:solidFill>
                  <a:srgbClr val="000000"/>
                </a:solidFill>
                <a:latin typeface="Tahoma"/>
              </a:rPr>
              <a:t>Es.: documento attestante incasso corrispettivo, contratto, la nota di consegna lavori, la lettera di incarico, la relazione professionale.</a:t>
            </a:r>
            <a:endParaRPr lang="it-IT" sz="1400" spc="-1" noProof="1"/>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19"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220" name="CustomShape 3"/>
          <p:cNvSpPr/>
          <p:nvPr/>
        </p:nvSpPr>
        <p:spPr>
          <a:xfrm>
            <a:off x="469900" y="1587780"/>
            <a:ext cx="8039100" cy="498447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fontAlgn="auto"/>
            <a:r>
              <a:rPr lang="it-IT" sz="1400" spc="-1" noProof="1">
                <a:solidFill>
                  <a:srgbClr val="000000"/>
                </a:solidFill>
                <a:latin typeface="Tahoma"/>
              </a:rPr>
              <a:t>Nel caso di soggetti passivi stabiliti in Italia che acquistino beni o servizi da un soggetto passivo non stabilito in Italia, gli adempimenti devono essere effettuati dal committente (“reverse charge”) - art. 17 comma 2 primo periodo del DPR 633/1972.</a:t>
            </a:r>
            <a:endParaRPr lang="it-IT" sz="1400" spc="-1" noProof="1"/>
          </a:p>
          <a:p>
            <a:pPr fontAlgn="auto"/>
            <a:endParaRPr lang="it-IT" sz="1400" spc="-1" noProof="1"/>
          </a:p>
          <a:p>
            <a:pPr fontAlgn="auto"/>
            <a:r>
              <a:rPr lang="it-IT" sz="1400" spc="-1" noProof="1">
                <a:solidFill>
                  <a:srgbClr val="000000"/>
                </a:solidFill>
                <a:latin typeface="Tahoma"/>
              </a:rPr>
              <a:t>In questo caso, è prevista l'emissione di una fattura (chiamata “</a:t>
            </a:r>
            <a:r>
              <a:rPr lang="it-IT" sz="1400" b="1" spc="-1" noProof="1">
                <a:solidFill>
                  <a:srgbClr val="004586"/>
                </a:solidFill>
                <a:latin typeface="Tahoma"/>
              </a:rPr>
              <a:t>autofattura</a:t>
            </a:r>
            <a:r>
              <a:rPr lang="it-IT" sz="1400" spc="-1" noProof="1">
                <a:solidFill>
                  <a:srgbClr val="000000"/>
                </a:solidFill>
                <a:latin typeface="Tahoma"/>
              </a:rPr>
              <a:t>”) in unica copia da parte del cessionario.</a:t>
            </a:r>
            <a:endParaRPr lang="it-IT" sz="1400" spc="-1" noProof="1"/>
          </a:p>
          <a:p>
            <a:pPr fontAlgn="auto"/>
            <a:endParaRPr lang="it-IT" sz="1400" spc="-1" noProof="1"/>
          </a:p>
          <a:p>
            <a:pPr fontAlgn="auto"/>
            <a:r>
              <a:rPr lang="it-IT" sz="1400" spc="-1" noProof="1">
                <a:solidFill>
                  <a:srgbClr val="000000"/>
                </a:solidFill>
                <a:latin typeface="Tahoma"/>
              </a:rPr>
              <a:t>Se l'acquisto avviene da un soggetto passivo stabilito nella UE, si applicano le regole delle cessioni intracomunitarie (integrazione della fattura entro il 15° giorno successivo a quello di ricevimento della fattura). Questa procedura è detta “</a:t>
            </a:r>
            <a:r>
              <a:rPr lang="it-IT" sz="1400" b="1" spc="-1" noProof="1">
                <a:solidFill>
                  <a:srgbClr val="004586"/>
                </a:solidFill>
                <a:latin typeface="Tahoma"/>
              </a:rPr>
              <a:t>integrazione della fattura</a:t>
            </a:r>
            <a:r>
              <a:rPr lang="it-IT" sz="1400" spc="-1" noProof="1">
                <a:solidFill>
                  <a:srgbClr val="000000"/>
                </a:solidFill>
                <a:latin typeface="Tahoma"/>
              </a:rPr>
              <a:t>” intracomunitaria.</a:t>
            </a:r>
            <a:endParaRPr lang="it-IT" sz="1400" spc="-1" noProof="1"/>
          </a:p>
          <a:p>
            <a:pPr fontAlgn="auto"/>
            <a:endParaRPr lang="it-IT" sz="1400" spc="-1" noProof="1"/>
          </a:p>
          <a:p>
            <a:pPr fontAlgn="auto"/>
            <a:r>
              <a:rPr lang="it-IT" sz="1400" spc="-1" noProof="1">
                <a:solidFill>
                  <a:srgbClr val="000000"/>
                </a:solidFill>
                <a:latin typeface="Tahoma"/>
              </a:rPr>
              <a:t>La procedura di integrazione della fattura si applica anche nel caso di “reverse charge” interno:</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Art. 17 commi 5-6-7 DPR 633/1972;</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rPr>
              <a:t>Art. 74 comma 7-8 DPR 633/1972. </a:t>
            </a:r>
            <a:endParaRPr lang="it-IT" sz="1400" spc="-1" noProof="1"/>
          </a:p>
          <a:p>
            <a:pPr fontAlgn="auto"/>
            <a:endParaRPr lang="it-IT" sz="1400" spc="-1" noProof="1"/>
          </a:p>
          <a:p>
            <a:pPr fontAlgn="auto"/>
            <a:r>
              <a:rPr lang="it-IT" sz="1400" spc="-1" noProof="1">
                <a:solidFill>
                  <a:srgbClr val="000000"/>
                </a:solidFill>
                <a:latin typeface="Tahoma"/>
              </a:rPr>
              <a:t>Esistono altri casi di “autofatturazione” su operazioni interne: omaggi (art. 2, secondo comma DPR 633/1972); autoconsumo esterno (art. 2, quinto comma DPR 633/1972); regolarizzazione degli acquisti (art. 6, comma 8, D.Lgs. 471/1997).</a:t>
            </a:r>
            <a:endParaRPr lang="it-IT" sz="1400" spc="-1" noProof="1"/>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8"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229" name="CustomShape 3"/>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0" tIns="0" rIns="0" bIns="0" anchor="ctr"/>
          <a:lstStyle/>
          <a:p>
            <a:pPr marL="285750" indent="-283845" fontAlgn="auto">
              <a:lnSpc>
                <a:spcPct val="112000"/>
              </a:lnSpc>
              <a:spcBef>
                <a:spcPts val="200"/>
              </a:spcBef>
              <a:spcAft>
                <a:spcPts val="1200"/>
              </a:spcAft>
              <a:buClr>
                <a:srgbClr val="1F497D"/>
              </a:buClr>
              <a:buFont typeface="Wingdings" panose="05000000000000000000" pitchFamily="2" charset="2"/>
              <a:buChar char=""/>
            </a:pPr>
            <a:r>
              <a:rPr sz="1900" dirty="0" err="1">
                <a:solidFill>
                  <a:srgbClr val="202020"/>
                </a:solidFill>
              </a:rPr>
              <a:t>Fattura</a:t>
            </a:r>
            <a:r>
              <a:rPr sz="1900" dirty="0">
                <a:solidFill>
                  <a:srgbClr val="202020"/>
                </a:solidFill>
              </a:rPr>
              <a:t> non </a:t>
            </a:r>
            <a:r>
              <a:rPr sz="1900" dirty="0" err="1">
                <a:solidFill>
                  <a:srgbClr val="202020"/>
                </a:solidFill>
              </a:rPr>
              <a:t>obbligatoria</a:t>
            </a:r>
            <a:r>
              <a:rPr sz="1900" dirty="0">
                <a:solidFill>
                  <a:srgbClr val="202020"/>
                </a:solidFill>
              </a:rPr>
              <a:t> — salvo </a:t>
            </a:r>
            <a:r>
              <a:rPr sz="1900" dirty="0" err="1">
                <a:solidFill>
                  <a:srgbClr val="202020"/>
                </a:solidFill>
              </a:rPr>
              <a:t>richiesta</a:t>
            </a:r>
            <a:r>
              <a:rPr sz="1900" dirty="0">
                <a:solidFill>
                  <a:srgbClr val="202020"/>
                </a:solidFill>
              </a:rPr>
              <a:t> del </a:t>
            </a:r>
            <a:r>
              <a:rPr sz="1900" dirty="0" err="1">
                <a:solidFill>
                  <a:srgbClr val="202020"/>
                </a:solidFill>
              </a:rPr>
              <a:t>cliente</a:t>
            </a:r>
            <a:r>
              <a:rPr sz="1900" dirty="0">
                <a:solidFill>
                  <a:srgbClr val="202020"/>
                </a:solidFill>
              </a:rPr>
              <a:t> — per, </a:t>
            </a:r>
            <a:r>
              <a:rPr sz="1900" dirty="0" err="1">
                <a:solidFill>
                  <a:srgbClr val="202020"/>
                </a:solidFill>
              </a:rPr>
              <a:t>tra</a:t>
            </a:r>
            <a:r>
              <a:rPr sz="1900" dirty="0">
                <a:solidFill>
                  <a:srgbClr val="202020"/>
                </a:solidFill>
              </a:rPr>
              <a:t> </a:t>
            </a:r>
            <a:r>
              <a:rPr sz="1900" dirty="0" err="1">
                <a:solidFill>
                  <a:srgbClr val="202020"/>
                </a:solidFill>
              </a:rPr>
              <a:t>l'altro</a:t>
            </a:r>
            <a:r>
              <a:rPr sz="1900" dirty="0">
                <a:solidFill>
                  <a:srgbClr val="202020"/>
                </a:solidFill>
              </a:rPr>
              <a:t>:</a:t>
            </a:r>
            <a:endParaRPr lang="it-IT" sz="1400" spc="-1" noProof="1"/>
          </a:p>
          <a:p>
            <a:pPr lvl="1">
              <a:lnSpc>
                <a:spcPct val="112000"/>
              </a:lnSpc>
              <a:spcBef>
                <a:spcPts val="200"/>
              </a:spcBef>
              <a:spcAft>
                <a:spcPts val="500"/>
              </a:spcAft>
            </a:pPr>
            <a:r>
              <a:rPr sz="1600" dirty="0">
                <a:solidFill>
                  <a:srgbClr val="595959"/>
                </a:solidFill>
              </a:rPr>
              <a:t>–  </a:t>
            </a:r>
            <a:r>
              <a:rPr sz="1600" dirty="0" err="1">
                <a:solidFill>
                  <a:srgbClr val="595959"/>
                </a:solidFill>
              </a:rPr>
              <a:t>commercio</a:t>
            </a:r>
            <a:r>
              <a:rPr sz="1600" dirty="0">
                <a:solidFill>
                  <a:srgbClr val="595959"/>
                </a:solidFill>
              </a:rPr>
              <a:t> al </a:t>
            </a:r>
            <a:r>
              <a:rPr sz="1600" dirty="0" err="1">
                <a:solidFill>
                  <a:srgbClr val="595959"/>
                </a:solidFill>
              </a:rPr>
              <a:t>minuto</a:t>
            </a:r>
            <a:r>
              <a:rPr sz="1600" dirty="0">
                <a:solidFill>
                  <a:srgbClr val="595959"/>
                </a:solidFill>
              </a:rPr>
              <a:t> e </a:t>
            </a:r>
            <a:r>
              <a:rPr sz="1600" dirty="0" err="1">
                <a:solidFill>
                  <a:srgbClr val="595959"/>
                </a:solidFill>
              </a:rPr>
              <a:t>assimilati</a:t>
            </a:r>
            <a:r>
              <a:rPr sz="1600" dirty="0">
                <a:solidFill>
                  <a:srgbClr val="595959"/>
                </a:solidFill>
              </a:rPr>
              <a:t>; </a:t>
            </a:r>
            <a:r>
              <a:rPr sz="1600" dirty="0" err="1">
                <a:solidFill>
                  <a:srgbClr val="595959"/>
                </a:solidFill>
              </a:rPr>
              <a:t>alberghi</a:t>
            </a:r>
            <a:r>
              <a:rPr sz="1600" dirty="0">
                <a:solidFill>
                  <a:srgbClr val="595959"/>
                </a:solidFill>
              </a:rPr>
              <a:t> e </a:t>
            </a:r>
            <a:r>
              <a:rPr sz="1600" dirty="0" err="1">
                <a:solidFill>
                  <a:srgbClr val="595959"/>
                </a:solidFill>
              </a:rPr>
              <a:t>somministrazione</a:t>
            </a:r>
            <a:r>
              <a:rPr sz="1600" dirty="0">
                <a:solidFill>
                  <a:srgbClr val="595959"/>
                </a:solidFill>
              </a:rPr>
              <a:t>;</a:t>
            </a:r>
          </a:p>
          <a:p>
            <a:pPr lvl="1">
              <a:lnSpc>
                <a:spcPct val="112000"/>
              </a:lnSpc>
              <a:spcBef>
                <a:spcPts val="200"/>
              </a:spcBef>
              <a:spcAft>
                <a:spcPts val="500"/>
              </a:spcAft>
            </a:pPr>
            <a:r>
              <a:rPr sz="1600" dirty="0">
                <a:solidFill>
                  <a:srgbClr val="595959"/>
                </a:solidFill>
              </a:rPr>
              <a:t>–  </a:t>
            </a:r>
            <a:r>
              <a:rPr sz="1600" dirty="0" err="1">
                <a:solidFill>
                  <a:srgbClr val="595959"/>
                </a:solidFill>
              </a:rPr>
              <a:t>trasporto</a:t>
            </a:r>
            <a:r>
              <a:rPr sz="1600" dirty="0">
                <a:solidFill>
                  <a:srgbClr val="595959"/>
                </a:solidFill>
              </a:rPr>
              <a:t> di </a:t>
            </a:r>
            <a:r>
              <a:rPr sz="1600" dirty="0" err="1">
                <a:solidFill>
                  <a:srgbClr val="595959"/>
                </a:solidFill>
              </a:rPr>
              <a:t>persone</a:t>
            </a:r>
            <a:r>
              <a:rPr sz="1600" dirty="0">
                <a:solidFill>
                  <a:srgbClr val="595959"/>
                </a:solidFill>
              </a:rPr>
              <a:t>; </a:t>
            </a:r>
            <a:r>
              <a:rPr sz="1600" dirty="0" err="1">
                <a:solidFill>
                  <a:srgbClr val="595959"/>
                </a:solidFill>
              </a:rPr>
              <a:t>servizi</a:t>
            </a:r>
            <a:r>
              <a:rPr sz="1600" dirty="0">
                <a:solidFill>
                  <a:srgbClr val="595959"/>
                </a:solidFill>
              </a:rPr>
              <a:t> in </a:t>
            </a:r>
            <a:r>
              <a:rPr sz="1600" dirty="0" err="1">
                <a:solidFill>
                  <a:srgbClr val="595959"/>
                </a:solidFill>
              </a:rPr>
              <a:t>locali</a:t>
            </a:r>
            <a:r>
              <a:rPr sz="1600" dirty="0">
                <a:solidFill>
                  <a:srgbClr val="595959"/>
                </a:solidFill>
              </a:rPr>
              <a:t> </a:t>
            </a:r>
            <a:r>
              <a:rPr sz="1600" dirty="0" err="1">
                <a:solidFill>
                  <a:srgbClr val="595959"/>
                </a:solidFill>
              </a:rPr>
              <a:t>aperti</a:t>
            </a:r>
            <a:r>
              <a:rPr sz="1600" dirty="0">
                <a:solidFill>
                  <a:srgbClr val="595959"/>
                </a:solidFill>
              </a:rPr>
              <a:t> al </a:t>
            </a:r>
            <a:r>
              <a:rPr sz="1600" dirty="0" err="1">
                <a:solidFill>
                  <a:srgbClr val="595959"/>
                </a:solidFill>
              </a:rPr>
              <a:t>pubblico</a:t>
            </a:r>
            <a:r>
              <a:rPr sz="1600" dirty="0">
                <a:solidFill>
                  <a:srgbClr val="595959"/>
                </a:solidFill>
              </a:rPr>
              <a:t>/</a:t>
            </a:r>
            <a:r>
              <a:rPr sz="1600" dirty="0" err="1">
                <a:solidFill>
                  <a:srgbClr val="595959"/>
                </a:solidFill>
              </a:rPr>
              <a:t>ambulanti</a:t>
            </a:r>
            <a:r>
              <a:rPr sz="1600" dirty="0">
                <a:solidFill>
                  <a:srgbClr val="595959"/>
                </a:solidFill>
              </a:rPr>
              <a:t>/a </a:t>
            </a:r>
            <a:r>
              <a:rPr sz="1600" dirty="0" err="1">
                <a:solidFill>
                  <a:srgbClr val="595959"/>
                </a:solidFill>
              </a:rPr>
              <a:t>domicilio</a:t>
            </a:r>
            <a:r>
              <a:rPr sz="1600" dirty="0">
                <a:solidFill>
                  <a:srgbClr val="595959"/>
                </a:solidFill>
              </a:rPr>
              <a:t>;</a:t>
            </a:r>
          </a:p>
          <a:p>
            <a:pPr lvl="1">
              <a:lnSpc>
                <a:spcPct val="112000"/>
              </a:lnSpc>
              <a:spcBef>
                <a:spcPts val="200"/>
              </a:spcBef>
              <a:spcAft>
                <a:spcPts val="500"/>
              </a:spcAft>
            </a:pPr>
            <a:r>
              <a:rPr sz="1600" dirty="0">
                <a:solidFill>
                  <a:srgbClr val="595959"/>
                </a:solidFill>
              </a:rPr>
              <a:t>–  </a:t>
            </a:r>
            <a:r>
              <a:rPr sz="1600" dirty="0" err="1">
                <a:solidFill>
                  <a:srgbClr val="595959"/>
                </a:solidFill>
              </a:rPr>
              <a:t>servizi</a:t>
            </a:r>
            <a:r>
              <a:rPr sz="1600" dirty="0">
                <a:solidFill>
                  <a:srgbClr val="595959"/>
                </a:solidFill>
              </a:rPr>
              <a:t> </a:t>
            </a:r>
            <a:r>
              <a:rPr sz="1600" dirty="0" err="1">
                <a:solidFill>
                  <a:srgbClr val="595959"/>
                </a:solidFill>
              </a:rPr>
              <a:t>bancari</a:t>
            </a:r>
            <a:r>
              <a:rPr sz="1600" dirty="0">
                <a:solidFill>
                  <a:srgbClr val="595959"/>
                </a:solidFill>
              </a:rPr>
              <a:t> e </a:t>
            </a:r>
            <a:r>
              <a:rPr sz="1600" dirty="0" err="1">
                <a:solidFill>
                  <a:srgbClr val="595959"/>
                </a:solidFill>
              </a:rPr>
              <a:t>finanziari</a:t>
            </a:r>
            <a:r>
              <a:rPr sz="1600" dirty="0">
                <a:solidFill>
                  <a:srgbClr val="595959"/>
                </a:solidFill>
              </a:rPr>
              <a:t>; </a:t>
            </a:r>
            <a:r>
              <a:rPr sz="1600" dirty="0" err="1">
                <a:solidFill>
                  <a:srgbClr val="595959"/>
                </a:solidFill>
              </a:rPr>
              <a:t>talune</a:t>
            </a:r>
            <a:r>
              <a:rPr sz="1600" dirty="0">
                <a:solidFill>
                  <a:srgbClr val="595959"/>
                </a:solidFill>
              </a:rPr>
              <a:t> </a:t>
            </a:r>
            <a:r>
              <a:rPr sz="1600" dirty="0" err="1">
                <a:solidFill>
                  <a:srgbClr val="595959"/>
                </a:solidFill>
              </a:rPr>
              <a:t>operazioni</a:t>
            </a:r>
            <a:r>
              <a:rPr sz="1600" dirty="0">
                <a:solidFill>
                  <a:srgbClr val="595959"/>
                </a:solidFill>
              </a:rPr>
              <a:t> </a:t>
            </a:r>
            <a:r>
              <a:rPr sz="1600" dirty="0" err="1">
                <a:solidFill>
                  <a:srgbClr val="595959"/>
                </a:solidFill>
              </a:rPr>
              <a:t>esenti</a:t>
            </a:r>
            <a:r>
              <a:rPr sz="1600" dirty="0">
                <a:solidFill>
                  <a:srgbClr val="595959"/>
                </a:solidFill>
              </a:rPr>
              <a:t> art. 10; </a:t>
            </a:r>
            <a:r>
              <a:rPr sz="1600" dirty="0" err="1">
                <a:solidFill>
                  <a:srgbClr val="595959"/>
                </a:solidFill>
              </a:rPr>
              <a:t>agenzie</a:t>
            </a:r>
            <a:r>
              <a:rPr sz="1600" dirty="0">
                <a:solidFill>
                  <a:srgbClr val="595959"/>
                </a:solidFill>
              </a:rPr>
              <a:t> di </a:t>
            </a:r>
            <a:r>
              <a:rPr sz="1600" dirty="0" err="1">
                <a:solidFill>
                  <a:srgbClr val="595959"/>
                </a:solidFill>
              </a:rPr>
              <a:t>viaggio</a:t>
            </a:r>
            <a:r>
              <a:rPr sz="1600" dirty="0">
                <a:solidFill>
                  <a:srgbClr val="595959"/>
                </a:solidFill>
              </a:rPr>
              <a:t>; </a:t>
            </a:r>
            <a:r>
              <a:rPr sz="1600" dirty="0" err="1">
                <a:solidFill>
                  <a:srgbClr val="595959"/>
                </a:solidFill>
              </a:rPr>
              <a:t>servizi</a:t>
            </a:r>
            <a:r>
              <a:rPr sz="1600" dirty="0">
                <a:solidFill>
                  <a:srgbClr val="595959"/>
                </a:solidFill>
              </a:rPr>
              <a:t> TTE a </a:t>
            </a:r>
            <a:r>
              <a:rPr sz="1600" dirty="0" err="1">
                <a:solidFill>
                  <a:srgbClr val="595959"/>
                </a:solidFill>
              </a:rPr>
              <a:t>privati</a:t>
            </a:r>
            <a:r>
              <a:rPr sz="1600" dirty="0">
                <a:solidFill>
                  <a:srgbClr val="595959"/>
                </a:solidFill>
              </a:rPr>
              <a:t>.</a:t>
            </a:r>
            <a:endParaRPr lang="it-IT" sz="1900" dirty="0">
              <a:solidFill>
                <a:srgbClr val="202020"/>
              </a:solidFill>
            </a:endParaRPr>
          </a:p>
          <a:p>
            <a:pPr>
              <a:lnSpc>
                <a:spcPct val="112000"/>
              </a:lnSpc>
              <a:spcBef>
                <a:spcPts val="200"/>
              </a:spcBef>
              <a:spcAft>
                <a:spcPts val="1200"/>
              </a:spcAft>
            </a:pPr>
            <a:r>
              <a:rPr sz="1900" dirty="0">
                <a:solidFill>
                  <a:srgbClr val="202020"/>
                </a:solidFill>
              </a:rPr>
              <a:t>Chi </a:t>
            </a:r>
            <a:r>
              <a:rPr sz="1900" dirty="0" err="1">
                <a:solidFill>
                  <a:srgbClr val="202020"/>
                </a:solidFill>
              </a:rPr>
              <a:t>acquista</a:t>
            </a:r>
            <a:r>
              <a:rPr sz="1900" dirty="0">
                <a:solidFill>
                  <a:srgbClr val="202020"/>
                </a:solidFill>
              </a:rPr>
              <a:t> </a:t>
            </a:r>
            <a:r>
              <a:rPr sz="1900" dirty="0" err="1">
                <a:solidFill>
                  <a:srgbClr val="202020"/>
                </a:solidFill>
              </a:rPr>
              <a:t>beni</a:t>
            </a:r>
            <a:r>
              <a:rPr sz="1900" dirty="0">
                <a:solidFill>
                  <a:srgbClr val="202020"/>
                </a:solidFill>
              </a:rPr>
              <a:t> della propria </a:t>
            </a:r>
            <a:r>
              <a:rPr sz="1900" dirty="0" err="1">
                <a:solidFill>
                  <a:srgbClr val="202020"/>
                </a:solidFill>
              </a:rPr>
              <a:t>attività</a:t>
            </a:r>
            <a:r>
              <a:rPr sz="1900" dirty="0">
                <a:solidFill>
                  <a:srgbClr val="202020"/>
                </a:solidFill>
              </a:rPr>
              <a:t> da un </a:t>
            </a:r>
            <a:r>
              <a:rPr sz="1900" dirty="0" err="1">
                <a:solidFill>
                  <a:srgbClr val="202020"/>
                </a:solidFill>
              </a:rPr>
              <a:t>minuto</a:t>
            </a:r>
            <a:r>
              <a:rPr sz="1900" dirty="0">
                <a:solidFill>
                  <a:srgbClr val="202020"/>
                </a:solidFill>
              </a:rPr>
              <a:t> è obbligato a </a:t>
            </a:r>
            <a:r>
              <a:rPr sz="1900" dirty="0" err="1">
                <a:solidFill>
                  <a:srgbClr val="202020"/>
                </a:solidFill>
              </a:rPr>
              <a:t>richiederla</a:t>
            </a:r>
            <a:r>
              <a:rPr sz="1900" dirty="0">
                <a:solidFill>
                  <a:srgbClr val="202020"/>
                </a:solidFill>
              </a:rPr>
              <a:t>.</a:t>
            </a:r>
          </a:p>
          <a:p>
            <a:pPr>
              <a:lnSpc>
                <a:spcPct val="112000"/>
              </a:lnSpc>
              <a:spcBef>
                <a:spcPts val="200"/>
              </a:spcBef>
              <a:spcAft>
                <a:spcPts val="1200"/>
              </a:spcAft>
            </a:pPr>
            <a:r>
              <a:rPr sz="1900" dirty="0">
                <a:solidFill>
                  <a:srgbClr val="202020"/>
                </a:solidFill>
              </a:rPr>
              <a:t>•  </a:t>
            </a:r>
            <a:r>
              <a:rPr sz="1900" dirty="0" err="1">
                <a:solidFill>
                  <a:srgbClr val="202020"/>
                </a:solidFill>
              </a:rPr>
              <a:t>Documentazione</a:t>
            </a:r>
            <a:r>
              <a:rPr sz="1900" dirty="0">
                <a:solidFill>
                  <a:srgbClr val="202020"/>
                </a:solidFill>
              </a:rPr>
              <a:t> </a:t>
            </a:r>
            <a:r>
              <a:rPr sz="1900" dirty="0" err="1">
                <a:solidFill>
                  <a:srgbClr val="202020"/>
                </a:solidFill>
              </a:rPr>
              <a:t>alternativa</a:t>
            </a:r>
            <a:r>
              <a:rPr sz="1900" dirty="0">
                <a:solidFill>
                  <a:srgbClr val="202020"/>
                </a:solidFill>
              </a:rPr>
              <a:t>: </a:t>
            </a:r>
            <a:r>
              <a:rPr sz="1900" dirty="0" err="1">
                <a:solidFill>
                  <a:srgbClr val="202020"/>
                </a:solidFill>
              </a:rPr>
              <a:t>registro</a:t>
            </a:r>
            <a:r>
              <a:rPr sz="1900" dirty="0">
                <a:solidFill>
                  <a:srgbClr val="202020"/>
                </a:solidFill>
              </a:rPr>
              <a:t> </a:t>
            </a:r>
            <a:r>
              <a:rPr sz="1900" dirty="0" err="1">
                <a:solidFill>
                  <a:srgbClr val="202020"/>
                </a:solidFill>
              </a:rPr>
              <a:t>dei</a:t>
            </a:r>
            <a:r>
              <a:rPr sz="1900" dirty="0">
                <a:solidFill>
                  <a:srgbClr val="202020"/>
                </a:solidFill>
              </a:rPr>
              <a:t> </a:t>
            </a:r>
            <a:r>
              <a:rPr sz="1900" dirty="0" err="1">
                <a:solidFill>
                  <a:srgbClr val="202020"/>
                </a:solidFill>
              </a:rPr>
              <a:t>corrispettivi</a:t>
            </a:r>
            <a:r>
              <a:rPr sz="1900" dirty="0">
                <a:solidFill>
                  <a:srgbClr val="202020"/>
                </a:solidFill>
              </a:rPr>
              <a:t>; </a:t>
            </a:r>
            <a:r>
              <a:rPr sz="1900" dirty="0" err="1">
                <a:solidFill>
                  <a:srgbClr val="202020"/>
                </a:solidFill>
              </a:rPr>
              <a:t>scontrino</a:t>
            </a:r>
            <a:r>
              <a:rPr sz="1900" dirty="0">
                <a:solidFill>
                  <a:srgbClr val="202020"/>
                </a:solidFill>
              </a:rPr>
              <a:t>/</a:t>
            </a:r>
            <a:r>
              <a:rPr sz="1900" dirty="0" err="1">
                <a:solidFill>
                  <a:srgbClr val="202020"/>
                </a:solidFill>
              </a:rPr>
              <a:t>ricevuta</a:t>
            </a:r>
            <a:r>
              <a:rPr sz="1900" dirty="0">
                <a:solidFill>
                  <a:srgbClr val="202020"/>
                </a:solidFill>
              </a:rPr>
              <a:t>.</a:t>
            </a:r>
          </a:p>
        </p:txBody>
      </p:sp>
      <p:sp>
        <p:nvSpPr>
          <p:cNvPr id="230" name="TextBox 229"/>
          <p:cNvSpPr txBox="1"/>
          <p:nvPr/>
        </p:nvSpPr>
        <p:spPr>
          <a:xfrm>
            <a:off x="8321040" y="6446520"/>
            <a:ext cx="640080" cy="320040"/>
          </a:xfrm>
          <a:prstGeom prst="rect">
            <a:avLst/>
          </a:prstGeom>
          <a:noFill/>
        </p:spPr>
        <p:txBody>
          <a:bodyPr wrap="none">
            <a:spAutoFit/>
          </a:bodyPr>
          <a:lstStyle/>
          <a:p>
            <a:pPr algn="r"/>
            <a:r>
              <a:rPr sz="1000">
                <a:solidFill>
                  <a:srgbClr val="595959"/>
                </a:solidFill>
              </a:rPr>
              <a:t>41</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5"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226" name="CustomShape 3"/>
          <p:cNvSpPr/>
          <p:nvPr/>
        </p:nvSpPr>
        <p:spPr>
          <a:xfrm>
            <a:off x="523875" y="1452563"/>
            <a:ext cx="8207375" cy="5183187"/>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algn="ctr" fontAlgn="auto"/>
            <a:r>
              <a:rPr lang="it-IT" sz="1600" b="1" spc="-1" noProof="1">
                <a:solidFill>
                  <a:srgbClr val="004586"/>
                </a:solidFill>
                <a:latin typeface="Tahoma"/>
                <a:ea typeface="Tahoma"/>
              </a:rPr>
              <a:t>Contenuto della fattura semplificata</a:t>
            </a:r>
            <a:endParaRPr lang="it-IT" sz="1600" spc="-1" noProof="1"/>
          </a:p>
          <a:p>
            <a:pPr marL="342900" indent="-340995" fontAlgn="auto">
              <a:buClr>
                <a:srgbClr val="1F497D"/>
              </a:buClr>
              <a:buFont typeface="Wingdings" panose="05000000000000000000" pitchFamily="2" charset="2"/>
              <a:buChar char=""/>
            </a:pPr>
            <a:r>
              <a:rPr lang="it-IT" sz="1400" spc="-1" noProof="1">
                <a:solidFill>
                  <a:srgbClr val="000000"/>
                </a:solidFill>
                <a:latin typeface="Tahoma"/>
                <a:ea typeface="Tahoma"/>
              </a:rPr>
              <a:t>Casi:</a:t>
            </a:r>
            <a:endParaRPr lang="it-IT" sz="1400" spc="-1" noProof="1"/>
          </a:p>
          <a:p>
            <a:pPr marL="800100" lvl="1" indent="-340995" fontAlgn="auto">
              <a:buClr>
                <a:srgbClr val="1F497D"/>
              </a:buClr>
              <a:buFont typeface="Arial" panose="020B0604020202020204"/>
              <a:buAutoNum type="alphaLcParenR"/>
            </a:pPr>
            <a:r>
              <a:rPr lang="it-IT" sz="1400" spc="-1" noProof="1">
                <a:solidFill>
                  <a:srgbClr val="000000"/>
                </a:solidFill>
                <a:latin typeface="Tahoma"/>
                <a:ea typeface="Tahoma"/>
              </a:rPr>
              <a:t>Fattura di importo complessivo (imponibile e iva) non superiore a € 100;</a:t>
            </a:r>
            <a:endParaRPr lang="it-IT" sz="1400" spc="-1" noProof="1"/>
          </a:p>
          <a:p>
            <a:pPr marL="800100" lvl="1" indent="-340995" fontAlgn="auto">
              <a:buClr>
                <a:srgbClr val="1F497D"/>
              </a:buClr>
              <a:buFont typeface="Arial" panose="020B0604020202020204"/>
              <a:buAutoNum type="alphaLcParenR"/>
            </a:pPr>
            <a:r>
              <a:rPr lang="it-IT" sz="1400" spc="-1" noProof="1">
                <a:solidFill>
                  <a:srgbClr val="000000"/>
                </a:solidFill>
                <a:latin typeface="Tahoma"/>
                <a:ea typeface="Tahoma"/>
              </a:rPr>
              <a:t>Fattura rettificativa (nota di variazione) ex art. 26 DPR 633/1972.</a:t>
            </a:r>
            <a:endParaRPr lang="it-IT" sz="1400" spc="-1" noProof="1"/>
          </a:p>
          <a:p>
            <a:pPr fontAlgn="auto"/>
            <a:endParaRPr lang="it-IT" sz="1400" spc="-1" noProof="1"/>
          </a:p>
          <a:p>
            <a:pPr marL="342900" indent="-340995" fontAlgn="auto">
              <a:buClr>
                <a:srgbClr val="1F497D"/>
              </a:buClr>
              <a:buFont typeface="Wingdings" panose="05000000000000000000" pitchFamily="2" charset="2"/>
              <a:buChar char=""/>
            </a:pPr>
            <a:r>
              <a:rPr lang="it-IT" sz="1400" spc="-1" noProof="1">
                <a:solidFill>
                  <a:srgbClr val="000000"/>
                </a:solidFill>
                <a:latin typeface="Tahoma"/>
                <a:ea typeface="Tahoma"/>
              </a:rPr>
              <a:t>Il contenuto del documento è ridotto.</a:t>
            </a:r>
            <a:endParaRPr lang="it-IT" sz="1400" spc="-1" noProof="1"/>
          </a:p>
          <a:p>
            <a:pPr fontAlgn="auto"/>
            <a:endParaRPr lang="it-IT" sz="1400" spc="-1" noProof="1"/>
          </a:p>
          <a:p>
            <a:pPr marL="342900" indent="-340995" fontAlgn="auto">
              <a:buClr>
                <a:srgbClr val="1F497D"/>
              </a:buClr>
              <a:buFont typeface="Wingdings" panose="05000000000000000000" pitchFamily="2" charset="2"/>
              <a:buChar char=""/>
            </a:pPr>
            <a:r>
              <a:rPr lang="it-IT" sz="1400" spc="-1" noProof="1">
                <a:solidFill>
                  <a:srgbClr val="000000"/>
                </a:solidFill>
                <a:latin typeface="Tahoma"/>
                <a:ea typeface="Tahoma"/>
              </a:rPr>
              <a:t>E' possibile individuare il destinatario solo tramite indicazione del C.F. o della P.Iva</a:t>
            </a:r>
            <a:endParaRPr lang="it-IT" sz="1400" spc="-1" noProof="1"/>
          </a:p>
          <a:p>
            <a:pPr fontAlgn="auto"/>
            <a:endParaRPr lang="it-IT" sz="1400" spc="-1" noProof="1"/>
          </a:p>
          <a:p>
            <a:pPr marL="342900" indent="-340995" fontAlgn="auto">
              <a:buClr>
                <a:srgbClr val="1F497D"/>
              </a:buClr>
              <a:buFont typeface="Wingdings" panose="05000000000000000000" pitchFamily="2" charset="2"/>
              <a:buChar char=""/>
            </a:pPr>
            <a:r>
              <a:rPr lang="it-IT" sz="1400" spc="-1" noProof="1">
                <a:solidFill>
                  <a:srgbClr val="000000"/>
                </a:solidFill>
                <a:latin typeface="Tahoma"/>
                <a:ea typeface="Tahoma"/>
              </a:rPr>
              <a:t>Nel caso di note di variazione, va individuata la fattura originaria.</a:t>
            </a:r>
            <a:endParaRPr lang="it-IT" sz="1400" spc="-1" noProof="1"/>
          </a:p>
          <a:p>
            <a:pPr fontAlgn="auto"/>
            <a:endParaRPr lang="it-IT" sz="1400" spc="-1" noProof="1"/>
          </a:p>
          <a:p>
            <a:pPr marL="342900" indent="-340995" fontAlgn="auto">
              <a:buClr>
                <a:srgbClr val="1F497D"/>
              </a:buClr>
              <a:buFont typeface="Wingdings" panose="05000000000000000000" pitchFamily="2" charset="2"/>
              <a:buChar char=""/>
            </a:pPr>
            <a:r>
              <a:rPr lang="it-IT" sz="1400" spc="-1" noProof="1">
                <a:solidFill>
                  <a:srgbClr val="000000"/>
                </a:solidFill>
                <a:latin typeface="Tahoma"/>
                <a:ea typeface="Tahoma"/>
              </a:rPr>
              <a:t>Va indicato il totale (imponibile più Iva) e dati che permettano di scorporare l'Iva</a:t>
            </a:r>
            <a:endParaRPr lang="it-IT" sz="1400" spc="-1" noProof="1"/>
          </a:p>
          <a:p>
            <a:pPr fontAlgn="auto"/>
            <a:endParaRPr lang="it-IT" sz="1400" spc="-1" noProof="1"/>
          </a:p>
          <a:p>
            <a:pPr fontAlgn="auto"/>
            <a:endParaRPr lang="it-IT" sz="1400" spc="-1" noProof="1"/>
          </a:p>
          <a:p>
            <a:pPr fontAlgn="auto"/>
            <a:endParaRPr lang="it-IT" sz="1400" spc="-1" noProof="1"/>
          </a:p>
          <a:p>
            <a:pPr fontAlgn="auto"/>
            <a:r>
              <a:rPr lang="it-IT" sz="1400" spc="-1" noProof="1">
                <a:solidFill>
                  <a:srgbClr val="000000"/>
                </a:solidFill>
                <a:latin typeface="Tahoma"/>
                <a:ea typeface="Tahoma"/>
              </a:rPr>
              <a:t>La fattura semplificata non può essere emessa per le seguenti tipologie di operazioni: </a:t>
            </a:r>
            <a:endParaRPr lang="it-IT" sz="1400" spc="-1" noProof="1"/>
          </a:p>
          <a:p>
            <a:pPr marL="342900" indent="-340995" fontAlgn="auto">
              <a:buClr>
                <a:srgbClr val="1F497D"/>
              </a:buClr>
              <a:buFont typeface="Arial" panose="020B0604020202020204"/>
              <a:buAutoNum type="arabicPeriod"/>
            </a:pPr>
            <a:r>
              <a:rPr lang="it-IT" sz="1400" spc="-1" noProof="1">
                <a:solidFill>
                  <a:srgbClr val="000000"/>
                </a:solidFill>
                <a:latin typeface="Tahoma"/>
                <a:ea typeface="Tahoma"/>
              </a:rPr>
              <a:t>cessioni intracomunitarie di cui all'</a:t>
            </a:r>
            <a:r>
              <a:rPr lang="it-IT" sz="1400" b="1" spc="-1" noProof="1">
                <a:solidFill>
                  <a:srgbClr val="000000"/>
                </a:solidFill>
                <a:latin typeface="Tahoma"/>
                <a:ea typeface="Tahoma"/>
              </a:rPr>
              <a:t>articolo 41 del decreto-legge 30 agosto 1993, n. 331</a:t>
            </a:r>
            <a:r>
              <a:rPr lang="it-IT" sz="1400" spc="-1" noProof="1">
                <a:solidFill>
                  <a:srgbClr val="000000"/>
                </a:solidFill>
                <a:latin typeface="Tahoma"/>
                <a:ea typeface="Tahoma"/>
              </a:rPr>
              <a:t>, convertito, con modificazioni, dalla </a:t>
            </a:r>
            <a:r>
              <a:rPr lang="it-IT" sz="1400" b="1" spc="-1" noProof="1">
                <a:solidFill>
                  <a:srgbClr val="000000"/>
                </a:solidFill>
                <a:latin typeface="Tahoma"/>
                <a:ea typeface="Tahoma"/>
              </a:rPr>
              <a:t>legge 29 ottobre 1993, n. 427</a:t>
            </a:r>
            <a:r>
              <a:rPr lang="it-IT" sz="1400" spc="-1" noProof="1">
                <a:solidFill>
                  <a:srgbClr val="000000"/>
                </a:solidFill>
                <a:latin typeface="Tahoma"/>
                <a:ea typeface="Tahoma"/>
              </a:rPr>
              <a:t>; </a:t>
            </a:r>
            <a:endParaRPr lang="it-IT" sz="1400" spc="-1" noProof="1"/>
          </a:p>
          <a:p>
            <a:pPr marL="342900" indent="-340995" fontAlgn="auto">
              <a:buClr>
                <a:srgbClr val="1F497D"/>
              </a:buClr>
              <a:buFont typeface="Arial" panose="020B0604020202020204"/>
              <a:buAutoNum type="arabicPeriod"/>
            </a:pPr>
            <a:r>
              <a:rPr lang="it-IT" sz="1400" spc="-1" noProof="1">
                <a:solidFill>
                  <a:srgbClr val="000000"/>
                </a:solidFill>
                <a:latin typeface="Tahoma"/>
                <a:ea typeface="Tahoma"/>
              </a:rPr>
              <a:t>operazioni di cui all'</a:t>
            </a:r>
            <a:r>
              <a:rPr lang="it-IT" sz="1400" b="1" spc="-1" noProof="1">
                <a:solidFill>
                  <a:srgbClr val="000000"/>
                </a:solidFill>
                <a:latin typeface="Tahoma"/>
                <a:ea typeface="Tahoma"/>
              </a:rPr>
              <a:t>articolo 21</a:t>
            </a:r>
            <a:r>
              <a:rPr lang="it-IT" sz="1400" spc="-1" noProof="1">
                <a:solidFill>
                  <a:srgbClr val="000000"/>
                </a:solidFill>
                <a:latin typeface="Tahoma"/>
                <a:ea typeface="Tahoma"/>
              </a:rPr>
              <a:t>, comma 6-bis, lettera a).</a:t>
            </a:r>
            <a:endParaRPr lang="it-IT" sz="1400" spc="-1" noProof="1"/>
          </a:p>
          <a:p>
            <a:pPr algn="ctr" fontAlgn="auto"/>
            <a:endParaRPr lang="it-IT" sz="1400" spc="-1" noProof="1"/>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8"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Fatturazione</a:t>
            </a:r>
          </a:p>
        </p:txBody>
      </p:sp>
      <p:sp>
        <p:nvSpPr>
          <p:cNvPr id="229" name="CustomShape 3"/>
          <p:cNvSpPr/>
          <p:nvPr/>
        </p:nvSpPr>
        <p:spPr>
          <a:xfrm>
            <a:off x="565150" y="1411288"/>
            <a:ext cx="8166100" cy="510540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285750" indent="-283845" fontAlgn="auto">
              <a:buClr>
                <a:srgbClr val="1F497D"/>
              </a:buClr>
              <a:buFont typeface="Wingdings" panose="05000000000000000000" pitchFamily="2" charset="2"/>
              <a:buChar char=""/>
            </a:pPr>
            <a:r>
              <a:rPr lang="it-IT" sz="1400" spc="-1" noProof="1">
                <a:solidFill>
                  <a:srgbClr val="000000"/>
                </a:solidFill>
                <a:latin typeface="Tahoma"/>
              </a:rPr>
              <a:t>L'emissione della fattura non è obbligatoria, se non è richiesta dal cliente non oltre il momento di effettuazione dell'operazione:</a:t>
            </a:r>
            <a:endParaRPr lang="it-IT" sz="14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cessioni di beni effettuate da commercianti al minuto autorizzati in locali aperti al pubblico, in spacci interni, mediante apparecchi di distribuzione automatica, per corrispondenza, a domicilio o in forma ambulante;</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prestazioni alberghiere e le somministrazioni di alimenti e bevande effettuate dai pubblici esercizi, nelle mense aziendali o mediante apparecchi di distribuzione automatica</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prestazioni di trasporto di persone nonché di veicoli e bagagli al seguito; </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prestazioni di servizi rese nell'esercizio di imprese in locali aperti al pubblico, in forma ambulante o nell'abitazione dei clienti; </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prestazioni di custodia e amministrazione di titoli e per gli altri servizi resi da aziende o istituti di credito e da società finanziarie o fiduciarie;</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operazioni esenti indicate ai nn. da 1) a 5) e ai nn. 7), 8), 9), 16) e 22) dell'art. 10 (indipendentemente dal fatto che rientrino nell'attività propria dell'impresa); </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l’attività di organizzazione di escursioni, visite della città, giri turistici ed eventi similari, effettuata dalle agenzie di viaggi e turismo;</a:t>
            </a:r>
            <a:endParaRPr lang="it-IT" sz="1200" spc="-1" noProof="1"/>
          </a:p>
          <a:p>
            <a:pPr marL="800100" lvl="1" indent="-340995" fontAlgn="auto">
              <a:buClr>
                <a:srgbClr val="1F497D"/>
              </a:buClr>
              <a:buFont typeface="Arial" panose="020B0604020202020204"/>
              <a:buAutoNum type="arabicParenR"/>
            </a:pPr>
            <a:r>
              <a:rPr lang="it-IT" sz="1200" spc="-1" noProof="1">
                <a:solidFill>
                  <a:srgbClr val="000000"/>
                </a:solidFill>
                <a:latin typeface="Tahoma"/>
              </a:rPr>
              <a:t>per le prestazioni di servizi di teleradiodiffusione e di servizi elettronici resi a committenti che agiscono al di fuori dell’esercizio di impresa, arte o professione. </a:t>
            </a:r>
            <a:endParaRPr lang="it-IT" sz="1200" spc="-1" noProof="1"/>
          </a:p>
          <a:p>
            <a:pPr fontAlgn="auto"/>
            <a:endParaRPr lang="it-IT" sz="12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rPr>
              <a:t>Gli imprenditori che acquistano beni che formano oggetto dell'attività propria dell'impresa da commercianti al minuto ai quali è consentita l'emissione della fattura sono obbligati a richiederla.</a:t>
            </a:r>
            <a:endParaRPr lang="it-IT" sz="1400" spc="-1" noProof="1"/>
          </a:p>
          <a:p>
            <a:pPr fontAlgn="auto"/>
            <a:endParaRPr lang="it-IT" sz="1400" spc="-1" noProof="1"/>
          </a:p>
          <a:p>
            <a:pPr fontAlgn="auto"/>
            <a:r>
              <a:rPr lang="it-IT" sz="1400" spc="-1" noProof="1">
                <a:solidFill>
                  <a:srgbClr val="000000"/>
                </a:solidFill>
                <a:latin typeface="Wingdings" panose="05000000000000000000"/>
              </a:rPr>
              <a:t></a:t>
            </a:r>
            <a:r>
              <a:rPr lang="it-IT" sz="1400" spc="-1" noProof="1">
                <a:solidFill>
                  <a:srgbClr val="000000"/>
                </a:solidFill>
                <a:latin typeface="Tahoma"/>
              </a:rPr>
              <a:t> compilazione del registro dei corrispettivi (anziché registro Iva vendite);</a:t>
            </a:r>
            <a:endParaRPr lang="it-IT" sz="1400" spc="-1" noProof="1"/>
          </a:p>
          <a:p>
            <a:pPr fontAlgn="auto"/>
            <a:r>
              <a:rPr lang="it-IT" sz="1400" spc="-1" noProof="1">
                <a:solidFill>
                  <a:srgbClr val="000000"/>
                </a:solidFill>
                <a:latin typeface="Wingdings" panose="05000000000000000000"/>
              </a:rPr>
              <a:t></a:t>
            </a:r>
            <a:r>
              <a:rPr lang="it-IT" sz="1400" spc="-1" noProof="1">
                <a:solidFill>
                  <a:srgbClr val="000000"/>
                </a:solidFill>
                <a:latin typeface="Tahoma"/>
              </a:rPr>
              <a:t> certificazione mediante scontrino o ricevuta fiscale.</a:t>
            </a:r>
            <a:endParaRPr lang="it-IT" sz="1400" spc="-1" noProof="1"/>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 elettronica: quadro normativo (1)</a:t>
            </a:r>
            <a:endParaRPr lang="it-IT" sz="2800" spc="-1" noProof="1"/>
          </a:p>
        </p:txBody>
      </p:sp>
      <p:sp>
        <p:nvSpPr>
          <p:cNvPr id="223" name="CustomShape 3"/>
          <p:cNvSpPr/>
          <p:nvPr/>
        </p:nvSpPr>
        <p:spPr>
          <a:xfrm>
            <a:off x="471487" y="2382838"/>
            <a:ext cx="8201025" cy="4103687"/>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lvl1pPr marL="285750" indent="-285750">
              <a:defRPr>
                <a:solidFill>
                  <a:schemeClr val="tx1"/>
                </a:solidFill>
                <a:latin typeface="Arial" panose="020B0604020202020204" pitchFamily="34" charset="0"/>
                <a:ea typeface="DejaVu Sans" panose="020B0603030804020204"/>
                <a:cs typeface="DejaVu Sans" panose="020B0603030804020204"/>
              </a:defRPr>
            </a:lvl1pPr>
            <a:lvl2pPr marL="742950" indent="-284480">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buFont typeface="Wingdings" panose="05000000000000000000" pitchFamily="2" charset="2"/>
              <a:buChar char="v"/>
            </a:pPr>
            <a:r>
              <a:rPr lang="it-IT" altLang="en-US" sz="1600" dirty="0">
                <a:latin typeface="Tahoma" panose="020B0604030504040204" pitchFamily="34" charset="0"/>
              </a:rPr>
              <a:t>Il Consiglio Europeo con la Decisione di Esecuzione (EU) 2018/593 ha autorizzato lo Stato Italiano a introdurre l’obbligo di fatturazione elettronica.</a:t>
            </a:r>
          </a:p>
          <a:p>
            <a:endParaRPr lang="it-IT" altLang="en-US" sz="1600" dirty="0">
              <a:latin typeface="Tahoma" panose="020B0604030504040204" pitchFamily="34" charset="0"/>
            </a:endParaRPr>
          </a:p>
          <a:p>
            <a:pPr>
              <a:buFont typeface="Wingdings" panose="05000000000000000000" pitchFamily="2" charset="2"/>
              <a:buChar char="v"/>
            </a:pPr>
            <a:r>
              <a:rPr lang="it-IT" altLang="en-US" sz="1600" dirty="0">
                <a:solidFill>
                  <a:srgbClr val="000000"/>
                </a:solidFill>
                <a:latin typeface="Tahoma" panose="020B0604030504040204" pitchFamily="34" charset="0"/>
              </a:rPr>
              <a:t>La fattura elettronica è divenuta obbligatoria a partire dal 1° gennaio 2019 :</a:t>
            </a:r>
            <a:endParaRPr lang="it-IT" altLang="en-US" sz="1600" dirty="0">
              <a:latin typeface="Tahoma" panose="020B0604030504040204" pitchFamily="34" charset="0"/>
            </a:endParaRPr>
          </a:p>
          <a:p>
            <a:pPr lvl="1">
              <a:buFont typeface="Wingdings" panose="05000000000000000000" pitchFamily="2" charset="2"/>
              <a:buChar char=""/>
            </a:pPr>
            <a:r>
              <a:rPr lang="it-IT" altLang="en-US" sz="1600" dirty="0">
                <a:solidFill>
                  <a:srgbClr val="000000"/>
                </a:solidFill>
                <a:latin typeface="Tahoma" panose="020B0604030504040204" pitchFamily="34" charset="0"/>
              </a:rPr>
              <a:t>tra soggetti passivi IVA residenti, stabiliti o identificati in Italia (operazioni </a:t>
            </a:r>
            <a:r>
              <a:rPr lang="it-IT" altLang="en-US" sz="1600" b="1" dirty="0">
                <a:solidFill>
                  <a:srgbClr val="000000"/>
                </a:solidFill>
                <a:latin typeface="Tahoma" panose="020B0604030504040204" pitchFamily="34" charset="0"/>
              </a:rPr>
              <a:t>B2B</a:t>
            </a:r>
            <a:r>
              <a:rPr lang="it-IT" altLang="en-US" sz="1600" dirty="0">
                <a:solidFill>
                  <a:srgbClr val="000000"/>
                </a:solidFill>
                <a:latin typeface="Tahoma" panose="020B0604030504040204" pitchFamily="34" charset="0"/>
              </a:rPr>
              <a:t>) da inviare </a:t>
            </a:r>
            <a:r>
              <a:rPr lang="it-IT" altLang="en-US" sz="1600" b="1" dirty="0">
                <a:solidFill>
                  <a:srgbClr val="000000"/>
                </a:solidFill>
                <a:latin typeface="Tahoma" panose="020B0604030504040204" pitchFamily="34" charset="0"/>
              </a:rPr>
              <a:t>attraverso il Sistema di Interscambio (c.d. SDI)</a:t>
            </a:r>
            <a:r>
              <a:rPr lang="it-IT" altLang="en-US" sz="1600" dirty="0">
                <a:solidFill>
                  <a:srgbClr val="000000"/>
                </a:solidFill>
                <a:latin typeface="Tahoma" panose="020B0604030504040204" pitchFamily="34" charset="0"/>
              </a:rPr>
              <a:t> gestito dall’Agenzia delle Entrate;</a:t>
            </a:r>
            <a:endParaRPr lang="it-IT" altLang="en-US" sz="1600" dirty="0">
              <a:latin typeface="Tahoma" panose="020B0604030504040204" pitchFamily="34" charset="0"/>
            </a:endParaRPr>
          </a:p>
          <a:p>
            <a:pPr lvl="1">
              <a:buFont typeface="Wingdings" panose="05000000000000000000" pitchFamily="2" charset="2"/>
              <a:buChar char=""/>
            </a:pPr>
            <a:r>
              <a:rPr lang="it-IT" altLang="en-US" sz="1600" dirty="0">
                <a:solidFill>
                  <a:srgbClr val="000000"/>
                </a:solidFill>
                <a:latin typeface="Tahoma" panose="020B0604030504040204" pitchFamily="34" charset="0"/>
              </a:rPr>
              <a:t>nei confronti dei consumatori finali (operazioni </a:t>
            </a:r>
            <a:r>
              <a:rPr lang="it-IT" altLang="en-US" sz="1600" b="1" dirty="0">
                <a:solidFill>
                  <a:srgbClr val="000000"/>
                </a:solidFill>
                <a:latin typeface="Tahoma" panose="020B0604030504040204" pitchFamily="34" charset="0"/>
              </a:rPr>
              <a:t>B2C</a:t>
            </a:r>
            <a:r>
              <a:rPr lang="it-IT" altLang="en-US" sz="1600" dirty="0">
                <a:solidFill>
                  <a:srgbClr val="000000"/>
                </a:solidFill>
                <a:latin typeface="Tahoma" panose="020B0604030504040204" pitchFamily="34" charset="0"/>
              </a:rPr>
              <a:t>).</a:t>
            </a:r>
          </a:p>
          <a:p>
            <a:pPr>
              <a:buFont typeface="Wingdings" panose="05000000000000000000" pitchFamily="2" charset="2"/>
              <a:buChar char="v"/>
            </a:pPr>
            <a:endParaRPr lang="it-IT" altLang="en-US" sz="1600" dirty="0">
              <a:latin typeface="Tahoma" panose="020B0604030504040204" pitchFamily="34" charset="0"/>
            </a:endParaRPr>
          </a:p>
          <a:p>
            <a:pPr>
              <a:buFont typeface="Wingdings" panose="05000000000000000000" pitchFamily="2" charset="2"/>
              <a:buChar char="v"/>
            </a:pPr>
            <a:r>
              <a:rPr lang="it-IT" altLang="it-IT" sz="1600" dirty="0">
                <a:latin typeface="Tahoma" panose="020B0604030504040204" pitchFamily="34" charset="0"/>
              </a:rPr>
              <a:t>Riferimento: </a:t>
            </a:r>
            <a:r>
              <a:rPr lang="it-IT" altLang="it-IT" sz="1600" dirty="0" err="1">
                <a:latin typeface="Tahoma" panose="020B0604030504040204" pitchFamily="34" charset="0"/>
              </a:rPr>
              <a:t>D.Lgs.</a:t>
            </a:r>
            <a:r>
              <a:rPr lang="it-IT" altLang="it-IT" sz="1600" dirty="0">
                <a:latin typeface="Tahoma" panose="020B0604030504040204" pitchFamily="34" charset="0"/>
              </a:rPr>
              <a:t> 127/2015 art 1</a:t>
            </a:r>
            <a:endParaRPr lang="it-IT" altLang="en-US" sz="1600" dirty="0">
              <a:latin typeface="Tahoma" panose="020B0604030504040204" pitchFamily="34" charset="0"/>
            </a:endParaRPr>
          </a:p>
          <a:p>
            <a:endParaRPr lang="it-IT" altLang="en-US" sz="1600" dirty="0">
              <a:latin typeface="Tahoma" panose="020B0604030504040204" pitchFamily="34" charset="0"/>
            </a:endParaRPr>
          </a:p>
          <a:p>
            <a:endParaRPr lang="it-IT" altLang="en-US" sz="1600"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 elettronica: ambito d’applicazione</a:t>
            </a:r>
            <a:endParaRPr lang="it-IT" sz="2800" spc="-1" noProof="1"/>
          </a:p>
        </p:txBody>
      </p:sp>
      <p:sp>
        <p:nvSpPr>
          <p:cNvPr id="223" name="CustomShape 3"/>
          <p:cNvSpPr/>
          <p:nvPr/>
        </p:nvSpPr>
        <p:spPr>
          <a:xfrm>
            <a:off x="431800" y="1290638"/>
            <a:ext cx="8201025" cy="518795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fontAlgn="auto"/>
            <a:endParaRPr lang="it-IT" sz="1600" spc="-1" noProof="1"/>
          </a:p>
        </p:txBody>
      </p:sp>
      <p:sp>
        <p:nvSpPr>
          <p:cNvPr id="3" name="Rettangolo 2"/>
          <p:cNvSpPr/>
          <p:nvPr/>
        </p:nvSpPr>
        <p:spPr>
          <a:xfrm>
            <a:off x="290513" y="1504950"/>
            <a:ext cx="8562975" cy="2631490"/>
          </a:xfrm>
          <a:prstGeom prst="rect">
            <a:avLst/>
          </a:prstGeom>
        </p:spPr>
        <p:txBody>
          <a:bodyPr lIns="91440" tIns="45720" rIns="91440" bIns="45720" anchor="t">
            <a:spAutoFit/>
          </a:bodyPr>
          <a:lstStyle/>
          <a:p>
            <a:pPr marL="285750" indent="-285750" algn="just" fontAlgn="auto">
              <a:buFont typeface="Wingdings" panose="05000000000000000000" pitchFamily="2" charset="2"/>
              <a:buChar char="v"/>
            </a:pPr>
            <a:r>
              <a:rPr lang="it-IT" sz="1500" b="1" noProof="1">
                <a:latin typeface="Tahoma"/>
                <a:ea typeface="Tahoma"/>
                <a:cs typeface="Tahoma"/>
              </a:rPr>
              <a:t>Ambito soggettivo</a:t>
            </a:r>
            <a:r>
              <a:rPr lang="it-IT" sz="1500" noProof="1">
                <a:latin typeface="Tahoma"/>
                <a:ea typeface="Tahoma"/>
                <a:cs typeface="Tahoma"/>
              </a:rPr>
              <a:t>:</a:t>
            </a:r>
          </a:p>
          <a:p>
            <a:pPr algn="just" fontAlgn="auto"/>
            <a:r>
              <a:rPr lang="it-IT" sz="1500" noProof="1">
                <a:latin typeface="Tahoma"/>
                <a:ea typeface="Tahoma"/>
                <a:cs typeface="Tahoma"/>
              </a:rPr>
              <a:t>Soggetti obbligati? Tutti i soggetti IVA stabiliti nel territorio dello Stato. </a:t>
            </a:r>
            <a:endParaRPr lang="it-IT" sz="1500" noProof="1">
              <a:latin typeface="Tahoma" panose="020B0604030504040204" pitchFamily="34" charset="0"/>
              <a:ea typeface="Tahoma" panose="020B0604030504040204" pitchFamily="34" charset="0"/>
              <a:cs typeface="Tahoma" panose="020B0604030504040204" pitchFamily="34" charset="0"/>
            </a:endParaRPr>
          </a:p>
          <a:p>
            <a:pPr algn="just" fontAlgn="auto"/>
            <a:r>
              <a:rPr lang="it-IT" sz="1500" noProof="1">
                <a:latin typeface="Tahoma"/>
                <a:ea typeface="Tahoma"/>
                <a:cs typeface="Tahoma"/>
              </a:rPr>
              <a:t>Soggetti esclusi? La Circolare n. 13/E del 2/07/2018 ha chiarito che sono esclusi dall’obbligo di emissione della fattura elettronica i soggetti </a:t>
            </a:r>
            <a:r>
              <a:rPr lang="it-IT" sz="1500" u="sng" noProof="1">
                <a:latin typeface="Tahoma"/>
                <a:ea typeface="Tahoma"/>
                <a:cs typeface="Tahoma"/>
              </a:rPr>
              <a:t>non stabiliti</a:t>
            </a:r>
            <a:r>
              <a:rPr lang="it-IT" sz="1500" noProof="1">
                <a:latin typeface="Tahoma"/>
                <a:ea typeface="Tahoma"/>
                <a:cs typeface="Tahoma"/>
              </a:rPr>
              <a:t> in Italia. </a:t>
            </a:r>
          </a:p>
          <a:p>
            <a:pPr algn="just"/>
            <a:r>
              <a:rPr lang="it-IT" sz="1500" noProof="1">
                <a:latin typeface="Tahoma"/>
                <a:ea typeface="Tahoma"/>
                <a:cs typeface="Tahoma"/>
              </a:rPr>
              <a:t>Restano esonerati i soggetti che si avvalgono del </a:t>
            </a:r>
            <a:r>
              <a:rPr lang="it-IT" sz="1500" u="sng" noProof="1">
                <a:latin typeface="Tahoma"/>
                <a:ea typeface="Tahoma"/>
                <a:cs typeface="Tahoma"/>
              </a:rPr>
              <a:t>regime di vantaggio</a:t>
            </a:r>
            <a:r>
              <a:rPr lang="it-IT" sz="1500" noProof="1">
                <a:latin typeface="Tahoma"/>
                <a:ea typeface="Tahoma"/>
                <a:cs typeface="Tahoma"/>
              </a:rPr>
              <a:t> (Art. 27 del DL 98/2011) e del </a:t>
            </a:r>
            <a:r>
              <a:rPr lang="it-IT" sz="1500" u="sng" noProof="1">
                <a:latin typeface="Tahoma"/>
                <a:ea typeface="Tahoma"/>
                <a:cs typeface="Tahoma"/>
              </a:rPr>
              <a:t>regime forfettario</a:t>
            </a:r>
            <a:r>
              <a:rPr lang="it-IT" sz="1500" noProof="1">
                <a:latin typeface="Tahoma"/>
                <a:ea typeface="Tahoma"/>
                <a:cs typeface="Tahoma"/>
              </a:rPr>
              <a:t> (Art. 1, della L. 190/2014) </a:t>
            </a:r>
            <a:r>
              <a:rPr lang="en-US" altLang="it-IT" sz="1500" noProof="1">
                <a:latin typeface="Tahoma"/>
                <a:ea typeface="Tahoma"/>
                <a:cs typeface="Tahoma"/>
              </a:rPr>
              <a:t>con ricavi o compensi inferiori a € 85’000/anno</a:t>
            </a:r>
            <a:r>
              <a:rPr lang="it-IT" sz="1500" noProof="1">
                <a:latin typeface="Tahoma"/>
                <a:ea typeface="Tahoma"/>
                <a:cs typeface="Tahoma"/>
              </a:rPr>
              <a:t>. </a:t>
            </a:r>
            <a:endParaRPr lang="it-IT" dirty="0"/>
          </a:p>
          <a:p>
            <a:pPr algn="just" fontAlgn="auto"/>
            <a:endParaRPr lang="it-IT" sz="1500" noProof="1">
              <a:latin typeface="Tahoma" panose="020B0604030504040204" pitchFamily="34" charset="0"/>
              <a:ea typeface="Tahoma" panose="020B0604030504040204" pitchFamily="34" charset="0"/>
              <a:cs typeface="Tahoma" panose="020B0604030504040204" pitchFamily="34" charset="0"/>
            </a:endParaRPr>
          </a:p>
          <a:p>
            <a:pPr marL="285750" indent="-285750" algn="just" fontAlgn="auto">
              <a:buFont typeface="Wingdings" panose="05000000000000000000" pitchFamily="2" charset="2"/>
              <a:buChar char="v"/>
            </a:pPr>
            <a:r>
              <a:rPr lang="it-IT" sz="1500" b="1" noProof="1">
                <a:latin typeface="Tahoma"/>
                <a:ea typeface="Tahoma"/>
                <a:cs typeface="Tahoma"/>
              </a:rPr>
              <a:t>Ambito oggettivo</a:t>
            </a:r>
            <a:r>
              <a:rPr lang="it-IT" sz="1500" noProof="1">
                <a:latin typeface="Tahoma"/>
                <a:ea typeface="Tahoma"/>
                <a:cs typeface="Tahoma"/>
              </a:rPr>
              <a:t>:</a:t>
            </a:r>
          </a:p>
          <a:p>
            <a:pPr algn="ctr" fontAlgn="auto"/>
            <a:r>
              <a:rPr lang="it-IT" sz="1500" noProof="1">
                <a:latin typeface="Tahoma"/>
                <a:ea typeface="Tahoma"/>
                <a:cs typeface="Tahoma"/>
              </a:rPr>
              <a:t>Cessioni di beni </a:t>
            </a:r>
            <a:endParaRPr lang="it-IT" sz="1500" noProof="1">
              <a:latin typeface="Tahoma" panose="020B0604030504040204" pitchFamily="34" charset="0"/>
              <a:ea typeface="Tahoma" panose="020B0604030504040204" pitchFamily="34" charset="0"/>
              <a:cs typeface="Tahoma" panose="020B0604030504040204" pitchFamily="34" charset="0"/>
            </a:endParaRPr>
          </a:p>
          <a:p>
            <a:pPr algn="ctr" fontAlgn="auto"/>
            <a:r>
              <a:rPr lang="it-IT" sz="1500" noProof="1">
                <a:latin typeface="Tahoma"/>
                <a:ea typeface="Tahoma"/>
                <a:cs typeface="Tahoma"/>
              </a:rPr>
              <a:t>Prestazioni di servizi </a:t>
            </a:r>
            <a:endParaRPr lang="it-IT" sz="1500" noProof="1">
              <a:latin typeface="Tahoma" panose="020B0604030504040204" pitchFamily="34" charset="0"/>
              <a:ea typeface="Tahoma" panose="020B0604030504040204" pitchFamily="34" charset="0"/>
              <a:cs typeface="Tahoma" panose="020B0604030504040204" pitchFamily="34" charset="0"/>
            </a:endParaRPr>
          </a:p>
          <a:p>
            <a:pPr algn="ctr" fontAlgn="auto"/>
            <a:r>
              <a:rPr lang="it-IT" sz="1500" noProof="1">
                <a:latin typeface="Tahoma"/>
                <a:ea typeface="Tahoma"/>
                <a:cs typeface="Tahoma"/>
              </a:rPr>
              <a:t>Note di variazione </a:t>
            </a:r>
            <a:endParaRPr lang="it-IT" sz="1500" noProof="1">
              <a:latin typeface="Tahoma" panose="020B0604030504040204" pitchFamily="34" charset="0"/>
              <a:ea typeface="Tahoma" panose="020B0604030504040204" pitchFamily="34" charset="0"/>
              <a:cs typeface="Tahoma" panose="020B0604030504040204" pitchFamily="34" charset="0"/>
            </a:endParaRPr>
          </a:p>
        </p:txBody>
      </p:sp>
      <p:sp>
        <p:nvSpPr>
          <p:cNvPr id="61445" name="Rettangolo 4"/>
          <p:cNvSpPr>
            <a:spLocks noChangeArrowheads="1"/>
          </p:cNvSpPr>
          <p:nvPr/>
        </p:nvSpPr>
        <p:spPr bwMode="auto">
          <a:xfrm>
            <a:off x="149225" y="4438650"/>
            <a:ext cx="44227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it-IT" altLang="en-US" sz="1300" u="sng">
                <a:latin typeface="Tahoma" panose="020B0604030504040204" pitchFamily="34" charset="0"/>
              </a:rPr>
              <a:t>Operazioni B2B</a:t>
            </a:r>
          </a:p>
          <a:p>
            <a:pPr algn="just"/>
            <a:r>
              <a:rPr lang="it-IT" altLang="en-US" sz="1300">
                <a:latin typeface="Tahoma" panose="020B0604030504040204" pitchFamily="34" charset="0"/>
              </a:rPr>
              <a:t>Le fatture emesse devono essere trasmesse mediante «Sistema di Interscambio», in formato XML utilizzando i canali predefiniti (i.e. PEC, procedura web e app, web service o sistema di protocollo FTP)</a:t>
            </a:r>
          </a:p>
        </p:txBody>
      </p:sp>
      <p:sp>
        <p:nvSpPr>
          <p:cNvPr id="61446" name="Rettangolo 5"/>
          <p:cNvSpPr>
            <a:spLocks noChangeArrowheads="1"/>
          </p:cNvSpPr>
          <p:nvPr/>
        </p:nvSpPr>
        <p:spPr bwMode="auto">
          <a:xfrm>
            <a:off x="4703763" y="4406900"/>
            <a:ext cx="4273550" cy="169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it-IT" altLang="en-US" sz="1300" u="sng">
                <a:latin typeface="Tahoma" panose="020B0604030504040204" pitchFamily="34" charset="0"/>
              </a:rPr>
              <a:t>Operazioni B2C </a:t>
            </a:r>
          </a:p>
          <a:p>
            <a:pPr algn="just"/>
            <a:r>
              <a:rPr lang="it-IT" altLang="en-US" sz="1300">
                <a:latin typeface="Tahoma" panose="020B0604030504040204" pitchFamily="34" charset="0"/>
              </a:rPr>
              <a:t>Le fatture emesse nei confronti dei privati devono essere trasmesse mediante «Sistema di Interscambio», utilizzando il formato XML utilizzando i canali predefiniti (PEC, procedura web e app, web service o sistema di protocollo FTP). Una copia elettronica o analogica deve essere consegnata al cliente, comunicando altresì che il documento è disponibile nella propria area riservata. </a:t>
            </a:r>
            <a:endParaRPr lang="it-IT" altLang="en-US" sz="1300"/>
          </a:p>
        </p:txBody>
      </p:sp>
      <p:cxnSp>
        <p:nvCxnSpPr>
          <p:cNvPr id="8" name="Connettore 2 7"/>
          <p:cNvCxnSpPr>
            <a:stCxn id="3" idx="2"/>
            <a:endCxn id="61445" idx="0"/>
          </p:cNvCxnSpPr>
          <p:nvPr/>
        </p:nvCxnSpPr>
        <p:spPr>
          <a:xfrm flipH="1">
            <a:off x="2360613" y="4136440"/>
            <a:ext cx="2211388" cy="3022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Connettore 2 10"/>
          <p:cNvCxnSpPr>
            <a:stCxn id="3" idx="2"/>
            <a:endCxn id="61446" idx="0"/>
          </p:cNvCxnSpPr>
          <p:nvPr/>
        </p:nvCxnSpPr>
        <p:spPr>
          <a:xfrm>
            <a:off x="4572001" y="4136440"/>
            <a:ext cx="2268537" cy="270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31"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 elettronica: contenuti</a:t>
            </a:r>
            <a:endParaRPr lang="it-IT" sz="2800" spc="-1" noProof="1"/>
          </a:p>
        </p:txBody>
      </p:sp>
      <p:sp>
        <p:nvSpPr>
          <p:cNvPr id="232" name="CustomShape 3"/>
          <p:cNvSpPr/>
          <p:nvPr/>
        </p:nvSpPr>
        <p:spPr>
          <a:xfrm>
            <a:off x="431800" y="1290638"/>
            <a:ext cx="8201025" cy="518795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fontAlgn="auto"/>
            <a:endParaRPr lang="it-IT" spc="-1" noProof="1">
              <a:latin typeface="Tahoma" panose="020B0604030504040204" pitchFamily="34" charset="0"/>
              <a:ea typeface="Tahoma" panose="020B0604030504040204" pitchFamily="34" charset="0"/>
              <a:cs typeface="Tahoma" panose="020B0604030504040204" pitchFamily="34" charset="0"/>
            </a:endParaRPr>
          </a:p>
        </p:txBody>
      </p:sp>
      <p:sp>
        <p:nvSpPr>
          <p:cNvPr id="63492" name="CasellaDiTesto 1"/>
          <p:cNvSpPr txBox="1">
            <a:spLocks noChangeArrowheads="1"/>
          </p:cNvSpPr>
          <p:nvPr/>
        </p:nvSpPr>
        <p:spPr bwMode="auto">
          <a:xfrm>
            <a:off x="279401" y="1384201"/>
            <a:ext cx="4259262" cy="2308324"/>
          </a:xfrm>
          <a:prstGeom prst="rect">
            <a:avLst/>
          </a:prstGeom>
          <a:ln>
            <a:noFill/>
          </a:ln>
        </p:spPr>
        <p:style>
          <a:lnRef idx="2">
            <a:schemeClr val="accent1"/>
          </a:lnRef>
          <a:fillRef idx="1">
            <a:schemeClr val="lt1"/>
          </a:fillRef>
          <a:effectRef idx="0">
            <a:schemeClr val="accent1"/>
          </a:effectRef>
          <a:fontRef idx="minor">
            <a:schemeClr val="dk1"/>
          </a:fontRef>
        </p:style>
        <p:txBody>
          <a:bodyPr>
            <a:spAutoFit/>
          </a:bodyPr>
          <a:lstStyle>
            <a:lvl1pPr marL="285750" indent="-285750">
              <a:defRPr>
                <a:solidFill>
                  <a:schemeClr val="tx1"/>
                </a:solidFill>
                <a:latin typeface="Arial" panose="020B0604020202020204" pitchFamily="34" charset="0"/>
                <a:ea typeface="DejaVu Sans" panose="020B0603030804020204"/>
                <a:cs typeface="DejaVu Sans" panose="020B0603030804020204"/>
              </a:defRPr>
            </a:lvl1pPr>
            <a:lvl2pPr>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buFont typeface="Wingdings" panose="05000000000000000000" pitchFamily="2" charset="2"/>
              <a:buChar char="v"/>
            </a:pPr>
            <a:r>
              <a:rPr lang="it-IT" altLang="en-US" b="1" dirty="0">
                <a:latin typeface="Tahoma" panose="020B0604030504040204" pitchFamily="34" charset="0"/>
                <a:ea typeface="Tahoma" panose="020B0604030504040204" pitchFamily="34" charset="0"/>
                <a:cs typeface="Tahoma" panose="020B0604030504040204" pitchFamily="34" charset="0"/>
              </a:rPr>
              <a:t>Contenuto informativo previsto dall’art. 21 e 21-bis del D.P.R. 633/72</a:t>
            </a:r>
            <a:r>
              <a:rPr lang="it-IT" altLang="en-US" dirty="0">
                <a:latin typeface="Tahoma" panose="020B0604030504040204" pitchFamily="34" charset="0"/>
                <a:ea typeface="Tahoma" panose="020B0604030504040204" pitchFamily="34" charset="0"/>
                <a:cs typeface="Tahoma" panose="020B0604030504040204" pitchFamily="34" charset="0"/>
              </a:rPr>
              <a:t>: le fatture emesse devono contenere tutte le informazioni obbligatorie rilevanti ai fini fiscali (e.g. data emissione, numero progressivo, numero partita IVA cedente, etc.).</a:t>
            </a:r>
          </a:p>
        </p:txBody>
      </p:sp>
      <p:sp>
        <p:nvSpPr>
          <p:cNvPr id="3" name="Rettangolo 2"/>
          <p:cNvSpPr/>
          <p:nvPr/>
        </p:nvSpPr>
        <p:spPr>
          <a:xfrm>
            <a:off x="4560888" y="1476375"/>
            <a:ext cx="4340225" cy="2030413"/>
          </a:xfrm>
          <a:prstGeom prst="rect">
            <a:avLst/>
          </a:prstGeom>
          <a:ln>
            <a:noFill/>
          </a:ln>
        </p:spPr>
        <p:style>
          <a:lnRef idx="2">
            <a:schemeClr val="accent1"/>
          </a:lnRef>
          <a:fillRef idx="1">
            <a:schemeClr val="lt1"/>
          </a:fillRef>
          <a:effectRef idx="0">
            <a:schemeClr val="accent1"/>
          </a:effectRef>
          <a:fontRef idx="minor">
            <a:schemeClr val="dk1"/>
          </a:fontRef>
        </p:style>
        <p:txBody>
          <a:bodyPr>
            <a:spAutoFit/>
          </a:bodyPr>
          <a:lstStyle/>
          <a:p>
            <a:pPr marL="285750" indent="-285750" fontAlgn="auto">
              <a:buFont typeface="Wingdings" panose="05000000000000000000" pitchFamily="2" charset="2"/>
              <a:buChar char="v"/>
            </a:pPr>
            <a:r>
              <a:rPr lang="it-IT" b="1" noProof="1">
                <a:latin typeface="Tahoma" panose="020B0604030504040204" pitchFamily="34" charset="0"/>
                <a:ea typeface="Tahoma" panose="020B0604030504040204" pitchFamily="34" charset="0"/>
                <a:cs typeface="Tahoma" panose="020B0604030504040204" pitchFamily="34" charset="0"/>
              </a:rPr>
              <a:t>Contenuto informativo utile per l’oggetto della transazione</a:t>
            </a:r>
            <a:r>
              <a:rPr lang="it-IT" noProof="1">
                <a:latin typeface="Tahoma" panose="020B0604030504040204" pitchFamily="34" charset="0"/>
                <a:ea typeface="Tahoma" panose="020B0604030504040204" pitchFamily="34" charset="0"/>
                <a:cs typeface="Tahoma" panose="020B0604030504040204" pitchFamily="34" charset="0"/>
              </a:rPr>
              <a:t>: ulteriori informazioni utili per la tipologia di beni e/o servizi, nonché sulle esigenze delle controparti</a:t>
            </a:r>
          </a:p>
          <a:p>
            <a:pPr fontAlgn="auto"/>
            <a:endParaRPr lang="it-IT" noProof="1">
              <a:latin typeface="Tahoma" panose="020B0604030504040204" pitchFamily="34" charset="0"/>
              <a:ea typeface="Tahoma" panose="020B0604030504040204" pitchFamily="34" charset="0"/>
              <a:cs typeface="Tahoma" panose="020B0604030504040204" pitchFamily="34" charset="0"/>
            </a:endParaRPr>
          </a:p>
          <a:p>
            <a:pPr fontAlgn="auto"/>
            <a:endParaRPr lang="it-IT" noProof="1">
              <a:latin typeface="Tahoma" panose="020B0604030504040204" pitchFamily="34" charset="0"/>
              <a:ea typeface="Tahoma" panose="020B0604030504040204" pitchFamily="34" charset="0"/>
              <a:cs typeface="Tahoma" panose="020B0604030504040204" pitchFamily="34" charset="0"/>
            </a:endParaRPr>
          </a:p>
        </p:txBody>
      </p:sp>
      <p:sp>
        <p:nvSpPr>
          <p:cNvPr id="4" name="Rettangolo 3"/>
          <p:cNvSpPr/>
          <p:nvPr/>
        </p:nvSpPr>
        <p:spPr>
          <a:xfrm>
            <a:off x="290513" y="3692525"/>
            <a:ext cx="4270375" cy="2032000"/>
          </a:xfrm>
          <a:prstGeom prst="rect">
            <a:avLst/>
          </a:prstGeom>
          <a:ln>
            <a:noFill/>
          </a:ln>
        </p:spPr>
        <p:style>
          <a:lnRef idx="2">
            <a:schemeClr val="accent1"/>
          </a:lnRef>
          <a:fillRef idx="1">
            <a:schemeClr val="lt1"/>
          </a:fillRef>
          <a:effectRef idx="0">
            <a:schemeClr val="accent1"/>
          </a:effectRef>
          <a:fontRef idx="minor">
            <a:schemeClr val="dk1"/>
          </a:fontRef>
        </p:style>
        <p:txBody>
          <a:bodyPr>
            <a:spAutoFit/>
          </a:bodyPr>
          <a:lstStyle/>
          <a:p>
            <a:pPr marL="285750" indent="-285750" fontAlgn="auto">
              <a:buFont typeface="Wingdings" panose="05000000000000000000" pitchFamily="2" charset="2"/>
              <a:buChar char="v"/>
            </a:pPr>
            <a:r>
              <a:rPr lang="it-IT" b="1" noProof="1">
                <a:latin typeface="Tahoma" panose="020B0604030504040204" pitchFamily="34" charset="0"/>
                <a:ea typeface="Tahoma" panose="020B0604030504040204" pitchFamily="34" charset="0"/>
                <a:cs typeface="Tahoma" panose="020B0604030504040204" pitchFamily="34" charset="0"/>
              </a:rPr>
              <a:t>Contenuto informativo necessario per la trasmissione allo SDI</a:t>
            </a:r>
            <a:r>
              <a:rPr lang="it-IT" noProof="1">
                <a:latin typeface="Tahoma" panose="020B0604030504040204" pitchFamily="34" charset="0"/>
                <a:ea typeface="Tahoma" panose="020B0604030504040204" pitchFamily="34" charset="0"/>
                <a:cs typeface="Tahoma" panose="020B0604030504040204" pitchFamily="34" charset="0"/>
              </a:rPr>
              <a:t>: le fatture emesse devono contenere i dati necessari alla trasmissione (e.g. Id Trasmittente, Codice destinatario, etc.)</a:t>
            </a:r>
          </a:p>
          <a:p>
            <a:pPr fontAlgn="auto"/>
            <a:endParaRPr lang="it-IT" noProof="1">
              <a:latin typeface="Tahoma" panose="020B0604030504040204" pitchFamily="34" charset="0"/>
              <a:ea typeface="Tahoma" panose="020B0604030504040204" pitchFamily="34" charset="0"/>
              <a:cs typeface="Tahoma" panose="020B0604030504040204" pitchFamily="34" charset="0"/>
            </a:endParaRPr>
          </a:p>
        </p:txBody>
      </p:sp>
      <p:sp>
        <p:nvSpPr>
          <p:cNvPr id="5" name="Rettangolo 4"/>
          <p:cNvSpPr/>
          <p:nvPr/>
        </p:nvSpPr>
        <p:spPr>
          <a:xfrm>
            <a:off x="4549775" y="3711575"/>
            <a:ext cx="4351338" cy="2032000"/>
          </a:xfrm>
          <a:prstGeom prst="rect">
            <a:avLst/>
          </a:prstGeom>
          <a:ln>
            <a:noFill/>
          </a:ln>
        </p:spPr>
        <p:style>
          <a:lnRef idx="2">
            <a:schemeClr val="accent1"/>
          </a:lnRef>
          <a:fillRef idx="1">
            <a:schemeClr val="lt1"/>
          </a:fillRef>
          <a:effectRef idx="0">
            <a:schemeClr val="accent1"/>
          </a:effectRef>
          <a:fontRef idx="minor">
            <a:schemeClr val="dk1"/>
          </a:fontRef>
        </p:style>
        <p:txBody>
          <a:bodyPr>
            <a:spAutoFit/>
          </a:bodyPr>
          <a:lstStyle/>
          <a:p>
            <a:pPr marL="285750" indent="-285750" fontAlgn="auto">
              <a:buFont typeface="Wingdings" panose="05000000000000000000" pitchFamily="2" charset="2"/>
              <a:buChar char="v"/>
            </a:pPr>
            <a:r>
              <a:rPr lang="it-IT" b="1" noProof="1">
                <a:latin typeface="Tahoma" panose="020B0604030504040204" pitchFamily="34" charset="0"/>
                <a:ea typeface="Tahoma" panose="020B0604030504040204" pitchFamily="34" charset="0"/>
                <a:cs typeface="Tahoma" panose="020B0604030504040204" pitchFamily="34" charset="0"/>
              </a:rPr>
              <a:t>Contenuto informativo per la dematerializzazione del processo passivo</a:t>
            </a:r>
            <a:r>
              <a:rPr lang="it-IT" noProof="1">
                <a:latin typeface="Tahoma" panose="020B0604030504040204" pitchFamily="34" charset="0"/>
                <a:ea typeface="Tahoma" panose="020B0604030504040204" pitchFamily="34" charset="0"/>
                <a:cs typeface="Tahoma" panose="020B0604030504040204" pitchFamily="34" charset="0"/>
              </a:rPr>
              <a:t>: ulteriori informazioni con i processi ed i sistemi gestionali e di pagamento (e.g. dati ordine acquisto, dati contratto, etc.)</a:t>
            </a:r>
          </a:p>
          <a:p>
            <a:pPr fontAlgn="auto"/>
            <a:endParaRPr lang="it-IT" noProof="1">
              <a:latin typeface="Tahoma" panose="020B0604030504040204" pitchFamily="34" charset="0"/>
              <a:ea typeface="Tahoma" panose="020B0604030504040204" pitchFamily="34" charset="0"/>
              <a:cs typeface="Tahoma" panose="020B0604030504040204" pitchFamily="34" charset="0"/>
            </a:endParaRPr>
          </a:p>
        </p:txBody>
      </p:sp>
      <p:cxnSp>
        <p:nvCxnSpPr>
          <p:cNvPr id="7" name="Connettore diritto 6"/>
          <p:cNvCxnSpPr/>
          <p:nvPr/>
        </p:nvCxnSpPr>
        <p:spPr>
          <a:xfrm>
            <a:off x="4549775" y="1181100"/>
            <a:ext cx="0" cy="519271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Connettore diritto 8"/>
          <p:cNvCxnSpPr/>
          <p:nvPr/>
        </p:nvCxnSpPr>
        <p:spPr>
          <a:xfrm>
            <a:off x="141288" y="3692525"/>
            <a:ext cx="8853487" cy="635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 elettronica: emissione e conservazione</a:t>
            </a:r>
            <a:endParaRPr lang="it-IT" sz="2800" spc="-1" noProof="1"/>
          </a:p>
        </p:txBody>
      </p:sp>
      <p:sp>
        <p:nvSpPr>
          <p:cNvPr id="5" name="CasellaDiTesto 4"/>
          <p:cNvSpPr txBox="1"/>
          <p:nvPr/>
        </p:nvSpPr>
        <p:spPr>
          <a:xfrm>
            <a:off x="319088" y="1365091"/>
            <a:ext cx="8438034" cy="2399665"/>
          </a:xfrm>
          <a:prstGeom prst="rect">
            <a:avLst/>
          </a:prstGeom>
          <a:noFill/>
        </p:spPr>
        <p:txBody>
          <a:bodyPr>
            <a:spAutoFit/>
          </a:bodyPr>
          <a:lstStyle/>
          <a:p>
            <a:pPr algn="ctr" fontAlgn="auto"/>
            <a:r>
              <a:rPr lang="it-IT" sz="1500" b="1" noProof="1">
                <a:latin typeface="+mn-lt"/>
                <a:ea typeface="+mn-ea"/>
                <a:cs typeface="+mn-cs"/>
              </a:rPr>
              <a:t>Emissione</a:t>
            </a:r>
            <a:endParaRPr lang="it-IT" sz="1500" b="1" noProof="1"/>
          </a:p>
          <a:p>
            <a:pPr marL="285750" indent="-285750" algn="just" fontAlgn="auto">
              <a:buFont typeface="Wingdings" panose="05000000000000000000" pitchFamily="2" charset="2"/>
              <a:buChar char="Ø"/>
            </a:pPr>
            <a:r>
              <a:rPr lang="it-IT" sz="1500" noProof="1">
                <a:latin typeface="+mn-lt"/>
                <a:ea typeface="+mn-ea"/>
                <a:cs typeface="+mn-cs"/>
              </a:rPr>
              <a:t>Immediata: nel giorno in cui avviene l’operazione.</a:t>
            </a:r>
            <a:endParaRPr lang="it-IT" sz="1500" noProof="1"/>
          </a:p>
          <a:p>
            <a:pPr marL="285750" indent="-285750" algn="just" fontAlgn="auto">
              <a:buFont typeface="Wingdings" panose="05000000000000000000" pitchFamily="2" charset="2"/>
              <a:buChar char="Ø"/>
            </a:pPr>
            <a:r>
              <a:rPr lang="it-IT" sz="1500" noProof="1">
                <a:latin typeface="+mn-lt"/>
                <a:ea typeface="+mn-ea"/>
                <a:cs typeface="+mn-cs"/>
              </a:rPr>
              <a:t>Differita: entro </a:t>
            </a:r>
            <a:r>
              <a:rPr lang="it-IT" sz="1500" b="1" noProof="1">
                <a:latin typeface="+mn-lt"/>
                <a:ea typeface="+mn-ea"/>
                <a:cs typeface="+mn-cs"/>
              </a:rPr>
              <a:t>1</a:t>
            </a:r>
            <a:r>
              <a:rPr lang="en-US" altLang="it-IT" sz="1500" b="1" noProof="1">
                <a:latin typeface="+mn-lt"/>
                <a:ea typeface="+mn-ea"/>
                <a:cs typeface="+mn-cs"/>
              </a:rPr>
              <a:t>2</a:t>
            </a:r>
            <a:r>
              <a:rPr lang="it-IT" sz="1500" b="1" noProof="1">
                <a:latin typeface="+mn-lt"/>
                <a:ea typeface="+mn-ea"/>
                <a:cs typeface="+mn-cs"/>
              </a:rPr>
              <a:t> giorni </a:t>
            </a:r>
            <a:r>
              <a:rPr lang="it-IT" sz="1500" noProof="1">
                <a:latin typeface="+mn-lt"/>
                <a:ea typeface="+mn-ea"/>
                <a:cs typeface="+mn-cs"/>
              </a:rPr>
              <a:t>dall’effettuazione delle operazioni (effettuazione intesa ai sensi dell’art. 6 del D.P.R. 633/72). </a:t>
            </a:r>
            <a:endParaRPr lang="it-IT" sz="1500" noProof="1"/>
          </a:p>
          <a:p>
            <a:pPr algn="just" fontAlgn="auto"/>
            <a:r>
              <a:rPr lang="it-IT" sz="1500" noProof="1">
                <a:latin typeface="+mn-lt"/>
                <a:ea typeface="+mn-ea"/>
                <a:cs typeface="+mn-cs"/>
              </a:rPr>
              <a:t>La fattura elettronica si considera emessa quando è </a:t>
            </a:r>
            <a:r>
              <a:rPr lang="it-IT" sz="1500" b="1" noProof="1">
                <a:latin typeface="+mn-lt"/>
                <a:ea typeface="+mn-ea"/>
                <a:cs typeface="+mn-cs"/>
              </a:rPr>
              <a:t>trasmessa</a:t>
            </a:r>
            <a:r>
              <a:rPr lang="it-IT" sz="1500" noProof="1">
                <a:latin typeface="+mn-lt"/>
                <a:ea typeface="+mn-ea"/>
                <a:cs typeface="+mn-cs"/>
              </a:rPr>
              <a:t> utilizzando il sistema di interscambio. Chi si avvale della possibilità di emettere la fattura in una data diversa dalla data di effettuazione dell’operazione ne deve dare evidenza nel documento stesso: viene aggiunto come dato da indicare in fattura la “</a:t>
            </a:r>
            <a:r>
              <a:rPr lang="it-IT" sz="1500" i="1" noProof="1">
                <a:latin typeface="+mn-lt"/>
                <a:ea typeface="+mn-ea"/>
                <a:cs typeface="+mn-cs"/>
              </a:rPr>
              <a:t>data in cui è effettuata la cessione di beni o la prestazione di servizi ovvero data in cui è corrisposto in tutto o in parte il corrispettivo, sempreché tale data sia diversa dalla data di emissione della fattura</a:t>
            </a:r>
            <a:r>
              <a:rPr lang="it-IT" sz="1500" noProof="1">
                <a:latin typeface="+mn-lt"/>
                <a:ea typeface="+mn-ea"/>
                <a:cs typeface="+mn-cs"/>
              </a:rPr>
              <a:t>”. </a:t>
            </a:r>
            <a:endParaRPr lang="it-IT" sz="1500" strike="sngStrike" noProof="1"/>
          </a:p>
        </p:txBody>
      </p:sp>
      <p:sp>
        <p:nvSpPr>
          <p:cNvPr id="65540" name="CasellaDiTesto 6"/>
          <p:cNvSpPr txBox="1">
            <a:spLocks noChangeArrowheads="1"/>
          </p:cNvSpPr>
          <p:nvPr/>
        </p:nvSpPr>
        <p:spPr bwMode="auto">
          <a:xfrm>
            <a:off x="319088" y="4479925"/>
            <a:ext cx="8437562" cy="1477963"/>
          </a:xfrm>
          <a:prstGeom prst="rect">
            <a:avLst/>
          </a:prstGeom>
          <a:noFill/>
          <a:ln>
            <a:noFill/>
          </a:ln>
        </p:spPr>
        <p:txBody>
          <a:bodyPr>
            <a:spAutoFit/>
          </a:bodyPr>
          <a:lstStyle>
            <a:lvl1pPr>
              <a:defRPr>
                <a:solidFill>
                  <a:schemeClr val="tx1"/>
                </a:solidFill>
                <a:latin typeface="Arial" panose="020B0604020202020204" pitchFamily="34" charset="0"/>
                <a:ea typeface="DejaVu Sans" panose="020B0603030804020204"/>
                <a:cs typeface="DejaVu Sans" panose="020B0603030804020204"/>
              </a:defRPr>
            </a:lvl1pPr>
            <a:lvl2pPr marL="742950" indent="-285750">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r>
              <a:rPr lang="it-IT" altLang="en-US" sz="1500" b="1" dirty="0"/>
              <a:t>Conservazione</a:t>
            </a:r>
          </a:p>
          <a:p>
            <a:pPr algn="just"/>
            <a:r>
              <a:rPr lang="it-IT" altLang="en-US" sz="1500" dirty="0"/>
              <a:t>Le fatture elettroniche posso essere conservate in modalità elettronica secondo il D.M. del 17 giugno 2014:</a:t>
            </a:r>
          </a:p>
          <a:p>
            <a:pPr lvl="1" algn="just">
              <a:buFont typeface="Wingdings" panose="05000000000000000000" pitchFamily="2" charset="2"/>
              <a:buChar char="ü"/>
            </a:pPr>
            <a:r>
              <a:rPr lang="it-IT" altLang="en-US" sz="1500" dirty="0"/>
              <a:t>direttamente dal soggetto passivo in modalità sostitutiva;</a:t>
            </a:r>
          </a:p>
          <a:p>
            <a:pPr lvl="1" algn="just">
              <a:buFont typeface="Wingdings" panose="05000000000000000000" pitchFamily="2" charset="2"/>
              <a:buChar char="ü"/>
            </a:pPr>
            <a:r>
              <a:rPr lang="it-IT" altLang="en-US" sz="1500" dirty="0"/>
              <a:t>attraverso il sistema di interscambio (previo accordo di servizio con l’Agenzia delle Entrate), utilizzando il servizio reso gratuitamente disponibile dall’Agenzia delle Entrate.</a:t>
            </a:r>
          </a:p>
        </p:txBody>
      </p:sp>
      <p:sp>
        <p:nvSpPr>
          <p:cNvPr id="2" name="Rettangolo con angoli arrotondati 1">
            <a:extLst>
              <a:ext uri="{FF2B5EF4-FFF2-40B4-BE49-F238E27FC236}">
                <a16:creationId xmlns:a16="http://schemas.microsoft.com/office/drawing/2014/main" id="{E1C7B46F-C981-F2A5-0F5A-6ADEB73B2649}"/>
              </a:ext>
            </a:extLst>
          </p:cNvPr>
          <p:cNvSpPr/>
          <p:nvPr/>
        </p:nvSpPr>
        <p:spPr>
          <a:xfrm>
            <a:off x="3565525" y="3553459"/>
            <a:ext cx="5429250" cy="1066800"/>
          </a:xfrm>
          <a:prstGeom prst="roundRect">
            <a:avLst/>
          </a:prstGeom>
        </p:spPr>
        <p:style>
          <a:lnRef idx="1">
            <a:schemeClr val="accent6"/>
          </a:lnRef>
          <a:fillRef idx="3">
            <a:schemeClr val="accent6"/>
          </a:fillRef>
          <a:effectRef idx="2">
            <a:schemeClr val="accent6"/>
          </a:effectRef>
          <a:fontRef idx="minor">
            <a:schemeClr val="lt1"/>
          </a:fontRef>
        </p:style>
        <p:txBody>
          <a:bodyPr rtlCol="0" anchor="ctr"/>
          <a:lstStyle/>
          <a:p>
            <a:pPr algn="ctr"/>
            <a:r>
              <a:rPr lang="it-IT" sz="1100" dirty="0">
                <a:solidFill>
                  <a:schemeClr val="bg1"/>
                </a:solidFill>
              </a:rPr>
              <a:t>È di capitale importanza distinguere la '</a:t>
            </a:r>
            <a:r>
              <a:rPr lang="it-IT" sz="1100" b="1" dirty="0">
                <a:solidFill>
                  <a:schemeClr val="bg1"/>
                </a:solidFill>
              </a:rPr>
              <a:t>data del </a:t>
            </a:r>
            <a:r>
              <a:rPr lang="it-IT" sz="1100" b="1" dirty="0" err="1">
                <a:solidFill>
                  <a:schemeClr val="bg1"/>
                </a:solidFill>
              </a:rPr>
              <a:t>documento</a:t>
            </a:r>
            <a:r>
              <a:rPr lang="it-IT" sz="1100" dirty="0" err="1">
                <a:solidFill>
                  <a:schemeClr val="bg1"/>
                </a:solidFill>
              </a:rPr>
              <a:t>’</a:t>
            </a:r>
            <a:r>
              <a:rPr lang="it-IT" sz="1100" dirty="0">
                <a:solidFill>
                  <a:schemeClr val="bg1"/>
                </a:solidFill>
              </a:rPr>
              <a:t> (trasmissione SDI) dalla '</a:t>
            </a:r>
            <a:r>
              <a:rPr lang="it-IT" sz="1100" b="1" dirty="0">
                <a:solidFill>
                  <a:schemeClr val="bg1"/>
                </a:solidFill>
              </a:rPr>
              <a:t>data dell'operazione</a:t>
            </a:r>
            <a:r>
              <a:rPr lang="it-IT" sz="1100" dirty="0">
                <a:solidFill>
                  <a:schemeClr val="bg1"/>
                </a:solidFill>
              </a:rPr>
              <a:t>’ (liquidazione IVA). Esempio: un servizio completato il 30 maggio 2025, la cui fattura è emessa e trasmessa l'11 giugno 2025, è pienamente regolare; l'IVA relativa confluirà nella liquidazione di maggio 2025 (o del secondo trimestre 2025)</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Fattura elettronica: funzionamento</a:t>
            </a:r>
            <a:endParaRPr lang="it-IT" sz="2800" spc="-1" noProof="1"/>
          </a:p>
        </p:txBody>
      </p:sp>
      <p:sp>
        <p:nvSpPr>
          <p:cNvPr id="67587" name="Rettangolo 1"/>
          <p:cNvSpPr>
            <a:spLocks noChangeArrowheads="1"/>
          </p:cNvSpPr>
          <p:nvPr/>
        </p:nvSpPr>
        <p:spPr bwMode="auto">
          <a:xfrm>
            <a:off x="390525" y="1397000"/>
            <a:ext cx="8504238"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it-IT" altLang="en-US" sz="1500" b="1">
                <a:latin typeface="Tahoma" panose="020B0604030504040204" pitchFamily="34" charset="0"/>
              </a:rPr>
              <a:t>Panoramica</a:t>
            </a:r>
            <a:endParaRPr lang="it-IT" altLang="en-US" sz="1500">
              <a:latin typeface="Tahoma" panose="020B0604030504040204" pitchFamily="34" charset="0"/>
            </a:endParaRPr>
          </a:p>
        </p:txBody>
      </p:sp>
      <p:sp>
        <p:nvSpPr>
          <p:cNvPr id="3" name="Freccia a pentagono 2"/>
          <p:cNvSpPr/>
          <p:nvPr/>
        </p:nvSpPr>
        <p:spPr>
          <a:xfrm>
            <a:off x="301625" y="2324100"/>
            <a:ext cx="1108075" cy="322263"/>
          </a:xfrm>
          <a:prstGeom prst="homePlat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t>Cedente</a:t>
            </a:r>
          </a:p>
        </p:txBody>
      </p:sp>
      <p:sp>
        <p:nvSpPr>
          <p:cNvPr id="6" name="Freccia a pentagono 5"/>
          <p:cNvSpPr/>
          <p:nvPr/>
        </p:nvSpPr>
        <p:spPr>
          <a:xfrm>
            <a:off x="1547813" y="2341563"/>
            <a:ext cx="1109662" cy="323850"/>
          </a:xfrm>
          <a:prstGeom prst="homePlat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t>XML File</a:t>
            </a:r>
          </a:p>
        </p:txBody>
      </p:sp>
      <p:sp>
        <p:nvSpPr>
          <p:cNvPr id="7" name="Freccia a pentagono 6"/>
          <p:cNvSpPr/>
          <p:nvPr/>
        </p:nvSpPr>
        <p:spPr>
          <a:xfrm>
            <a:off x="2790825" y="2341563"/>
            <a:ext cx="996950" cy="323850"/>
          </a:xfrm>
          <a:prstGeom prst="homePlat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t>Trasmissione</a:t>
            </a:r>
          </a:p>
        </p:txBody>
      </p:sp>
      <p:sp>
        <p:nvSpPr>
          <p:cNvPr id="9" name="Freccia a pentagono 8"/>
          <p:cNvSpPr/>
          <p:nvPr/>
        </p:nvSpPr>
        <p:spPr>
          <a:xfrm>
            <a:off x="7835900" y="2339975"/>
            <a:ext cx="1108075" cy="323850"/>
          </a:xfrm>
          <a:prstGeom prst="homePlat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t>Acquirente</a:t>
            </a:r>
          </a:p>
        </p:txBody>
      </p:sp>
      <p:sp>
        <p:nvSpPr>
          <p:cNvPr id="11" name="Freccia a pentagono 10"/>
          <p:cNvSpPr/>
          <p:nvPr/>
        </p:nvSpPr>
        <p:spPr>
          <a:xfrm>
            <a:off x="5397500" y="2341563"/>
            <a:ext cx="1031875" cy="323850"/>
          </a:xfrm>
          <a:prstGeom prst="homePlat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t>Ricezione</a:t>
            </a:r>
          </a:p>
        </p:txBody>
      </p:sp>
      <p:sp>
        <p:nvSpPr>
          <p:cNvPr id="4" name="Cilindro 3"/>
          <p:cNvSpPr/>
          <p:nvPr/>
        </p:nvSpPr>
        <p:spPr>
          <a:xfrm>
            <a:off x="3960813" y="2913063"/>
            <a:ext cx="1243012" cy="1824037"/>
          </a:xfrm>
          <a:prstGeom prst="can">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noProof="1">
                <a:solidFill>
                  <a:schemeClr val="tx1"/>
                </a:solidFill>
              </a:rPr>
              <a:t>SDI</a:t>
            </a:r>
          </a:p>
        </p:txBody>
      </p:sp>
      <p:sp>
        <p:nvSpPr>
          <p:cNvPr id="12" name="Scheda 11"/>
          <p:cNvSpPr/>
          <p:nvPr/>
        </p:nvSpPr>
        <p:spPr>
          <a:xfrm>
            <a:off x="304800" y="2978150"/>
            <a:ext cx="1108075" cy="1751013"/>
          </a:xfrm>
          <a:prstGeom prst="flowChartPunchedCard">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fontAlgn="auto">
              <a:buFont typeface="Wingdings" panose="05000000000000000000" pitchFamily="2" charset="2"/>
              <a:buChar char="§"/>
            </a:pPr>
            <a:r>
              <a:rPr lang="it-IT" sz="800" noProof="1">
                <a:solidFill>
                  <a:schemeClr val="tx1"/>
                </a:solidFill>
              </a:rPr>
              <a:t>Fatture</a:t>
            </a:r>
          </a:p>
          <a:p>
            <a:pPr marL="171450" indent="-171450" fontAlgn="auto">
              <a:buFont typeface="Wingdings" panose="05000000000000000000" pitchFamily="2" charset="2"/>
              <a:buChar char="§"/>
            </a:pPr>
            <a:r>
              <a:rPr lang="it-IT" sz="800" noProof="1">
                <a:solidFill>
                  <a:schemeClr val="tx1"/>
                </a:solidFill>
              </a:rPr>
              <a:t>Fatture di acquisto</a:t>
            </a:r>
          </a:p>
          <a:p>
            <a:pPr marL="171450" indent="-171450" fontAlgn="auto">
              <a:buFont typeface="Wingdings" panose="05000000000000000000" pitchFamily="2" charset="2"/>
              <a:buChar char="§"/>
            </a:pPr>
            <a:r>
              <a:rPr lang="it-IT" sz="800" noProof="1">
                <a:solidFill>
                  <a:schemeClr val="tx1"/>
                </a:solidFill>
              </a:rPr>
              <a:t>Acconti su parcelle</a:t>
            </a:r>
          </a:p>
          <a:p>
            <a:pPr marL="171450" indent="-171450" fontAlgn="auto">
              <a:buFont typeface="Wingdings" panose="05000000000000000000" pitchFamily="2" charset="2"/>
              <a:buChar char="§"/>
            </a:pPr>
            <a:r>
              <a:rPr lang="it-IT" sz="800" noProof="1">
                <a:solidFill>
                  <a:schemeClr val="tx1"/>
                </a:solidFill>
              </a:rPr>
              <a:t>Note di credito</a:t>
            </a:r>
          </a:p>
          <a:p>
            <a:pPr marL="171450" indent="-171450" fontAlgn="auto">
              <a:buFont typeface="Wingdings" panose="05000000000000000000" pitchFamily="2" charset="2"/>
              <a:buChar char="§"/>
            </a:pPr>
            <a:r>
              <a:rPr lang="it-IT" sz="800" noProof="1">
                <a:solidFill>
                  <a:schemeClr val="tx1"/>
                </a:solidFill>
              </a:rPr>
              <a:t>Note di debito</a:t>
            </a:r>
          </a:p>
          <a:p>
            <a:pPr marL="171450" indent="-171450" fontAlgn="auto">
              <a:buFont typeface="Wingdings" panose="05000000000000000000" pitchFamily="2" charset="2"/>
              <a:buChar char="§"/>
            </a:pPr>
            <a:r>
              <a:rPr lang="it-IT" sz="800" noProof="1">
                <a:solidFill>
                  <a:schemeClr val="tx1"/>
                </a:solidFill>
              </a:rPr>
              <a:t>Parcelle</a:t>
            </a:r>
          </a:p>
          <a:p>
            <a:pPr marL="171450" indent="-171450" fontAlgn="auto">
              <a:buFont typeface="Wingdings" panose="05000000000000000000" pitchFamily="2" charset="2"/>
              <a:buChar char="§"/>
            </a:pPr>
            <a:r>
              <a:rPr lang="it-IT" sz="800" noProof="1">
                <a:solidFill>
                  <a:schemeClr val="tx1"/>
                </a:solidFill>
              </a:rPr>
              <a:t>Autofatture</a:t>
            </a:r>
          </a:p>
        </p:txBody>
      </p:sp>
      <p:sp>
        <p:nvSpPr>
          <p:cNvPr id="18" name="Scheda 17"/>
          <p:cNvSpPr/>
          <p:nvPr/>
        </p:nvSpPr>
        <p:spPr>
          <a:xfrm>
            <a:off x="1547813" y="2970213"/>
            <a:ext cx="1109662" cy="1758950"/>
          </a:xfrm>
          <a:prstGeom prst="flowChartPunchedCar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fontAlgn="auto">
              <a:buFont typeface="Wingdings" panose="05000000000000000000" pitchFamily="2" charset="2"/>
              <a:buChar char="§"/>
            </a:pPr>
            <a:r>
              <a:rPr lang="it-IT" sz="800" noProof="1">
                <a:solidFill>
                  <a:schemeClr val="tx1"/>
                </a:solidFill>
              </a:rPr>
              <a:t>Fatture</a:t>
            </a:r>
          </a:p>
          <a:p>
            <a:pPr marL="171450" indent="-171450" fontAlgn="auto">
              <a:buFont typeface="Wingdings" panose="05000000000000000000" pitchFamily="2" charset="2"/>
              <a:buChar char="§"/>
            </a:pPr>
            <a:r>
              <a:rPr lang="it-IT" sz="800" noProof="1">
                <a:solidFill>
                  <a:schemeClr val="tx1"/>
                </a:solidFill>
              </a:rPr>
              <a:t>Fatture di acquisto</a:t>
            </a:r>
          </a:p>
          <a:p>
            <a:pPr marL="171450" indent="-171450" fontAlgn="auto">
              <a:buFont typeface="Wingdings" panose="05000000000000000000" pitchFamily="2" charset="2"/>
              <a:buChar char="§"/>
            </a:pPr>
            <a:r>
              <a:rPr lang="it-IT" sz="800" noProof="1">
                <a:solidFill>
                  <a:schemeClr val="tx1"/>
                </a:solidFill>
              </a:rPr>
              <a:t>Acconti su parcelle</a:t>
            </a:r>
          </a:p>
          <a:p>
            <a:pPr marL="171450" indent="-171450" fontAlgn="auto">
              <a:buFont typeface="Wingdings" panose="05000000000000000000" pitchFamily="2" charset="2"/>
              <a:buChar char="§"/>
            </a:pPr>
            <a:r>
              <a:rPr lang="it-IT" sz="800" noProof="1">
                <a:solidFill>
                  <a:schemeClr val="tx1"/>
                </a:solidFill>
              </a:rPr>
              <a:t>Note di credito </a:t>
            </a:r>
          </a:p>
          <a:p>
            <a:pPr marL="171450" indent="-171450" fontAlgn="auto">
              <a:buFont typeface="Wingdings" panose="05000000000000000000" pitchFamily="2" charset="2"/>
              <a:buChar char="§"/>
            </a:pPr>
            <a:r>
              <a:rPr lang="it-IT" sz="800" noProof="1">
                <a:solidFill>
                  <a:schemeClr val="tx1"/>
                </a:solidFill>
              </a:rPr>
              <a:t>Note di debito </a:t>
            </a:r>
          </a:p>
          <a:p>
            <a:pPr marL="171450" indent="-171450" fontAlgn="auto">
              <a:buFont typeface="Wingdings" panose="05000000000000000000" pitchFamily="2" charset="2"/>
              <a:buChar char="§"/>
            </a:pPr>
            <a:r>
              <a:rPr lang="it-IT" sz="800" noProof="1">
                <a:solidFill>
                  <a:schemeClr val="tx1"/>
                </a:solidFill>
              </a:rPr>
              <a:t>Autofatture </a:t>
            </a:r>
          </a:p>
          <a:p>
            <a:pPr algn="ctr" fontAlgn="auto"/>
            <a:endParaRPr lang="it-IT" noProof="1">
              <a:solidFill>
                <a:schemeClr val="tx1"/>
              </a:solidFill>
            </a:endParaRPr>
          </a:p>
        </p:txBody>
      </p:sp>
      <p:sp>
        <p:nvSpPr>
          <p:cNvPr id="21" name="Scheda 20"/>
          <p:cNvSpPr/>
          <p:nvPr/>
        </p:nvSpPr>
        <p:spPr>
          <a:xfrm>
            <a:off x="1570038" y="4927600"/>
            <a:ext cx="1087437" cy="566738"/>
          </a:xfrm>
          <a:prstGeom prst="flowChartPunchedCar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Archiviazione </a:t>
            </a:r>
            <a:r>
              <a:rPr lang="en-US" altLang="it-IT" sz="900" noProof="1">
                <a:solidFill>
                  <a:schemeClr val="tx1"/>
                </a:solidFill>
              </a:rPr>
              <a:t>e conservazione</a:t>
            </a:r>
          </a:p>
        </p:txBody>
      </p:sp>
      <p:sp>
        <p:nvSpPr>
          <p:cNvPr id="22" name="Scheda 21"/>
          <p:cNvSpPr/>
          <p:nvPr/>
        </p:nvSpPr>
        <p:spPr>
          <a:xfrm>
            <a:off x="6604000" y="4922838"/>
            <a:ext cx="1108075" cy="571500"/>
          </a:xfrm>
          <a:prstGeom prst="flowChartPunchedCard">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Archiviazione </a:t>
            </a:r>
            <a:r>
              <a:rPr lang="en-US" altLang="it-IT" sz="900" noProof="1">
                <a:solidFill>
                  <a:schemeClr val="tx1"/>
                </a:solidFill>
              </a:rPr>
              <a:t>e conservazione</a:t>
            </a:r>
          </a:p>
        </p:txBody>
      </p:sp>
      <p:sp>
        <p:nvSpPr>
          <p:cNvPr id="23" name="Freccia a pentagono 22"/>
          <p:cNvSpPr/>
          <p:nvPr/>
        </p:nvSpPr>
        <p:spPr>
          <a:xfrm>
            <a:off x="2790825" y="2970213"/>
            <a:ext cx="996950" cy="322262"/>
          </a:xfrm>
          <a:prstGeom prst="homePlat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Web</a:t>
            </a:r>
          </a:p>
        </p:txBody>
      </p:sp>
      <p:sp>
        <p:nvSpPr>
          <p:cNvPr id="24" name="Freccia a pentagono 23"/>
          <p:cNvSpPr/>
          <p:nvPr/>
        </p:nvSpPr>
        <p:spPr>
          <a:xfrm>
            <a:off x="2790825" y="3436938"/>
            <a:ext cx="996950" cy="322262"/>
          </a:xfrm>
          <a:prstGeom prst="homePlat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PEC</a:t>
            </a:r>
          </a:p>
        </p:txBody>
      </p:sp>
      <p:sp>
        <p:nvSpPr>
          <p:cNvPr id="25" name="Freccia a pentagono 24"/>
          <p:cNvSpPr/>
          <p:nvPr/>
        </p:nvSpPr>
        <p:spPr>
          <a:xfrm>
            <a:off x="2790825" y="3921125"/>
            <a:ext cx="996950" cy="323850"/>
          </a:xfrm>
          <a:prstGeom prst="homePlat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SFTP</a:t>
            </a:r>
          </a:p>
        </p:txBody>
      </p:sp>
      <p:sp>
        <p:nvSpPr>
          <p:cNvPr id="26" name="Freccia a pentagono 25"/>
          <p:cNvSpPr/>
          <p:nvPr/>
        </p:nvSpPr>
        <p:spPr>
          <a:xfrm>
            <a:off x="2790825" y="4405313"/>
            <a:ext cx="996950" cy="323850"/>
          </a:xfrm>
          <a:prstGeom prst="homePlat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Web Services</a:t>
            </a:r>
          </a:p>
        </p:txBody>
      </p:sp>
      <p:sp>
        <p:nvSpPr>
          <p:cNvPr id="27" name="Freccia a pentagono 26"/>
          <p:cNvSpPr/>
          <p:nvPr/>
        </p:nvSpPr>
        <p:spPr>
          <a:xfrm>
            <a:off x="6604000" y="2341563"/>
            <a:ext cx="1108075" cy="323850"/>
          </a:xfrm>
          <a:prstGeom prst="homePlate">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t>XML File</a:t>
            </a:r>
          </a:p>
        </p:txBody>
      </p:sp>
      <p:sp>
        <p:nvSpPr>
          <p:cNvPr id="28" name="Freccia a pentagono 27"/>
          <p:cNvSpPr/>
          <p:nvPr/>
        </p:nvSpPr>
        <p:spPr>
          <a:xfrm>
            <a:off x="5397500" y="2970213"/>
            <a:ext cx="1031875" cy="322262"/>
          </a:xfrm>
          <a:prstGeom prst="homePlat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Web</a:t>
            </a:r>
          </a:p>
        </p:txBody>
      </p:sp>
      <p:sp>
        <p:nvSpPr>
          <p:cNvPr id="29" name="Freccia a pentagono 28"/>
          <p:cNvSpPr/>
          <p:nvPr/>
        </p:nvSpPr>
        <p:spPr>
          <a:xfrm>
            <a:off x="5397500" y="3436938"/>
            <a:ext cx="1031875" cy="322262"/>
          </a:xfrm>
          <a:prstGeom prst="homePlat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PEC</a:t>
            </a:r>
          </a:p>
        </p:txBody>
      </p:sp>
      <p:sp>
        <p:nvSpPr>
          <p:cNvPr id="30" name="Freccia a pentagono 29"/>
          <p:cNvSpPr/>
          <p:nvPr/>
        </p:nvSpPr>
        <p:spPr>
          <a:xfrm>
            <a:off x="5397500" y="3921125"/>
            <a:ext cx="1031875" cy="323850"/>
          </a:xfrm>
          <a:prstGeom prst="homePlat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SFTP</a:t>
            </a:r>
          </a:p>
        </p:txBody>
      </p:sp>
      <p:sp>
        <p:nvSpPr>
          <p:cNvPr id="31" name="Freccia a pentagono 30"/>
          <p:cNvSpPr/>
          <p:nvPr/>
        </p:nvSpPr>
        <p:spPr>
          <a:xfrm>
            <a:off x="5397500" y="4405313"/>
            <a:ext cx="1031875" cy="323850"/>
          </a:xfrm>
          <a:prstGeom prst="homePlat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lang="it-IT" sz="900" noProof="1">
                <a:solidFill>
                  <a:schemeClr val="tx1"/>
                </a:solidFill>
              </a:rPr>
              <a:t>Web Services</a:t>
            </a:r>
          </a:p>
        </p:txBody>
      </p:sp>
      <p:sp>
        <p:nvSpPr>
          <p:cNvPr id="32" name="Scheda 31"/>
          <p:cNvSpPr/>
          <p:nvPr/>
        </p:nvSpPr>
        <p:spPr>
          <a:xfrm>
            <a:off x="6604000" y="2973388"/>
            <a:ext cx="1108075" cy="1755775"/>
          </a:xfrm>
          <a:prstGeom prst="flowChartPunchedCard">
            <a:avLst/>
          </a:prstGeom>
          <a:noFill/>
          <a:ln>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marL="171450" indent="-171450">
              <a:defRPr>
                <a:solidFill>
                  <a:schemeClr val="tx1"/>
                </a:solidFill>
                <a:latin typeface="Arial" panose="020B0604020202020204" pitchFamily="34" charset="0"/>
                <a:ea typeface="DejaVu Sans" panose="020B0603030804020204"/>
                <a:cs typeface="DejaVu Sans" panose="020B0603030804020204"/>
              </a:defRPr>
            </a:lvl1pPr>
            <a:lvl2pPr>
              <a:defRPr>
                <a:solidFill>
                  <a:schemeClr val="tx1"/>
                </a:solidFill>
                <a:latin typeface="Arial" panose="020B0604020202020204" pitchFamily="34" charset="0"/>
                <a:ea typeface="DejaVu Sans" panose="020B0603030804020204"/>
                <a:cs typeface="DejaVu Sans" panose="020B0603030804020204"/>
              </a:defRPr>
            </a:lvl2pPr>
            <a:lvl3pPr>
              <a:defRPr>
                <a:solidFill>
                  <a:schemeClr val="tx1"/>
                </a:solidFill>
                <a:latin typeface="Arial" panose="020B0604020202020204" pitchFamily="34" charset="0"/>
                <a:ea typeface="DejaVu Sans" panose="020B0603030804020204"/>
                <a:cs typeface="DejaVu Sans" panose="020B0603030804020204"/>
              </a:defRPr>
            </a:lvl3pPr>
            <a:lvl4pPr>
              <a:defRPr>
                <a:solidFill>
                  <a:schemeClr val="tx1"/>
                </a:solidFill>
                <a:latin typeface="Arial" panose="020B0604020202020204" pitchFamily="34" charset="0"/>
                <a:ea typeface="DejaVu Sans" panose="020B0603030804020204"/>
                <a:cs typeface="DejaVu Sans" panose="020B0603030804020204"/>
              </a:defRPr>
            </a:lvl4pPr>
            <a:lvl5pPr>
              <a:defRPr>
                <a:solidFill>
                  <a:schemeClr val="tx1"/>
                </a:solidFill>
                <a:latin typeface="Arial" panose="020B0604020202020204" pitchFamily="34" charset="0"/>
                <a:ea typeface="DejaVu Sans" panose="020B0603030804020204"/>
                <a:cs typeface="DejaVu Sans" panose="020B0603030804020204"/>
              </a:defRPr>
            </a:lvl5pPr>
            <a:lvl6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6pPr>
            <a:lvl7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7pPr>
            <a:lvl8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8pPr>
            <a:lvl9pPr fontAlgn="base">
              <a:spcBef>
                <a:spcPct val="0"/>
              </a:spcBef>
              <a:spcAft>
                <a:spcPct val="0"/>
              </a:spcAft>
              <a:defRPr>
                <a:solidFill>
                  <a:schemeClr val="tx1"/>
                </a:solidFill>
                <a:latin typeface="Arial" panose="020B0604020202020204" pitchFamily="34" charset="0"/>
                <a:ea typeface="DejaVu Sans" panose="020B0603030804020204"/>
                <a:cs typeface="DejaVu Sans" panose="020B0603030804020204"/>
              </a:defRPr>
            </a:lvl9pPr>
          </a:lstStyle>
          <a:p>
            <a:pPr>
              <a:buFont typeface="Wingdings" panose="05000000000000000000" pitchFamily="2" charset="2"/>
              <a:buChar char="§"/>
            </a:pPr>
            <a:r>
              <a:rPr lang="it-IT" altLang="en-US" sz="800"/>
              <a:t>Fatture</a:t>
            </a:r>
          </a:p>
          <a:p>
            <a:pPr>
              <a:buFont typeface="Wingdings" panose="05000000000000000000" pitchFamily="2" charset="2"/>
              <a:buChar char="§"/>
            </a:pPr>
            <a:r>
              <a:rPr lang="it-IT" altLang="en-US" sz="800"/>
              <a:t>Fatture di acquisto</a:t>
            </a:r>
          </a:p>
          <a:p>
            <a:pPr>
              <a:buFont typeface="Wingdings" panose="05000000000000000000" pitchFamily="2" charset="2"/>
              <a:buChar char="§"/>
            </a:pPr>
            <a:r>
              <a:rPr lang="it-IT" altLang="en-US" sz="800"/>
              <a:t>Acconti su parcelle</a:t>
            </a:r>
          </a:p>
          <a:p>
            <a:pPr>
              <a:buFont typeface="Wingdings" panose="05000000000000000000" pitchFamily="2" charset="2"/>
              <a:buChar char="§"/>
            </a:pPr>
            <a:r>
              <a:rPr lang="it-IT" altLang="en-US" sz="800"/>
              <a:t>Note di credito </a:t>
            </a:r>
          </a:p>
          <a:p>
            <a:pPr>
              <a:buFont typeface="Wingdings" panose="05000000000000000000" pitchFamily="2" charset="2"/>
              <a:buChar char="§"/>
            </a:pPr>
            <a:r>
              <a:rPr lang="it-IT" altLang="en-US" sz="800"/>
              <a:t>Note di debito </a:t>
            </a:r>
          </a:p>
          <a:p>
            <a:pPr>
              <a:buFont typeface="Wingdings" panose="05000000000000000000" pitchFamily="2" charset="2"/>
              <a:buChar char="§"/>
            </a:pPr>
            <a:r>
              <a:rPr lang="it-IT" altLang="en-US" sz="800"/>
              <a:t>Autofatture </a:t>
            </a:r>
          </a:p>
          <a:p>
            <a:pPr algn="ctr"/>
            <a:endParaRPr lang="it-IT" altLang="en-US"/>
          </a:p>
        </p:txBody>
      </p:sp>
      <p:sp>
        <p:nvSpPr>
          <p:cNvPr id="33" name="Scheda 32"/>
          <p:cNvSpPr/>
          <p:nvPr/>
        </p:nvSpPr>
        <p:spPr>
          <a:xfrm>
            <a:off x="7835900" y="2970213"/>
            <a:ext cx="1108075" cy="1755775"/>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fontAlgn="auto">
              <a:buFont typeface="Wingdings" panose="05000000000000000000" pitchFamily="2" charset="2"/>
              <a:buChar char="§"/>
            </a:pPr>
            <a:r>
              <a:rPr lang="it-IT" sz="800" noProof="1">
                <a:solidFill>
                  <a:schemeClr val="tx1"/>
                </a:solidFill>
              </a:rPr>
              <a:t>Fatture</a:t>
            </a:r>
          </a:p>
          <a:p>
            <a:pPr marL="171450" indent="-171450" fontAlgn="auto">
              <a:buFont typeface="Wingdings" panose="05000000000000000000" pitchFamily="2" charset="2"/>
              <a:buChar char="§"/>
            </a:pPr>
            <a:r>
              <a:rPr lang="it-IT" sz="800" noProof="1">
                <a:solidFill>
                  <a:schemeClr val="tx1"/>
                </a:solidFill>
              </a:rPr>
              <a:t>Fatture di acquisto</a:t>
            </a:r>
          </a:p>
          <a:p>
            <a:pPr marL="171450" indent="-171450" fontAlgn="auto">
              <a:buFont typeface="Wingdings" panose="05000000000000000000" pitchFamily="2" charset="2"/>
              <a:buChar char="§"/>
            </a:pPr>
            <a:r>
              <a:rPr lang="it-IT" sz="800" noProof="1">
                <a:solidFill>
                  <a:schemeClr val="tx1"/>
                </a:solidFill>
              </a:rPr>
              <a:t>Acconti su parcelle</a:t>
            </a:r>
          </a:p>
          <a:p>
            <a:pPr marL="171450" indent="-171450" fontAlgn="auto">
              <a:buFont typeface="Wingdings" panose="05000000000000000000" pitchFamily="2" charset="2"/>
              <a:buChar char="§"/>
            </a:pPr>
            <a:r>
              <a:rPr lang="it-IT" sz="800" noProof="1">
                <a:solidFill>
                  <a:schemeClr val="tx1"/>
                </a:solidFill>
              </a:rPr>
              <a:t>Note di credito</a:t>
            </a:r>
          </a:p>
          <a:p>
            <a:pPr marL="171450" indent="-171450" fontAlgn="auto">
              <a:buFont typeface="Wingdings" panose="05000000000000000000" pitchFamily="2" charset="2"/>
              <a:buChar char="§"/>
            </a:pPr>
            <a:r>
              <a:rPr lang="it-IT" sz="800" noProof="1">
                <a:solidFill>
                  <a:schemeClr val="tx1"/>
                </a:solidFill>
              </a:rPr>
              <a:t>Note di debito</a:t>
            </a:r>
          </a:p>
          <a:p>
            <a:pPr marL="171450" indent="-171450" fontAlgn="auto">
              <a:buFont typeface="Wingdings" panose="05000000000000000000" pitchFamily="2" charset="2"/>
              <a:buChar char="§"/>
            </a:pPr>
            <a:r>
              <a:rPr lang="it-IT" sz="800" noProof="1">
                <a:solidFill>
                  <a:schemeClr val="tx1"/>
                </a:solidFill>
              </a:rPr>
              <a:t>Parcelle</a:t>
            </a:r>
          </a:p>
          <a:p>
            <a:pPr marL="171450" indent="-171450" fontAlgn="auto">
              <a:buFont typeface="Wingdings" panose="05000000000000000000" pitchFamily="2" charset="2"/>
              <a:buChar char="§"/>
            </a:pPr>
            <a:r>
              <a:rPr lang="it-IT" sz="800" noProof="1">
                <a:solidFill>
                  <a:schemeClr val="tx1"/>
                </a:solidFill>
              </a:rPr>
              <a:t>Autofatture</a:t>
            </a:r>
          </a:p>
        </p:txBody>
      </p:sp>
      <p:pic>
        <p:nvPicPr>
          <p:cNvPr id="67609" name="Immagine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24338" y="4244975"/>
            <a:ext cx="908050" cy="25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CustomShape 1"/>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34" name="CustomShape 2"/>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35" name="CustomShape 3"/>
          <p:cNvSpPr/>
          <p:nvPr/>
        </p:nvSpPr>
        <p:spPr>
          <a:xfrm>
            <a:off x="533400" y="968375"/>
            <a:ext cx="8151813" cy="4556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36" name="CustomShape 4"/>
          <p:cNvSpPr/>
          <p:nvPr/>
        </p:nvSpPr>
        <p:spPr>
          <a:xfrm>
            <a:off x="228600" y="1268413"/>
            <a:ext cx="8609013" cy="5216525"/>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37" name="CustomShape 5"/>
          <p:cNvSpPr/>
          <p:nvPr/>
        </p:nvSpPr>
        <p:spPr>
          <a:xfrm>
            <a:off x="3106738" y="2995613"/>
            <a:ext cx="3284537" cy="76041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fontAlgn="auto"/>
            <a:r>
              <a:rPr lang="it-IT" sz="4400" b="1" spc="-1" noProof="1">
                <a:solidFill>
                  <a:srgbClr val="336699"/>
                </a:solidFill>
                <a:latin typeface="Calibri" panose="020F0502020204030204"/>
              </a:rPr>
              <a:t>Registrazione</a:t>
            </a:r>
            <a:endParaRPr lang="it-IT" sz="4400" spc="-1" noProof="1"/>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39"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delle fatture emesse</a:t>
            </a:r>
            <a:endParaRPr lang="it-IT" sz="2800" spc="-1" noProof="1"/>
          </a:p>
        </p:txBody>
      </p:sp>
      <p:sp>
        <p:nvSpPr>
          <p:cNvPr id="240" name="CustomShape 3"/>
          <p:cNvSpPr/>
          <p:nvPr/>
        </p:nvSpPr>
        <p:spPr>
          <a:xfrm>
            <a:off x="2022475" y="1508125"/>
            <a:ext cx="4991100" cy="33496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REGISTRAZIONE DELLE FATTURE EMESSE</a:t>
            </a:r>
            <a:endParaRPr lang="it-IT" spc="-1" noProof="1"/>
          </a:p>
        </p:txBody>
      </p:sp>
      <p:sp>
        <p:nvSpPr>
          <p:cNvPr id="241" name="CustomShape 4"/>
          <p:cNvSpPr/>
          <p:nvPr/>
        </p:nvSpPr>
        <p:spPr>
          <a:xfrm>
            <a:off x="3149600" y="1963738"/>
            <a:ext cx="1319213" cy="36353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b="1" spc="-1" noProof="1">
                <a:solidFill>
                  <a:srgbClr val="000000"/>
                </a:solidFill>
              </a:rPr>
              <a:t>FATTURE</a:t>
            </a:r>
            <a:endParaRPr lang="it-IT" spc="-1" noProof="1"/>
          </a:p>
        </p:txBody>
      </p:sp>
      <p:sp>
        <p:nvSpPr>
          <p:cNvPr id="242" name="CustomShape 5"/>
          <p:cNvSpPr/>
          <p:nvPr/>
        </p:nvSpPr>
        <p:spPr>
          <a:xfrm rot="5400000">
            <a:off x="2555081" y="1562894"/>
            <a:ext cx="484188" cy="2025650"/>
          </a:xfrm>
          <a:prstGeom prst="bentConnector3">
            <a:avLst>
              <a:gd name="adj1" fmla="val 50000"/>
            </a:avLst>
          </a:pr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43" name="CustomShape 6"/>
          <p:cNvSpPr/>
          <p:nvPr/>
        </p:nvSpPr>
        <p:spPr>
          <a:xfrm rot="16200000" flipH="1">
            <a:off x="4547394" y="1596231"/>
            <a:ext cx="484188" cy="1958975"/>
          </a:xfrm>
          <a:prstGeom prst="bentConnector3">
            <a:avLst>
              <a:gd name="adj1" fmla="val 50000"/>
            </a:avLst>
          </a:pr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44" name="CustomShape 7"/>
          <p:cNvSpPr/>
          <p:nvPr/>
        </p:nvSpPr>
        <p:spPr>
          <a:xfrm>
            <a:off x="1016000" y="2819400"/>
            <a:ext cx="1530350" cy="3635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rPr>
              <a:t>IMMEDIATE</a:t>
            </a:r>
            <a:endParaRPr lang="it-IT" spc="-1" noProof="1"/>
          </a:p>
        </p:txBody>
      </p:sp>
      <p:sp>
        <p:nvSpPr>
          <p:cNvPr id="245" name="CustomShape 8"/>
          <p:cNvSpPr/>
          <p:nvPr/>
        </p:nvSpPr>
        <p:spPr>
          <a:xfrm>
            <a:off x="5003800" y="2819400"/>
            <a:ext cx="1530350" cy="36353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rPr>
              <a:t>DIFFERITE</a:t>
            </a:r>
            <a:endParaRPr lang="it-IT" spc="-1" noProof="1"/>
          </a:p>
        </p:txBody>
      </p:sp>
      <p:sp>
        <p:nvSpPr>
          <p:cNvPr id="246" name="CustomShape 9"/>
          <p:cNvSpPr/>
          <p:nvPr/>
        </p:nvSpPr>
        <p:spPr>
          <a:xfrm>
            <a:off x="1782763" y="3189288"/>
            <a:ext cx="1587" cy="449262"/>
          </a:xfrm>
          <a:custGeom>
            <a:avLst/>
            <a:gdLst/>
            <a:ahLst/>
            <a:cxnLst/>
            <a:rect l="l" t="t" r="r" b="b"/>
            <a:pathLst>
              <a:path w="21600" h="21600">
                <a:moveTo>
                  <a:pt x="0" y="0"/>
                </a:moveTo>
                <a:lnTo>
                  <a:pt x="21600" y="21600"/>
                </a:lnTo>
              </a:path>
            </a:pathLst>
          </a:cu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47" name="CustomShape 10"/>
          <p:cNvSpPr/>
          <p:nvPr/>
        </p:nvSpPr>
        <p:spPr>
          <a:xfrm>
            <a:off x="5770563" y="3189288"/>
            <a:ext cx="1587" cy="525462"/>
          </a:xfrm>
          <a:custGeom>
            <a:avLst/>
            <a:gdLst/>
            <a:ahLst/>
            <a:cxnLst/>
            <a:rect l="l" t="t" r="r" b="b"/>
            <a:pathLst>
              <a:path w="21600" h="21600">
                <a:moveTo>
                  <a:pt x="0" y="0"/>
                </a:moveTo>
                <a:lnTo>
                  <a:pt x="21600" y="21600"/>
                </a:lnTo>
              </a:path>
            </a:pathLst>
          </a:cu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48" name="CustomShape 11"/>
          <p:cNvSpPr/>
          <p:nvPr/>
        </p:nvSpPr>
        <p:spPr>
          <a:xfrm>
            <a:off x="601663" y="3829050"/>
            <a:ext cx="2614612" cy="1054100"/>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just" fontAlgn="auto"/>
            <a:r>
              <a:rPr lang="it-IT" sz="1100" spc="-1" noProof="1">
                <a:solidFill>
                  <a:srgbClr val="000000"/>
                </a:solidFill>
                <a:latin typeface="Tahoma"/>
                <a:ea typeface="Tahoma"/>
              </a:rPr>
              <a:t>Quelle emesse entro la mezzanotte del giorno in cui è stata effettuata l’operazione devono essere registrate entro 15 giorni dalla data di emissione (data di consegna o spedizione dei beni).</a:t>
            </a:r>
            <a:endParaRPr lang="it-IT" sz="1100" spc="-1" noProof="1"/>
          </a:p>
        </p:txBody>
      </p:sp>
      <p:sp>
        <p:nvSpPr>
          <p:cNvPr id="249" name="CustomShape 12"/>
          <p:cNvSpPr/>
          <p:nvPr/>
        </p:nvSpPr>
        <p:spPr>
          <a:xfrm>
            <a:off x="4241800" y="3810000"/>
            <a:ext cx="2716213" cy="1055688"/>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just" fontAlgn="auto"/>
            <a:r>
              <a:rPr lang="it-IT" sz="1100" spc="-1" noProof="1">
                <a:solidFill>
                  <a:srgbClr val="000000"/>
                </a:solidFill>
                <a:latin typeface="Tahoma"/>
                <a:ea typeface="Tahoma"/>
              </a:rPr>
              <a:t>Le fatture di cui all’art. 21, comma 4, terzo periodo, lettere a), c) e d) possono essere emesse entro il 15 del mese successivo alla consegna purché contengano il riferimento al mese di consegna o spedizione dei beni. </a:t>
            </a:r>
            <a:endParaRPr lang="it-IT" sz="1100" spc="-1" noProof="1"/>
          </a:p>
        </p:txBody>
      </p:sp>
      <p:sp>
        <p:nvSpPr>
          <p:cNvPr id="250" name="CustomShape 13"/>
          <p:cNvSpPr/>
          <p:nvPr/>
        </p:nvSpPr>
        <p:spPr>
          <a:xfrm rot="5400000">
            <a:off x="4329113" y="4351338"/>
            <a:ext cx="754062" cy="1789112"/>
          </a:xfrm>
          <a:prstGeom prst="bentConnector3">
            <a:avLst>
              <a:gd name="adj1" fmla="val 50000"/>
            </a:avLst>
          </a:pr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51" name="CustomShape 14"/>
          <p:cNvSpPr/>
          <p:nvPr/>
        </p:nvSpPr>
        <p:spPr>
          <a:xfrm rot="16200000" flipH="1">
            <a:off x="2489200" y="4303713"/>
            <a:ext cx="738187" cy="1900238"/>
          </a:xfrm>
          <a:prstGeom prst="bentConnector3">
            <a:avLst>
              <a:gd name="adj1" fmla="val 50000"/>
            </a:avLst>
          </a:prstGeom>
          <a:noFill/>
          <a:ln>
            <a:solidFill>
              <a:srgbClr val="4A7EBB"/>
            </a:solidFill>
            <a:round/>
            <a:tailEnd type="triangle" w="med" len="med"/>
          </a:ln>
        </p:spPr>
        <p:style>
          <a:lnRef idx="1">
            <a:schemeClr val="accent1"/>
          </a:lnRef>
          <a:fillRef idx="0">
            <a:schemeClr val="accent1"/>
          </a:fillRef>
          <a:effectRef idx="0">
            <a:schemeClr val="accent1"/>
          </a:effectRef>
          <a:fontRef idx="minor"/>
        </p:style>
        <p:txBody>
          <a:bodyPr/>
          <a:lstStyle/>
          <a:p>
            <a:endParaRPr lang="it-IT"/>
          </a:p>
        </p:txBody>
      </p:sp>
      <p:sp>
        <p:nvSpPr>
          <p:cNvPr id="252" name="CustomShape 15"/>
          <p:cNvSpPr/>
          <p:nvPr/>
        </p:nvSpPr>
        <p:spPr>
          <a:xfrm>
            <a:off x="7035800" y="2311400"/>
            <a:ext cx="217488" cy="4044950"/>
          </a:xfrm>
          <a:prstGeom prst="leftBrace">
            <a:avLst>
              <a:gd name="adj1" fmla="val 8333"/>
              <a:gd name="adj2" fmla="val 50000"/>
            </a:avLst>
          </a:prstGeom>
          <a:noFill/>
          <a:ln>
            <a:solidFill>
              <a:srgbClr val="4A7EBB"/>
            </a:solidFill>
            <a:round/>
          </a:ln>
        </p:spPr>
        <p:style>
          <a:lnRef idx="1">
            <a:schemeClr val="accent1"/>
          </a:lnRef>
          <a:fillRef idx="0">
            <a:schemeClr val="accent1"/>
          </a:fillRef>
          <a:effectRef idx="0">
            <a:schemeClr val="accent1"/>
          </a:effectRef>
          <a:fontRef idx="minor"/>
        </p:style>
        <p:txBody>
          <a:bodyPr/>
          <a:lstStyle/>
          <a:p>
            <a:endParaRPr lang="it-IT"/>
          </a:p>
        </p:txBody>
      </p:sp>
      <p:sp>
        <p:nvSpPr>
          <p:cNvPr id="253" name="CustomShape 16"/>
          <p:cNvSpPr/>
          <p:nvPr/>
        </p:nvSpPr>
        <p:spPr>
          <a:xfrm>
            <a:off x="7246938" y="2303463"/>
            <a:ext cx="1539875" cy="404812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1450" indent="-169545" fontAlgn="auto">
              <a:buClr>
                <a:srgbClr val="000000"/>
              </a:buClr>
              <a:buFont typeface="Arial" panose="020B0604020202020204"/>
              <a:buChar char="•"/>
            </a:pPr>
            <a:r>
              <a:rPr lang="it-IT" sz="1000" spc="-1" noProof="1">
                <a:solidFill>
                  <a:srgbClr val="000000"/>
                </a:solidFill>
                <a:latin typeface="Tahoma"/>
                <a:ea typeface="Tahoma"/>
              </a:rPr>
              <a:t>Fatture relative a cessione di beni la cui consegna o spedizione sono certificate dal documento di consegno o trasporto previste dal D.P.R. 472/1992;</a:t>
            </a:r>
            <a:endParaRPr lang="it-IT" sz="1000" spc="-1" noProof="1"/>
          </a:p>
          <a:p>
            <a:pPr marL="171450" indent="-169545" fontAlgn="auto">
              <a:buClr>
                <a:srgbClr val="000000"/>
              </a:buClr>
              <a:buFont typeface="Arial" panose="020B0604020202020204"/>
              <a:buChar char="•"/>
            </a:pPr>
            <a:r>
              <a:rPr lang="it-IT" sz="1000" spc="-1" noProof="1">
                <a:solidFill>
                  <a:srgbClr val="000000"/>
                </a:solidFill>
                <a:latin typeface="Tahoma"/>
                <a:ea typeface="Tahoma"/>
              </a:rPr>
              <a:t>Fatture relative alle prestazioni di servizi rese a soggetti passivi stabiliti nel territorio di uno Stato UE, non soggette ad imposta ai sensi dell’art. 7-ter;</a:t>
            </a:r>
            <a:endParaRPr lang="it-IT" sz="1000" spc="-1" noProof="1"/>
          </a:p>
          <a:p>
            <a:pPr marL="171450" indent="-169545" fontAlgn="auto">
              <a:buClr>
                <a:srgbClr val="000000"/>
              </a:buClr>
              <a:buFont typeface="Arial" panose="020B0604020202020204"/>
              <a:buChar char="•"/>
            </a:pPr>
            <a:r>
              <a:rPr lang="it-IT" sz="1000" spc="-1" noProof="1">
                <a:solidFill>
                  <a:srgbClr val="000000"/>
                </a:solidFill>
                <a:latin typeface="Tahoma"/>
                <a:ea typeface="Tahoma"/>
              </a:rPr>
              <a:t>Fatture relative a prestazioni di servizi di cui all’art. 6, comma sesto, primo periodo, rese a o ricevute da un soggetto passivo stabilito fuori dall’UE.</a:t>
            </a:r>
            <a:endParaRPr lang="it-IT" sz="1000" spc="-1" noProof="1"/>
          </a:p>
        </p:txBody>
      </p:sp>
      <p:sp>
        <p:nvSpPr>
          <p:cNvPr id="254" name="CustomShape 17"/>
          <p:cNvSpPr/>
          <p:nvPr/>
        </p:nvSpPr>
        <p:spPr>
          <a:xfrm>
            <a:off x="2046288" y="5624513"/>
            <a:ext cx="3525837" cy="501650"/>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ctr" fontAlgn="auto"/>
            <a:r>
              <a:rPr lang="it-IT" sz="1400" spc="-1" noProof="1">
                <a:solidFill>
                  <a:srgbClr val="000000"/>
                </a:solidFill>
                <a:latin typeface="Tahoma"/>
                <a:ea typeface="Tahoma"/>
              </a:rPr>
              <a:t>Registrate nell'ordine della loro numerazione.</a:t>
            </a:r>
            <a:endParaRPr lang="it-IT" sz="1400" spc="-1" noProof="1"/>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56"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23 D.P.R. 633/1972)</a:t>
            </a:r>
            <a:endParaRPr lang="it-IT" sz="2800" spc="-1" noProof="1"/>
          </a:p>
        </p:txBody>
      </p:sp>
      <p:sp>
        <p:nvSpPr>
          <p:cNvPr id="257" name="CustomShape 3"/>
          <p:cNvSpPr/>
          <p:nvPr/>
        </p:nvSpPr>
        <p:spPr>
          <a:xfrm>
            <a:off x="1936750" y="1508125"/>
            <a:ext cx="4991100" cy="33496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REGISTRAZIONE DELLE FATTURE EMESSE</a:t>
            </a:r>
            <a:endParaRPr lang="it-IT" spc="-1" noProof="1"/>
          </a:p>
        </p:txBody>
      </p:sp>
      <p:sp>
        <p:nvSpPr>
          <p:cNvPr id="258" name="CustomShape 4"/>
          <p:cNvSpPr/>
          <p:nvPr/>
        </p:nvSpPr>
        <p:spPr>
          <a:xfrm>
            <a:off x="568325" y="2870200"/>
            <a:ext cx="1947863" cy="33496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marL="457200" fontAlgn="auto">
              <a:lnSpc>
                <a:spcPct val="90000"/>
              </a:lnSpc>
            </a:pPr>
            <a:r>
              <a:rPr lang="it-IT" i="1" spc="-1" noProof="1">
                <a:solidFill>
                  <a:srgbClr val="000000"/>
                </a:solidFill>
                <a:latin typeface="Tahoma"/>
                <a:ea typeface="Tahoma"/>
              </a:rPr>
              <a:t>CONTENUTO</a:t>
            </a:r>
            <a:endParaRPr lang="it-IT" spc="-1" noProof="1"/>
          </a:p>
        </p:txBody>
      </p:sp>
      <p:sp>
        <p:nvSpPr>
          <p:cNvPr id="259" name="CustomShape 5"/>
          <p:cNvSpPr/>
          <p:nvPr/>
        </p:nvSpPr>
        <p:spPr>
          <a:xfrm>
            <a:off x="3619500" y="2509838"/>
            <a:ext cx="4959350" cy="1654175"/>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fontAlgn="auto"/>
            <a:r>
              <a:rPr lang="it-IT" sz="1400" spc="-1" noProof="1">
                <a:solidFill>
                  <a:srgbClr val="000000"/>
                </a:solidFill>
                <a:latin typeface="Tahoma"/>
                <a:ea typeface="Tahoma"/>
              </a:rPr>
              <a:t>- Numero progressivo</a:t>
            </a:r>
            <a:endParaRPr lang="it-IT" sz="1400" spc="-1" noProof="1"/>
          </a:p>
          <a:p>
            <a:pPr fontAlgn="auto"/>
            <a:r>
              <a:rPr lang="it-IT" sz="1400" spc="-1" noProof="1">
                <a:solidFill>
                  <a:srgbClr val="000000"/>
                </a:solidFill>
                <a:latin typeface="Tahoma"/>
                <a:ea typeface="Tahoma"/>
              </a:rPr>
              <a:t>- Data di emissione</a:t>
            </a:r>
            <a:endParaRPr lang="it-IT" sz="1400" spc="-1" noProof="1"/>
          </a:p>
          <a:p>
            <a:pPr fontAlgn="auto"/>
            <a:r>
              <a:rPr lang="it-IT" sz="1400" spc="-1" noProof="1">
                <a:solidFill>
                  <a:srgbClr val="000000"/>
                </a:solidFill>
                <a:latin typeface="Tahoma"/>
                <a:ea typeface="Tahoma"/>
              </a:rPr>
              <a:t>- Imponibile distinto per aliquota</a:t>
            </a:r>
            <a:endParaRPr lang="it-IT" sz="1400" spc="-1" noProof="1"/>
          </a:p>
          <a:p>
            <a:pPr fontAlgn="auto"/>
            <a:r>
              <a:rPr lang="it-IT" sz="1400" spc="-1" noProof="1">
                <a:solidFill>
                  <a:srgbClr val="000000"/>
                </a:solidFill>
                <a:latin typeface="Tahoma"/>
                <a:ea typeface="Tahoma"/>
              </a:rPr>
              <a:t>- Ammontare dell'imposta </a:t>
            </a:r>
            <a:endParaRPr lang="it-IT" sz="1400" spc="-1" noProof="1"/>
          </a:p>
          <a:p>
            <a:pPr fontAlgn="auto"/>
            <a:r>
              <a:rPr lang="it-IT" sz="1400" spc="-1" noProof="1">
                <a:solidFill>
                  <a:srgbClr val="000000"/>
                </a:solidFill>
                <a:latin typeface="Tahoma"/>
                <a:ea typeface="Tahoma"/>
              </a:rPr>
              <a:t>- Generalità del cliente (ditta, denominazione, ragione sociale, ecc.).</a:t>
            </a:r>
            <a:endParaRPr lang="it-IT" sz="1400" spc="-1" noProof="1"/>
          </a:p>
        </p:txBody>
      </p:sp>
      <p:sp>
        <p:nvSpPr>
          <p:cNvPr id="260" name="CustomShape 6"/>
          <p:cNvSpPr/>
          <p:nvPr/>
        </p:nvSpPr>
        <p:spPr>
          <a:xfrm>
            <a:off x="568325" y="4672013"/>
            <a:ext cx="8426450" cy="85566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lnSpc>
                <a:spcPct val="90000"/>
              </a:lnSpc>
            </a:pPr>
            <a:r>
              <a:rPr lang="it-IT" sz="1400" b="1" i="1" u="sng" spc="-1" noProof="1">
                <a:solidFill>
                  <a:srgbClr val="000000"/>
                </a:solidFill>
                <a:latin typeface="Tahoma"/>
                <a:ea typeface="Tahoma"/>
              </a:rPr>
              <a:t>Operazioni non imponibili o esenti</a:t>
            </a:r>
            <a:r>
              <a:rPr lang="it-IT" sz="1400" b="1" i="1" spc="-1" noProof="1">
                <a:solidFill>
                  <a:srgbClr val="000000"/>
                </a:solidFill>
                <a:latin typeface="Tahoma"/>
                <a:ea typeface="Tahoma"/>
              </a:rPr>
              <a:t>: </a:t>
            </a:r>
            <a:r>
              <a:rPr lang="it-IT" sz="1400" i="1" spc="-1" noProof="1">
                <a:solidFill>
                  <a:srgbClr val="000000"/>
                </a:solidFill>
                <a:latin typeface="Tahoma"/>
                <a:ea typeface="Tahoma"/>
              </a:rPr>
              <a:t>indicazione del titolo di inapplicabilità dell'operazione ed eventualmente la relativa norma. </a:t>
            </a:r>
            <a:endParaRPr lang="it-IT" sz="1400" spc="-1" noProof="1"/>
          </a:p>
          <a:p>
            <a:pPr fontAlgn="auto">
              <a:lnSpc>
                <a:spcPct val="90000"/>
              </a:lnSpc>
            </a:pPr>
            <a:r>
              <a:rPr lang="it-IT" sz="1400" i="1" spc="-1" noProof="1">
                <a:solidFill>
                  <a:srgbClr val="000000"/>
                </a:solidFill>
                <a:latin typeface="Tahoma"/>
                <a:ea typeface="Tahoma"/>
              </a:rPr>
              <a:t>                                                                                                             </a:t>
            </a:r>
            <a:endParaRPr lang="it-IT" sz="1400" spc="-1" noProof="1"/>
          </a:p>
          <a:p>
            <a:pPr fontAlgn="auto">
              <a:lnSpc>
                <a:spcPct val="90000"/>
              </a:lnSpc>
            </a:pPr>
            <a:r>
              <a:rPr lang="it-IT" sz="1400" b="1" i="1" u="sng" spc="-1" noProof="1">
                <a:solidFill>
                  <a:srgbClr val="000000"/>
                </a:solidFill>
                <a:latin typeface="Tahoma"/>
                <a:ea typeface="Tahoma"/>
              </a:rPr>
              <a:t>Autofatture</a:t>
            </a:r>
            <a:r>
              <a:rPr lang="it-IT" sz="1400" i="1" spc="-1" noProof="1">
                <a:solidFill>
                  <a:srgbClr val="000000"/>
                </a:solidFill>
                <a:latin typeface="Tahoma"/>
                <a:ea typeface="Tahoma"/>
              </a:rPr>
              <a:t>: indicazione del cedente o del prestatore del servizio. </a:t>
            </a:r>
            <a:endParaRPr lang="it-IT" sz="1400" spc="-1" noProof="1"/>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6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23 D.P.R. 633/1972)</a:t>
            </a:r>
            <a:endParaRPr lang="it-IT" sz="2800" spc="-1" noProof="1"/>
          </a:p>
        </p:txBody>
      </p:sp>
      <p:sp>
        <p:nvSpPr>
          <p:cNvPr id="263" name="CustomShape 3"/>
          <p:cNvSpPr/>
          <p:nvPr/>
        </p:nvSpPr>
        <p:spPr>
          <a:xfrm>
            <a:off x="1290638" y="1479550"/>
            <a:ext cx="6284912" cy="33496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REGISTRI CONTABILI CON SISTEMI MECCANOGRAFICI</a:t>
            </a:r>
            <a:endParaRPr lang="it-IT" spc="-1" noProof="1"/>
          </a:p>
        </p:txBody>
      </p:sp>
      <p:sp>
        <p:nvSpPr>
          <p:cNvPr id="264" name="CustomShape 4"/>
          <p:cNvSpPr/>
          <p:nvPr/>
        </p:nvSpPr>
        <p:spPr>
          <a:xfrm>
            <a:off x="2179638" y="1933575"/>
            <a:ext cx="4371975" cy="3365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fontAlgn="auto">
              <a:lnSpc>
                <a:spcPct val="90000"/>
              </a:lnSpc>
            </a:pPr>
            <a:r>
              <a:rPr lang="it-IT" i="1" spc="-1" noProof="1">
                <a:solidFill>
                  <a:srgbClr val="000000"/>
                </a:solidFill>
                <a:latin typeface="Tahoma"/>
                <a:ea typeface="Tahoma"/>
              </a:rPr>
              <a:t>- Fatture emesse e contabilità generale - </a:t>
            </a:r>
            <a:endParaRPr lang="it-IT" spc="-1" noProof="1"/>
          </a:p>
        </p:txBody>
      </p:sp>
      <p:sp>
        <p:nvSpPr>
          <p:cNvPr id="265" name="CustomShape 5"/>
          <p:cNvSpPr/>
          <p:nvPr/>
        </p:nvSpPr>
        <p:spPr>
          <a:xfrm>
            <a:off x="354013" y="2540000"/>
            <a:ext cx="3282950" cy="8286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fontAlgn="auto">
              <a:lnSpc>
                <a:spcPct val="90000"/>
              </a:lnSpc>
            </a:pPr>
            <a:r>
              <a:rPr lang="it-IT" i="1" spc="-1" noProof="1">
                <a:solidFill>
                  <a:srgbClr val="000000"/>
                </a:solidFill>
                <a:latin typeface="Tahoma"/>
                <a:ea typeface="Tahoma"/>
              </a:rPr>
              <a:t>DIGITAZIONE E MEMORIZZAZIONE</a:t>
            </a:r>
            <a:endParaRPr lang="it-IT" spc="-1" noProof="1"/>
          </a:p>
          <a:p>
            <a:pPr marL="457200" fontAlgn="auto">
              <a:lnSpc>
                <a:spcPct val="90000"/>
              </a:lnSpc>
            </a:pPr>
            <a:r>
              <a:rPr lang="it-IT" i="1" spc="-1" noProof="1">
                <a:solidFill>
                  <a:srgbClr val="000000"/>
                </a:solidFill>
                <a:latin typeface="Tahoma"/>
                <a:ea typeface="Tahoma"/>
              </a:rPr>
              <a:t>(D.M. 11 Agosto 1975)</a:t>
            </a:r>
            <a:endParaRPr lang="it-IT" spc="-1" noProof="1"/>
          </a:p>
        </p:txBody>
      </p:sp>
      <p:sp>
        <p:nvSpPr>
          <p:cNvPr id="266" name="CustomShape 6"/>
          <p:cNvSpPr/>
          <p:nvPr/>
        </p:nvSpPr>
        <p:spPr>
          <a:xfrm>
            <a:off x="474663" y="4464050"/>
            <a:ext cx="3282950" cy="3365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fontAlgn="auto">
              <a:lnSpc>
                <a:spcPct val="90000"/>
              </a:lnSpc>
            </a:pPr>
            <a:r>
              <a:rPr lang="it-IT" i="1" spc="-1" noProof="1">
                <a:solidFill>
                  <a:srgbClr val="000000"/>
                </a:solidFill>
                <a:latin typeface="Tahoma"/>
                <a:ea typeface="Tahoma"/>
              </a:rPr>
              <a:t>STAMPA DEI REGISTRI</a:t>
            </a:r>
            <a:endParaRPr lang="it-IT" spc="-1" noProof="1"/>
          </a:p>
        </p:txBody>
      </p:sp>
      <p:sp>
        <p:nvSpPr>
          <p:cNvPr id="267" name="CustomShape 7"/>
          <p:cNvSpPr/>
          <p:nvPr/>
        </p:nvSpPr>
        <p:spPr>
          <a:xfrm>
            <a:off x="3783013" y="2417763"/>
            <a:ext cx="5018087" cy="1585912"/>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fontAlgn="auto"/>
            <a:r>
              <a:rPr lang="it-IT" sz="1400" spc="-1" noProof="1">
                <a:solidFill>
                  <a:srgbClr val="000000"/>
                </a:solidFill>
                <a:latin typeface="Tahoma"/>
                <a:ea typeface="Tahoma"/>
              </a:rPr>
              <a:t>- Vanno acquisite entro 60 giorni;</a:t>
            </a:r>
            <a:endParaRPr lang="it-IT" sz="1400" spc="-1" noProof="1"/>
          </a:p>
          <a:p>
            <a:pPr fontAlgn="auto"/>
            <a:endParaRPr lang="it-IT" sz="1400" spc="-1" noProof="1"/>
          </a:p>
          <a:p>
            <a:pPr fontAlgn="auto"/>
            <a:r>
              <a:rPr lang="it-IT" sz="1400" spc="-1" noProof="1">
                <a:solidFill>
                  <a:srgbClr val="000000"/>
                </a:solidFill>
                <a:latin typeface="Tahoma"/>
                <a:ea typeface="Tahoma"/>
              </a:rPr>
              <a:t>- In ogni caso entro il termine per le liquidazioni periodiche;</a:t>
            </a:r>
            <a:endParaRPr lang="it-IT" sz="1400" spc="-1" noProof="1"/>
          </a:p>
          <a:p>
            <a:pPr fontAlgn="auto"/>
            <a:endParaRPr lang="it-IT" sz="1400" spc="-1" noProof="1"/>
          </a:p>
          <a:p>
            <a:pPr fontAlgn="auto"/>
            <a:r>
              <a:rPr lang="it-IT" sz="1400" spc="-1" noProof="1">
                <a:solidFill>
                  <a:srgbClr val="000000"/>
                </a:solidFill>
                <a:latin typeface="Tahoma"/>
                <a:ea typeface="Tahoma"/>
              </a:rPr>
              <a:t>- Massimo entro 60 giorni dal 31 dicembre per le fatture relative all'ultimo mese o trimestre.   </a:t>
            </a:r>
            <a:endParaRPr lang="it-IT" sz="1400" spc="-1" noProof="1"/>
          </a:p>
        </p:txBody>
      </p:sp>
      <p:sp>
        <p:nvSpPr>
          <p:cNvPr id="268" name="CustomShape 8"/>
          <p:cNvSpPr/>
          <p:nvPr/>
        </p:nvSpPr>
        <p:spPr>
          <a:xfrm>
            <a:off x="3759200" y="4421188"/>
            <a:ext cx="5041900" cy="1233487"/>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fontAlgn="auto"/>
            <a:r>
              <a:rPr lang="it-IT" sz="1300" spc="-1" noProof="1">
                <a:solidFill>
                  <a:srgbClr val="000000"/>
                </a:solidFill>
                <a:latin typeface="Tahoma"/>
                <a:ea typeface="Tahoma"/>
              </a:rPr>
              <a:t>- </a:t>
            </a:r>
            <a:r>
              <a:rPr lang="it-IT" sz="1300" u="sng" spc="-1" noProof="1">
                <a:solidFill>
                  <a:srgbClr val="000000"/>
                </a:solidFill>
                <a:latin typeface="Tahoma"/>
                <a:ea typeface="Tahoma"/>
              </a:rPr>
              <a:t>Contabilità generale</a:t>
            </a:r>
            <a:r>
              <a:rPr lang="it-IT" sz="1300" spc="-1" noProof="1">
                <a:solidFill>
                  <a:srgbClr val="000000"/>
                </a:solidFill>
                <a:latin typeface="Tahoma"/>
                <a:ea typeface="Tahoma"/>
              </a:rPr>
              <a:t>: entro 3 mesi dal termine di presentazione della dichiarazione dei redditi;</a:t>
            </a:r>
            <a:endParaRPr lang="it-IT" sz="1300" spc="-1" noProof="1"/>
          </a:p>
          <a:p>
            <a:pPr fontAlgn="auto"/>
            <a:endParaRPr lang="it-IT" sz="1300" spc="-1" noProof="1"/>
          </a:p>
          <a:p>
            <a:pPr fontAlgn="auto"/>
            <a:r>
              <a:rPr lang="it-IT" sz="1300" spc="-1" noProof="1">
                <a:solidFill>
                  <a:srgbClr val="000000"/>
                </a:solidFill>
                <a:latin typeface="Tahoma"/>
                <a:ea typeface="Tahoma"/>
              </a:rPr>
              <a:t>- Devono essere in ogni caso stampati su richiesta degli organi di controllo. </a:t>
            </a:r>
            <a:r>
              <a:rPr lang="it-IT" sz="1400" spc="-1" noProof="1">
                <a:solidFill>
                  <a:srgbClr val="000000"/>
                </a:solidFill>
                <a:latin typeface="Tahoma"/>
                <a:ea typeface="Tahoma"/>
              </a:rPr>
              <a:t> </a:t>
            </a:r>
            <a:endParaRPr lang="it-IT" sz="1400" spc="-1" noProof="1"/>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70"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23 D.P.R. 633/1972)</a:t>
            </a:r>
            <a:endParaRPr lang="it-IT" sz="2800" spc="-1" noProof="1"/>
          </a:p>
        </p:txBody>
      </p:sp>
      <p:sp>
        <p:nvSpPr>
          <p:cNvPr id="271" name="CustomShape 3"/>
          <p:cNvSpPr/>
          <p:nvPr/>
        </p:nvSpPr>
        <p:spPr>
          <a:xfrm>
            <a:off x="468313" y="1579563"/>
            <a:ext cx="7900987" cy="33496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TERMINI DI REGISTRAZIONE CON UTILIZZO DI MACCHINE CONTABILI</a:t>
            </a:r>
            <a:endParaRPr lang="it-IT" spc="-1" noProof="1"/>
          </a:p>
        </p:txBody>
      </p:sp>
      <p:sp>
        <p:nvSpPr>
          <p:cNvPr id="272" name="CustomShape 4"/>
          <p:cNvSpPr/>
          <p:nvPr/>
        </p:nvSpPr>
        <p:spPr>
          <a:xfrm>
            <a:off x="2431770" y="2273674"/>
            <a:ext cx="4383087" cy="1389063"/>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just" fontAlgn="auto"/>
            <a:r>
              <a:rPr lang="it-IT" sz="1400" spc="-1" noProof="1">
                <a:solidFill>
                  <a:srgbClr val="000000"/>
                </a:solidFill>
                <a:latin typeface="Tahoma"/>
                <a:ea typeface="Tahoma"/>
              </a:rPr>
              <a:t>- </a:t>
            </a:r>
            <a:r>
              <a:rPr lang="it-IT" sz="1300" spc="-1" noProof="1">
                <a:solidFill>
                  <a:srgbClr val="000000"/>
                </a:solidFill>
                <a:latin typeface="Tahoma"/>
                <a:ea typeface="Tahoma"/>
              </a:rPr>
              <a:t>R.M. n. 360125 del 03.06.1976</a:t>
            </a:r>
            <a:endParaRPr lang="it-IT" sz="1300" spc="-1" noProof="1"/>
          </a:p>
          <a:p>
            <a:pPr algn="just" fontAlgn="auto"/>
            <a:r>
              <a:rPr lang="it-IT" sz="1300" spc="-1" noProof="1">
                <a:solidFill>
                  <a:srgbClr val="000000"/>
                </a:solidFill>
                <a:latin typeface="Tahoma"/>
                <a:ea typeface="Tahoma"/>
              </a:rPr>
              <a:t>- R.M. n. 360492 del 11.06.1976</a:t>
            </a:r>
            <a:endParaRPr lang="it-IT" sz="1300" spc="-1" noProof="1"/>
          </a:p>
          <a:p>
            <a:pPr algn="just" fontAlgn="auto"/>
            <a:r>
              <a:rPr lang="it-IT" sz="1300" spc="-1" noProof="1">
                <a:solidFill>
                  <a:srgbClr val="000000"/>
                </a:solidFill>
                <a:latin typeface="Tahoma"/>
                <a:ea typeface="Tahoma"/>
              </a:rPr>
              <a:t>- Circ. Ministero Finanze n. 46 del 05.08.1978</a:t>
            </a:r>
            <a:endParaRPr lang="it-IT" sz="1300" spc="-1" noProof="1"/>
          </a:p>
          <a:p>
            <a:pPr algn="just" fontAlgn="auto"/>
            <a:r>
              <a:rPr lang="it-IT" sz="1300" spc="-1" noProof="1">
                <a:solidFill>
                  <a:srgbClr val="000000"/>
                </a:solidFill>
                <a:latin typeface="Tahoma"/>
                <a:ea typeface="Tahoma"/>
              </a:rPr>
              <a:t>- R.M. n. 396136 del 27/07/1985</a:t>
            </a:r>
            <a:endParaRPr lang="it-IT" sz="1300" spc="-1" noProof="1"/>
          </a:p>
          <a:p>
            <a:pPr algn="just" fontAlgn="auto"/>
            <a:r>
              <a:rPr lang="it-IT" sz="1300" spc="-1" noProof="1">
                <a:solidFill>
                  <a:srgbClr val="000000"/>
                </a:solidFill>
                <a:latin typeface="Tahoma"/>
                <a:ea typeface="Tahoma"/>
              </a:rPr>
              <a:t>- Circ. Ministero Finanze n. 16 del 22.03.1990</a:t>
            </a:r>
            <a:endParaRPr lang="it-IT" sz="1300" spc="-1" noProof="1"/>
          </a:p>
          <a:p>
            <a:pPr algn="just" fontAlgn="auto"/>
            <a:r>
              <a:rPr lang="it-IT" sz="1300" spc="-1" noProof="1">
                <a:solidFill>
                  <a:srgbClr val="000000"/>
                </a:solidFill>
                <a:latin typeface="Tahoma"/>
                <a:ea typeface="Tahoma"/>
              </a:rPr>
              <a:t>- Circ. Ministero Finanze n. 181 del 27/10/1994  </a:t>
            </a:r>
            <a:endParaRPr lang="it-IT" sz="1300" spc="-1" noProof="1"/>
          </a:p>
        </p:txBody>
      </p:sp>
      <p:sp>
        <p:nvSpPr>
          <p:cNvPr id="273" name="CustomShape 5"/>
          <p:cNvSpPr/>
          <p:nvPr/>
        </p:nvSpPr>
        <p:spPr>
          <a:xfrm>
            <a:off x="161925" y="4103688"/>
            <a:ext cx="8837613" cy="181292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285750" indent="-283845" fontAlgn="auto">
              <a:lnSpc>
                <a:spcPct val="90000"/>
              </a:lnSpc>
              <a:buClr>
                <a:srgbClr val="1F497D"/>
              </a:buClr>
              <a:buFont typeface="Wingdings" panose="05000000000000000000" pitchFamily="2" charset="2"/>
              <a:buChar char=""/>
            </a:pPr>
            <a:r>
              <a:rPr lang="it-IT" sz="1400" i="1" spc="-1" noProof="1">
                <a:solidFill>
                  <a:srgbClr val="000000"/>
                </a:solidFill>
                <a:latin typeface="Tahoma"/>
                <a:ea typeface="Tahoma"/>
              </a:rPr>
              <a:t>E' macchina elettrocontabile, ai sensi del D.M. 11.08.1975, quella che consente la memorizzazione dei dati entro i normali termini;</a:t>
            </a:r>
            <a:endParaRPr lang="it-IT" sz="1400" spc="-1" noProof="1"/>
          </a:p>
          <a:p>
            <a:pPr fontAlgn="auto">
              <a:lnSpc>
                <a:spcPct val="90000"/>
              </a:lnSpc>
            </a:pPr>
            <a:endParaRPr lang="it-IT" sz="1400" spc="-1" noProof="1"/>
          </a:p>
          <a:p>
            <a:pPr marL="285750" indent="-283845" fontAlgn="auto">
              <a:lnSpc>
                <a:spcPct val="90000"/>
              </a:lnSpc>
              <a:buClr>
                <a:srgbClr val="1F497D"/>
              </a:buClr>
              <a:buFont typeface="Wingdings" panose="05000000000000000000" pitchFamily="2" charset="2"/>
              <a:buChar char=""/>
            </a:pPr>
            <a:r>
              <a:rPr lang="it-IT" sz="1400" i="1" spc="-1" noProof="1">
                <a:solidFill>
                  <a:srgbClr val="000000"/>
                </a:solidFill>
                <a:latin typeface="Tahoma"/>
                <a:ea typeface="Tahoma"/>
              </a:rPr>
              <a:t>Per le liquidazioni dell'imposta si deve tener conto dei normali termini previsti;</a:t>
            </a:r>
            <a:endParaRPr lang="it-IT" sz="1400" spc="-1" noProof="1"/>
          </a:p>
          <a:p>
            <a:pPr fontAlgn="auto">
              <a:lnSpc>
                <a:spcPct val="90000"/>
              </a:lnSpc>
            </a:pPr>
            <a:endParaRPr lang="it-IT" sz="1400" spc="-1" noProof="1"/>
          </a:p>
          <a:p>
            <a:pPr marL="285750" indent="-283845" fontAlgn="auto">
              <a:lnSpc>
                <a:spcPct val="90000"/>
              </a:lnSpc>
              <a:buClr>
                <a:srgbClr val="1F497D"/>
              </a:buClr>
              <a:buFont typeface="Wingdings" panose="05000000000000000000" pitchFamily="2" charset="2"/>
              <a:buChar char=""/>
            </a:pPr>
            <a:r>
              <a:rPr lang="it-IT" sz="1400" i="1" spc="-1" noProof="1">
                <a:solidFill>
                  <a:srgbClr val="000000"/>
                </a:solidFill>
                <a:latin typeface="Tahoma"/>
                <a:ea typeface="Tahoma"/>
              </a:rPr>
              <a:t>Per la “memorizzazione” deve essere in ogni caso rispettato il termine massimo di 60 giorni;</a:t>
            </a:r>
            <a:endParaRPr lang="it-IT" sz="1400" spc="-1" noProof="1"/>
          </a:p>
          <a:p>
            <a:pPr fontAlgn="auto">
              <a:lnSpc>
                <a:spcPct val="90000"/>
              </a:lnSpc>
            </a:pPr>
            <a:endParaRPr lang="it-IT" sz="1400" spc="-1" noProof="1"/>
          </a:p>
          <a:p>
            <a:pPr marL="285750" indent="-283845" fontAlgn="auto">
              <a:lnSpc>
                <a:spcPct val="90000"/>
              </a:lnSpc>
              <a:buClr>
                <a:srgbClr val="1F497D"/>
              </a:buClr>
              <a:buFont typeface="Wingdings" panose="05000000000000000000" pitchFamily="2" charset="2"/>
              <a:buChar char=""/>
            </a:pPr>
            <a:r>
              <a:rPr lang="it-IT" sz="1400" i="1" spc="-1" noProof="1">
                <a:solidFill>
                  <a:srgbClr val="000000"/>
                </a:solidFill>
                <a:latin typeface="Tahoma"/>
                <a:ea typeface="Tahoma"/>
              </a:rPr>
              <a:t>Quindi la memorizzazione può essere fatta anche oltre i normali termini, ma comunque in tempo utile per la liquidazione dell'imposta.</a:t>
            </a:r>
            <a:endParaRPr lang="it-IT" sz="1400" spc="-1" noProof="1"/>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75"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23 D.P.R. 633/1972)</a:t>
            </a:r>
            <a:endParaRPr lang="it-IT" sz="2800" spc="-1" noProof="1"/>
          </a:p>
        </p:txBody>
      </p:sp>
      <p:sp>
        <p:nvSpPr>
          <p:cNvPr id="276" name="CustomShape 3"/>
          <p:cNvSpPr/>
          <p:nvPr/>
        </p:nvSpPr>
        <p:spPr>
          <a:xfrm>
            <a:off x="2714625" y="1679575"/>
            <a:ext cx="3636963" cy="33496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REGISTRO DEI CORRISPETTIVI</a:t>
            </a:r>
            <a:endParaRPr lang="it-IT" spc="-1" noProof="1"/>
          </a:p>
        </p:txBody>
      </p:sp>
      <p:sp>
        <p:nvSpPr>
          <p:cNvPr id="277" name="CustomShape 4"/>
          <p:cNvSpPr/>
          <p:nvPr/>
        </p:nvSpPr>
        <p:spPr>
          <a:xfrm>
            <a:off x="1352550" y="2090738"/>
            <a:ext cx="6751638" cy="5143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ea typeface="Tahoma"/>
              </a:rPr>
              <a:t>(alternativo al registro delle fatture da parte di commercianti al minuto e dagli altri soggetti ad essi assimilati previsti all’art. 22)</a:t>
            </a:r>
            <a:endParaRPr lang="it-IT" sz="1400" spc="-1" noProof="1"/>
          </a:p>
        </p:txBody>
      </p:sp>
      <p:sp>
        <p:nvSpPr>
          <p:cNvPr id="278" name="CustomShape 5"/>
          <p:cNvSpPr/>
          <p:nvPr/>
        </p:nvSpPr>
        <p:spPr>
          <a:xfrm>
            <a:off x="1770063" y="2881313"/>
            <a:ext cx="5286375" cy="361950"/>
          </a:xfrm>
          <a:prstGeom prst="rect">
            <a:avLst/>
          </a:prstGeom>
          <a:ln>
            <a:round/>
          </a:ln>
        </p:spPr>
        <p:style>
          <a:lnRef idx="2">
            <a:schemeClr val="accent1"/>
          </a:lnRef>
          <a:fillRef idx="1">
            <a:schemeClr val="lt1"/>
          </a:fillRef>
          <a:effectRef idx="0">
            <a:schemeClr val="accent1"/>
          </a:effectRef>
          <a:fontRef idx="minor"/>
        </p:style>
        <p:txBody>
          <a:bodyPr lIns="90000" tIns="45000" rIns="90000" bIns="45000"/>
          <a:lstStyle/>
          <a:p>
            <a:pPr fontAlgn="auto"/>
            <a:r>
              <a:rPr lang="it-IT" spc="-1" noProof="1">
                <a:solidFill>
                  <a:srgbClr val="000000"/>
                </a:solidFill>
                <a:latin typeface="Tahoma"/>
                <a:ea typeface="Tahoma"/>
              </a:rPr>
              <a:t>CORRISPETTIVO = IMPONIBILE + IMPOSTA</a:t>
            </a:r>
            <a:endParaRPr lang="it-IT" spc="-1" noProof="1"/>
          </a:p>
        </p:txBody>
      </p:sp>
      <p:sp>
        <p:nvSpPr>
          <p:cNvPr id="279" name="CustomShape 6"/>
          <p:cNvSpPr/>
          <p:nvPr/>
        </p:nvSpPr>
        <p:spPr>
          <a:xfrm>
            <a:off x="830263" y="3484563"/>
            <a:ext cx="2606675" cy="941387"/>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ea typeface="Tahoma"/>
              </a:rPr>
              <a:t>Commercianti al minuto e gli altri  contribuenti (di cui all’art. 22) che non emettono la fattura</a:t>
            </a:r>
            <a:endParaRPr lang="it-IT" sz="1400" spc="-1" noProof="1"/>
          </a:p>
        </p:txBody>
      </p:sp>
      <p:sp>
        <p:nvSpPr>
          <p:cNvPr id="280" name="CustomShape 7"/>
          <p:cNvSpPr/>
          <p:nvPr/>
        </p:nvSpPr>
        <p:spPr>
          <a:xfrm>
            <a:off x="3705225" y="3652838"/>
            <a:ext cx="1022350" cy="404812"/>
          </a:xfrm>
          <a:prstGeom prst="rightArrow">
            <a:avLst>
              <a:gd name="adj1" fmla="val 50000"/>
              <a:gd name="adj2" fmla="val 50000"/>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a:lstStyle/>
          <a:p>
            <a:endParaRPr lang="it-IT"/>
          </a:p>
        </p:txBody>
      </p:sp>
      <p:sp>
        <p:nvSpPr>
          <p:cNvPr id="281" name="CustomShape 8"/>
          <p:cNvSpPr/>
          <p:nvPr/>
        </p:nvSpPr>
        <p:spPr>
          <a:xfrm>
            <a:off x="5135563" y="3481388"/>
            <a:ext cx="3562350" cy="115411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ea typeface="Tahoma"/>
              </a:rPr>
              <a:t>Devono annotare in apposito registro i corrispettivi entro il giorno successivo non festivo (con riferimento al giorno in cui le operazioni sono state effettuate) il corrispettivo distinto per: </a:t>
            </a:r>
            <a:endParaRPr lang="it-IT" sz="1400" spc="-1" noProof="1"/>
          </a:p>
        </p:txBody>
      </p:sp>
      <p:sp>
        <p:nvSpPr>
          <p:cNvPr id="282" name="CustomShape 9"/>
          <p:cNvSpPr/>
          <p:nvPr/>
        </p:nvSpPr>
        <p:spPr>
          <a:xfrm>
            <a:off x="7893050" y="4621213"/>
            <a:ext cx="422275" cy="709612"/>
          </a:xfrm>
          <a:prstGeom prst="downArrow">
            <a:avLst>
              <a:gd name="adj1" fmla="val 50000"/>
              <a:gd name="adj2" fmla="val 50000"/>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a:lstStyle/>
          <a:p>
            <a:endParaRPr lang="it-IT"/>
          </a:p>
        </p:txBody>
      </p:sp>
      <p:sp>
        <p:nvSpPr>
          <p:cNvPr id="283" name="CustomShape 10"/>
          <p:cNvSpPr/>
          <p:nvPr/>
        </p:nvSpPr>
        <p:spPr>
          <a:xfrm>
            <a:off x="5126038" y="5330825"/>
            <a:ext cx="3298825" cy="115411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400" spc="-1" noProof="1">
                <a:solidFill>
                  <a:srgbClr val="000000"/>
                </a:solidFill>
                <a:latin typeface="Tahoma"/>
                <a:ea typeface="Tahoma"/>
              </a:rPr>
              <a:t>- aliquota applicabile</a:t>
            </a:r>
            <a:endParaRPr lang="it-IT" sz="1400" spc="-1" noProof="1"/>
          </a:p>
          <a:p>
            <a:pPr fontAlgn="auto"/>
            <a:r>
              <a:rPr lang="it-IT" sz="1400" spc="-1" noProof="1">
                <a:solidFill>
                  <a:srgbClr val="000000"/>
                </a:solidFill>
                <a:latin typeface="Tahoma"/>
                <a:ea typeface="Tahoma"/>
              </a:rPr>
              <a:t>- giorno di effettuazione dell'operazione</a:t>
            </a:r>
            <a:endParaRPr lang="it-IT" sz="1400" spc="-1" noProof="1"/>
          </a:p>
          <a:p>
            <a:pPr fontAlgn="auto"/>
            <a:r>
              <a:rPr lang="it-IT" sz="1400" spc="-1" noProof="1">
                <a:solidFill>
                  <a:srgbClr val="000000"/>
                </a:solidFill>
                <a:latin typeface="Tahoma"/>
                <a:ea typeface="Tahoma"/>
              </a:rPr>
              <a:t>- emissione o meno di ricevuta fiscale</a:t>
            </a:r>
            <a:endParaRPr lang="it-IT" sz="1400" spc="-1" noProof="1"/>
          </a:p>
          <a:p>
            <a:pPr fontAlgn="auto"/>
            <a:r>
              <a:rPr lang="it-IT" sz="1400" spc="-1" noProof="1">
                <a:solidFill>
                  <a:srgbClr val="000000"/>
                </a:solidFill>
                <a:latin typeface="Tahoma"/>
                <a:ea typeface="Tahoma"/>
              </a:rPr>
              <a:t>- emissione della fattura </a:t>
            </a:r>
            <a:endParaRPr lang="it-IT" sz="1400" spc="-1" noProof="1"/>
          </a:p>
        </p:txBody>
      </p:sp>
      <p:sp>
        <p:nvSpPr>
          <p:cNvPr id="284" name="CustomShape 11"/>
          <p:cNvSpPr/>
          <p:nvPr/>
        </p:nvSpPr>
        <p:spPr>
          <a:xfrm>
            <a:off x="3990975" y="5665788"/>
            <a:ext cx="844550" cy="133350"/>
          </a:xfrm>
          <a:prstGeom prst="leftArrow">
            <a:avLst>
              <a:gd name="adj1" fmla="val 50000"/>
              <a:gd name="adj2" fmla="val 50000"/>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a:lstStyle/>
          <a:p>
            <a:endParaRPr lang="it-IT"/>
          </a:p>
        </p:txBody>
      </p:sp>
      <p:sp>
        <p:nvSpPr>
          <p:cNvPr id="285" name="CustomShape 12"/>
          <p:cNvSpPr/>
          <p:nvPr/>
        </p:nvSpPr>
        <p:spPr>
          <a:xfrm>
            <a:off x="249238" y="5259388"/>
            <a:ext cx="3452812" cy="946150"/>
          </a:xfrm>
          <a:prstGeom prst="roundRect">
            <a:avLst>
              <a:gd name="adj" fmla="val 16667"/>
            </a:avLst>
          </a:prstGeom>
          <a:ln>
            <a:solidFill>
              <a:srgbClr val="F59240"/>
            </a:solidFill>
            <a:round/>
          </a:ln>
          <a:effectLst>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p:style>
        <p:txBody>
          <a:bodyPr lIns="90000" tIns="45000" rIns="90000" bIns="45000" anchor="ctr"/>
          <a:lstStyle/>
          <a:p>
            <a:pPr algn="ctr" fontAlgn="auto"/>
            <a:r>
              <a:rPr lang="it-IT" sz="1400" spc="-1" noProof="1">
                <a:solidFill>
                  <a:srgbClr val="000000"/>
                </a:solidFill>
                <a:latin typeface="Tahoma"/>
                <a:ea typeface="Tahoma"/>
              </a:rPr>
              <a:t>“VENTILAZIONE”:</a:t>
            </a:r>
            <a:endParaRPr lang="it-IT" sz="1400" spc="-1" noProof="1"/>
          </a:p>
          <a:p>
            <a:pPr algn="ctr" fontAlgn="auto"/>
            <a:r>
              <a:rPr lang="it-IT" sz="1400" spc="-1" noProof="1">
                <a:solidFill>
                  <a:srgbClr val="000000"/>
                </a:solidFill>
                <a:latin typeface="Tahoma"/>
                <a:ea typeface="Tahoma"/>
              </a:rPr>
              <a:t>Non si differenziano gli importi per aliquota. L'aliquota applicabile a tale importo è calcolata in base agli acquisti.</a:t>
            </a:r>
            <a:endParaRPr lang="it-IT" sz="1400" spc="-1" noProof="1"/>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CustomShape 1"/>
          <p:cNvSpPr/>
          <p:nvPr/>
        </p:nvSpPr>
        <p:spPr>
          <a:xfrm>
            <a:off x="422275" y="890588"/>
            <a:ext cx="8226425" cy="554196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endParaRPr lang="it-IT" spc="-1" noProof="1"/>
          </a:p>
          <a:p>
            <a:pPr algn="ctr" fontAlgn="auto">
              <a:lnSpc>
                <a:spcPct val="90000"/>
              </a:lnSpc>
            </a:pPr>
            <a:endParaRPr lang="it-IT" spc="-1" noProof="1"/>
          </a:p>
          <a:p>
            <a:pPr algn="ctr" fontAlgn="auto">
              <a:lnSpc>
                <a:spcPct val="90000"/>
              </a:lnSpc>
            </a:pPr>
            <a:r>
              <a:rPr lang="it-IT" i="1" spc="-1" noProof="1">
                <a:solidFill>
                  <a:srgbClr val="000000"/>
                </a:solidFill>
                <a:latin typeface="Tahoma"/>
                <a:ea typeface="Tahoma"/>
              </a:rPr>
              <a:t> </a:t>
            </a:r>
            <a:endParaRPr lang="it-IT" spc="-1" noProof="1"/>
          </a:p>
          <a:p>
            <a:pPr fontAlgn="auto">
              <a:lnSpc>
                <a:spcPct val="90000"/>
              </a:lnSpc>
            </a:pPr>
            <a:r>
              <a:rPr lang="it-IT" sz="2000" i="1" spc="-1" noProof="1">
                <a:solidFill>
                  <a:srgbClr val="000000"/>
                </a:solidFill>
                <a:latin typeface="Tahoma"/>
                <a:ea typeface="Tahoma"/>
              </a:rPr>
              <a:t>				</a:t>
            </a:r>
            <a:endParaRPr lang="it-IT" sz="2000" spc="-1" noProof="1"/>
          </a:p>
          <a:p>
            <a:pPr algn="just" fontAlgn="auto">
              <a:lnSpc>
                <a:spcPct val="90000"/>
              </a:lnSpc>
            </a:pPr>
            <a:endParaRPr lang="it-IT" sz="2000" spc="-1" noProof="1"/>
          </a:p>
          <a:p>
            <a:pPr algn="just" fontAlgn="auto">
              <a:lnSpc>
                <a:spcPct val="90000"/>
              </a:lnSpc>
            </a:pPr>
            <a:endParaRPr lang="it-IT" sz="2000" spc="-1" noProof="1"/>
          </a:p>
          <a:p>
            <a:pPr algn="just" fontAlgn="auto">
              <a:lnSpc>
                <a:spcPct val="90000"/>
              </a:lnSpc>
            </a:pPr>
            <a:r>
              <a:rPr lang="it-IT" sz="1600" i="1" spc="-1" noProof="1">
                <a:solidFill>
                  <a:srgbClr val="000000"/>
                </a:solidFill>
                <a:latin typeface="Tahoma"/>
                <a:ea typeface="Tahoma"/>
              </a:rPr>
              <a:t> </a:t>
            </a:r>
            <a:r>
              <a:rPr lang="it-IT" sz="1400" i="1" spc="-1" noProof="1">
                <a:solidFill>
                  <a:srgbClr val="000000"/>
                </a:solidFill>
                <a:latin typeface="Tahoma"/>
                <a:ea typeface="Tahoma"/>
              </a:rPr>
              <a:t> </a:t>
            </a:r>
            <a:r>
              <a:rPr lang="it-IT" sz="2000" i="1" spc="-1" noProof="1">
                <a:solidFill>
                  <a:srgbClr val="000000"/>
                </a:solidFill>
                <a:latin typeface="Tahoma"/>
                <a:ea typeface="Tahoma"/>
              </a:rPr>
              <a:t>	 					</a:t>
            </a:r>
            <a:endParaRPr lang="it-IT" sz="2000" spc="-1" noProof="1"/>
          </a:p>
          <a:p>
            <a:pPr fontAlgn="auto">
              <a:lnSpc>
                <a:spcPct val="90000"/>
              </a:lnSpc>
            </a:pPr>
            <a:r>
              <a:rPr lang="it-IT" sz="2000" i="1" spc="-1" noProof="1">
                <a:solidFill>
                  <a:srgbClr val="000000"/>
                </a:solidFill>
                <a:latin typeface="Tahoma"/>
                <a:ea typeface="Tahoma"/>
              </a:rPr>
              <a:t>				 														</a:t>
            </a:r>
            <a:endParaRPr lang="it-IT" sz="2000" spc="-1" noProof="1"/>
          </a:p>
          <a:p>
            <a:pPr fontAlgn="auto">
              <a:lnSpc>
                <a:spcPct val="90000"/>
              </a:lnSpc>
            </a:pPr>
            <a:endParaRPr lang="it-IT" sz="2000" spc="-1" noProof="1"/>
          </a:p>
          <a:p>
            <a:pPr algn="just" fontAlgn="auto">
              <a:lnSpc>
                <a:spcPct val="90000"/>
              </a:lnSpc>
            </a:pPr>
            <a:endParaRPr lang="it-IT" sz="2000" spc="-1" noProof="1"/>
          </a:p>
          <a:p>
            <a:pPr algn="ctr" fontAlgn="auto">
              <a:lnSpc>
                <a:spcPct val="90000"/>
              </a:lnSpc>
            </a:pPr>
            <a:endParaRPr lang="it-IT" sz="2000" spc="-1" noProof="1"/>
          </a:p>
          <a:p>
            <a:pPr algn="just" fontAlgn="auto">
              <a:lnSpc>
                <a:spcPct val="90000"/>
              </a:lnSpc>
            </a:pPr>
            <a:r>
              <a:rPr lang="it-IT" sz="2000" i="1" spc="-1" noProof="1">
                <a:solidFill>
                  <a:srgbClr val="000000"/>
                </a:solidFill>
                <a:latin typeface="Tahoma"/>
                <a:ea typeface="Tahoma"/>
              </a:rPr>
              <a:t>      </a:t>
            </a:r>
            <a:endParaRPr lang="it-IT" sz="2000" spc="-1" noProof="1"/>
          </a:p>
          <a:p>
            <a:pPr algn="just" fontAlgn="auto">
              <a:lnSpc>
                <a:spcPct val="90000"/>
              </a:lnSpc>
            </a:pPr>
            <a:endParaRPr lang="it-IT" sz="2000" spc="-1" noProof="1"/>
          </a:p>
        </p:txBody>
      </p:sp>
      <p:sp>
        <p:nvSpPr>
          <p:cNvPr id="287" name="Line 2"/>
          <p:cNvSpPr/>
          <p:nvPr/>
        </p:nvSpPr>
        <p:spPr>
          <a:xfrm>
            <a:off x="7956550" y="6389688"/>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288" name="Line 3"/>
          <p:cNvSpPr/>
          <p:nvPr/>
        </p:nvSpPr>
        <p:spPr>
          <a:xfrm>
            <a:off x="3563938" y="2501900"/>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graphicFrame>
        <p:nvGraphicFramePr>
          <p:cNvPr id="289" name="Table 4"/>
          <p:cNvGraphicFramePr/>
          <p:nvPr/>
        </p:nvGraphicFramePr>
        <p:xfrm>
          <a:off x="1366838" y="1827213"/>
          <a:ext cx="5973762" cy="2211387"/>
        </p:xfrm>
        <a:graphic>
          <a:graphicData uri="http://schemas.openxmlformats.org/drawingml/2006/table">
            <a:tbl>
              <a:tblPr/>
              <a:tblGrid>
                <a:gridCol w="3013702">
                  <a:extLst>
                    <a:ext uri="{9D8B030D-6E8A-4147-A177-3AD203B41FA5}">
                      <a16:colId xmlns:a16="http://schemas.microsoft.com/office/drawing/2014/main" val="20000"/>
                    </a:ext>
                  </a:extLst>
                </a:gridCol>
                <a:gridCol w="2960060">
                  <a:extLst>
                    <a:ext uri="{9D8B030D-6E8A-4147-A177-3AD203B41FA5}">
                      <a16:colId xmlns:a16="http://schemas.microsoft.com/office/drawing/2014/main" val="20001"/>
                    </a:ext>
                  </a:extLst>
                </a:gridCol>
              </a:tblGrid>
              <a:tr h="346856">
                <a:tc>
                  <a:txBody>
                    <a:bodyPr/>
                    <a:lstStyle/>
                    <a:p>
                      <a:pPr algn="ctr">
                        <a:lnSpc>
                          <a:spcPct val="100000"/>
                        </a:lnSpc>
                      </a:pPr>
                      <a:r>
                        <a:rPr lang="it-IT" sz="1400" b="1" strike="noStrike" spc="-1">
                          <a:solidFill>
                            <a:srgbClr val="000000"/>
                          </a:solidFill>
                          <a:latin typeface="Tahoma"/>
                          <a:ea typeface="Tahoma"/>
                        </a:rPr>
                        <a:t>SOGGETTI INTERESSATI</a:t>
                      </a:r>
                      <a:endParaRPr lang="it-IT" sz="1400" b="0" strike="noStrike" spc="-1">
                        <a:latin typeface="Arial" panose="020B0604020202020204"/>
                      </a:endParaRPr>
                    </a:p>
                  </a:txBody>
                  <a:tcPr marL="91444" marR="91444" marT="45696" marB="45696">
                    <a:noFill/>
                  </a:tcPr>
                </a:tc>
                <a:tc>
                  <a:txBody>
                    <a:bodyPr/>
                    <a:lstStyle/>
                    <a:p>
                      <a:pPr algn="ctr">
                        <a:lnSpc>
                          <a:spcPct val="100000"/>
                        </a:lnSpc>
                      </a:pPr>
                      <a:r>
                        <a:rPr lang="it-IT" sz="1400" b="1" strike="noStrike" spc="-1">
                          <a:solidFill>
                            <a:srgbClr val="000000"/>
                          </a:solidFill>
                          <a:latin typeface="Tahoma"/>
                          <a:ea typeface="Tahoma"/>
                        </a:rPr>
                        <a:t>BENI INTERESSATI</a:t>
                      </a:r>
                      <a:endParaRPr lang="it-IT" sz="1400" b="0" strike="noStrike" spc="-1">
                        <a:latin typeface="Arial" panose="020B0604020202020204"/>
                      </a:endParaRPr>
                    </a:p>
                  </a:txBody>
                  <a:tcPr marL="91444" marR="91444" marT="45696" marB="45696">
                    <a:noFill/>
                  </a:tcPr>
                </a:tc>
                <a:extLst>
                  <a:ext uri="{0D108BD9-81ED-4DB2-BD59-A6C34878D82A}">
                    <a16:rowId xmlns:a16="http://schemas.microsoft.com/office/drawing/2014/main" val="10000"/>
                  </a:ext>
                </a:extLst>
              </a:tr>
              <a:tr h="1864531">
                <a:tc>
                  <a:txBody>
                    <a:bodyPr/>
                    <a:lstStyle/>
                    <a:p>
                      <a:pPr algn="ctr">
                        <a:lnSpc>
                          <a:spcPct val="100000"/>
                        </a:lnSpc>
                      </a:pPr>
                      <a:endParaRPr lang="it-IT" sz="1800" b="0" strike="noStrike" spc="-1">
                        <a:latin typeface="Arial" panose="020B0604020202020204"/>
                      </a:endParaRPr>
                    </a:p>
                    <a:p>
                      <a:pPr algn="ctr">
                        <a:lnSpc>
                          <a:spcPct val="100000"/>
                        </a:lnSpc>
                      </a:pPr>
                      <a:endParaRPr lang="it-IT" sz="1800" b="0" strike="noStrike" spc="-1">
                        <a:latin typeface="Arial" panose="020B0604020202020204"/>
                      </a:endParaRPr>
                    </a:p>
                    <a:p>
                      <a:pPr algn="ctr">
                        <a:lnSpc>
                          <a:spcPct val="100000"/>
                        </a:lnSpc>
                      </a:pPr>
                      <a:endParaRPr lang="it-IT" sz="1800" b="0" strike="noStrike" spc="-1">
                        <a:latin typeface="Arial" panose="020B0604020202020204"/>
                      </a:endParaRPr>
                    </a:p>
                    <a:p>
                      <a:pPr algn="ctr">
                        <a:lnSpc>
                          <a:spcPct val="100000"/>
                        </a:lnSpc>
                      </a:pPr>
                      <a:r>
                        <a:rPr lang="it-IT" sz="1400" b="0" strike="noStrike" spc="-1">
                          <a:solidFill>
                            <a:srgbClr val="000000"/>
                          </a:solidFill>
                          <a:latin typeface="Tahoma"/>
                          <a:ea typeface="Tahoma"/>
                        </a:rPr>
                        <a:t>Commercianti al minuto  </a:t>
                      </a:r>
                      <a:endParaRPr lang="it-IT" sz="1400" b="0" strike="noStrike" spc="-1">
                        <a:latin typeface="Arial" panose="020B0604020202020204"/>
                      </a:endParaRPr>
                    </a:p>
                  </a:txBody>
                  <a:tcPr marL="91444" marR="91444" marT="45696" marB="45696">
                    <a:noFill/>
                  </a:tcPr>
                </a:tc>
                <a:tc>
                  <a:txBody>
                    <a:bodyPr/>
                    <a:lstStyle/>
                    <a:p>
                      <a:pPr marL="285750" indent="-283845">
                        <a:lnSpc>
                          <a:spcPct val="100000"/>
                        </a:lnSpc>
                        <a:buClr>
                          <a:srgbClr val="1F497D"/>
                        </a:buClr>
                        <a:buFont typeface="Wingdings" panose="05000000000000000000" pitchFamily="2" charset="2"/>
                        <a:buChar char=""/>
                      </a:pPr>
                      <a:r>
                        <a:rPr lang="it-IT" sz="1400" b="0" strike="noStrike" spc="-1">
                          <a:solidFill>
                            <a:srgbClr val="000000"/>
                          </a:solidFill>
                          <a:latin typeface="Tahoma"/>
                          <a:ea typeface="Tahoma"/>
                        </a:rPr>
                        <a:t>Prodotti alimentari o dietetici;</a:t>
                      </a:r>
                      <a:endParaRPr lang="it-IT" sz="1400" b="0" strike="noStrike" spc="-1">
                        <a:latin typeface="Arial" panose="020B0604020202020204"/>
                      </a:endParaRPr>
                    </a:p>
                    <a:p>
                      <a:pPr>
                        <a:lnSpc>
                          <a:spcPct val="100000"/>
                        </a:lnSpc>
                      </a:pPr>
                      <a:endParaRPr lang="it-IT" sz="1400" b="0" strike="noStrike" spc="-1">
                        <a:latin typeface="Arial" panose="020B0604020202020204"/>
                      </a:endParaRPr>
                    </a:p>
                    <a:p>
                      <a:pPr marL="285750" indent="-283845">
                        <a:lnSpc>
                          <a:spcPct val="100000"/>
                        </a:lnSpc>
                        <a:buClr>
                          <a:srgbClr val="1F497D"/>
                        </a:buClr>
                        <a:buFont typeface="Wingdings" panose="05000000000000000000" pitchFamily="2" charset="2"/>
                        <a:buChar char=""/>
                      </a:pPr>
                      <a:r>
                        <a:rPr lang="it-IT" sz="1400" b="0" strike="noStrike" spc="-1">
                          <a:solidFill>
                            <a:srgbClr val="000000"/>
                          </a:solidFill>
                          <a:latin typeface="Tahoma"/>
                          <a:ea typeface="Tahoma"/>
                        </a:rPr>
                        <a:t>Articoli tessili, di vestiario, calzature;</a:t>
                      </a:r>
                      <a:endParaRPr lang="it-IT" sz="1400" b="0" strike="noStrike" spc="-1">
                        <a:latin typeface="Arial" panose="020B0604020202020204"/>
                      </a:endParaRPr>
                    </a:p>
                    <a:p>
                      <a:pPr>
                        <a:lnSpc>
                          <a:spcPct val="100000"/>
                        </a:lnSpc>
                      </a:pPr>
                      <a:endParaRPr lang="it-IT" sz="1400" b="0" strike="noStrike" spc="-1">
                        <a:latin typeface="Arial" panose="020B0604020202020204"/>
                      </a:endParaRPr>
                    </a:p>
                    <a:p>
                      <a:pPr marL="285750" indent="-283845">
                        <a:lnSpc>
                          <a:spcPct val="100000"/>
                        </a:lnSpc>
                        <a:buClr>
                          <a:srgbClr val="1F497D"/>
                        </a:buClr>
                        <a:buFont typeface="Wingdings" panose="05000000000000000000" pitchFamily="2" charset="2"/>
                        <a:buChar char=""/>
                      </a:pPr>
                      <a:r>
                        <a:rPr lang="it-IT" sz="1400" b="0" strike="noStrike" spc="-1">
                          <a:solidFill>
                            <a:srgbClr val="000000"/>
                          </a:solidFill>
                          <a:latin typeface="Tahoma"/>
                          <a:ea typeface="Tahoma"/>
                        </a:rPr>
                        <a:t>Articoli per l'igiene personale e farmaceutici.</a:t>
                      </a:r>
                      <a:endParaRPr lang="it-IT" sz="1400" b="0" strike="noStrike" spc="-1">
                        <a:latin typeface="Arial" panose="020B0604020202020204"/>
                      </a:endParaRPr>
                    </a:p>
                    <a:p>
                      <a:pPr>
                        <a:lnSpc>
                          <a:spcPct val="100000"/>
                        </a:lnSpc>
                      </a:pPr>
                      <a:endParaRPr lang="it-IT" sz="1400" b="0" strike="noStrike" spc="-1">
                        <a:latin typeface="Arial" panose="020B0604020202020204"/>
                      </a:endParaRPr>
                    </a:p>
                  </a:txBody>
                  <a:tcPr marL="91444" marR="91444" marT="45696" marB="45696">
                    <a:noFill/>
                  </a:tcPr>
                </a:tc>
                <a:extLst>
                  <a:ext uri="{0D108BD9-81ED-4DB2-BD59-A6C34878D82A}">
                    <a16:rowId xmlns:a16="http://schemas.microsoft.com/office/drawing/2014/main" val="10001"/>
                  </a:ext>
                </a:extLst>
              </a:tr>
            </a:tbl>
          </a:graphicData>
        </a:graphic>
      </p:graphicFrame>
      <p:sp>
        <p:nvSpPr>
          <p:cNvPr id="290" name="CustomShape 5"/>
          <p:cNvSpPr/>
          <p:nvPr/>
        </p:nvSpPr>
        <p:spPr>
          <a:xfrm>
            <a:off x="974725" y="4868863"/>
            <a:ext cx="2446338" cy="1206500"/>
          </a:xfrm>
          <a:prstGeom prst="flowChartProcess">
            <a:avLst/>
          </a:prstGeom>
          <a:ln>
            <a:solidFill>
              <a:srgbClr val="F59240"/>
            </a:solidFill>
            <a:round/>
          </a:ln>
          <a:effectLst>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p:style>
        <p:txBody>
          <a:bodyPr lIns="90000" tIns="45000" rIns="90000" bIns="45000" anchor="ctr"/>
          <a:lstStyle/>
          <a:p>
            <a:pPr algn="just" fontAlgn="auto"/>
            <a:r>
              <a:rPr lang="it-IT" sz="1400" spc="-1" noProof="1">
                <a:solidFill>
                  <a:srgbClr val="000000"/>
                </a:solidFill>
                <a:latin typeface="Tahoma"/>
                <a:ea typeface="Tahoma"/>
              </a:rPr>
              <a:t>Registrano gli importi senza distinzione per aliquota e ne applicano una proporzionale agli acquisti effettuati nell'anno </a:t>
            </a:r>
            <a:endParaRPr lang="it-IT" sz="1400" spc="-1" noProof="1"/>
          </a:p>
        </p:txBody>
      </p:sp>
      <p:sp>
        <p:nvSpPr>
          <p:cNvPr id="291" name="CustomShape 6"/>
          <p:cNvSpPr/>
          <p:nvPr/>
        </p:nvSpPr>
        <p:spPr>
          <a:xfrm>
            <a:off x="4572000" y="4870450"/>
            <a:ext cx="3886200" cy="1300163"/>
          </a:xfrm>
          <a:prstGeom prst="flowChartProcess">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fontAlgn="auto"/>
            <a:r>
              <a:rPr lang="it-IT" sz="1400" spc="-1" noProof="1">
                <a:solidFill>
                  <a:srgbClr val="000000"/>
                </a:solidFill>
                <a:latin typeface="Tahoma"/>
                <a:ea typeface="Tahoma"/>
              </a:rPr>
              <a:t>- Fatture emesse nell'anno precedente inferiore al 20% delle vendite;</a:t>
            </a:r>
            <a:endParaRPr lang="it-IT" sz="1400" spc="-1" noProof="1"/>
          </a:p>
          <a:p>
            <a:pPr fontAlgn="auto"/>
            <a:r>
              <a:rPr lang="it-IT" sz="1400" spc="-1" noProof="1">
                <a:solidFill>
                  <a:srgbClr val="000000"/>
                </a:solidFill>
                <a:latin typeface="Tahoma"/>
                <a:ea typeface="Tahoma"/>
              </a:rPr>
              <a:t>- Acquisti di prodotti destinati alla vendita inferiore al 50% degli acquisti totali e delle importazioni. </a:t>
            </a:r>
            <a:endParaRPr lang="it-IT" sz="1400" spc="-1" noProof="1"/>
          </a:p>
          <a:p>
            <a:pPr algn="ctr" fontAlgn="auto"/>
            <a:endParaRPr lang="it-IT" sz="1400" spc="-1" noProof="1"/>
          </a:p>
        </p:txBody>
      </p:sp>
      <p:sp>
        <p:nvSpPr>
          <p:cNvPr id="292" name="CustomShape 7"/>
          <p:cNvSpPr/>
          <p:nvPr/>
        </p:nvSpPr>
        <p:spPr>
          <a:xfrm>
            <a:off x="3506788" y="1277938"/>
            <a:ext cx="1857375" cy="334962"/>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VENTILAZIONE</a:t>
            </a:r>
            <a:endParaRPr lang="it-IT" spc="-1" noProof="1"/>
          </a:p>
        </p:txBody>
      </p:sp>
      <p:sp>
        <p:nvSpPr>
          <p:cNvPr id="293" name="CustomShape 8"/>
          <p:cNvSpPr/>
          <p:nvPr/>
        </p:nvSpPr>
        <p:spPr>
          <a:xfrm>
            <a:off x="474663" y="4464050"/>
            <a:ext cx="3282950" cy="33655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fontAlgn="auto">
              <a:lnSpc>
                <a:spcPct val="90000"/>
              </a:lnSpc>
            </a:pPr>
            <a:r>
              <a:rPr lang="it-IT" i="1" spc="-1" noProof="1">
                <a:solidFill>
                  <a:srgbClr val="000000"/>
                </a:solidFill>
                <a:latin typeface="Tahoma"/>
                <a:ea typeface="Tahoma"/>
              </a:rPr>
              <a:t>ADEMPIMENTI:</a:t>
            </a:r>
            <a:endParaRPr lang="it-IT" spc="-1" noProof="1"/>
          </a:p>
        </p:txBody>
      </p:sp>
      <p:sp>
        <p:nvSpPr>
          <p:cNvPr id="294" name="CustomShape 9"/>
          <p:cNvSpPr/>
          <p:nvPr/>
        </p:nvSpPr>
        <p:spPr>
          <a:xfrm>
            <a:off x="4056063" y="4456113"/>
            <a:ext cx="3282950" cy="33496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fontAlgn="auto">
              <a:lnSpc>
                <a:spcPct val="90000"/>
              </a:lnSpc>
            </a:pPr>
            <a:r>
              <a:rPr lang="it-IT" i="1" spc="-1" noProof="1">
                <a:solidFill>
                  <a:srgbClr val="000000"/>
                </a:solidFill>
                <a:latin typeface="Tahoma"/>
                <a:ea typeface="Tahoma"/>
              </a:rPr>
              <a:t>CONDIZIONI:</a:t>
            </a:r>
            <a:endParaRPr lang="it-IT" spc="-1" noProof="1"/>
          </a:p>
        </p:txBody>
      </p:sp>
      <p:sp>
        <p:nvSpPr>
          <p:cNvPr id="295" name="CustomShape 10"/>
          <p:cNvSpPr/>
          <p:nvPr/>
        </p:nvSpPr>
        <p:spPr>
          <a:xfrm>
            <a:off x="3092450" y="84138"/>
            <a:ext cx="6013450" cy="942975"/>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23 D.P.R. 633/1972)</a:t>
            </a:r>
            <a:endParaRPr lang="it-IT" sz="2800" spc="-1" noProof="1"/>
          </a:p>
        </p:txBody>
      </p:sp>
      <p:sp>
        <p:nvSpPr>
          <p:cNvPr id="296" name="CustomShape 1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r" fontAlgn="auto"/>
            <a:r>
              <a:rPr lang="it-IT" sz="1200" spc="-1" noProof="1">
                <a:solidFill>
                  <a:srgbClr val="FFFFFF"/>
                </a:solidFill>
                <a:latin typeface="Ubuntu" panose="020B0604030602030204"/>
                <a:ea typeface="Ubuntu" panose="020B0604030602030204"/>
              </a:rPr>
              <a:t>33</a:t>
            </a:r>
            <a:endParaRPr lang="it-IT" sz="1200" spc="-1" noProof="1"/>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CustomShape 1"/>
          <p:cNvSpPr/>
          <p:nvPr/>
        </p:nvSpPr>
        <p:spPr>
          <a:xfrm>
            <a:off x="735013" y="890588"/>
            <a:ext cx="8226425" cy="554196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endParaRPr lang="it-IT" spc="-1" noProof="1"/>
          </a:p>
          <a:p>
            <a:pPr fontAlgn="auto">
              <a:lnSpc>
                <a:spcPct val="90000"/>
              </a:lnSpc>
            </a:pPr>
            <a:endParaRPr lang="it-IT" spc="-1" noProof="1"/>
          </a:p>
          <a:p>
            <a:pPr fontAlgn="auto">
              <a:lnSpc>
                <a:spcPct val="90000"/>
              </a:lnSpc>
            </a:pPr>
            <a:endParaRPr lang="it-IT" spc="-1" noProof="1"/>
          </a:p>
          <a:p>
            <a:pPr fontAlgn="auto">
              <a:lnSpc>
                <a:spcPct val="90000"/>
              </a:lnSpc>
            </a:pPr>
            <a:endParaRPr lang="it-IT" spc="-1" noProof="1"/>
          </a:p>
          <a:p>
            <a:pPr algn="ctr" fontAlgn="auto">
              <a:lnSpc>
                <a:spcPct val="90000"/>
              </a:lnSpc>
            </a:pPr>
            <a:r>
              <a:rPr lang="it-IT" i="1" spc="-1" noProof="1">
                <a:solidFill>
                  <a:srgbClr val="000080"/>
                </a:solidFill>
                <a:latin typeface="Tahoma"/>
                <a:ea typeface="Tahoma"/>
              </a:rPr>
              <a:t> </a:t>
            </a:r>
            <a:endParaRPr lang="it-IT" spc="-1" noProof="1"/>
          </a:p>
          <a:p>
            <a:pPr algn="ctr" fontAlgn="auto">
              <a:lnSpc>
                <a:spcPct val="90000"/>
              </a:lnSpc>
            </a:pPr>
            <a:r>
              <a:rPr lang="it-IT" sz="2000" i="1" spc="-1" noProof="1">
                <a:solidFill>
                  <a:srgbClr val="000080"/>
                </a:solidFill>
                <a:latin typeface="Tahoma"/>
                <a:ea typeface="Tahoma"/>
              </a:rPr>
              <a:t>				</a:t>
            </a:r>
            <a:endParaRPr lang="it-IT" sz="2000" spc="-1" noProof="1"/>
          </a:p>
          <a:p>
            <a:pPr algn="just" fontAlgn="auto">
              <a:lnSpc>
                <a:spcPct val="90000"/>
              </a:lnSpc>
            </a:pPr>
            <a:endParaRPr lang="it-IT" sz="2000" spc="-1" noProof="1"/>
          </a:p>
          <a:p>
            <a:pPr algn="just" fontAlgn="auto">
              <a:lnSpc>
                <a:spcPct val="90000"/>
              </a:lnSpc>
            </a:pPr>
            <a:endParaRPr lang="it-IT" sz="2000" spc="-1" noProof="1"/>
          </a:p>
          <a:p>
            <a:pPr algn="just" fontAlgn="auto">
              <a:lnSpc>
                <a:spcPct val="90000"/>
              </a:lnSpc>
            </a:pPr>
            <a:r>
              <a:rPr lang="it-IT" sz="1600" i="1" spc="-1" noProof="1">
                <a:solidFill>
                  <a:srgbClr val="000080"/>
                </a:solidFill>
                <a:latin typeface="Tahoma"/>
                <a:ea typeface="Tahoma"/>
              </a:rPr>
              <a:t> </a:t>
            </a:r>
            <a:r>
              <a:rPr lang="it-IT" sz="1400" i="1" spc="-1" noProof="1">
                <a:solidFill>
                  <a:srgbClr val="000080"/>
                </a:solidFill>
                <a:latin typeface="Tahoma"/>
                <a:ea typeface="Tahoma"/>
              </a:rPr>
              <a:t> </a:t>
            </a:r>
            <a:r>
              <a:rPr lang="it-IT" sz="2000" i="1" spc="-1" noProof="1">
                <a:solidFill>
                  <a:srgbClr val="000080"/>
                </a:solidFill>
                <a:latin typeface="Tahoma"/>
                <a:ea typeface="Tahoma"/>
              </a:rPr>
              <a:t>	 					</a:t>
            </a:r>
            <a:endParaRPr lang="it-IT" sz="2000" spc="-1" noProof="1"/>
          </a:p>
          <a:p>
            <a:pPr fontAlgn="auto">
              <a:lnSpc>
                <a:spcPct val="90000"/>
              </a:lnSpc>
            </a:pPr>
            <a:r>
              <a:rPr lang="it-IT" sz="2000" i="1" spc="-1" noProof="1">
                <a:solidFill>
                  <a:srgbClr val="000080"/>
                </a:solidFill>
                <a:latin typeface="Tahoma"/>
                <a:ea typeface="Tahoma"/>
              </a:rPr>
              <a:t>				 														</a:t>
            </a:r>
            <a:endParaRPr lang="it-IT" sz="2000" spc="-1" noProof="1"/>
          </a:p>
          <a:p>
            <a:pPr fontAlgn="auto">
              <a:lnSpc>
                <a:spcPct val="90000"/>
              </a:lnSpc>
            </a:pPr>
            <a:endParaRPr lang="it-IT" sz="2000" spc="-1" noProof="1"/>
          </a:p>
          <a:p>
            <a:pPr algn="just" fontAlgn="auto">
              <a:lnSpc>
                <a:spcPct val="90000"/>
              </a:lnSpc>
            </a:pPr>
            <a:endParaRPr lang="it-IT" sz="2000" spc="-1" noProof="1"/>
          </a:p>
          <a:p>
            <a:pPr algn="ctr" fontAlgn="auto">
              <a:lnSpc>
                <a:spcPct val="90000"/>
              </a:lnSpc>
            </a:pPr>
            <a:endParaRPr lang="it-IT" sz="2000" spc="-1" noProof="1"/>
          </a:p>
          <a:p>
            <a:pPr algn="just" fontAlgn="auto">
              <a:lnSpc>
                <a:spcPct val="90000"/>
              </a:lnSpc>
            </a:pPr>
            <a:r>
              <a:rPr lang="it-IT" sz="2000" i="1" spc="-1" noProof="1">
                <a:solidFill>
                  <a:srgbClr val="000080"/>
                </a:solidFill>
                <a:latin typeface="Tahoma"/>
                <a:ea typeface="Tahoma"/>
              </a:rPr>
              <a:t>      </a:t>
            </a:r>
            <a:endParaRPr lang="it-IT" sz="2000" spc="-1" noProof="1"/>
          </a:p>
          <a:p>
            <a:pPr algn="just" fontAlgn="auto">
              <a:lnSpc>
                <a:spcPct val="90000"/>
              </a:lnSpc>
            </a:pPr>
            <a:endParaRPr lang="it-IT" sz="2000" spc="-1" noProof="1"/>
          </a:p>
        </p:txBody>
      </p:sp>
      <p:sp>
        <p:nvSpPr>
          <p:cNvPr id="298" name="Line 2"/>
          <p:cNvSpPr/>
          <p:nvPr/>
        </p:nvSpPr>
        <p:spPr>
          <a:xfrm>
            <a:off x="7956550" y="6389688"/>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299" name="Line 3"/>
          <p:cNvSpPr/>
          <p:nvPr/>
        </p:nvSpPr>
        <p:spPr>
          <a:xfrm>
            <a:off x="3563938" y="2501900"/>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00" name="CustomShape 4"/>
          <p:cNvSpPr/>
          <p:nvPr/>
        </p:nvSpPr>
        <p:spPr>
          <a:xfrm>
            <a:off x="1114425" y="1739900"/>
            <a:ext cx="2733675" cy="646113"/>
          </a:xfrm>
          <a:prstGeom prst="flowChartProcess">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ctr" fontAlgn="auto"/>
            <a:r>
              <a:rPr lang="it-IT" sz="1400" spc="-1" noProof="1">
                <a:solidFill>
                  <a:srgbClr val="000000"/>
                </a:solidFill>
                <a:latin typeface="Tahoma"/>
                <a:ea typeface="Tahoma"/>
              </a:rPr>
              <a:t>FATTURE DI ACQUISTO</a:t>
            </a:r>
            <a:endParaRPr lang="it-IT" sz="1400" spc="-1" noProof="1"/>
          </a:p>
        </p:txBody>
      </p:sp>
      <p:sp>
        <p:nvSpPr>
          <p:cNvPr id="301" name="CustomShape 5"/>
          <p:cNvSpPr/>
          <p:nvPr/>
        </p:nvSpPr>
        <p:spPr>
          <a:xfrm>
            <a:off x="5307013" y="1739900"/>
            <a:ext cx="3021012" cy="646113"/>
          </a:xfrm>
          <a:prstGeom prst="flowChartProcess">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ctr" fontAlgn="auto"/>
            <a:r>
              <a:rPr lang="it-IT" sz="1400" spc="-1" noProof="1">
                <a:solidFill>
                  <a:srgbClr val="000000"/>
                </a:solidFill>
                <a:latin typeface="Tahoma"/>
                <a:ea typeface="Tahoma"/>
              </a:rPr>
              <a:t>BOLLETTE DOGANALI DI IMPORTAZIONE </a:t>
            </a:r>
            <a:endParaRPr lang="it-IT" sz="1400" spc="-1" noProof="1"/>
          </a:p>
        </p:txBody>
      </p:sp>
      <p:sp>
        <p:nvSpPr>
          <p:cNvPr id="302" name="Line 6"/>
          <p:cNvSpPr/>
          <p:nvPr/>
        </p:nvSpPr>
        <p:spPr>
          <a:xfrm>
            <a:off x="2422525" y="2549525"/>
            <a:ext cx="0" cy="1079500"/>
          </a:xfrm>
          <a:prstGeom prst="line">
            <a:avLst/>
          </a:prstGeom>
          <a:ln>
            <a:round/>
          </a:ln>
        </p:spPr>
        <p:style>
          <a:lnRef idx="3">
            <a:schemeClr val="accent1"/>
          </a:lnRef>
          <a:fillRef idx="0">
            <a:schemeClr val="accent1"/>
          </a:fillRef>
          <a:effectRef idx="2">
            <a:schemeClr val="accent1"/>
          </a:effectRef>
          <a:fontRef idx="minor"/>
        </p:style>
        <p:txBody>
          <a:bodyPr/>
          <a:lstStyle/>
          <a:p>
            <a:endParaRPr lang="it-IT"/>
          </a:p>
        </p:txBody>
      </p:sp>
      <p:sp>
        <p:nvSpPr>
          <p:cNvPr id="303" name="Line 7"/>
          <p:cNvSpPr/>
          <p:nvPr/>
        </p:nvSpPr>
        <p:spPr>
          <a:xfrm>
            <a:off x="2422525" y="3629025"/>
            <a:ext cx="647700" cy="1588"/>
          </a:xfrm>
          <a:prstGeom prst="line">
            <a:avLst/>
          </a:prstGeom>
          <a:ln>
            <a:round/>
            <a:tailEnd type="triangle" w="med" len="med"/>
          </a:ln>
        </p:spPr>
        <p:style>
          <a:lnRef idx="3">
            <a:schemeClr val="accent1"/>
          </a:lnRef>
          <a:fillRef idx="0">
            <a:schemeClr val="accent1"/>
          </a:fillRef>
          <a:effectRef idx="2">
            <a:schemeClr val="accent1"/>
          </a:effectRef>
          <a:fontRef idx="minor"/>
        </p:style>
        <p:txBody>
          <a:bodyPr/>
          <a:lstStyle/>
          <a:p>
            <a:endParaRPr lang="it-IT"/>
          </a:p>
        </p:txBody>
      </p:sp>
      <p:sp>
        <p:nvSpPr>
          <p:cNvPr id="304" name="Line 8"/>
          <p:cNvSpPr/>
          <p:nvPr/>
        </p:nvSpPr>
        <p:spPr>
          <a:xfrm>
            <a:off x="6721475" y="2557463"/>
            <a:ext cx="0" cy="1081087"/>
          </a:xfrm>
          <a:prstGeom prst="line">
            <a:avLst/>
          </a:prstGeom>
          <a:ln>
            <a:round/>
          </a:ln>
        </p:spPr>
        <p:style>
          <a:lnRef idx="3">
            <a:schemeClr val="accent1"/>
          </a:lnRef>
          <a:fillRef idx="0">
            <a:schemeClr val="accent1"/>
          </a:fillRef>
          <a:effectRef idx="2">
            <a:schemeClr val="accent1"/>
          </a:effectRef>
          <a:fontRef idx="minor"/>
        </p:style>
        <p:txBody>
          <a:bodyPr/>
          <a:lstStyle/>
          <a:p>
            <a:endParaRPr lang="it-IT"/>
          </a:p>
        </p:txBody>
      </p:sp>
      <p:sp>
        <p:nvSpPr>
          <p:cNvPr id="305" name="Line 9"/>
          <p:cNvSpPr/>
          <p:nvPr/>
        </p:nvSpPr>
        <p:spPr>
          <a:xfrm flipH="1">
            <a:off x="5926138" y="3638550"/>
            <a:ext cx="795337" cy="1588"/>
          </a:xfrm>
          <a:prstGeom prst="line">
            <a:avLst/>
          </a:prstGeom>
          <a:ln>
            <a:round/>
            <a:tailEnd type="triangle" w="med" len="med"/>
          </a:ln>
        </p:spPr>
        <p:style>
          <a:lnRef idx="3">
            <a:schemeClr val="accent1"/>
          </a:lnRef>
          <a:fillRef idx="0">
            <a:schemeClr val="accent1"/>
          </a:fillRef>
          <a:effectRef idx="2">
            <a:schemeClr val="accent1"/>
          </a:effectRef>
          <a:fontRef idx="minor"/>
        </p:style>
        <p:txBody>
          <a:bodyPr/>
          <a:lstStyle/>
          <a:p>
            <a:endParaRPr lang="it-IT"/>
          </a:p>
        </p:txBody>
      </p:sp>
      <p:sp>
        <p:nvSpPr>
          <p:cNvPr id="306" name="CustomShape 10"/>
          <p:cNvSpPr/>
          <p:nvPr/>
        </p:nvSpPr>
        <p:spPr>
          <a:xfrm>
            <a:off x="3348038" y="3044825"/>
            <a:ext cx="2446337" cy="1150938"/>
          </a:xfrm>
          <a:prstGeom prst="flowChartProcess">
            <a:avLst/>
          </a:prstGeom>
          <a:ln>
            <a:solidFill>
              <a:srgbClr val="F59240"/>
            </a:solidFill>
            <a:round/>
          </a:ln>
          <a:effectLst>
            <a:outerShdw blurRad="40000" dist="20000" dir="5400000" rotWithShape="0">
              <a:srgbClr val="000000">
                <a:alpha val="38000"/>
              </a:srgbClr>
            </a:outerShdw>
          </a:effectLst>
        </p:spPr>
        <p:style>
          <a:lnRef idx="1">
            <a:schemeClr val="accent6"/>
          </a:lnRef>
          <a:fillRef idx="2">
            <a:schemeClr val="accent6"/>
          </a:fillRef>
          <a:effectRef idx="1">
            <a:schemeClr val="accent6"/>
          </a:effectRef>
          <a:fontRef idx="minor"/>
        </p:style>
        <p:txBody>
          <a:bodyPr lIns="90000" tIns="45000" rIns="90000" bIns="45000" anchor="ctr"/>
          <a:lstStyle/>
          <a:p>
            <a:pPr fontAlgn="auto"/>
            <a:r>
              <a:rPr lang="it-IT" sz="1400" spc="-1" noProof="1">
                <a:solidFill>
                  <a:srgbClr val="000000"/>
                </a:solidFill>
                <a:latin typeface="Tahoma"/>
                <a:ea typeface="Tahoma"/>
              </a:rPr>
              <a:t>Devono essere numerate cronologicamente e registrate nel registro degli acquisti </a:t>
            </a:r>
            <a:endParaRPr lang="it-IT" sz="1400" spc="-1" noProof="1"/>
          </a:p>
        </p:txBody>
      </p:sp>
      <p:sp>
        <p:nvSpPr>
          <p:cNvPr id="307" name="CustomShape 11"/>
          <p:cNvSpPr/>
          <p:nvPr/>
        </p:nvSpPr>
        <p:spPr>
          <a:xfrm>
            <a:off x="1168400" y="4546600"/>
            <a:ext cx="2413000" cy="1581150"/>
          </a:xfrm>
          <a:prstGeom prst="flowChartProcess">
            <a:avLst/>
          </a:prstGeom>
          <a:ln>
            <a:solidFill>
              <a:srgbClr val="7D5FA0"/>
            </a:solidFill>
            <a:round/>
          </a:ln>
          <a:effectLst>
            <a:outerShdw blurRad="40000" dist="20000" dir="5400000" rotWithShape="0">
              <a:srgbClr val="000000">
                <a:alpha val="38000"/>
              </a:srgbClr>
            </a:outerShdw>
          </a:effectLst>
        </p:spPr>
        <p:style>
          <a:lnRef idx="1">
            <a:schemeClr val="accent4"/>
          </a:lnRef>
          <a:fillRef idx="2">
            <a:schemeClr val="accent4"/>
          </a:fillRef>
          <a:effectRef idx="1">
            <a:schemeClr val="accent4"/>
          </a:effectRef>
          <a:fontRef idx="minor"/>
        </p:style>
        <p:txBody>
          <a:bodyPr lIns="90000" tIns="45000" rIns="90000" bIns="45000" anchor="ctr"/>
          <a:lstStyle/>
          <a:p>
            <a:pPr fontAlgn="auto"/>
            <a:r>
              <a:rPr lang="it-IT" sz="1400" spc="-1" noProof="1">
                <a:solidFill>
                  <a:srgbClr val="000000"/>
                </a:solidFill>
                <a:latin typeface="Tahoma"/>
                <a:ea typeface="Tahoma"/>
              </a:rPr>
              <a:t>Prima della liquidazione periodica </a:t>
            </a:r>
            <a:r>
              <a:rPr lang="it-IT" sz="1400" b="1" u="sng" spc="-1" noProof="1">
                <a:solidFill>
                  <a:srgbClr val="000000"/>
                </a:solidFill>
                <a:latin typeface="Tahoma"/>
                <a:ea typeface="Tahoma"/>
              </a:rPr>
              <a:t>ovvero</a:t>
            </a:r>
            <a:r>
              <a:rPr lang="it-IT" sz="1400" spc="-1" noProof="1">
                <a:solidFill>
                  <a:srgbClr val="000000"/>
                </a:solidFill>
                <a:latin typeface="Tahoma"/>
                <a:ea typeface="Tahoma"/>
              </a:rPr>
              <a:t> prima della dichiarazione annuale nella quale è esercitato il diritto alla detrazione della relativa imposta.</a:t>
            </a:r>
            <a:endParaRPr lang="it-IT" sz="1400" spc="-1" noProof="1"/>
          </a:p>
        </p:txBody>
      </p:sp>
      <p:sp>
        <p:nvSpPr>
          <p:cNvPr id="308" name="CustomShape 12"/>
          <p:cNvSpPr/>
          <p:nvPr/>
        </p:nvSpPr>
        <p:spPr>
          <a:xfrm>
            <a:off x="5657850" y="4546600"/>
            <a:ext cx="2590800" cy="1609725"/>
          </a:xfrm>
          <a:prstGeom prst="flowChartProcess">
            <a:avLst/>
          </a:prstGeom>
          <a:ln>
            <a:solidFill>
              <a:srgbClr val="7D5FA0"/>
            </a:solidFill>
            <a:round/>
          </a:ln>
          <a:effectLst>
            <a:outerShdw blurRad="40000" dist="20000" dir="5400000" rotWithShape="0">
              <a:srgbClr val="000000">
                <a:alpha val="38000"/>
              </a:srgbClr>
            </a:outerShdw>
          </a:effectLst>
        </p:spPr>
        <p:style>
          <a:lnRef idx="1">
            <a:schemeClr val="accent4"/>
          </a:lnRef>
          <a:fillRef idx="2">
            <a:schemeClr val="accent4"/>
          </a:fillRef>
          <a:effectRef idx="1">
            <a:schemeClr val="accent4"/>
          </a:effectRef>
          <a:fontRef idx="minor"/>
        </p:style>
        <p:txBody>
          <a:bodyPr lIns="90000" tIns="45000" rIns="90000" bIns="45000" anchor="ctr"/>
          <a:lstStyle/>
          <a:p>
            <a:pPr fontAlgn="auto"/>
            <a:r>
              <a:rPr lang="it-IT" sz="1400" spc="-1" noProof="1">
                <a:solidFill>
                  <a:srgbClr val="000000"/>
                </a:solidFill>
                <a:latin typeface="Tahoma"/>
                <a:ea typeface="Tahoma"/>
              </a:rPr>
              <a:t>Entro il termine massimo di presentazione della dichiarazione annuale relativa all’anno di ricezione della fattura e con riferimento al medesimo anno</a:t>
            </a:r>
            <a:endParaRPr lang="it-IT" sz="1400" spc="-1" noProof="1"/>
          </a:p>
        </p:txBody>
      </p:sp>
      <p:sp>
        <p:nvSpPr>
          <p:cNvPr id="309" name="CustomShape 13"/>
          <p:cNvSpPr/>
          <p:nvPr/>
        </p:nvSpPr>
        <p:spPr>
          <a:xfrm>
            <a:off x="2481263" y="1233488"/>
            <a:ext cx="3971925" cy="33655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REGISTRAZIONE DEGLI ACQUISTI</a:t>
            </a:r>
            <a:endParaRPr lang="it-IT" spc="-1" noProof="1"/>
          </a:p>
        </p:txBody>
      </p:sp>
      <p:sp>
        <p:nvSpPr>
          <p:cNvPr id="310" name="CustomShape 14"/>
          <p:cNvSpPr/>
          <p:nvPr/>
        </p:nvSpPr>
        <p:spPr>
          <a:xfrm>
            <a:off x="3856038" y="4845050"/>
            <a:ext cx="1565275" cy="658813"/>
          </a:xfrm>
          <a:prstGeom prst="leftRightArrow">
            <a:avLst>
              <a:gd name="adj1" fmla="val 50000"/>
              <a:gd name="adj2" fmla="val 50000"/>
            </a:avLst>
          </a:prstGeom>
          <a:ln>
            <a:round/>
          </a:ln>
        </p:spPr>
        <p:style>
          <a:lnRef idx="2">
            <a:schemeClr val="accent1">
              <a:shade val="50000"/>
            </a:schemeClr>
          </a:lnRef>
          <a:fillRef idx="1">
            <a:schemeClr val="accent1"/>
          </a:fillRef>
          <a:effectRef idx="0">
            <a:schemeClr val="accent1"/>
          </a:effectRef>
          <a:fontRef idx="minor"/>
        </p:style>
        <p:txBody>
          <a:bodyPr/>
          <a:lstStyle/>
          <a:p>
            <a:endParaRPr lang="it-IT"/>
          </a:p>
        </p:txBody>
      </p:sp>
      <p:sp>
        <p:nvSpPr>
          <p:cNvPr id="311" name="CustomShape 15"/>
          <p:cNvSpPr/>
          <p:nvPr/>
        </p:nvSpPr>
        <p:spPr>
          <a:xfrm>
            <a:off x="4179888" y="5033963"/>
            <a:ext cx="862012" cy="27146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z="1200" spc="-1" noProof="1">
                <a:solidFill>
                  <a:srgbClr val="000000"/>
                </a:solidFill>
                <a:latin typeface="Tahoma"/>
                <a:ea typeface="Tahoma"/>
              </a:rPr>
              <a:t>TERMINI</a:t>
            </a:r>
            <a:endParaRPr lang="it-IT" sz="1200" spc="-1" noProof="1"/>
          </a:p>
        </p:txBody>
      </p:sp>
      <p:sp>
        <p:nvSpPr>
          <p:cNvPr id="312" name="CustomShape 16"/>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25 D.P.R. 633/1972)</a:t>
            </a:r>
            <a:endParaRPr lang="it-IT" sz="2800" spc="-1" noProof="1"/>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Line 1"/>
          <p:cNvSpPr/>
          <p:nvPr/>
        </p:nvSpPr>
        <p:spPr>
          <a:xfrm>
            <a:off x="7956550" y="6389688"/>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14" name="Line 2"/>
          <p:cNvSpPr/>
          <p:nvPr/>
        </p:nvSpPr>
        <p:spPr>
          <a:xfrm>
            <a:off x="3563938" y="2501900"/>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15" name="CustomShape 3"/>
          <p:cNvSpPr/>
          <p:nvPr/>
        </p:nvSpPr>
        <p:spPr>
          <a:xfrm>
            <a:off x="2386013" y="1393825"/>
            <a:ext cx="3971925" cy="334963"/>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REGISTRAZIONE DEGLI ACQUISTI</a:t>
            </a:r>
            <a:endParaRPr lang="it-IT" spc="-1" noProof="1"/>
          </a:p>
        </p:txBody>
      </p:sp>
      <p:sp>
        <p:nvSpPr>
          <p:cNvPr id="316" name="CustomShape 4"/>
          <p:cNvSpPr/>
          <p:nvPr/>
        </p:nvSpPr>
        <p:spPr>
          <a:xfrm>
            <a:off x="279400" y="1998663"/>
            <a:ext cx="8185150" cy="2557462"/>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fontAlgn="auto"/>
            <a:r>
              <a:rPr lang="it-IT" spc="-1" noProof="1">
                <a:solidFill>
                  <a:srgbClr val="000000"/>
                </a:solidFill>
                <a:latin typeface="Tahoma"/>
                <a:ea typeface="Tahoma"/>
              </a:rPr>
              <a:t>Contenuto della registrazione:</a:t>
            </a:r>
            <a:endParaRPr lang="it-IT" spc="-1" noProof="1"/>
          </a:p>
          <a:p>
            <a:pPr fontAlgn="auto"/>
            <a:endParaRPr lang="it-IT" spc="-1" noProof="1"/>
          </a:p>
          <a:p>
            <a:pPr marL="285750" indent="-283845" fontAlgn="auto">
              <a:buClr>
                <a:srgbClr val="1F497D"/>
              </a:buClr>
              <a:buFont typeface="Wingdings" panose="05000000000000000000" pitchFamily="2" charset="2"/>
              <a:buChar char=""/>
            </a:pPr>
            <a:r>
              <a:rPr lang="it-IT" spc="-1" noProof="1">
                <a:solidFill>
                  <a:srgbClr val="000000"/>
                </a:solidFill>
                <a:latin typeface="Tahoma"/>
                <a:ea typeface="Tahoma"/>
              </a:rPr>
              <a:t>data di emissione della fattura;</a:t>
            </a:r>
            <a:endParaRPr lang="it-IT" spc="-1" noProof="1"/>
          </a:p>
          <a:p>
            <a:pPr fontAlgn="auto"/>
            <a:endParaRPr lang="it-IT" spc="-1" noProof="1"/>
          </a:p>
          <a:p>
            <a:pPr marL="285750" indent="-283845" fontAlgn="auto">
              <a:buClr>
                <a:srgbClr val="1F497D"/>
              </a:buClr>
              <a:buFont typeface="Wingdings" panose="05000000000000000000" pitchFamily="2" charset="2"/>
              <a:buChar char=""/>
            </a:pPr>
            <a:r>
              <a:rPr lang="it-IT" spc="-1" noProof="1">
                <a:solidFill>
                  <a:srgbClr val="000000"/>
                </a:solidFill>
                <a:latin typeface="Tahoma"/>
                <a:ea typeface="Tahoma"/>
              </a:rPr>
              <a:t>numero progressivo attribuito dal cliente o committente;</a:t>
            </a:r>
            <a:endParaRPr lang="it-IT" spc="-1" noProof="1"/>
          </a:p>
          <a:p>
            <a:pPr fontAlgn="auto"/>
            <a:endParaRPr lang="it-IT" spc="-1" noProof="1"/>
          </a:p>
          <a:p>
            <a:pPr marL="285750" indent="-283845" fontAlgn="auto">
              <a:buClr>
                <a:srgbClr val="1F497D"/>
              </a:buClr>
              <a:buFont typeface="Wingdings" panose="05000000000000000000" pitchFamily="2" charset="2"/>
              <a:buChar char=""/>
            </a:pPr>
            <a:r>
              <a:rPr lang="it-IT" spc="-1" noProof="1">
                <a:solidFill>
                  <a:srgbClr val="000000"/>
                </a:solidFill>
                <a:latin typeface="Tahoma"/>
                <a:ea typeface="Tahoma"/>
              </a:rPr>
              <a:t>denominazione o ragione sociale del cedente;</a:t>
            </a:r>
            <a:endParaRPr lang="it-IT" spc="-1" noProof="1"/>
          </a:p>
          <a:p>
            <a:pPr fontAlgn="auto"/>
            <a:endParaRPr lang="it-IT" spc="-1" noProof="1"/>
          </a:p>
          <a:p>
            <a:pPr marL="285750" indent="-283845" fontAlgn="auto">
              <a:buClr>
                <a:srgbClr val="1F497D"/>
              </a:buClr>
              <a:buFont typeface="Wingdings" panose="05000000000000000000" pitchFamily="2" charset="2"/>
              <a:buChar char=""/>
            </a:pPr>
            <a:r>
              <a:rPr lang="it-IT" spc="-1" noProof="1">
                <a:solidFill>
                  <a:srgbClr val="000000"/>
                </a:solidFill>
                <a:latin typeface="Tahoma"/>
                <a:ea typeface="Tahoma"/>
              </a:rPr>
              <a:t>imposta distinta per aliquota. </a:t>
            </a:r>
            <a:endParaRPr lang="it-IT" spc="-1" noProof="1"/>
          </a:p>
        </p:txBody>
      </p:sp>
      <p:sp>
        <p:nvSpPr>
          <p:cNvPr id="317"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25 D.P.R. 633/1972)</a:t>
            </a:r>
            <a:endParaRPr lang="it-IT" sz="2800" spc="-1" noProof="1"/>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CustomShape 1"/>
          <p:cNvSpPr/>
          <p:nvPr/>
        </p:nvSpPr>
        <p:spPr>
          <a:xfrm>
            <a:off x="422275" y="890588"/>
            <a:ext cx="8226425" cy="5541962"/>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endParaRPr lang="it-IT" spc="-1" noProof="1"/>
          </a:p>
          <a:p>
            <a:pPr fontAlgn="auto">
              <a:lnSpc>
                <a:spcPct val="90000"/>
              </a:lnSpc>
            </a:pPr>
            <a:endParaRPr lang="it-IT" spc="-1" noProof="1"/>
          </a:p>
          <a:p>
            <a:pPr fontAlgn="auto">
              <a:lnSpc>
                <a:spcPct val="90000"/>
              </a:lnSpc>
            </a:pPr>
            <a:endParaRPr lang="it-IT" spc="-1" noProof="1"/>
          </a:p>
          <a:p>
            <a:pPr fontAlgn="auto">
              <a:lnSpc>
                <a:spcPct val="90000"/>
              </a:lnSpc>
            </a:pPr>
            <a:endParaRPr lang="it-IT" spc="-1" noProof="1"/>
          </a:p>
          <a:p>
            <a:pPr fontAlgn="auto">
              <a:lnSpc>
                <a:spcPct val="90000"/>
              </a:lnSpc>
            </a:pPr>
            <a:endParaRPr lang="it-IT" spc="-1" noProof="1"/>
          </a:p>
          <a:p>
            <a:pPr fontAlgn="auto">
              <a:lnSpc>
                <a:spcPct val="90000"/>
              </a:lnSpc>
            </a:pPr>
            <a:r>
              <a:rPr lang="it-IT" sz="2000" b="1" i="1" spc="-1" noProof="1">
                <a:solidFill>
                  <a:srgbClr val="0047FF"/>
                </a:solidFill>
                <a:latin typeface="Tahoma"/>
                <a:ea typeface="ヒラギノ角ゴ ProN W6"/>
              </a:rPr>
              <a:t> </a:t>
            </a:r>
            <a:endParaRPr lang="it-IT" sz="2000" spc="-1" noProof="1"/>
          </a:p>
          <a:p>
            <a:pPr algn="just" fontAlgn="auto">
              <a:lnSpc>
                <a:spcPct val="90000"/>
              </a:lnSpc>
            </a:pPr>
            <a:r>
              <a:rPr lang="it-IT" sz="2000" i="1" spc="-1" noProof="1">
                <a:solidFill>
                  <a:srgbClr val="000080"/>
                </a:solidFill>
                <a:latin typeface="Tahoma"/>
                <a:ea typeface="Tahoma"/>
              </a:rPr>
              <a:t> </a:t>
            </a:r>
            <a:endParaRPr lang="it-IT" sz="2000" spc="-1" noProof="1"/>
          </a:p>
          <a:p>
            <a:pPr algn="ctr" fontAlgn="auto">
              <a:lnSpc>
                <a:spcPct val="90000"/>
              </a:lnSpc>
            </a:pPr>
            <a:endParaRPr lang="it-IT" sz="2000" spc="-1" noProof="1"/>
          </a:p>
          <a:p>
            <a:pPr fontAlgn="auto">
              <a:lnSpc>
                <a:spcPct val="90000"/>
              </a:lnSpc>
            </a:pPr>
            <a:r>
              <a:rPr lang="it-IT" sz="2000" i="1" spc="-1" noProof="1">
                <a:solidFill>
                  <a:srgbClr val="000080"/>
                </a:solidFill>
                <a:latin typeface="Tahoma"/>
                <a:ea typeface="Tahoma"/>
              </a:rPr>
              <a:t>				 														</a:t>
            </a:r>
            <a:endParaRPr lang="it-IT" sz="2000" spc="-1" noProof="1"/>
          </a:p>
          <a:p>
            <a:pPr fontAlgn="auto">
              <a:lnSpc>
                <a:spcPct val="90000"/>
              </a:lnSpc>
            </a:pPr>
            <a:endParaRPr lang="it-IT" sz="2000" spc="-1" noProof="1"/>
          </a:p>
          <a:p>
            <a:pPr algn="just" fontAlgn="auto">
              <a:lnSpc>
                <a:spcPct val="90000"/>
              </a:lnSpc>
            </a:pPr>
            <a:endParaRPr lang="it-IT" sz="2000" spc="-1" noProof="1"/>
          </a:p>
          <a:p>
            <a:pPr algn="ctr" fontAlgn="auto">
              <a:lnSpc>
                <a:spcPct val="90000"/>
              </a:lnSpc>
            </a:pPr>
            <a:endParaRPr lang="it-IT" sz="2000" spc="-1" noProof="1"/>
          </a:p>
          <a:p>
            <a:pPr algn="just" fontAlgn="auto">
              <a:lnSpc>
                <a:spcPct val="90000"/>
              </a:lnSpc>
            </a:pPr>
            <a:r>
              <a:rPr lang="it-IT" sz="2000" i="1" spc="-1" noProof="1">
                <a:solidFill>
                  <a:srgbClr val="000080"/>
                </a:solidFill>
                <a:latin typeface="Tahoma"/>
                <a:ea typeface="Tahoma"/>
              </a:rPr>
              <a:t>      </a:t>
            </a:r>
            <a:endParaRPr lang="it-IT" sz="2000" spc="-1" noProof="1"/>
          </a:p>
          <a:p>
            <a:pPr algn="just" fontAlgn="auto">
              <a:lnSpc>
                <a:spcPct val="90000"/>
              </a:lnSpc>
            </a:pPr>
            <a:endParaRPr lang="it-IT" sz="2000" spc="-1" noProof="1"/>
          </a:p>
        </p:txBody>
      </p:sp>
      <p:sp>
        <p:nvSpPr>
          <p:cNvPr id="319" name="Line 2"/>
          <p:cNvSpPr/>
          <p:nvPr/>
        </p:nvSpPr>
        <p:spPr>
          <a:xfrm>
            <a:off x="7956550" y="6389688"/>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20" name="Line 3"/>
          <p:cNvSpPr/>
          <p:nvPr/>
        </p:nvSpPr>
        <p:spPr>
          <a:xfrm>
            <a:off x="3563938" y="2501900"/>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21" name="CustomShape 4"/>
          <p:cNvSpPr/>
          <p:nvPr/>
        </p:nvSpPr>
        <p:spPr>
          <a:xfrm>
            <a:off x="2433638" y="1203325"/>
            <a:ext cx="3970337" cy="33655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fontAlgn="auto">
              <a:lnSpc>
                <a:spcPct val="90000"/>
              </a:lnSpc>
            </a:pPr>
            <a:r>
              <a:rPr lang="it-IT" b="1" i="1" spc="-1" noProof="1">
                <a:solidFill>
                  <a:srgbClr val="4F81BD"/>
                </a:solidFill>
              </a:rPr>
              <a:t>REGISTRAZIONE DEGLI ACQUISTI</a:t>
            </a:r>
            <a:endParaRPr lang="it-IT" spc="-1" noProof="1"/>
          </a:p>
        </p:txBody>
      </p:sp>
      <p:graphicFrame>
        <p:nvGraphicFramePr>
          <p:cNvPr id="322" name="Table 5"/>
          <p:cNvGraphicFramePr/>
          <p:nvPr/>
        </p:nvGraphicFramePr>
        <p:xfrm>
          <a:off x="1524000" y="1617663"/>
          <a:ext cx="6096000" cy="4725989"/>
        </p:xfrm>
        <a:graphic>
          <a:graphicData uri="http://schemas.openxmlformats.org/drawingml/2006/table">
            <a:tbl>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06714">
                <a:tc>
                  <a:txBody>
                    <a:bodyPr/>
                    <a:lstStyle/>
                    <a:p>
                      <a:pPr algn="ctr">
                        <a:lnSpc>
                          <a:spcPct val="100000"/>
                        </a:lnSpc>
                      </a:pPr>
                      <a:r>
                        <a:rPr lang="it-IT" sz="1400" b="1" strike="noStrike" spc="-1">
                          <a:solidFill>
                            <a:srgbClr val="FFFFFF"/>
                          </a:solidFill>
                          <a:latin typeface="Tahoma"/>
                          <a:ea typeface="Tahoma"/>
                        </a:rPr>
                        <a:t>TIPOLOGIA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tc>
                  <a:txBody>
                    <a:bodyPr/>
                    <a:lstStyle/>
                    <a:p>
                      <a:pPr algn="ctr">
                        <a:lnSpc>
                          <a:spcPct val="100000"/>
                        </a:lnSpc>
                      </a:pPr>
                      <a:r>
                        <a:rPr lang="it-IT" sz="1400" b="1" strike="noStrike" spc="-1">
                          <a:solidFill>
                            <a:srgbClr val="FFFFFF"/>
                          </a:solidFill>
                          <a:latin typeface="Tahoma"/>
                          <a:ea typeface="Tahoma"/>
                        </a:rPr>
                        <a:t>ADEMPIMENTI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38160">
                      <a:solidFill>
                        <a:srgbClr val="FFFFFF"/>
                      </a:solidFill>
                    </a:lnB>
                    <a:solidFill>
                      <a:srgbClr val="4F81BD"/>
                    </a:solidFill>
                  </a:tcPr>
                </a:tc>
                <a:extLst>
                  <a:ext uri="{0D108BD9-81ED-4DB2-BD59-A6C34878D82A}">
                    <a16:rowId xmlns:a16="http://schemas.microsoft.com/office/drawing/2014/main" val="10000"/>
                  </a:ext>
                </a:extLst>
              </a:tr>
              <a:tr h="736546">
                <a:tc>
                  <a:txBody>
                    <a:bodyPr/>
                    <a:lstStyle/>
                    <a:p>
                      <a:pPr>
                        <a:lnSpc>
                          <a:spcPct val="100000"/>
                        </a:lnSpc>
                      </a:pPr>
                      <a:r>
                        <a:rPr lang="it-IT" sz="1400" b="0" strike="noStrike" spc="-1">
                          <a:solidFill>
                            <a:srgbClr val="000000"/>
                          </a:solidFill>
                          <a:latin typeface="Tahoma"/>
                          <a:ea typeface="Tahoma"/>
                        </a:rPr>
                        <a:t>Fatture non imponibili o esenti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38160">
                      <a:solidFill>
                        <a:srgbClr val="FFFFFF"/>
                      </a:solidFill>
                    </a:lnT>
                    <a:lnB w="12240">
                      <a:solidFill>
                        <a:srgbClr val="FFFFFF"/>
                      </a:solidFill>
                    </a:lnB>
                    <a:solidFill>
                      <a:srgbClr val="D0D8E7"/>
                    </a:solidFill>
                  </a:tcPr>
                </a:tc>
                <a:tc>
                  <a:txBody>
                    <a:bodyPr/>
                    <a:lstStyle/>
                    <a:p>
                      <a:pPr>
                        <a:lnSpc>
                          <a:spcPct val="100000"/>
                        </a:lnSpc>
                      </a:pPr>
                      <a:r>
                        <a:rPr lang="it-IT" sz="1400" b="0" strike="noStrike" spc="-1">
                          <a:solidFill>
                            <a:srgbClr val="000000"/>
                          </a:solidFill>
                          <a:latin typeface="Tahoma"/>
                          <a:ea typeface="Tahoma"/>
                        </a:rPr>
                        <a:t>Indicazione del titolo di inapplicabilità ed eventualmente della relativa norma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38160">
                      <a:solidFill>
                        <a:srgbClr val="FFFFFF"/>
                      </a:solidFill>
                    </a:lnT>
                    <a:lnB w="12240">
                      <a:solidFill>
                        <a:srgbClr val="FFFFFF"/>
                      </a:solidFill>
                    </a:lnB>
                    <a:solidFill>
                      <a:srgbClr val="D0D8E7"/>
                    </a:solidFill>
                  </a:tcPr>
                </a:tc>
                <a:extLst>
                  <a:ext uri="{0D108BD9-81ED-4DB2-BD59-A6C34878D82A}">
                    <a16:rowId xmlns:a16="http://schemas.microsoft.com/office/drawing/2014/main" val="10001"/>
                  </a:ext>
                </a:extLst>
              </a:tr>
              <a:tr h="521630">
                <a:tc>
                  <a:txBody>
                    <a:bodyPr/>
                    <a:lstStyle/>
                    <a:p>
                      <a:pPr>
                        <a:lnSpc>
                          <a:spcPct val="100000"/>
                        </a:lnSpc>
                      </a:pPr>
                      <a:r>
                        <a:rPr lang="it-IT" sz="1400" b="0" strike="noStrike" spc="-1">
                          <a:solidFill>
                            <a:srgbClr val="000000"/>
                          </a:solidFill>
                          <a:latin typeface="Tahoma"/>
                          <a:ea typeface="Tahoma"/>
                        </a:rPr>
                        <a:t>Autofattura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it-IT" sz="1400" b="0" strike="noStrike" spc="-1">
                          <a:solidFill>
                            <a:srgbClr val="000000"/>
                          </a:solidFill>
                          <a:latin typeface="Tahoma"/>
                          <a:ea typeface="Tahoma"/>
                        </a:rPr>
                        <a:t>Indicazione del cedente o prestatore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2"/>
                  </a:ext>
                </a:extLst>
              </a:tr>
              <a:tr h="306714">
                <a:tc>
                  <a:txBody>
                    <a:bodyPr/>
                    <a:lstStyle/>
                    <a:p>
                      <a:pPr>
                        <a:lnSpc>
                          <a:spcPct val="100000"/>
                        </a:lnSpc>
                      </a:pPr>
                      <a:r>
                        <a:rPr lang="it-IT" sz="1400" b="0" strike="noStrike" spc="-1">
                          <a:solidFill>
                            <a:srgbClr val="000000"/>
                          </a:solidFill>
                          <a:latin typeface="Tahoma"/>
                          <a:ea typeface="Tahoma"/>
                        </a:rPr>
                        <a:t>Fatture con IVA indetraibile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it-IT" sz="1400" b="0" strike="noStrike" spc="-1">
                          <a:solidFill>
                            <a:srgbClr val="000000"/>
                          </a:solidFill>
                          <a:latin typeface="Tahoma"/>
                          <a:ea typeface="Tahoma"/>
                        </a:rPr>
                        <a:t>Non obbligatorietà dell'annotazione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3"/>
                  </a:ext>
                </a:extLst>
              </a:tr>
              <a:tr h="736546">
                <a:tc>
                  <a:txBody>
                    <a:bodyPr/>
                    <a:lstStyle/>
                    <a:p>
                      <a:pPr>
                        <a:lnSpc>
                          <a:spcPct val="100000"/>
                        </a:lnSpc>
                      </a:pPr>
                      <a:r>
                        <a:rPr lang="it-IT" sz="1400" b="0" strike="noStrike" spc="-1">
                          <a:solidFill>
                            <a:srgbClr val="000000"/>
                          </a:solidFill>
                          <a:latin typeface="Tahoma"/>
                          <a:ea typeface="Tahoma"/>
                        </a:rPr>
                        <a:t>Scheda carburante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it-IT" sz="1400" b="0" strike="noStrike" spc="-1">
                          <a:solidFill>
                            <a:srgbClr val="000000"/>
                          </a:solidFill>
                          <a:latin typeface="Tahoma"/>
                          <a:ea typeface="Tahoma"/>
                        </a:rPr>
                        <a:t>Annotazione separata nel registro degli acquisti entro l'anno in cui è rilevato il costo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4"/>
                  </a:ext>
                </a:extLst>
              </a:tr>
              <a:tr h="736546">
                <a:tc>
                  <a:txBody>
                    <a:bodyPr/>
                    <a:lstStyle/>
                    <a:p>
                      <a:pPr>
                        <a:lnSpc>
                          <a:spcPct val="100000"/>
                        </a:lnSpc>
                      </a:pPr>
                      <a:r>
                        <a:rPr lang="it-IT" sz="1400" b="0" strike="noStrike" spc="-1">
                          <a:solidFill>
                            <a:srgbClr val="000000"/>
                          </a:solidFill>
                          <a:latin typeface="Tahoma"/>
                          <a:ea typeface="Tahoma"/>
                        </a:rPr>
                        <a:t>Fatture ad esigibilità differita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tc>
                  <a:txBody>
                    <a:bodyPr/>
                    <a:lstStyle/>
                    <a:p>
                      <a:pPr>
                        <a:lnSpc>
                          <a:spcPct val="100000"/>
                        </a:lnSpc>
                      </a:pPr>
                      <a:r>
                        <a:rPr lang="it-IT" sz="1400" b="0" strike="noStrike" spc="-1">
                          <a:solidFill>
                            <a:srgbClr val="000000"/>
                          </a:solidFill>
                          <a:latin typeface="Tahoma"/>
                          <a:ea typeface="Tahoma"/>
                        </a:rPr>
                        <a:t>Annotazione separata (poiché la detrazione è rinviata al pagamento del corrispettivo) </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D0D8E7"/>
                    </a:solidFill>
                  </a:tcPr>
                </a:tc>
                <a:extLst>
                  <a:ext uri="{0D108BD9-81ED-4DB2-BD59-A6C34878D82A}">
                    <a16:rowId xmlns:a16="http://schemas.microsoft.com/office/drawing/2014/main" val="10005"/>
                  </a:ext>
                </a:extLst>
              </a:tr>
              <a:tr h="1381293">
                <a:tc>
                  <a:txBody>
                    <a:bodyPr/>
                    <a:lstStyle/>
                    <a:p>
                      <a:pPr>
                        <a:lnSpc>
                          <a:spcPct val="100000"/>
                        </a:lnSpc>
                      </a:pPr>
                      <a:r>
                        <a:rPr lang="it-IT" sz="1400" b="0" strike="noStrike" spc="-1">
                          <a:solidFill>
                            <a:srgbClr val="000000"/>
                          </a:solidFill>
                          <a:latin typeface="Tahoma"/>
                          <a:ea typeface="Tahoma"/>
                        </a:rPr>
                        <a:t>Fatture estere</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tc>
                  <a:txBody>
                    <a:bodyPr/>
                    <a:lstStyle/>
                    <a:p>
                      <a:pPr>
                        <a:lnSpc>
                          <a:spcPct val="100000"/>
                        </a:lnSpc>
                      </a:pPr>
                      <a:r>
                        <a:rPr lang="it-IT" sz="1400" b="0" strike="noStrike" spc="-1">
                          <a:solidFill>
                            <a:srgbClr val="000000"/>
                          </a:solidFill>
                          <a:latin typeface="Tahoma"/>
                          <a:ea typeface="Tahoma"/>
                        </a:rPr>
                        <a:t>La registrazione delle bollette doganali di importazione ne esclude l’obbligo di numerazione e dell’annotazione nel registro delle fatture provenienti dai fornitori esteri.</a:t>
                      </a:r>
                      <a:endParaRPr lang="it-IT" sz="1400" b="0" strike="noStrike" spc="-1">
                        <a:latin typeface="Arial" panose="020B0604020202020204"/>
                      </a:endParaRPr>
                    </a:p>
                  </a:txBody>
                  <a:tcPr marL="91447" marR="91447" marT="45719" marB="45719">
                    <a:lnL w="12240">
                      <a:solidFill>
                        <a:srgbClr val="FFFFFF"/>
                      </a:solidFill>
                    </a:lnL>
                    <a:lnR w="12240">
                      <a:solidFill>
                        <a:srgbClr val="FFFFFF"/>
                      </a:solidFill>
                    </a:lnR>
                    <a:lnT w="12240">
                      <a:solidFill>
                        <a:srgbClr val="FFFFFF"/>
                      </a:solidFill>
                    </a:lnT>
                    <a:lnB w="12240">
                      <a:solidFill>
                        <a:srgbClr val="FFFFFF"/>
                      </a:solidFill>
                    </a:lnB>
                    <a:solidFill>
                      <a:srgbClr val="E9ECF3"/>
                    </a:solidFill>
                  </a:tcPr>
                </a:tc>
                <a:extLst>
                  <a:ext uri="{0D108BD9-81ED-4DB2-BD59-A6C34878D82A}">
                    <a16:rowId xmlns:a16="http://schemas.microsoft.com/office/drawing/2014/main" val="10006"/>
                  </a:ext>
                </a:extLst>
              </a:tr>
            </a:tbl>
          </a:graphicData>
        </a:graphic>
      </p:graphicFrame>
      <p:sp>
        <p:nvSpPr>
          <p:cNvPr id="323" name="CustomShape 6"/>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(Art. 25 D.P.R. 633/1972)</a:t>
            </a:r>
            <a:endParaRPr lang="it-IT" sz="2800" spc="-1" noProof="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6553200" y="6486525"/>
            <a:ext cx="2441575" cy="369888"/>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22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Registrazione: fatture elettroniche</a:t>
            </a:r>
            <a:endParaRPr lang="it-IT" sz="2800" spc="-1" noProof="1"/>
          </a:p>
        </p:txBody>
      </p:sp>
      <p:sp>
        <p:nvSpPr>
          <p:cNvPr id="86019" name="Rettangolo 1"/>
          <p:cNvSpPr>
            <a:spLocks noChangeArrowheads="1"/>
          </p:cNvSpPr>
          <p:nvPr/>
        </p:nvSpPr>
        <p:spPr bwMode="auto">
          <a:xfrm>
            <a:off x="633412" y="1527175"/>
            <a:ext cx="787717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it-IT" altLang="en-US" sz="1500" b="1" dirty="0">
                <a:latin typeface="Tahoma" panose="020B0604030504040204" pitchFamily="34" charset="0"/>
              </a:rPr>
              <a:t>Registrazione</a:t>
            </a:r>
          </a:p>
          <a:p>
            <a:pPr algn="just"/>
            <a:r>
              <a:rPr lang="it-IT" altLang="en-US" sz="1500" dirty="0">
                <a:latin typeface="Tahoma" panose="020B0604030504040204" pitchFamily="34" charset="0"/>
              </a:rPr>
              <a:t>Ai sensi dell'art. 23 del DPR 633/72 (modificato dal DL 119/2018), le fatture devono essere annotate sull'apposito registro secondo l'ordine della numerazione e con riferimento al mese di effettuazione dell'operazione. Tale riferimento temporale è necessario ai fini delle liquidazioni IVA periodiche, nell'ambito delle quali occorrerà tenere conto dell'imposta divenuta esigibile nel periodo di riferimento.</a:t>
            </a:r>
          </a:p>
        </p:txBody>
      </p:sp>
      <p:graphicFrame>
        <p:nvGraphicFramePr>
          <p:cNvPr id="11" name="Tabella 10"/>
          <p:cNvGraphicFramePr>
            <a:graphicFrameLocks noGrp="1"/>
          </p:cNvGraphicFramePr>
          <p:nvPr>
            <p:extLst>
              <p:ext uri="{D42A27DB-BD31-4B8C-83A1-F6EECF244321}">
                <p14:modId xmlns:p14="http://schemas.microsoft.com/office/powerpoint/2010/main" val="321350911"/>
              </p:ext>
            </p:extLst>
          </p:nvPr>
        </p:nvGraphicFramePr>
        <p:xfrm>
          <a:off x="564355" y="3600450"/>
          <a:ext cx="8015287" cy="2101850"/>
        </p:xfrm>
        <a:graphic>
          <a:graphicData uri="http://schemas.openxmlformats.org/drawingml/2006/table">
            <a:tbl>
              <a:tblPr firstRow="1" bandRow="1">
                <a:tableStyleId>{5C22544A-7EE6-4342-B048-85BDC9FD1C3A}</a:tableStyleId>
              </a:tblPr>
              <a:tblGrid>
                <a:gridCol w="2070285">
                  <a:extLst>
                    <a:ext uri="{9D8B030D-6E8A-4147-A177-3AD203B41FA5}">
                      <a16:colId xmlns:a16="http://schemas.microsoft.com/office/drawing/2014/main" val="20000"/>
                    </a:ext>
                  </a:extLst>
                </a:gridCol>
                <a:gridCol w="2937485">
                  <a:extLst>
                    <a:ext uri="{9D8B030D-6E8A-4147-A177-3AD203B41FA5}">
                      <a16:colId xmlns:a16="http://schemas.microsoft.com/office/drawing/2014/main" val="20001"/>
                    </a:ext>
                  </a:extLst>
                </a:gridCol>
                <a:gridCol w="3007517">
                  <a:extLst>
                    <a:ext uri="{9D8B030D-6E8A-4147-A177-3AD203B41FA5}">
                      <a16:colId xmlns:a16="http://schemas.microsoft.com/office/drawing/2014/main" val="20002"/>
                    </a:ext>
                  </a:extLst>
                </a:gridCol>
              </a:tblGrid>
              <a:tr h="456924">
                <a:tc>
                  <a:txBody>
                    <a:bodyPr/>
                    <a:lstStyle/>
                    <a:p>
                      <a:r>
                        <a:rPr lang="it-IT" sz="1200" dirty="0"/>
                        <a:t>Fatturazione</a:t>
                      </a:r>
                    </a:p>
                  </a:txBody>
                  <a:tcPr marL="91426" marR="91426" marT="45692" marB="45692"/>
                </a:tc>
                <a:tc>
                  <a:txBody>
                    <a:bodyPr/>
                    <a:lstStyle/>
                    <a:p>
                      <a:r>
                        <a:rPr lang="it-IT" sz="1200" dirty="0"/>
                        <a:t>Termine</a:t>
                      </a:r>
                    </a:p>
                  </a:txBody>
                  <a:tcPr marL="91426" marR="91426" marT="45692" marB="45692"/>
                </a:tc>
                <a:tc>
                  <a:txBody>
                    <a:bodyPr/>
                    <a:lstStyle/>
                    <a:p>
                      <a:r>
                        <a:rPr lang="it-IT" sz="1200" dirty="0"/>
                        <a:t>Periodo di riferimento</a:t>
                      </a:r>
                    </a:p>
                  </a:txBody>
                  <a:tcPr marL="91426" marR="91426" marT="45692" marB="45692"/>
                </a:tc>
                <a:extLst>
                  <a:ext uri="{0D108BD9-81ED-4DB2-BD59-A6C34878D82A}">
                    <a16:rowId xmlns:a16="http://schemas.microsoft.com/office/drawing/2014/main" val="10000"/>
                  </a:ext>
                </a:extLst>
              </a:tr>
              <a:tr h="822463">
                <a:tc>
                  <a:txBody>
                    <a:bodyPr/>
                    <a:lstStyle/>
                    <a:p>
                      <a:r>
                        <a:rPr lang="it-IT" sz="1200" dirty="0"/>
                        <a:t>Immediate</a:t>
                      </a:r>
                    </a:p>
                  </a:txBody>
                  <a:tcPr marL="91426" marR="91426" marT="45692" marB="45692"/>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it-IT" sz="1200" dirty="0"/>
                        <a:t>Entro il giorno 15 del mese successivo a quello di effettuazione dell’operazione.</a:t>
                      </a:r>
                    </a:p>
                  </a:txBody>
                  <a:tcPr marL="91426" marR="91426" marT="45692" marB="45692"/>
                </a:tc>
                <a:tc>
                  <a:txBody>
                    <a:bodyPr/>
                    <a:lstStyle/>
                    <a:p>
                      <a:r>
                        <a:rPr lang="it-IT" sz="1200" dirty="0"/>
                        <a:t>Mese di effettuazione dell’operazione</a:t>
                      </a:r>
                    </a:p>
                  </a:txBody>
                  <a:tcPr marL="91426" marR="91426" marT="45692" marB="45692"/>
                </a:tc>
                <a:extLst>
                  <a:ext uri="{0D108BD9-81ED-4DB2-BD59-A6C34878D82A}">
                    <a16:rowId xmlns:a16="http://schemas.microsoft.com/office/drawing/2014/main" val="10001"/>
                  </a:ext>
                </a:extLst>
              </a:tr>
              <a:tr h="822463">
                <a:tc>
                  <a:txBody>
                    <a:bodyPr/>
                    <a:lstStyle/>
                    <a:p>
                      <a:r>
                        <a:rPr lang="it-IT" sz="1200" dirty="0"/>
                        <a:t>Differite</a:t>
                      </a:r>
                    </a:p>
                    <a:p>
                      <a:pPr marL="0" marR="0" lvl="0" indent="0" algn="l" defTabSz="914400" rtl="0" eaLnBrk="1" fontAlgn="auto" latinLnBrk="0" hangingPunct="1">
                        <a:lnSpc>
                          <a:spcPct val="100000"/>
                        </a:lnSpc>
                        <a:spcBef>
                          <a:spcPts val="0"/>
                        </a:spcBef>
                        <a:spcAft>
                          <a:spcPts val="0"/>
                        </a:spcAft>
                        <a:buClrTx/>
                        <a:buSzTx/>
                        <a:buFontTx/>
                        <a:buNone/>
                        <a:defRPr/>
                      </a:pPr>
                      <a:r>
                        <a:rPr lang="it-IT" sz="900" dirty="0"/>
                        <a:t>(ex art. 21, co. 4, lett. (a, (c e (d)</a:t>
                      </a:r>
                    </a:p>
                  </a:txBody>
                  <a:tcPr marL="91426" marR="91426" marT="45692" marB="45692"/>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it-IT" sz="1200" dirty="0"/>
                        <a:t>Entro il giorno 15 del mese successivo a quello di effettuazione dell’operazione.</a:t>
                      </a:r>
                    </a:p>
                  </a:txBody>
                  <a:tcPr marL="91426" marR="91426" marT="45692" marB="45692"/>
                </a:tc>
                <a:tc>
                  <a:txBody>
                    <a:bodyPr/>
                    <a:lstStyle/>
                    <a:p>
                      <a:r>
                        <a:rPr lang="it-IT" sz="1200" dirty="0"/>
                        <a:t>Mese di effettuazione dell’operazione</a:t>
                      </a:r>
                    </a:p>
                  </a:txBody>
                  <a:tcPr marL="91426" marR="91426" marT="45692" marB="45692"/>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CustomShape 1"/>
          <p:cNvSpPr/>
          <p:nvPr/>
        </p:nvSpPr>
        <p:spPr>
          <a:xfrm>
            <a:off x="504825" y="995363"/>
            <a:ext cx="8226425" cy="5770562"/>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25" name="CustomShape 2"/>
          <p:cNvSpPr/>
          <p:nvPr/>
        </p:nvSpPr>
        <p:spPr>
          <a:xfrm>
            <a:off x="339725" y="1655763"/>
            <a:ext cx="8226425" cy="4319587"/>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Conservazione delle fatture</a:t>
            </a:r>
            <a:endParaRPr lang="it-IT" sz="1600" spc="-1" noProof="1"/>
          </a:p>
          <a:p>
            <a:pPr fontAlgn="auto"/>
            <a:endParaRPr lang="it-IT" sz="1600" spc="-1" noProof="1"/>
          </a:p>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Distinzione tra fatture cartacee ed elettroniche</a:t>
            </a:r>
          </a:p>
          <a:p>
            <a:pPr marL="285750" indent="-283845" fontAlgn="auto">
              <a:buClr>
                <a:srgbClr val="1F497D"/>
              </a:buClr>
              <a:buFont typeface="Wingdings" panose="05000000000000000000" pitchFamily="2" charset="2"/>
              <a:buChar char=""/>
            </a:pPr>
            <a:endParaRPr lang="it-IT" sz="1600" spc="-1" noProof="1"/>
          </a:p>
          <a:p>
            <a:pPr marL="742950" lvl="1" indent="-283845" fontAlgn="auto">
              <a:buClr>
                <a:srgbClr val="1F497D"/>
              </a:buClr>
              <a:buFont typeface="Wingdings" panose="05000000000000000000" pitchFamily="2" charset="2"/>
              <a:buChar char=""/>
            </a:pPr>
            <a:r>
              <a:rPr lang="it-IT" sz="1600" spc="-1" noProof="1">
                <a:solidFill>
                  <a:srgbClr val="000000"/>
                </a:solidFill>
                <a:latin typeface="Tahoma"/>
              </a:rPr>
              <a:t>Memorizzazione</a:t>
            </a:r>
            <a:endParaRPr lang="it-IT" sz="1600" spc="-1" noProof="1"/>
          </a:p>
          <a:p>
            <a:pPr marL="742950" lvl="1" indent="-283845" fontAlgn="auto">
              <a:buClr>
                <a:srgbClr val="1F497D"/>
              </a:buClr>
              <a:buFont typeface="Wingdings" panose="05000000000000000000" pitchFamily="2" charset="2"/>
              <a:buChar char=""/>
            </a:pPr>
            <a:r>
              <a:rPr lang="it-IT" sz="1600" spc="-1" noProof="1">
                <a:solidFill>
                  <a:srgbClr val="000000"/>
                </a:solidFill>
                <a:latin typeface="Tahoma"/>
              </a:rPr>
              <a:t>Archiviazione</a:t>
            </a:r>
            <a:endParaRPr lang="it-IT" sz="1600" spc="-1" noProof="1"/>
          </a:p>
          <a:p>
            <a:pPr marL="742950" lvl="1" indent="-283845" fontAlgn="auto">
              <a:buClr>
                <a:srgbClr val="1F497D"/>
              </a:buClr>
              <a:buFont typeface="Wingdings" panose="05000000000000000000" pitchFamily="2" charset="2"/>
              <a:buChar char=""/>
            </a:pPr>
            <a:r>
              <a:rPr lang="it-IT" sz="1600" spc="-1" noProof="1">
                <a:solidFill>
                  <a:srgbClr val="000000"/>
                </a:solidFill>
                <a:latin typeface="Tahoma"/>
              </a:rPr>
              <a:t>Conservazione</a:t>
            </a:r>
            <a:endParaRPr lang="it-IT" sz="1600" spc="-1" noProof="1"/>
          </a:p>
          <a:p>
            <a:pPr fontAlgn="auto"/>
            <a:endParaRPr lang="it-IT" sz="1600" spc="-1" noProof="1"/>
          </a:p>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Modalità di tenuta dei registri</a:t>
            </a:r>
          </a:p>
          <a:p>
            <a:pPr marL="285750" indent="-283845" fontAlgn="auto">
              <a:buClr>
                <a:srgbClr val="1F497D"/>
              </a:buClr>
              <a:buFont typeface="Wingdings" panose="05000000000000000000" pitchFamily="2" charset="2"/>
              <a:buChar char=""/>
            </a:pPr>
            <a:endParaRPr lang="it-IT" sz="1600" spc="-1" noProof="1"/>
          </a:p>
          <a:p>
            <a:pPr marL="742950" lvl="1" indent="-283845" fontAlgn="auto">
              <a:buClr>
                <a:srgbClr val="1F497D"/>
              </a:buClr>
              <a:buFont typeface="Wingdings" panose="05000000000000000000" pitchFamily="2" charset="2"/>
              <a:buChar char=""/>
            </a:pPr>
            <a:r>
              <a:rPr lang="it-IT" sz="1600" spc="-1" noProof="1">
                <a:solidFill>
                  <a:srgbClr val="000000"/>
                </a:solidFill>
                <a:latin typeface="Tahoma"/>
              </a:rPr>
              <a:t>Art. 39 DPR 633/1972</a:t>
            </a:r>
            <a:endParaRPr lang="it-IT" sz="1600" spc="-1" noProof="1"/>
          </a:p>
          <a:p>
            <a:pPr marL="742950" lvl="1" indent="-283845" fontAlgn="auto">
              <a:buClr>
                <a:srgbClr val="1F497D"/>
              </a:buClr>
              <a:buFont typeface="Wingdings" panose="05000000000000000000" pitchFamily="2" charset="2"/>
              <a:buChar char=""/>
            </a:pPr>
            <a:r>
              <a:rPr lang="it-IT" sz="1600" spc="-1" noProof="1">
                <a:solidFill>
                  <a:srgbClr val="000000"/>
                </a:solidFill>
                <a:latin typeface="Tahoma"/>
              </a:rPr>
              <a:t>Semplificazioni art 8 legge 383/2001</a:t>
            </a:r>
            <a:endParaRPr lang="it-IT" sz="1600" spc="-1" noProof="1"/>
          </a:p>
          <a:p>
            <a:pPr marL="742950" lvl="1" indent="-283845" fontAlgn="auto">
              <a:buClr>
                <a:srgbClr val="1F497D"/>
              </a:buClr>
              <a:buFont typeface="Wingdings" panose="05000000000000000000" pitchFamily="2" charset="2"/>
              <a:buChar char=""/>
            </a:pPr>
            <a:r>
              <a:rPr lang="it-IT" sz="1600" spc="-1" noProof="1">
                <a:solidFill>
                  <a:srgbClr val="000000"/>
                </a:solidFill>
                <a:latin typeface="Tahoma"/>
              </a:rPr>
              <a:t>Altre semplificazioni art. 8 DPR 435/2001</a:t>
            </a:r>
            <a:endParaRPr lang="it-IT" sz="1600" spc="-1" noProof="1"/>
          </a:p>
          <a:p>
            <a:pPr fontAlgn="auto"/>
            <a:endParaRPr lang="it-IT" sz="1600" spc="-1" noProof="1"/>
          </a:p>
          <a:p>
            <a:pPr marL="285750" indent="-283845" fontAlgn="auto">
              <a:buClr>
                <a:srgbClr val="1F497D"/>
              </a:buClr>
              <a:buFont typeface="Wingdings" panose="05000000000000000000" pitchFamily="2" charset="2"/>
              <a:buChar char=""/>
            </a:pPr>
            <a:r>
              <a:rPr lang="it-IT" sz="1600" spc="-1" noProof="1">
                <a:solidFill>
                  <a:srgbClr val="000000"/>
                </a:solidFill>
                <a:latin typeface="Tahoma"/>
              </a:rPr>
              <a:t>Termini per la “stampa” dei registri: art. 7 DL 357/1994</a:t>
            </a:r>
            <a:endParaRPr lang="it-IT" sz="1600" spc="-1" noProof="1"/>
          </a:p>
        </p:txBody>
      </p:sp>
      <p:sp>
        <p:nvSpPr>
          <p:cNvPr id="326" name="CustomShape 3"/>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Contabilità</a:t>
            </a:r>
            <a:endParaRPr lang="it-IT" sz="2800" spc="-1" noProof="1"/>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 name="CustomShape 1"/>
          <p:cNvSpPr/>
          <p:nvPr/>
        </p:nvSpPr>
        <p:spPr>
          <a:xfrm>
            <a:off x="827088" y="1771650"/>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endParaRPr lang="it-IT" spc="-1" noProof="1"/>
          </a:p>
          <a:p>
            <a:pPr algn="ctr" fontAlgn="auto"/>
            <a:r>
              <a:rPr lang="it-IT" sz="3600" b="1" spc="-1" noProof="1">
                <a:solidFill>
                  <a:srgbClr val="336699"/>
                </a:solidFill>
                <a:latin typeface="Tahoma"/>
                <a:ea typeface="Tahoma"/>
              </a:rPr>
              <a:t>Variazione dell’imponibile o dell’imposta</a:t>
            </a:r>
            <a:endParaRPr lang="it-IT" sz="3600" spc="-1" noProof="1"/>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p:cNvSpPr>
            <a:spLocks noGrp="1"/>
          </p:cNvSpPr>
          <p:nvPr>
            <p:ph type="subTitle" idx="4294967295"/>
          </p:nvPr>
        </p:nvSpPr>
        <p:spPr>
          <a:xfrm>
            <a:off x="457200" y="1412875"/>
            <a:ext cx="8229600" cy="5032375"/>
          </a:xfrm>
        </p:spPr>
        <p:txBody>
          <a:bodyPr/>
          <a:lstStyle/>
          <a:p>
            <a:pPr marL="0" indent="0" fontAlgn="auto">
              <a:buFont typeface="Arial" panose="020B0604020202020204" pitchFamily="34" charset="0"/>
              <a:buNone/>
            </a:pPr>
            <a:r>
              <a:rPr lang="it-IT" sz="1800" noProof="1">
                <a:latin typeface="Tahoma" panose="020B0604030504040204" pitchFamily="34" charset="0"/>
                <a:ea typeface="Tahoma" panose="020B0604030504040204" pitchFamily="34" charset="0"/>
                <a:cs typeface="Tahoma" panose="020B0604030504040204" pitchFamily="34" charset="0"/>
              </a:rPr>
              <a:t>Presupposto: verificarsi di cause che determinano la modifica dell'imponibile o dell'imposta successivamente all'emissione della fattura e sua registrazione nei libri:</a:t>
            </a:r>
          </a:p>
          <a:p>
            <a:pPr fontAlgn="auto">
              <a:buFont typeface="Wingdings" panose="05000000000000000000" pitchFamily="2" charset="2"/>
              <a:buChar char="Ø"/>
            </a:pPr>
            <a:r>
              <a:rPr lang="it-IT" sz="1800" noProof="1">
                <a:latin typeface="Tahoma" panose="020B0604030504040204" pitchFamily="34" charset="0"/>
                <a:ea typeface="Tahoma" panose="020B0604030504040204" pitchFamily="34" charset="0"/>
                <a:cs typeface="Tahoma" panose="020B0604030504040204" pitchFamily="34" charset="0"/>
              </a:rPr>
              <a:t>variazioni con le quali si aumenta l'imponibile e/o l'imposta di una precedente operazione (art. 26): </a:t>
            </a:r>
            <a:r>
              <a:rPr lang="it-IT" sz="1800" u="sng" noProof="1">
                <a:latin typeface="Tahoma" panose="020B0604030504040204" pitchFamily="34" charset="0"/>
                <a:ea typeface="Tahoma" panose="020B0604030504040204" pitchFamily="34" charset="0"/>
                <a:cs typeface="Tahoma" panose="020B0604030504040204" pitchFamily="34" charset="0"/>
              </a:rPr>
              <a:t>nota di debito emessa dal cedente</a:t>
            </a:r>
            <a:r>
              <a:rPr lang="it-IT" sz="1800" noProof="1">
                <a:latin typeface="Tahoma" panose="020B0604030504040204" pitchFamily="34" charset="0"/>
                <a:ea typeface="Tahoma" panose="020B0604030504040204" pitchFamily="34" charset="0"/>
                <a:cs typeface="Tahoma" panose="020B0604030504040204" pitchFamily="34" charset="0"/>
              </a:rPr>
              <a:t> (Obbligo);</a:t>
            </a:r>
          </a:p>
          <a:p>
            <a:pPr fontAlgn="auto">
              <a:buFont typeface="Wingdings" panose="05000000000000000000" pitchFamily="2" charset="2"/>
              <a:buChar char="Ø"/>
            </a:pPr>
            <a:r>
              <a:rPr lang="it-IT" sz="1800" noProof="1">
                <a:latin typeface="Tahoma" panose="020B0604030504040204" pitchFamily="34" charset="0"/>
                <a:ea typeface="Tahoma" panose="020B0604030504040204" pitchFamily="34" charset="0"/>
                <a:cs typeface="Tahoma" panose="020B0604030504040204" pitchFamily="34" charset="0"/>
              </a:rPr>
              <a:t>variazioni con le quali si riduce l'imponibile e/o l'imposta di una precedente operazione (art. 26): </a:t>
            </a:r>
            <a:r>
              <a:rPr lang="it-IT" sz="1800" u="sng" noProof="1">
                <a:latin typeface="Tahoma" panose="020B0604030504040204" pitchFamily="34" charset="0"/>
                <a:ea typeface="Tahoma" panose="020B0604030504040204" pitchFamily="34" charset="0"/>
                <a:cs typeface="Tahoma" panose="020B0604030504040204" pitchFamily="34" charset="0"/>
              </a:rPr>
              <a:t>nota di credito emessa dal cedente al cessionario </a:t>
            </a:r>
            <a:r>
              <a:rPr lang="it-IT" sz="1800" noProof="1">
                <a:latin typeface="Tahoma" panose="020B0604030504040204" pitchFamily="34" charset="0"/>
                <a:ea typeface="Tahoma" panose="020B0604030504040204" pitchFamily="34" charset="0"/>
                <a:cs typeface="Tahoma" panose="020B0604030504040204" pitchFamily="34" charset="0"/>
              </a:rPr>
              <a:t>(Facoltà);</a:t>
            </a:r>
          </a:p>
          <a:p>
            <a:pPr marL="0" indent="0" fontAlgn="auto">
              <a:buFont typeface="Arial" panose="020B0604020202020204" pitchFamily="34" charset="0"/>
              <a:buNone/>
            </a:pPr>
            <a:endParaRPr lang="it-IT" sz="1800" noProof="1">
              <a:latin typeface="Tahoma" panose="020B0604030504040204" pitchFamily="34" charset="0"/>
              <a:ea typeface="Tahoma" panose="020B0604030504040204" pitchFamily="34" charset="0"/>
              <a:cs typeface="Tahoma" panose="020B0604030504040204" pitchFamily="34" charset="0"/>
            </a:endParaRPr>
          </a:p>
          <a:p>
            <a:pPr marL="0" indent="0" fontAlgn="auto">
              <a:buFont typeface="Arial" panose="020B0604020202020204" pitchFamily="34" charset="0"/>
              <a:buNone/>
            </a:pPr>
            <a:r>
              <a:rPr lang="it-IT" sz="1800" noProof="1">
                <a:latin typeface="Tahoma" panose="020B0604030504040204" pitchFamily="34" charset="0"/>
                <a:ea typeface="Tahoma" panose="020B0604030504040204" pitchFamily="34" charset="0"/>
                <a:cs typeface="Tahoma" panose="020B0604030504040204" pitchFamily="34" charset="0"/>
              </a:rPr>
              <a:t>La mancata variazione in aumento determina evasione d'imposta con la conseguente applicazione delle relative sanzioni;</a:t>
            </a:r>
          </a:p>
          <a:p>
            <a:pPr marL="0" indent="0" fontAlgn="auto">
              <a:buFont typeface="Arial" panose="020B0604020202020204" pitchFamily="34" charset="0"/>
              <a:buNone/>
            </a:pPr>
            <a:r>
              <a:rPr lang="it-IT" sz="1800" noProof="1">
                <a:latin typeface="Tahoma" panose="020B0604030504040204" pitchFamily="34" charset="0"/>
                <a:ea typeface="Tahoma" panose="020B0604030504040204" pitchFamily="34" charset="0"/>
                <a:cs typeface="Tahoma" panose="020B0604030504040204" pitchFamily="34" charset="0"/>
              </a:rPr>
              <a:t>La nota di addebito è – sostanzialmente - una fattura integrativa e come tale deve fare riferimento alla fattura originaria.</a:t>
            </a:r>
          </a:p>
        </p:txBody>
      </p:sp>
      <p:sp>
        <p:nvSpPr>
          <p:cNvPr id="4"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Variazione dell’imponibile o dell’imposta</a:t>
            </a:r>
            <a:endParaRPr lang="it-IT" sz="2800" spc="-1" noProof="1"/>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Rettifica delle fatturazione (Art. 26 D.P.R. 633/1972)</a:t>
            </a:r>
            <a:endParaRPr lang="it-IT" sz="2800" spc="-1" noProof="1"/>
          </a:p>
        </p:txBody>
      </p:sp>
      <p:graphicFrame>
        <p:nvGraphicFramePr>
          <p:cNvPr id="2" name="Tabella 2">
            <a:extLst>
              <a:ext uri="{FF2B5EF4-FFF2-40B4-BE49-F238E27FC236}">
                <a16:creationId xmlns:a16="http://schemas.microsoft.com/office/drawing/2014/main" id="{E2C6DC96-482F-5CDA-02D5-F7C3D4DE8A16}"/>
              </a:ext>
            </a:extLst>
          </p:cNvPr>
          <p:cNvGraphicFramePr>
            <a:graphicFrameLocks noGrp="1"/>
          </p:cNvGraphicFramePr>
          <p:nvPr>
            <p:extLst>
              <p:ext uri="{D42A27DB-BD31-4B8C-83A1-F6EECF244321}">
                <p14:modId xmlns:p14="http://schemas.microsoft.com/office/powerpoint/2010/main" val="2348008157"/>
              </p:ext>
            </p:extLst>
          </p:nvPr>
        </p:nvGraphicFramePr>
        <p:xfrm>
          <a:off x="722779" y="1571624"/>
          <a:ext cx="7800860" cy="3845560"/>
        </p:xfrm>
        <a:graphic>
          <a:graphicData uri="http://schemas.openxmlformats.org/drawingml/2006/table">
            <a:tbl>
              <a:tblPr firstRow="1" bandRow="1">
                <a:tableStyleId>{2D5ABB26-0587-4C30-8999-92F81FD0307C}</a:tableStyleId>
              </a:tblPr>
              <a:tblGrid>
                <a:gridCol w="1806948">
                  <a:extLst>
                    <a:ext uri="{9D8B030D-6E8A-4147-A177-3AD203B41FA5}">
                      <a16:colId xmlns:a16="http://schemas.microsoft.com/office/drawing/2014/main" val="3064324258"/>
                    </a:ext>
                  </a:extLst>
                </a:gridCol>
                <a:gridCol w="1816920">
                  <a:extLst>
                    <a:ext uri="{9D8B030D-6E8A-4147-A177-3AD203B41FA5}">
                      <a16:colId xmlns:a16="http://schemas.microsoft.com/office/drawing/2014/main" val="3637016932"/>
                    </a:ext>
                  </a:extLst>
                </a:gridCol>
                <a:gridCol w="4176992">
                  <a:extLst>
                    <a:ext uri="{9D8B030D-6E8A-4147-A177-3AD203B41FA5}">
                      <a16:colId xmlns:a16="http://schemas.microsoft.com/office/drawing/2014/main" val="144479941"/>
                    </a:ext>
                  </a:extLst>
                </a:gridCol>
              </a:tblGrid>
              <a:tr h="370840">
                <a:tc>
                  <a:txBody>
                    <a:bodyPr/>
                    <a:lstStyle/>
                    <a:p>
                      <a:r>
                        <a:rPr lang="it-IT" sz="1400" b="1" dirty="0">
                          <a:latin typeface="Calibri"/>
                        </a:rPr>
                        <a:t>Variazioni in aumento</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tc>
                  <a:txBody>
                    <a:bodyPr/>
                    <a:lstStyle/>
                    <a:p>
                      <a:pPr marL="0" lvl="0" indent="0">
                        <a:buNone/>
                      </a:pPr>
                      <a:r>
                        <a:rPr lang="it-IT" sz="1400" dirty="0">
                          <a:latin typeface="Calibri"/>
                        </a:rPr>
                        <a:t>Senza limite di tempo</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tc>
                  <a:txBody>
                    <a:bodyPr/>
                    <a:lstStyle/>
                    <a:p>
                      <a:pPr marL="0" lvl="0" indent="0">
                        <a:buClr>
                          <a:srgbClr val="000000"/>
                        </a:buClr>
                        <a:buNone/>
                      </a:pPr>
                      <a:r>
                        <a:rPr lang="it-IT" sz="1400" b="0" i="0" u="none" strike="noStrike" noProof="0" dirty="0">
                          <a:solidFill>
                            <a:srgbClr val="000000"/>
                          </a:solidFill>
                          <a:latin typeface="Calibri"/>
                        </a:rPr>
                        <a:t>Per qualsiasi motivo</a:t>
                      </a:r>
                      <a:endParaRPr lang="it-IT" sz="1400" dirty="0">
                        <a:latin typeface="Calibri"/>
                      </a:endParaRP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extLst>
                  <a:ext uri="{0D108BD9-81ED-4DB2-BD59-A6C34878D82A}">
                    <a16:rowId xmlns:a16="http://schemas.microsoft.com/office/drawing/2014/main" val="2582083721"/>
                  </a:ext>
                </a:extLst>
              </a:tr>
              <a:tr h="370840">
                <a:tc rowSpan="3">
                  <a:txBody>
                    <a:bodyPr/>
                    <a:lstStyle/>
                    <a:p>
                      <a:r>
                        <a:rPr lang="it-IT" sz="1400" b="1" dirty="0">
                          <a:latin typeface="Calibri"/>
                        </a:rPr>
                        <a:t>Variazioni in diminuzione</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tc rowSpan="2">
                  <a:txBody>
                    <a:bodyPr/>
                    <a:lstStyle/>
                    <a:p>
                      <a:r>
                        <a:rPr lang="it-IT" sz="1400" dirty="0">
                          <a:latin typeface="Calibri"/>
                        </a:rPr>
                        <a:t>Senza limiti di tempo</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tc>
                  <a:txBody>
                    <a:bodyPr/>
                    <a:lstStyle/>
                    <a:p>
                      <a:pPr lvl="0" algn="l">
                        <a:lnSpc>
                          <a:spcPct val="100000"/>
                        </a:lnSpc>
                        <a:spcBef>
                          <a:spcPts val="0"/>
                        </a:spcBef>
                        <a:spcAft>
                          <a:spcPts val="0"/>
                        </a:spcAft>
                        <a:buNone/>
                      </a:pPr>
                      <a:r>
                        <a:rPr lang="it-IT" sz="1400" b="0" i="0" u="none" strike="noStrike" noProof="0" dirty="0">
                          <a:latin typeface="Calibri"/>
                        </a:rPr>
                        <a:t>Per effetto di:</a:t>
                      </a:r>
                      <a:endParaRPr lang="it-IT" sz="1400" dirty="0">
                        <a:latin typeface="Calibri"/>
                      </a:endParaRPr>
                    </a:p>
                    <a:p>
                      <a:pPr marL="171450" lvl="0" indent="-171450" algn="l">
                        <a:lnSpc>
                          <a:spcPct val="100000"/>
                        </a:lnSpc>
                        <a:spcBef>
                          <a:spcPts val="0"/>
                        </a:spcBef>
                        <a:spcAft>
                          <a:spcPts val="0"/>
                        </a:spcAft>
                        <a:buFont typeface="Arial"/>
                        <a:buChar char="•"/>
                      </a:pPr>
                      <a:r>
                        <a:rPr lang="it-IT" sz="1400" b="0" i="0" u="none" strike="noStrike" noProof="0" dirty="0">
                          <a:latin typeface="Calibri"/>
                        </a:rPr>
                        <a:t>Dichiarazione di nullità, annullamento, revoca, risoluzione, rescissioni e casi simili</a:t>
                      </a:r>
                    </a:p>
                    <a:p>
                      <a:pPr marL="171450" lvl="0" indent="-171450" algn="l">
                        <a:lnSpc>
                          <a:spcPct val="100000"/>
                        </a:lnSpc>
                        <a:spcBef>
                          <a:spcPts val="0"/>
                        </a:spcBef>
                        <a:spcAft>
                          <a:spcPts val="0"/>
                        </a:spcAft>
                        <a:buFont typeface="Arial"/>
                        <a:buChar char="•"/>
                      </a:pPr>
                      <a:r>
                        <a:rPr lang="it-IT" sz="1400" b="0" i="0" u="none" strike="noStrike" noProof="0" dirty="0">
                          <a:latin typeface="Calibri"/>
                        </a:rPr>
                        <a:t>Applicazione di buoni o sconti previsti dal contratto</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extLst>
                  <a:ext uri="{0D108BD9-81ED-4DB2-BD59-A6C34878D82A}">
                    <a16:rowId xmlns:a16="http://schemas.microsoft.com/office/drawing/2014/main" val="3903978449"/>
                  </a:ext>
                </a:extLst>
              </a:tr>
              <a:tr h="370840">
                <a:tc vMerge="1">
                  <a:txBody>
                    <a:bodyPr/>
                    <a:lstStyle/>
                    <a:p>
                      <a:endParaRPr lang="it-IT"/>
                    </a:p>
                  </a:txBody>
                  <a:tcPr>
                    <a:lnL w="9525">
                      <a:solidFill>
                        <a:schemeClr val="accent1"/>
                      </a:solidFill>
                    </a:lnL>
                    <a:lnR w="9525">
                      <a:solidFill>
                        <a:schemeClr val="accent1"/>
                      </a:solidFill>
                    </a:lnR>
                    <a:lnT w="9525">
                      <a:solidFill>
                        <a:schemeClr val="accent1"/>
                      </a:solidFill>
                    </a:lnT>
                    <a:lnB w="9525">
                      <a:solidFill>
                        <a:schemeClr val="accent1"/>
                      </a:solidFill>
                    </a:lnB>
                  </a:tcPr>
                </a:tc>
                <a:tc vMerge="1">
                  <a:txBody>
                    <a:bodyPr/>
                    <a:lstStyle/>
                    <a:p>
                      <a:endParaRPr lang="it-IT"/>
                    </a:p>
                  </a:txBody>
                  <a:tcPr>
                    <a:lnL w="9525">
                      <a:solidFill>
                        <a:schemeClr val="accent1"/>
                      </a:solidFill>
                    </a:lnL>
                    <a:lnR w="9525">
                      <a:solidFill>
                        <a:schemeClr val="accent1"/>
                      </a:solidFill>
                    </a:lnR>
                    <a:lnT w="9525">
                      <a:solidFill>
                        <a:schemeClr val="accent1"/>
                      </a:solidFill>
                    </a:lnT>
                    <a:lnB w="9525">
                      <a:solidFill>
                        <a:schemeClr val="accent1"/>
                      </a:solidFill>
                    </a:lnB>
                  </a:tcPr>
                </a:tc>
                <a:tc>
                  <a:txBody>
                    <a:bodyPr/>
                    <a:lstStyle/>
                    <a:p>
                      <a:r>
                        <a:rPr lang="it-IT" sz="1400" dirty="0">
                          <a:latin typeface="Calibri"/>
                        </a:rPr>
                        <a:t>Per mancato pagamento:</a:t>
                      </a:r>
                    </a:p>
                    <a:p>
                      <a:pPr marL="285750" marR="0" lvl="0" indent="-283845" algn="l">
                        <a:lnSpc>
                          <a:spcPct val="100000"/>
                        </a:lnSpc>
                        <a:spcBef>
                          <a:spcPct val="0"/>
                        </a:spcBef>
                        <a:spcAft>
                          <a:spcPct val="0"/>
                        </a:spcAft>
                        <a:buClr>
                          <a:srgbClr val="000000"/>
                        </a:buClr>
                        <a:buFont typeface="Arial,Sans-Serif"/>
                        <a:buChar char="•"/>
                      </a:pPr>
                      <a:r>
                        <a:rPr lang="it-IT" sz="1400" b="0" i="0" u="none" strike="noStrike" noProof="0" dirty="0">
                          <a:solidFill>
                            <a:srgbClr val="000000"/>
                          </a:solidFill>
                          <a:latin typeface="Calibri"/>
                        </a:rPr>
                        <a:t>a causa di procedure concorsuali o esecutive individuali rimaste infruttuose;</a:t>
                      </a:r>
                    </a:p>
                    <a:p>
                      <a:pPr marL="285750" marR="0" lvl="0" indent="-283845" algn="l">
                        <a:lnSpc>
                          <a:spcPct val="100000"/>
                        </a:lnSpc>
                        <a:spcBef>
                          <a:spcPct val="0"/>
                        </a:spcBef>
                        <a:spcAft>
                          <a:spcPct val="0"/>
                        </a:spcAft>
                        <a:buClr>
                          <a:srgbClr val="000000"/>
                        </a:buClr>
                        <a:buFont typeface="Arial,Sans-Serif"/>
                        <a:buChar char="•"/>
                      </a:pPr>
                      <a:r>
                        <a:rPr lang="it-IT" sz="1400" b="0" i="0" u="none" strike="noStrike" noProof="0" dirty="0">
                          <a:solidFill>
                            <a:srgbClr val="000000"/>
                          </a:solidFill>
                          <a:latin typeface="Calibri"/>
                        </a:rPr>
                        <a:t>a seguito di un accordo di ristrutturazione dei debiti omologato (art. 182 bis L.F.) o di un piano attestato pubblicato nel registro imprese (art. 67 lett. d) L.F.) </a:t>
                      </a:r>
                      <a:endParaRPr lang="it-IT" sz="1400" dirty="0">
                        <a:latin typeface="Calibri"/>
                      </a:endParaRP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extLst>
                  <a:ext uri="{0D108BD9-81ED-4DB2-BD59-A6C34878D82A}">
                    <a16:rowId xmlns:a16="http://schemas.microsoft.com/office/drawing/2014/main" val="1221347620"/>
                  </a:ext>
                </a:extLst>
              </a:tr>
              <a:tr h="370840">
                <a:tc vMerge="1">
                  <a:txBody>
                    <a:bodyPr/>
                    <a:lstStyle/>
                    <a:p>
                      <a:endParaRPr lang="it-IT"/>
                    </a:p>
                  </a:txBody>
                  <a:tcPr>
                    <a:lnL w="9525">
                      <a:solidFill>
                        <a:schemeClr val="accent1"/>
                      </a:solidFill>
                    </a:lnL>
                    <a:lnR w="9525">
                      <a:solidFill>
                        <a:schemeClr val="accent1"/>
                      </a:solidFill>
                    </a:lnR>
                    <a:lnT w="9525">
                      <a:solidFill>
                        <a:schemeClr val="accent1"/>
                      </a:solidFill>
                    </a:lnT>
                    <a:lnB w="9525">
                      <a:solidFill>
                        <a:schemeClr val="accent1"/>
                      </a:solidFill>
                    </a:lnB>
                  </a:tcPr>
                </a:tc>
                <a:tc>
                  <a:txBody>
                    <a:bodyPr/>
                    <a:lstStyle/>
                    <a:p>
                      <a:r>
                        <a:rPr lang="it-IT" sz="1400" dirty="0">
                          <a:latin typeface="Calibri"/>
                        </a:rPr>
                        <a:t>Entro un anno dall'effettuazione dell'operazione</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tc>
                  <a:txBody>
                    <a:bodyPr/>
                    <a:lstStyle/>
                    <a:p>
                      <a:pPr marL="0" lvl="0" indent="0" algn="l">
                        <a:lnSpc>
                          <a:spcPct val="100000"/>
                        </a:lnSpc>
                        <a:buNone/>
                      </a:pPr>
                      <a:r>
                        <a:rPr lang="it-IT" sz="1400" b="0" i="0" u="none" strike="noStrike" baseline="0" noProof="0" dirty="0">
                          <a:solidFill>
                            <a:srgbClr val="000000"/>
                          </a:solidFill>
                          <a:latin typeface="Calibri"/>
                        </a:rPr>
                        <a:t>Per effetto di:</a:t>
                      </a:r>
                      <a:endParaRPr lang="it-IT" sz="1400" dirty="0">
                        <a:latin typeface="Calibri"/>
                      </a:endParaRPr>
                    </a:p>
                    <a:p>
                      <a:pPr marL="171450" lvl="0" indent="-171450" algn="l">
                        <a:lnSpc>
                          <a:spcPct val="100000"/>
                        </a:lnSpc>
                        <a:buFont typeface="Arial"/>
                        <a:buChar char="•"/>
                      </a:pPr>
                      <a:r>
                        <a:rPr lang="it-IT" sz="1400" b="0" i="0" u="none" strike="noStrike" baseline="0" noProof="0" dirty="0">
                          <a:solidFill>
                            <a:srgbClr val="000000"/>
                          </a:solidFill>
                          <a:latin typeface="Calibri"/>
                        </a:rPr>
                        <a:t>sopravvenuto accordo tra le parti</a:t>
                      </a:r>
                    </a:p>
                    <a:p>
                      <a:pPr marL="171450" lvl="0" indent="-171450" algn="l">
                        <a:lnSpc>
                          <a:spcPct val="100000"/>
                        </a:lnSpc>
                        <a:buFont typeface="Arial"/>
                        <a:buChar char="•"/>
                      </a:pPr>
                      <a:r>
                        <a:rPr lang="it-IT" sz="1400" b="0" i="0" u="none" strike="noStrike" baseline="0" noProof="0" dirty="0">
                          <a:solidFill>
                            <a:srgbClr val="000000"/>
                          </a:solidFill>
                          <a:latin typeface="Calibri"/>
                        </a:rPr>
                        <a:t>Inesattezza della fatturazione (errori materiali o di calcolo)</a:t>
                      </a:r>
                    </a:p>
                  </a:txBody>
                  <a:tcPr anchor="ctr">
                    <a:lnL w="9525">
                      <a:solidFill>
                        <a:schemeClr val="accent1"/>
                      </a:solidFill>
                    </a:lnL>
                    <a:lnR w="9525">
                      <a:solidFill>
                        <a:schemeClr val="accent1"/>
                      </a:solidFill>
                    </a:lnR>
                    <a:lnT w="9525">
                      <a:solidFill>
                        <a:schemeClr val="accent1"/>
                      </a:solidFill>
                    </a:lnT>
                    <a:lnB w="9525">
                      <a:solidFill>
                        <a:schemeClr val="accent1"/>
                      </a:solidFill>
                    </a:lnB>
                  </a:tcPr>
                </a:tc>
                <a:extLst>
                  <a:ext uri="{0D108BD9-81ED-4DB2-BD59-A6C34878D82A}">
                    <a16:rowId xmlns:a16="http://schemas.microsoft.com/office/drawing/2014/main" val="419931368"/>
                  </a:ext>
                </a:extLst>
              </a:tr>
            </a:tbl>
          </a:graphicData>
        </a:graphic>
      </p:graphicFrame>
      <p:sp>
        <p:nvSpPr>
          <p:cNvPr id="3" name="CasellaDiTesto 2">
            <a:extLst>
              <a:ext uri="{FF2B5EF4-FFF2-40B4-BE49-F238E27FC236}">
                <a16:creationId xmlns:a16="http://schemas.microsoft.com/office/drawing/2014/main" id="{521BC545-11AE-DC29-4ED7-B1485C202EEE}"/>
              </a:ext>
            </a:extLst>
          </p:cNvPr>
          <p:cNvSpPr txBox="1"/>
          <p:nvPr/>
        </p:nvSpPr>
        <p:spPr>
          <a:xfrm>
            <a:off x="722779" y="5521698"/>
            <a:ext cx="7790889"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it-IT" sz="1400" i="1" dirty="0">
                <a:latin typeface="Calibri"/>
                <a:cs typeface="Calibri"/>
              </a:rPr>
              <a:t>Modalità: emissione di una nota di addebito (se in aumento) o nota di accredito (se in diminuzione), con aliquota e regime applicabile all'operazione originaria.</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CustomShape 1"/>
          <p:cNvSpPr/>
          <p:nvPr/>
        </p:nvSpPr>
        <p:spPr>
          <a:xfrm>
            <a:off x="117475" y="1112838"/>
            <a:ext cx="8572500" cy="377507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endParaRPr lang="it-IT" spc="-1" noProof="1"/>
          </a:p>
          <a:p>
            <a:pPr marL="285750" indent="-283845" algn="just" fontAlgn="auto">
              <a:lnSpc>
                <a:spcPct val="90000"/>
              </a:lnSpc>
              <a:buClr>
                <a:srgbClr val="1F497D"/>
              </a:buClr>
              <a:buFont typeface="Wingdings" panose="05000000000000000000" pitchFamily="2" charset="2"/>
              <a:buChar char=""/>
            </a:pPr>
            <a:r>
              <a:rPr lang="it-IT" sz="1450" spc="-1" noProof="1">
                <a:solidFill>
                  <a:srgbClr val="000000"/>
                </a:solidFill>
                <a:latin typeface="Tahoma"/>
                <a:ea typeface="Tahoma"/>
              </a:rPr>
              <a:t>Enzo Di Maura è un imprenditore individuale che ha rettificato il proprio volume d’affari ai fini IVA dopo aver emesso e registrato una fattura mai stata pagata da un proprio cliente -dichiarato fallito-.</a:t>
            </a:r>
            <a:endParaRPr lang="it-IT" sz="1450" spc="-1" noProof="1"/>
          </a:p>
          <a:p>
            <a:pPr algn="just" fontAlgn="auto">
              <a:lnSpc>
                <a:spcPct val="90000"/>
              </a:lnSpc>
            </a:pPr>
            <a:endParaRPr lang="it-IT" sz="1450" spc="-1" noProof="1"/>
          </a:p>
          <a:p>
            <a:pPr marL="285750" indent="-283845" algn="just" fontAlgn="auto">
              <a:lnSpc>
                <a:spcPct val="90000"/>
              </a:lnSpc>
              <a:buClr>
                <a:srgbClr val="1F497D"/>
              </a:buClr>
              <a:buFont typeface="Wingdings" panose="05000000000000000000" pitchFamily="2" charset="2"/>
              <a:buChar char=""/>
            </a:pPr>
            <a:r>
              <a:rPr lang="it-IT" sz="1450" spc="-1" noProof="1">
                <a:solidFill>
                  <a:srgbClr val="000000"/>
                </a:solidFill>
                <a:latin typeface="Tahoma"/>
                <a:ea typeface="Tahoma"/>
              </a:rPr>
              <a:t>La riduzione fatta dal sig. Di Maura è rettificata dall’Agenzia delle Entrate, poiché l’art. 26 del DPR 633/1972, è interpretato nel senso che la rettifica è ammessa solo alla scadenza del termine per le osservazioni del piano di riparto, o in mancanza, alla scadenza del termine per proporre reclamo contro la sentenza di fallimento, mentre il sig. Di Maura aveva proceduto alla rettifica all’apertura della procedura, sostenendo che l’intero procedimento avrebbe potuto durare anche 10 anni.</a:t>
            </a:r>
            <a:endParaRPr lang="it-IT" sz="1450" spc="-1" noProof="1"/>
          </a:p>
          <a:p>
            <a:pPr algn="just" fontAlgn="auto">
              <a:lnSpc>
                <a:spcPct val="90000"/>
              </a:lnSpc>
            </a:pPr>
            <a:endParaRPr lang="it-IT" sz="1450" spc="-1" noProof="1"/>
          </a:p>
          <a:p>
            <a:pPr marL="285750" indent="-283845" algn="just" fontAlgn="auto">
              <a:lnSpc>
                <a:spcPct val="90000"/>
              </a:lnSpc>
              <a:buClr>
                <a:srgbClr val="1F497D"/>
              </a:buClr>
              <a:buFont typeface="Wingdings" panose="05000000000000000000" pitchFamily="2" charset="2"/>
              <a:buChar char=""/>
            </a:pPr>
            <a:r>
              <a:rPr lang="it-IT" sz="1450" spc="-1" noProof="1">
                <a:solidFill>
                  <a:srgbClr val="000000"/>
                </a:solidFill>
                <a:latin typeface="Tahoma"/>
                <a:ea typeface="Tahoma"/>
              </a:rPr>
              <a:t>Sul punto, la Corte afferma “</a:t>
            </a:r>
            <a:r>
              <a:rPr lang="it-IT" sz="1450" i="1" spc="-1" noProof="1">
                <a:solidFill>
                  <a:srgbClr val="000000"/>
                </a:solidFill>
                <a:latin typeface="Tahoma"/>
                <a:ea typeface="Tahoma"/>
              </a:rPr>
              <a:t>l’art. 11, parte A, par. 1, lett. a) della sesta direttiva … costituisce un l’espressione di un principio fondamentale … secondo il quale la base imponibile è costituita dal </a:t>
            </a:r>
            <a:r>
              <a:rPr lang="it-IT" sz="1450" i="1" u="sng" spc="-1" noProof="1">
                <a:solidFill>
                  <a:srgbClr val="000000"/>
                </a:solidFill>
                <a:latin typeface="Tahoma"/>
                <a:ea typeface="Tahoma"/>
              </a:rPr>
              <a:t>corrispettivo realmente ricevuto</a:t>
            </a:r>
            <a:r>
              <a:rPr lang="it-IT" sz="1450" i="1" spc="-1" noProof="1">
                <a:solidFill>
                  <a:srgbClr val="000000"/>
                </a:solidFill>
                <a:latin typeface="Tahoma"/>
                <a:ea typeface="Tahoma"/>
              </a:rPr>
              <a:t> e dal quale risulta come corollario che </a:t>
            </a:r>
            <a:r>
              <a:rPr lang="it-IT" sz="1450" i="1" u="sng" spc="-1" noProof="1">
                <a:solidFill>
                  <a:srgbClr val="000000"/>
                </a:solidFill>
                <a:latin typeface="Tahoma"/>
                <a:ea typeface="Tahoma"/>
              </a:rPr>
              <a:t>l’amministrazione finanziaria non può riscuotere a titolo dell’IVA un importo superiore</a:t>
            </a:r>
            <a:r>
              <a:rPr lang="it-IT" sz="1450" i="1" spc="-1" noProof="1">
                <a:solidFill>
                  <a:srgbClr val="000000"/>
                </a:solidFill>
                <a:latin typeface="Tahoma"/>
                <a:ea typeface="Tahoma"/>
              </a:rPr>
              <a:t> a quello percepito dal dallo stesso soggetto passivo al medesimo titolo</a:t>
            </a:r>
            <a:r>
              <a:rPr lang="it-IT" sz="1450" spc="-1" noProof="1">
                <a:solidFill>
                  <a:srgbClr val="000000"/>
                </a:solidFill>
                <a:latin typeface="Tahoma"/>
                <a:ea typeface="Tahoma"/>
              </a:rPr>
              <a:t>”. </a:t>
            </a:r>
            <a:endParaRPr lang="it-IT" sz="1450" spc="-1" noProof="1"/>
          </a:p>
          <a:p>
            <a:pPr algn="just" fontAlgn="auto">
              <a:lnSpc>
                <a:spcPct val="90000"/>
              </a:lnSpc>
            </a:pPr>
            <a:endParaRPr lang="it-IT" sz="1450" spc="-1" noProof="1"/>
          </a:p>
          <a:p>
            <a:pPr marL="285750" indent="-283845" algn="just" fontAlgn="auto">
              <a:lnSpc>
                <a:spcPct val="90000"/>
              </a:lnSpc>
              <a:buClr>
                <a:srgbClr val="1F497D"/>
              </a:buClr>
              <a:buFont typeface="Wingdings" panose="05000000000000000000" pitchFamily="2" charset="2"/>
              <a:buChar char=""/>
            </a:pPr>
            <a:r>
              <a:rPr lang="it-IT" sz="1450" spc="-1" noProof="1">
                <a:solidFill>
                  <a:srgbClr val="000000"/>
                </a:solidFill>
                <a:latin typeface="Tahoma"/>
                <a:ea typeface="Tahoma"/>
              </a:rPr>
              <a:t>“</a:t>
            </a:r>
            <a:r>
              <a:rPr lang="it-IT" sz="1450" i="1" spc="-1" noProof="1">
                <a:solidFill>
                  <a:srgbClr val="000000"/>
                </a:solidFill>
                <a:latin typeface="Tahoma"/>
                <a:ea typeface="Tahoma"/>
              </a:rPr>
              <a:t>Conformemente a tale principio, l’art. 11, parte C, par. 1, primo comma, della sesta direttiva, che riguarda i casi di annullamento, recesso, risoluzione, non pagamento totale o parziale e riduzione di prezzo dopo che l’operazione è stata effettuata, obbliga gli Stati membri a procedere alla riduzione della base imponibile, e, quindi, dell’importo dell’IVA dovuta dal soggetto passivo ogniqualvolta … il corrispettivo non venga totalmente o parzialmente percepito</a:t>
            </a:r>
            <a:r>
              <a:rPr lang="it-IT" sz="1450" spc="-1" noProof="1">
                <a:solidFill>
                  <a:srgbClr val="000000"/>
                </a:solidFill>
                <a:latin typeface="Tahoma"/>
                <a:ea typeface="Tahoma"/>
              </a:rPr>
              <a:t>”.</a:t>
            </a:r>
            <a:endParaRPr lang="it-IT" sz="1450" spc="-1" noProof="1"/>
          </a:p>
          <a:p>
            <a:pPr algn="just" fontAlgn="auto">
              <a:lnSpc>
                <a:spcPct val="90000"/>
              </a:lnSpc>
            </a:pPr>
            <a:endParaRPr lang="it-IT" sz="1450" spc="-1" noProof="1"/>
          </a:p>
          <a:p>
            <a:pPr marL="285750" indent="-283845" algn="just" fontAlgn="auto">
              <a:lnSpc>
                <a:spcPct val="90000"/>
              </a:lnSpc>
              <a:buClr>
                <a:srgbClr val="1F497D"/>
              </a:buClr>
              <a:buFont typeface="Wingdings" panose="05000000000000000000" pitchFamily="2" charset="2"/>
              <a:buChar char=""/>
            </a:pPr>
            <a:r>
              <a:rPr lang="it-IT" sz="1450" spc="-1" noProof="1">
                <a:solidFill>
                  <a:srgbClr val="000000"/>
                </a:solidFill>
                <a:latin typeface="Tahoma"/>
                <a:ea typeface="Tahoma"/>
              </a:rPr>
              <a:t>Dato che il mancato o il parziale pagamento può essere una situazione temporanea, la rettifica può essere impedita in talune circostanze, ma comunque non può mai essere del tutto esclusa da uno Stato membro, perché ciò sarebbe contrario al principio di neutralità dell’IVA. L’attesa dell’esito di un lungo procedimento giudiziale equivale ad un esclusione del diritto alla rettifica, dunque tale interpretazione del citato art. 26 è incompatibile con il diritto dell’Unione.</a:t>
            </a:r>
            <a:endParaRPr lang="it-IT" sz="1450" spc="-1" noProof="1"/>
          </a:p>
          <a:p>
            <a:pPr algn="just" fontAlgn="auto">
              <a:lnSpc>
                <a:spcPct val="90000"/>
              </a:lnSpc>
            </a:pPr>
            <a:endParaRPr lang="it-IT" sz="1450" spc="-1" noProof="1"/>
          </a:p>
          <a:p>
            <a:pPr algn="just" fontAlgn="auto">
              <a:lnSpc>
                <a:spcPct val="90000"/>
              </a:lnSpc>
            </a:pPr>
            <a:endParaRPr lang="it-IT" sz="1450" spc="-1" noProof="1"/>
          </a:p>
        </p:txBody>
      </p:sp>
      <p:sp>
        <p:nvSpPr>
          <p:cNvPr id="458"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CGCE 23.11.2017, C-246/16, </a:t>
            </a:r>
            <a:r>
              <a:rPr lang="it-IT" sz="2800" b="1" i="1" spc="-1" noProof="1">
                <a:solidFill>
                  <a:srgbClr val="FFFFFF"/>
                </a:solidFill>
                <a:latin typeface="Ubuntu" panose="020B0604030602030204"/>
              </a:rPr>
              <a:t>Di Maura</a:t>
            </a:r>
            <a:endParaRPr lang="it-IT" sz="2800" spc="-1" noProof="1"/>
          </a:p>
        </p:txBody>
      </p:sp>
    </p:spTree>
    <p:extLst>
      <p:ext uri="{BB962C8B-B14F-4D97-AF65-F5344CB8AC3E}">
        <p14:creationId xmlns:p14="http://schemas.microsoft.com/office/powerpoint/2010/main" val="22833092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ttotitolo 2"/>
          <p:cNvSpPr>
            <a:spLocks noGrp="1"/>
          </p:cNvSpPr>
          <p:nvPr>
            <p:ph type="subTitle" idx="4294967295"/>
          </p:nvPr>
        </p:nvSpPr>
        <p:spPr>
          <a:xfrm>
            <a:off x="301625" y="1404938"/>
            <a:ext cx="8637588" cy="2811462"/>
          </a:xfrm>
        </p:spPr>
        <p:txBody>
          <a:bodyPr/>
          <a:lstStyle/>
          <a:p>
            <a:pPr marL="0" indent="0" fontAlgn="auto">
              <a:buFont typeface="Arial" panose="020B0604020202020204" pitchFamily="34" charset="0"/>
              <a:buNone/>
            </a:pPr>
            <a:r>
              <a:rPr lang="it-IT" sz="1500" noProof="1">
                <a:latin typeface="Tahoma" panose="020B0604030504040204" pitchFamily="34" charset="0"/>
                <a:ea typeface="Tahoma" panose="020B0604030504040204" pitchFamily="34" charset="0"/>
                <a:cs typeface="Tahoma" panose="020B0604030504040204" pitchFamily="34" charset="0"/>
              </a:rPr>
              <a:t>L’articolo 26 del D.P.R. 633/72 è stato sensibilmente modificato negli ultimi anni dai seguenti interventi normativi:</a:t>
            </a:r>
          </a:p>
          <a:p>
            <a:pPr marL="0" indent="0" fontAlgn="auto">
              <a:buFont typeface="Arial" panose="020B0604020202020204" pitchFamily="34" charset="0"/>
              <a:buNone/>
            </a:pPr>
            <a:endParaRPr lang="it-IT" sz="1500" noProof="1">
              <a:latin typeface="Tahoma" panose="020B0604030504040204" pitchFamily="34" charset="0"/>
              <a:ea typeface="Tahoma" panose="020B0604030504040204" pitchFamily="34" charset="0"/>
              <a:cs typeface="Tahoma" panose="020B0604030504040204" pitchFamily="34" charset="0"/>
            </a:endParaRPr>
          </a:p>
          <a:p>
            <a:pPr marL="285750" indent="-285750" fontAlgn="auto">
              <a:buFont typeface="Wingdings" panose="05000000000000000000" pitchFamily="2" charset="2"/>
              <a:buChar char="ü"/>
            </a:pPr>
            <a:r>
              <a:rPr lang="it-IT" sz="1500" noProof="1">
                <a:latin typeface="Tahoma" panose="020B0604030504040204" pitchFamily="34" charset="0"/>
                <a:ea typeface="Tahoma" panose="020B0604030504040204" pitchFamily="34" charset="0"/>
                <a:cs typeface="Tahoma" panose="020B0604030504040204" pitchFamily="34" charset="0"/>
              </a:rPr>
              <a:t>Art. 1, commi 126 e 127 della Legge 28 dicembre 2015, n. 208 (Legge di Stabilità 2016), che ha interamente riscritto la disposizione;</a:t>
            </a:r>
          </a:p>
          <a:p>
            <a:pPr marL="285750" indent="-285750" fontAlgn="auto">
              <a:buFont typeface="Wingdings" panose="05000000000000000000" pitchFamily="2" charset="2"/>
              <a:buChar char="ü"/>
            </a:pPr>
            <a:r>
              <a:rPr lang="it-IT" sz="1500" noProof="1">
                <a:latin typeface="Tahoma" panose="020B0604030504040204" pitchFamily="34" charset="0"/>
                <a:ea typeface="Tahoma" panose="020B0604030504040204" pitchFamily="34" charset="0"/>
                <a:cs typeface="Tahoma" panose="020B0604030504040204" pitchFamily="34" charset="0"/>
              </a:rPr>
              <a:t>Art. 1, commi 567 e ss. della Legge 11 dicembre 2016, n. 232;</a:t>
            </a:r>
          </a:p>
          <a:p>
            <a:pPr marL="285750" indent="-285750" fontAlgn="auto">
              <a:buFont typeface="Wingdings" panose="05000000000000000000" pitchFamily="2" charset="2"/>
              <a:buChar char="ü"/>
            </a:pPr>
            <a:r>
              <a:rPr lang="it-IT" sz="1500" noProof="1">
                <a:latin typeface="Tahoma" panose="020B0604030504040204" pitchFamily="34" charset="0"/>
                <a:ea typeface="Tahoma" panose="020B0604030504040204" pitchFamily="34" charset="0"/>
                <a:cs typeface="Tahoma" panose="020B0604030504040204" pitchFamily="34" charset="0"/>
              </a:rPr>
              <a:t>Art. 1, commi 394 e 402 della Legge 27 dicembre 2017, n. 205 (Legge di Bilancio 2018).</a:t>
            </a:r>
          </a:p>
          <a:p>
            <a:pPr marL="285750" indent="-285750" fontAlgn="auto">
              <a:buFont typeface="Wingdings" panose="05000000000000000000" pitchFamily="2" charset="2"/>
              <a:buChar char="ü"/>
            </a:pPr>
            <a:r>
              <a:rPr lang="en-US" altLang="it-IT" sz="1500" noProof="1">
                <a:latin typeface="Tahoma" panose="020B0604030504040204" pitchFamily="34" charset="0"/>
                <a:ea typeface="Tahoma" panose="020B0604030504040204" pitchFamily="34" charset="0"/>
                <a:cs typeface="Tahoma" panose="020B0604030504040204" pitchFamily="34" charset="0"/>
              </a:rPr>
              <a:t>art. 18 D.L. </a:t>
            </a:r>
            <a:r>
              <a:rPr lang="it-IT" sz="1500" noProof="1">
                <a:latin typeface="Tahoma" panose="020B0604030504040204" pitchFamily="34" charset="0"/>
                <a:ea typeface="Tahoma" panose="020B0604030504040204" pitchFamily="34" charset="0"/>
                <a:cs typeface="Tahoma" panose="020B0604030504040204" pitchFamily="34" charset="0"/>
              </a:rPr>
              <a:t>25 </a:t>
            </a:r>
            <a:r>
              <a:rPr lang="en-US" altLang="it-IT" sz="1500" noProof="1">
                <a:latin typeface="Tahoma" panose="020B0604030504040204" pitchFamily="34" charset="0"/>
                <a:ea typeface="Tahoma" panose="020B0604030504040204" pitchFamily="34" charset="0"/>
                <a:cs typeface="Tahoma" panose="020B0604030504040204" pitchFamily="34" charset="0"/>
              </a:rPr>
              <a:t>maggio </a:t>
            </a:r>
            <a:r>
              <a:rPr lang="it-IT" sz="1500" noProof="1">
                <a:latin typeface="Tahoma" panose="020B0604030504040204" pitchFamily="34" charset="0"/>
                <a:ea typeface="Tahoma" panose="020B0604030504040204" pitchFamily="34" charset="0"/>
                <a:cs typeface="Tahoma" panose="020B0604030504040204" pitchFamily="34" charset="0"/>
              </a:rPr>
              <a:t>2021 n. 73</a:t>
            </a:r>
          </a:p>
          <a:p>
            <a:pPr marL="285750" indent="-285750" fontAlgn="auto">
              <a:buFont typeface="Wingdings" panose="05000000000000000000" pitchFamily="2" charset="2"/>
              <a:buChar char="ü"/>
            </a:pPr>
            <a:endParaRPr lang="it-IT" sz="1500" noProof="1">
              <a:latin typeface="Tahoma" panose="020B0604030504040204" pitchFamily="34" charset="0"/>
              <a:ea typeface="Tahoma" panose="020B0604030504040204" pitchFamily="34" charset="0"/>
              <a:cs typeface="Tahoma" panose="020B0604030504040204" pitchFamily="34" charset="0"/>
            </a:endParaRPr>
          </a:p>
          <a:p>
            <a:pPr fontAlgn="auto"/>
            <a:endParaRPr lang="it-IT" sz="1500" noProof="1">
              <a:latin typeface="Tahoma" panose="020B0604030504040204" pitchFamily="34" charset="0"/>
              <a:ea typeface="Tahoma" panose="020B0604030504040204" pitchFamily="34" charset="0"/>
              <a:cs typeface="Tahoma" panose="020B0604030504040204" pitchFamily="34" charset="0"/>
            </a:endParaRPr>
          </a:p>
          <a:p>
            <a:pPr fontAlgn="auto"/>
            <a:endParaRPr lang="it-IT" sz="1200" noProof="1">
              <a:latin typeface="Tahoma" panose="020B0604030504040204" pitchFamily="34" charset="0"/>
              <a:ea typeface="Tahoma" panose="020B0604030504040204" pitchFamily="34" charset="0"/>
              <a:cs typeface="Tahoma" panose="020B0604030504040204" pitchFamily="34" charset="0"/>
            </a:endParaRPr>
          </a:p>
        </p:txBody>
      </p:sp>
      <p:sp>
        <p:nvSpPr>
          <p:cNvPr id="4"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Variazione dell’imponibile o dell’imposta: modifiche all’art. 26 (1)</a:t>
            </a:r>
            <a:endParaRPr lang="it-IT" sz="2800" spc="-1" noProof="1"/>
          </a:p>
        </p:txBody>
      </p:sp>
      <p:sp>
        <p:nvSpPr>
          <p:cNvPr id="7" name="Rettangolo 6"/>
          <p:cNvSpPr/>
          <p:nvPr/>
        </p:nvSpPr>
        <p:spPr>
          <a:xfrm>
            <a:off x="187325" y="4095750"/>
            <a:ext cx="8637588" cy="2170113"/>
          </a:xfrm>
          <a:prstGeom prst="rect">
            <a:avLst/>
          </a:prstGeom>
        </p:spPr>
        <p:txBody>
          <a:bodyPr>
            <a:spAutoFit/>
          </a:bodyPr>
          <a:lstStyle/>
          <a:p>
            <a:pPr fontAlgn="auto"/>
            <a:r>
              <a:rPr lang="it-IT" sz="1500" noProof="1">
                <a:latin typeface="Tahoma" panose="020B0604030504040204" pitchFamily="34" charset="0"/>
                <a:ea typeface="Tahoma" panose="020B0604030504040204" pitchFamily="34" charset="0"/>
                <a:cs typeface="Tahoma" panose="020B0604030504040204" pitchFamily="34" charset="0"/>
              </a:rPr>
              <a:t>Tali interventi hanno introdotto importanti novità nella disciplina delle variazioni dell’imponibile e dell’imposta sul valore aggiunto con particolare riferimento alle variazioni in diminuzione da emettersi in relazione a:</a:t>
            </a:r>
          </a:p>
          <a:p>
            <a:pPr marL="342900" indent="-342900" fontAlgn="auto">
              <a:buFont typeface="+mj-lt"/>
              <a:buAutoNum type="arabicPeriod"/>
            </a:pPr>
            <a:r>
              <a:rPr lang="it-IT" sz="1500" noProof="1">
                <a:latin typeface="Tahoma" panose="020B0604030504040204" pitchFamily="34" charset="0"/>
                <a:ea typeface="Tahoma" panose="020B0604030504040204" pitchFamily="34" charset="0"/>
                <a:cs typeface="Tahoma" panose="020B0604030504040204" pitchFamily="34" charset="0"/>
              </a:rPr>
              <a:t>Procedure concorsuali rimaste infruttuose;</a:t>
            </a:r>
          </a:p>
          <a:p>
            <a:pPr marL="342900" indent="-342900" fontAlgn="auto">
              <a:buFont typeface="+mj-lt"/>
              <a:buAutoNum type="arabicPeriod"/>
            </a:pPr>
            <a:r>
              <a:rPr lang="it-IT" sz="1500" noProof="1">
                <a:latin typeface="Tahoma" panose="020B0604030504040204" pitchFamily="34" charset="0"/>
                <a:ea typeface="Tahoma" panose="020B0604030504040204" pitchFamily="34" charset="0"/>
                <a:cs typeface="Tahoma" panose="020B0604030504040204" pitchFamily="34" charset="0"/>
              </a:rPr>
              <a:t>Procedure assimilate;</a:t>
            </a:r>
          </a:p>
          <a:p>
            <a:pPr marL="342900" indent="-342900" fontAlgn="auto">
              <a:buFont typeface="+mj-lt"/>
              <a:buAutoNum type="arabicPeriod"/>
            </a:pPr>
            <a:r>
              <a:rPr lang="it-IT" sz="1500" noProof="1">
                <a:latin typeface="Tahoma" panose="020B0604030504040204" pitchFamily="34" charset="0"/>
                <a:ea typeface="Tahoma" panose="020B0604030504040204" pitchFamily="34" charset="0"/>
                <a:cs typeface="Tahoma" panose="020B0604030504040204" pitchFamily="34" charset="0"/>
              </a:rPr>
              <a:t>Procedure esecutive rimaste infruttuose;</a:t>
            </a:r>
          </a:p>
          <a:p>
            <a:pPr marL="342900" indent="-342900" fontAlgn="auto">
              <a:buFont typeface="+mj-lt"/>
              <a:buAutoNum type="arabicPeriod"/>
            </a:pPr>
            <a:r>
              <a:rPr lang="it-IT" sz="1500" noProof="1">
                <a:latin typeface="Tahoma" panose="020B0604030504040204" pitchFamily="34" charset="0"/>
                <a:ea typeface="Tahoma" panose="020B0604030504040204" pitchFamily="34" charset="0"/>
                <a:cs typeface="Tahoma" panose="020B0604030504040204" pitchFamily="34" charset="0"/>
              </a:rPr>
              <a:t>Risoluzione di contratti ad esecuzione continuata e periodica conseguente ad inadempimento di una delle parti;</a:t>
            </a:r>
          </a:p>
          <a:p>
            <a:pPr marL="342900" indent="-342900" fontAlgn="auto">
              <a:buFont typeface="+mj-lt"/>
              <a:buAutoNum type="arabicPeriod"/>
            </a:pPr>
            <a:r>
              <a:rPr lang="it-IT" sz="1500" noProof="1">
                <a:latin typeface="Tahoma" panose="020B0604030504040204" pitchFamily="34" charset="0"/>
                <a:ea typeface="Tahoma" panose="020B0604030504040204" pitchFamily="34" charset="0"/>
                <a:cs typeface="Tahoma" panose="020B0604030504040204" pitchFamily="34" charset="0"/>
              </a:rPr>
              <a:t>Operazioni soggette a «</a:t>
            </a:r>
            <a:r>
              <a:rPr lang="it-IT" sz="1500" i="1" noProof="1">
                <a:latin typeface="Tahoma" panose="020B0604030504040204" pitchFamily="34" charset="0"/>
                <a:ea typeface="Tahoma" panose="020B0604030504040204" pitchFamily="34" charset="0"/>
                <a:cs typeface="Tahoma" panose="020B0604030504040204" pitchFamily="34" charset="0"/>
              </a:rPr>
              <a:t>reverse charge</a:t>
            </a:r>
            <a:r>
              <a:rPr lang="it-IT" sz="1500" noProof="1">
                <a:latin typeface="Tahoma" panose="020B0604030504040204" pitchFamily="34" charset="0"/>
                <a:ea typeface="Tahoma" panose="020B0604030504040204" pitchFamily="34" charset="0"/>
                <a:cs typeface="Tahoma" panose="020B0604030504040204" pitchFamily="34" charset="0"/>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Variazione dell’imponibile o dell’imposta: modifiche all’art. 26 (2)</a:t>
            </a:r>
            <a:endParaRPr lang="it-IT" sz="2800" spc="-1" noProof="1"/>
          </a:p>
        </p:txBody>
      </p:sp>
      <p:graphicFrame>
        <p:nvGraphicFramePr>
          <p:cNvPr id="2" name="Tabella 1"/>
          <p:cNvGraphicFramePr>
            <a:graphicFrameLocks noGrp="1"/>
          </p:cNvGraphicFramePr>
          <p:nvPr/>
        </p:nvGraphicFramePr>
        <p:xfrm>
          <a:off x="203200" y="1746250"/>
          <a:ext cx="8736013" cy="2229169"/>
        </p:xfrm>
        <a:graphic>
          <a:graphicData uri="http://schemas.openxmlformats.org/drawingml/2006/table">
            <a:tbl>
              <a:tblPr/>
              <a:tblGrid>
                <a:gridCol w="2813050">
                  <a:extLst>
                    <a:ext uri="{9D8B030D-6E8A-4147-A177-3AD203B41FA5}">
                      <a16:colId xmlns:a16="http://schemas.microsoft.com/office/drawing/2014/main" val="20000"/>
                    </a:ext>
                  </a:extLst>
                </a:gridCol>
                <a:gridCol w="5922963">
                  <a:extLst>
                    <a:ext uri="{9D8B030D-6E8A-4147-A177-3AD203B41FA5}">
                      <a16:colId xmlns:a16="http://schemas.microsoft.com/office/drawing/2014/main" val="20001"/>
                    </a:ext>
                  </a:extLst>
                </a:gridCol>
              </a:tblGrid>
              <a:tr h="274638">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en-US" sz="1200" b="1" i="0" u="none" strike="noStrike" cap="none" normalizeH="0" baseline="0">
                          <a:ln>
                            <a:noFill/>
                          </a:ln>
                          <a:solidFill>
                            <a:srgbClr val="FFFFFF"/>
                          </a:solidFill>
                          <a:effectLst/>
                          <a:latin typeface="Arial" panose="020B0604020202020204" pitchFamily="34" charset="0"/>
                          <a:ea typeface="DejaVu Sans" panose="020B0603030804020204"/>
                          <a:cs typeface="DejaVu Sans" panose="020B0603030804020204"/>
                        </a:rPr>
                        <a:t>1. Procedure concorsuali</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en-US" sz="1200" b="1" i="0" u="none" strike="noStrike" cap="none" normalizeH="0" baseline="0">
                          <a:ln>
                            <a:noFill/>
                          </a:ln>
                          <a:solidFill>
                            <a:srgbClr val="FFFFFF"/>
                          </a:solidFill>
                          <a:effectLst/>
                          <a:latin typeface="Arial" panose="020B0604020202020204" pitchFamily="34" charset="0"/>
                          <a:ea typeface="DejaVu Sans" panose="020B0603030804020204"/>
                          <a:cs typeface="DejaVu Sans" panose="020B0603030804020204"/>
                        </a:rPr>
                        <a:t>Data in cui sorge il diritto alla detrazione</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4F81BD"/>
                    </a:solidFill>
                  </a:tcPr>
                </a:tc>
                <a:extLst>
                  <a:ext uri="{0D108BD9-81ED-4DB2-BD59-A6C34878D82A}">
                    <a16:rowId xmlns:a16="http://schemas.microsoft.com/office/drawing/2014/main" val="10000"/>
                  </a:ext>
                </a:extLst>
              </a:tr>
              <a:tr h="550863">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Fallimento</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it-IT"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D</a:t>
                      </a: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ata della sentenza dichiarativa del fallimento</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57200">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Concordato preventivo (sia liquidatorio, che con continuità aziendale)</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it-IT"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D</a:t>
                      </a: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ecreto di ammissione alla procedura di concordato preventivo </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306388">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Liquidazione coatta amministrativa</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it-IT"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sym typeface="DejaVu Sans" panose="020B0603030804020204"/>
                        </a:rPr>
                        <a:t>P</a:t>
                      </a: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sym typeface="DejaVu Sans" panose="020B0603030804020204"/>
                        </a:rPr>
                        <a:t>rovvedimento che ordina la liquidazione coatta amministrativa</a:t>
                      </a: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r h="457200">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it-IT"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rPr>
                        <a:t>Amministrazione straordinaria</a:t>
                      </a: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tc>
                  <a:txBody>
                    <a:bodyPr/>
                    <a:lstStyle>
                      <a:lvl1pPr>
                        <a:lnSpc>
                          <a:spcPct val="90000"/>
                        </a:lnSpc>
                        <a:spcBef>
                          <a:spcPts val="1000"/>
                        </a:spcBef>
                        <a:buFont typeface="Arial" panose="020B0604020202020204" pitchFamily="34" charset="0"/>
                        <a:defRPr sz="2400">
                          <a:solidFill>
                            <a:schemeClr val="tx1"/>
                          </a:solidFill>
                          <a:latin typeface="Arial" panose="020B0604020202020204" pitchFamily="34" charset="0"/>
                          <a:ea typeface="DejaVu Sans" panose="020B0603030804020204"/>
                          <a:cs typeface="DejaVu Sans" panose="020B0603030804020204"/>
                        </a:defRPr>
                      </a:lvl1pPr>
                      <a:lvl2pPr>
                        <a:lnSpc>
                          <a:spcPct val="90000"/>
                        </a:lnSpc>
                        <a:spcBef>
                          <a:spcPts val="500"/>
                        </a:spcBef>
                        <a:buFont typeface="Arial" panose="020B0604020202020204" pitchFamily="34" charset="0"/>
                        <a:defRPr sz="2000">
                          <a:solidFill>
                            <a:schemeClr val="tx1"/>
                          </a:solidFill>
                          <a:latin typeface="Arial" panose="020B0604020202020204" pitchFamily="34" charset="0"/>
                          <a:ea typeface="DejaVu Sans" panose="020B0603030804020204"/>
                          <a:cs typeface="DejaVu Sans" panose="020B0603030804020204"/>
                        </a:defRPr>
                      </a:lvl2pPr>
                      <a:lvl3pPr>
                        <a:lnSpc>
                          <a:spcPct val="90000"/>
                        </a:lnSpc>
                        <a:spcBef>
                          <a:spcPts val="500"/>
                        </a:spcBef>
                        <a:buFont typeface="Arial" panose="020B0604020202020204" pitchFamily="34" charset="0"/>
                        <a:defRPr>
                          <a:solidFill>
                            <a:schemeClr val="tx1"/>
                          </a:solidFill>
                          <a:latin typeface="Arial" panose="020B0604020202020204" pitchFamily="34" charset="0"/>
                          <a:ea typeface="DejaVu Sans" panose="020B0603030804020204"/>
                          <a:cs typeface="DejaVu Sans" panose="020B0603030804020204"/>
                        </a:defRPr>
                      </a:lvl3pPr>
                      <a:lvl4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4pPr>
                      <a:lvl5pPr>
                        <a:lnSpc>
                          <a:spcPct val="90000"/>
                        </a:lnSpc>
                        <a:spcBef>
                          <a:spcPts val="500"/>
                        </a:spcBef>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5pPr>
                      <a:lvl6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6pPr>
                      <a:lvl7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7pPr>
                      <a:lvl8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8pPr>
                      <a:lvl9pPr fontAlgn="base">
                        <a:lnSpc>
                          <a:spcPct val="90000"/>
                        </a:lnSpc>
                        <a:spcBef>
                          <a:spcPts val="500"/>
                        </a:spcBef>
                        <a:spcAft>
                          <a:spcPct val="0"/>
                        </a:spcAft>
                        <a:buFont typeface="Arial" panose="020B0604020202020204" pitchFamily="34" charset="0"/>
                        <a:defRPr sz="1600">
                          <a:solidFill>
                            <a:schemeClr val="tx1"/>
                          </a:solidFill>
                          <a:latin typeface="Arial" panose="020B0604020202020204" pitchFamily="34" charset="0"/>
                          <a:ea typeface="DejaVu Sans" panose="020B0603030804020204"/>
                          <a:cs typeface="DejaVu Sans" panose="020B0603030804020204"/>
                        </a:defRPr>
                      </a:lvl9pPr>
                    </a:lstStyle>
                    <a:p>
                      <a:pPr marL="0" marR="0" lvl="0" indent="0" algn="l" defTabSz="914400" rtl="0" eaLnBrk="1" fontAlgn="base" latinLnBrk="0" hangingPunct="1">
                        <a:lnSpc>
                          <a:spcPct val="100000"/>
                        </a:lnSpc>
                        <a:spcBef>
                          <a:spcPct val="0"/>
                        </a:spcBef>
                        <a:spcAft>
                          <a:spcPct val="0"/>
                        </a:spcAft>
                        <a:buClrTx/>
                        <a:buSzTx/>
                        <a:buFontTx/>
                        <a:buNone/>
                      </a:pPr>
                      <a:r>
                        <a:rPr kumimoji="0" lang="it-IT" altLang="it-IT"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sym typeface="DejaVu Sans" panose="020B0603030804020204"/>
                        </a:rPr>
                        <a:t>D</a:t>
                      </a:r>
                      <a:r>
                        <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sym typeface="DejaVu Sans" panose="020B0603030804020204"/>
                        </a:rPr>
                        <a:t>ecreto che dispone la procedura di amministrazione straordinaria delle grandi imprese in crisi.</a:t>
                      </a:r>
                      <a:endParaRPr kumimoji="0" lang="it-IT" altLang="en-US" sz="1200" b="0" i="0" u="none" strike="noStrike" cap="none" normalizeH="0" baseline="0">
                        <a:ln>
                          <a:noFill/>
                        </a:ln>
                        <a:solidFill>
                          <a:srgbClr val="000000"/>
                        </a:solidFill>
                        <a:effectLst/>
                        <a:latin typeface="Arial" panose="020B0604020202020204" pitchFamily="34" charset="0"/>
                        <a:ea typeface="DejaVu Sans" panose="020B0603030804020204"/>
                        <a:cs typeface="DejaVu Sans" panose="020B0603030804020204"/>
                      </a:endParaRPr>
                    </a:p>
                  </a:txBody>
                  <a:tcP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4"/>
                  </a:ext>
                </a:extLst>
              </a:tr>
            </a:tbl>
          </a:graphicData>
        </a:graphic>
      </p:graphicFrame>
      <p:graphicFrame>
        <p:nvGraphicFramePr>
          <p:cNvPr id="5" name="Tabella 4"/>
          <p:cNvGraphicFramePr>
            <a:graphicFrameLocks noGrp="1"/>
          </p:cNvGraphicFramePr>
          <p:nvPr/>
        </p:nvGraphicFramePr>
        <p:xfrm>
          <a:off x="204788" y="3792538"/>
          <a:ext cx="8734425" cy="849312"/>
        </p:xfrm>
        <a:graphic>
          <a:graphicData uri="http://schemas.openxmlformats.org/drawingml/2006/table">
            <a:tbl>
              <a:tblPr firstRow="1" bandRow="1">
                <a:tableStyleId>{5C22544A-7EE6-4342-B048-85BDC9FD1C3A}</a:tableStyleId>
              </a:tblPr>
              <a:tblGrid>
                <a:gridCol w="2803774">
                  <a:extLst>
                    <a:ext uri="{9D8B030D-6E8A-4147-A177-3AD203B41FA5}">
                      <a16:colId xmlns:a16="http://schemas.microsoft.com/office/drawing/2014/main" val="20000"/>
                    </a:ext>
                  </a:extLst>
                </a:gridCol>
                <a:gridCol w="5930651">
                  <a:extLst>
                    <a:ext uri="{9D8B030D-6E8A-4147-A177-3AD203B41FA5}">
                      <a16:colId xmlns:a16="http://schemas.microsoft.com/office/drawing/2014/main" val="20001"/>
                    </a:ext>
                  </a:extLst>
                </a:gridCol>
              </a:tblGrid>
              <a:tr h="274362">
                <a:tc>
                  <a:txBody>
                    <a:bodyPr/>
                    <a:lstStyle/>
                    <a:p>
                      <a:r>
                        <a:rPr lang="it-IT" sz="1200" dirty="0"/>
                        <a:t>2. Procedure assimilate</a:t>
                      </a:r>
                    </a:p>
                  </a:txBody>
                  <a:tcPr marL="91427" marR="91427" marT="45727" marB="45727"/>
                </a:tc>
                <a:tc>
                  <a:txBody>
                    <a:bodyPr/>
                    <a:lstStyle/>
                    <a:p>
                      <a:r>
                        <a:rPr lang="it-IT" sz="1200" dirty="0"/>
                        <a:t>Data in cui sorge il diritto alla detrazione</a:t>
                      </a:r>
                    </a:p>
                  </a:txBody>
                  <a:tcPr marL="91427" marR="91427" marT="45727" marB="45727"/>
                </a:tc>
                <a:extLst>
                  <a:ext uri="{0D108BD9-81ED-4DB2-BD59-A6C34878D82A}">
                    <a16:rowId xmlns:a16="http://schemas.microsoft.com/office/drawing/2014/main" val="10000"/>
                  </a:ext>
                </a:extLst>
              </a:tr>
              <a:tr h="287475">
                <a:tc>
                  <a:txBody>
                    <a:bodyPr/>
                    <a:lstStyle/>
                    <a:p>
                      <a:r>
                        <a:rPr lang="it-IT" sz="1200" dirty="0"/>
                        <a:t>Accordo di ristrutturazione dei debiti</a:t>
                      </a:r>
                    </a:p>
                  </a:txBody>
                  <a:tcPr marL="91427" marR="91427" marT="45727" marB="45727"/>
                </a:tc>
                <a:tc>
                  <a:txBody>
                    <a:bodyPr/>
                    <a:lstStyle/>
                    <a:p>
                      <a:r>
                        <a:rPr lang="it-IT" sz="1200" dirty="0"/>
                        <a:t>Data del decreto di omologa dell’accordo.</a:t>
                      </a:r>
                    </a:p>
                  </a:txBody>
                  <a:tcPr marL="91427" marR="91427" marT="45727" marB="45727"/>
                </a:tc>
                <a:extLst>
                  <a:ext uri="{0D108BD9-81ED-4DB2-BD59-A6C34878D82A}">
                    <a16:rowId xmlns:a16="http://schemas.microsoft.com/office/drawing/2014/main" val="10001"/>
                  </a:ext>
                </a:extLst>
              </a:tr>
              <a:tr h="287475">
                <a:tc>
                  <a:txBody>
                    <a:bodyPr/>
                    <a:lstStyle/>
                    <a:p>
                      <a:r>
                        <a:rPr lang="it-IT" sz="1200" dirty="0"/>
                        <a:t>Piano attestato di risanamento</a:t>
                      </a:r>
                    </a:p>
                  </a:txBody>
                  <a:tcPr marL="91427" marR="91427" marT="45727" marB="45727"/>
                </a:tc>
                <a:tc>
                  <a:txBody>
                    <a:bodyPr/>
                    <a:lstStyle/>
                    <a:p>
                      <a:r>
                        <a:rPr lang="it-IT" sz="1200" dirty="0"/>
                        <a:t>Data di pubblicazione del piano nel Registro Imprese.</a:t>
                      </a:r>
                    </a:p>
                  </a:txBody>
                  <a:tcPr marL="91427" marR="91427" marT="45727" marB="45727"/>
                </a:tc>
                <a:extLst>
                  <a:ext uri="{0D108BD9-81ED-4DB2-BD59-A6C34878D82A}">
                    <a16:rowId xmlns:a16="http://schemas.microsoft.com/office/drawing/2014/main" val="10002"/>
                  </a:ext>
                </a:extLst>
              </a:tr>
            </a:tbl>
          </a:graphicData>
        </a:graphic>
      </p:graphicFrame>
      <p:graphicFrame>
        <p:nvGraphicFramePr>
          <p:cNvPr id="6" name="Tabella 5"/>
          <p:cNvGraphicFramePr>
            <a:graphicFrameLocks noGrp="1"/>
          </p:cNvGraphicFramePr>
          <p:nvPr/>
        </p:nvGraphicFramePr>
        <p:xfrm>
          <a:off x="204788" y="4641850"/>
          <a:ext cx="8734425" cy="1646237"/>
        </p:xfrm>
        <a:graphic>
          <a:graphicData uri="http://schemas.openxmlformats.org/drawingml/2006/table">
            <a:tbl>
              <a:tblPr firstRow="1" bandRow="1">
                <a:tableStyleId>{5C22544A-7EE6-4342-B048-85BDC9FD1C3A}</a:tableStyleId>
              </a:tblPr>
              <a:tblGrid>
                <a:gridCol w="2779647">
                  <a:extLst>
                    <a:ext uri="{9D8B030D-6E8A-4147-A177-3AD203B41FA5}">
                      <a16:colId xmlns:a16="http://schemas.microsoft.com/office/drawing/2014/main" val="20000"/>
                    </a:ext>
                  </a:extLst>
                </a:gridCol>
                <a:gridCol w="5954778">
                  <a:extLst>
                    <a:ext uri="{9D8B030D-6E8A-4147-A177-3AD203B41FA5}">
                      <a16:colId xmlns:a16="http://schemas.microsoft.com/office/drawing/2014/main" val="20001"/>
                    </a:ext>
                  </a:extLst>
                </a:gridCol>
              </a:tblGrid>
              <a:tr h="274373">
                <a:tc>
                  <a:txBody>
                    <a:bodyPr/>
                    <a:lstStyle/>
                    <a:p>
                      <a:r>
                        <a:rPr lang="it-IT" sz="1200" dirty="0"/>
                        <a:t>3. Procedure esecutive</a:t>
                      </a:r>
                    </a:p>
                  </a:txBody>
                  <a:tcPr marL="91427" marR="91427" marT="45729" marB="45729"/>
                </a:tc>
                <a:tc>
                  <a:txBody>
                    <a:bodyPr/>
                    <a:lstStyle/>
                    <a:p>
                      <a:r>
                        <a:rPr lang="it-IT" sz="1200" dirty="0"/>
                        <a:t>Data in cui sorge il diritto alla detrazione</a:t>
                      </a:r>
                    </a:p>
                  </a:txBody>
                  <a:tcPr marL="91427" marR="91427" marT="45729" marB="45729"/>
                </a:tc>
                <a:extLst>
                  <a:ext uri="{0D108BD9-81ED-4DB2-BD59-A6C34878D82A}">
                    <a16:rowId xmlns:a16="http://schemas.microsoft.com/office/drawing/2014/main" val="10000"/>
                  </a:ext>
                </a:extLst>
              </a:tr>
              <a:tr h="457288">
                <a:tc>
                  <a:txBody>
                    <a:bodyPr/>
                    <a:lstStyle/>
                    <a:p>
                      <a:r>
                        <a:rPr lang="en-US" altLang="it-IT" sz="1200" dirty="0">
                          <a:effectLst/>
                          <a:sym typeface="+mn-ea"/>
                        </a:rPr>
                        <a:t>P</a:t>
                      </a:r>
                      <a:r>
                        <a:rPr lang="it-IT" sz="1200" dirty="0">
                          <a:effectLst/>
                          <a:sym typeface="+mn-ea"/>
                        </a:rPr>
                        <a:t>ignoramento presso terzi</a:t>
                      </a:r>
                      <a:endParaRPr lang="en-US" altLang="it-IT" sz="1200" dirty="0"/>
                    </a:p>
                  </a:txBody>
                  <a:tcPr marL="91427" marR="91427" marT="45729" marB="45729"/>
                </a:tc>
                <a:tc>
                  <a:txBody>
                    <a:bodyPr/>
                    <a:lstStyle/>
                    <a:p>
                      <a:r>
                        <a:rPr lang="en-US" altLang="it-IT" sz="1200" b="0" i="0" kern="1200" dirty="0">
                          <a:solidFill>
                            <a:schemeClr val="dk1"/>
                          </a:solidFill>
                          <a:effectLst/>
                          <a:latin typeface="+mn-lt"/>
                          <a:ea typeface="+mn-ea"/>
                          <a:cs typeface="+mn-cs"/>
                        </a:rPr>
                        <a:t>Q</a:t>
                      </a:r>
                      <a:r>
                        <a:rPr lang="it-IT" sz="1200" b="0" i="0" kern="1200" dirty="0">
                          <a:solidFill>
                            <a:schemeClr val="dk1"/>
                          </a:solidFill>
                          <a:effectLst/>
                          <a:latin typeface="+mn-lt"/>
                          <a:ea typeface="+mn-ea"/>
                          <a:cs typeface="+mn-cs"/>
                        </a:rPr>
                        <a:t>uando dal verbale di pignoramento redatto dall'ufficiale giudiziario risulti che presso il terzo pignorato non vi sono beni o crediti da pignorare</a:t>
                      </a:r>
                    </a:p>
                  </a:txBody>
                  <a:tcPr marL="91427" marR="91427" marT="45729" marB="45729"/>
                </a:tc>
                <a:extLst>
                  <a:ext uri="{0D108BD9-81ED-4DB2-BD59-A6C34878D82A}">
                    <a16:rowId xmlns:a16="http://schemas.microsoft.com/office/drawing/2014/main" val="10001"/>
                  </a:ext>
                </a:extLst>
              </a:tr>
              <a:tr h="457288">
                <a:tc>
                  <a:txBody>
                    <a:bodyPr/>
                    <a:lstStyle/>
                    <a:p>
                      <a:r>
                        <a:rPr lang="en-US" altLang="it-IT" sz="1200" dirty="0">
                          <a:effectLst/>
                          <a:sym typeface="+mn-ea"/>
                        </a:rPr>
                        <a:t>P</a:t>
                      </a:r>
                      <a:r>
                        <a:rPr lang="it-IT" sz="1200" dirty="0">
                          <a:effectLst/>
                          <a:sym typeface="+mn-ea"/>
                        </a:rPr>
                        <a:t>ignoramento di beni mobili</a:t>
                      </a:r>
                      <a:endParaRPr lang="it-IT" sz="1200" dirty="0"/>
                    </a:p>
                  </a:txBody>
                  <a:tcPr marL="91427" marR="91427" marT="45729" marB="45729"/>
                </a:tc>
                <a:tc>
                  <a:txBody>
                    <a:bodyPr/>
                    <a:lstStyle/>
                    <a:p>
                      <a:r>
                        <a:rPr lang="en-US" altLang="it-IT" sz="1200" dirty="0">
                          <a:effectLst/>
                          <a:sym typeface="+mn-ea"/>
                        </a:rPr>
                        <a:t>Q</a:t>
                      </a:r>
                      <a:r>
                        <a:rPr lang="it-IT" sz="1200" dirty="0">
                          <a:effectLst/>
                          <a:sym typeface="+mn-ea"/>
                        </a:rPr>
                        <a:t>uando dal verbale risulti la mancanza di beni da pignorare ovvero l'impossibilita' di accesso al domicilio del debitore ovvero la sua irreperibilit</a:t>
                      </a:r>
                      <a:r>
                        <a:rPr lang="en-US" altLang="it-IT" sz="1200" dirty="0">
                          <a:effectLst/>
                          <a:sym typeface="+mn-ea"/>
                        </a:rPr>
                        <a:t>à</a:t>
                      </a:r>
                      <a:endParaRPr lang="it-IT" sz="1200" dirty="0"/>
                    </a:p>
                  </a:txBody>
                  <a:tcPr marL="91427" marR="91427" marT="45729" marB="45729"/>
                </a:tc>
                <a:extLst>
                  <a:ext uri="{0D108BD9-81ED-4DB2-BD59-A6C34878D82A}">
                    <a16:rowId xmlns:a16="http://schemas.microsoft.com/office/drawing/2014/main" val="10002"/>
                  </a:ext>
                </a:extLst>
              </a:tr>
              <a:tr h="457288">
                <a:tc>
                  <a:txBody>
                    <a:bodyPr/>
                    <a:lstStyle/>
                    <a:p>
                      <a:pPr>
                        <a:buNone/>
                      </a:pPr>
                      <a:r>
                        <a:rPr lang="en-US" altLang="it-IT" sz="1200" dirty="0"/>
                        <a:t>Asta deserta</a:t>
                      </a:r>
                    </a:p>
                  </a:txBody>
                  <a:tcPr marL="91427" marR="91427" marT="45729" marB="45729"/>
                </a:tc>
                <a:tc>
                  <a:txBody>
                    <a:bodyPr/>
                    <a:lstStyle/>
                    <a:p>
                      <a:pPr>
                        <a:buNone/>
                      </a:pPr>
                      <a:r>
                        <a:rPr lang="en-US" altLang="it-IT" sz="1200" b="0" i="0" dirty="0">
                          <a:effectLst/>
                          <a:sym typeface="+mn-ea"/>
                        </a:rPr>
                        <a:t>D</a:t>
                      </a:r>
                      <a:r>
                        <a:rPr lang="it-IT" sz="1200" b="0" i="0" dirty="0">
                          <a:effectLst/>
                          <a:sym typeface="+mn-ea"/>
                        </a:rPr>
                        <a:t>opo che per tre volte l'asta per la vendita del bene pignorato sia andata deserta, si decida di interrompere la procedura esecutiva per eccessiva onerosit</a:t>
                      </a:r>
                      <a:r>
                        <a:rPr lang="en-US" altLang="it-IT" sz="1200" b="0" i="0" dirty="0">
                          <a:effectLst/>
                          <a:sym typeface="+mn-ea"/>
                        </a:rPr>
                        <a:t>à</a:t>
                      </a:r>
                      <a:r>
                        <a:rPr lang="it-IT" sz="1200" b="0" i="0" dirty="0">
                          <a:effectLst/>
                          <a:sym typeface="+mn-ea"/>
                        </a:rPr>
                        <a:t>.</a:t>
                      </a:r>
                      <a:endParaRPr lang="it-IT" sz="1200" dirty="0"/>
                    </a:p>
                  </a:txBody>
                  <a:tcPr marL="91427" marR="91427" marT="45729" marB="45729"/>
                </a:tc>
                <a:extLst>
                  <a:ext uri="{0D108BD9-81ED-4DB2-BD59-A6C34878D82A}">
                    <a16:rowId xmlns:a16="http://schemas.microsoft.com/office/drawing/2014/main" val="10003"/>
                  </a:ext>
                </a:extLst>
              </a:tr>
            </a:tbl>
          </a:graphicData>
        </a:graphic>
      </p:graphicFrame>
      <p:sp>
        <p:nvSpPr>
          <p:cNvPr id="95285" name="Rettangolo 8"/>
          <p:cNvSpPr>
            <a:spLocks noChangeArrowheads="1"/>
          </p:cNvSpPr>
          <p:nvPr/>
        </p:nvSpPr>
        <p:spPr bwMode="auto">
          <a:xfrm>
            <a:off x="307975" y="1347788"/>
            <a:ext cx="90344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1200">
                <a:latin typeface="Tahoma" panose="020B0604030504040204" pitchFamily="34" charset="0"/>
              </a:rPr>
              <a:t>«</a:t>
            </a:r>
            <a:r>
              <a:rPr lang="it-IT" altLang="en-US" sz="1200" i="1">
                <a:latin typeface="Tahoma" panose="020B0604030504040204" pitchFamily="34" charset="0"/>
              </a:rPr>
              <a:t>mancato pagamento in tutto o in parte da parte del cessionario o committente»</a:t>
            </a:r>
            <a:endParaRPr lang="it-IT" altLang="en-US" sz="1200">
              <a:latin typeface="Tahoma" panose="020B0604030504040204" pitchFamily="34"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Variazione dell’imponibile o dell’imposta: modifiche all’art. 26 (3)</a:t>
            </a:r>
            <a:endParaRPr lang="it-IT" sz="2800" spc="-1" noProof="1"/>
          </a:p>
        </p:txBody>
      </p:sp>
      <p:graphicFrame>
        <p:nvGraphicFramePr>
          <p:cNvPr id="6" name="Tabella 5"/>
          <p:cNvGraphicFramePr>
            <a:graphicFrameLocks noGrp="1"/>
          </p:cNvGraphicFramePr>
          <p:nvPr/>
        </p:nvGraphicFramePr>
        <p:xfrm>
          <a:off x="177800" y="1447800"/>
          <a:ext cx="8842375" cy="2366964"/>
        </p:xfrm>
        <a:graphic>
          <a:graphicData uri="http://schemas.openxmlformats.org/drawingml/2006/table">
            <a:tbl>
              <a:tblPr firstRow="1" bandRow="1">
                <a:tableStyleId>{5C22544A-7EE6-4342-B048-85BDC9FD1C3A}</a:tableStyleId>
              </a:tblPr>
              <a:tblGrid>
                <a:gridCol w="8842375">
                  <a:extLst>
                    <a:ext uri="{9D8B030D-6E8A-4147-A177-3AD203B41FA5}">
                      <a16:colId xmlns:a16="http://schemas.microsoft.com/office/drawing/2014/main" val="20000"/>
                    </a:ext>
                  </a:extLst>
                </a:gridCol>
              </a:tblGrid>
              <a:tr h="336372">
                <a:tc>
                  <a:txBody>
                    <a:bodyPr/>
                    <a:lstStyle/>
                    <a:p>
                      <a:r>
                        <a:rPr lang="it-IT" sz="1300" dirty="0"/>
                        <a:t>4. Contratti ad esecuzione continuata o periodica</a:t>
                      </a:r>
                    </a:p>
                  </a:txBody>
                  <a:tcPr marL="91442" marR="91442" marT="48299" marB="48299"/>
                </a:tc>
                <a:extLst>
                  <a:ext uri="{0D108BD9-81ED-4DB2-BD59-A6C34878D82A}">
                    <a16:rowId xmlns:a16="http://schemas.microsoft.com/office/drawing/2014/main" val="10000"/>
                  </a:ext>
                </a:extLst>
              </a:tr>
              <a:tr h="92961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it-IT" sz="1300" dirty="0">
                          <a:latin typeface="Tahoma" panose="020B0604030504040204" pitchFamily="34" charset="0"/>
                          <a:ea typeface="Tahoma" panose="020B0604030504040204" pitchFamily="34" charset="0"/>
                          <a:cs typeface="Tahoma" panose="020B0604030504040204" pitchFamily="34" charset="0"/>
                        </a:rPr>
                        <a:t>«</a:t>
                      </a:r>
                      <a:r>
                        <a:rPr lang="it-IT" sz="1300" i="1" dirty="0">
                          <a:latin typeface="Tahoma" panose="020B0604030504040204" pitchFamily="34" charset="0"/>
                          <a:ea typeface="Tahoma" panose="020B0604030504040204" pitchFamily="34" charset="0"/>
                          <a:cs typeface="Tahoma" panose="020B0604030504040204" pitchFamily="34" charset="0"/>
                        </a:rPr>
                        <a:t>9. Nel caso di risoluzione contrattuale, relativa a </a:t>
                      </a:r>
                      <a:r>
                        <a:rPr lang="it-IT" sz="1300" i="1" u="sng" dirty="0">
                          <a:latin typeface="Tahoma" panose="020B0604030504040204" pitchFamily="34" charset="0"/>
                          <a:ea typeface="Tahoma" panose="020B0604030504040204" pitchFamily="34" charset="0"/>
                          <a:cs typeface="Tahoma" panose="020B0604030504040204" pitchFamily="34" charset="0"/>
                        </a:rPr>
                        <a:t>contratti a esecuzione continuata o periodica</a:t>
                      </a:r>
                      <a:r>
                        <a:rPr lang="it-IT" sz="1300" i="1" dirty="0">
                          <a:latin typeface="Tahoma" panose="020B0604030504040204" pitchFamily="34" charset="0"/>
                          <a:ea typeface="Tahoma" panose="020B0604030504040204" pitchFamily="34" charset="0"/>
                          <a:cs typeface="Tahoma" panose="020B0604030504040204" pitchFamily="34" charset="0"/>
                        </a:rPr>
                        <a:t>, conseguente a inadempimento, la facoltà di cui al comma 2 non si estende a quelle cessioni e a quelle prestazioni per cui sia il cedente o prestatore che il cessionario o committente abbiano correttamente adempiuto alle proprie obbligazioni</a:t>
                      </a:r>
                      <a:r>
                        <a:rPr lang="it-IT" sz="1300" dirty="0">
                          <a:latin typeface="Tahoma" panose="020B0604030504040204" pitchFamily="34" charset="0"/>
                          <a:ea typeface="Tahoma" panose="020B0604030504040204" pitchFamily="34" charset="0"/>
                          <a:cs typeface="Tahoma" panose="020B0604030504040204" pitchFamily="34" charset="0"/>
                        </a:rPr>
                        <a:t>»</a:t>
                      </a:r>
                    </a:p>
                    <a:p>
                      <a:endParaRPr lang="it-IT" sz="1300" dirty="0"/>
                    </a:p>
                  </a:txBody>
                  <a:tcPr marL="91442" marR="91442" marT="48299" marB="48299"/>
                </a:tc>
                <a:extLst>
                  <a:ext uri="{0D108BD9-81ED-4DB2-BD59-A6C34878D82A}">
                    <a16:rowId xmlns:a16="http://schemas.microsoft.com/office/drawing/2014/main" val="10001"/>
                  </a:ext>
                </a:extLst>
              </a:tr>
              <a:tr h="1100981">
                <a:tc>
                  <a:txBody>
                    <a:bodyPr/>
                    <a:lstStyle/>
                    <a:p>
                      <a:endParaRPr lang="it-IT" sz="1300" dirty="0"/>
                    </a:p>
                  </a:txBody>
                  <a:tcPr marL="91442" marR="91442" marT="48299" marB="48299"/>
                </a:tc>
                <a:extLst>
                  <a:ext uri="{0D108BD9-81ED-4DB2-BD59-A6C34878D82A}">
                    <a16:rowId xmlns:a16="http://schemas.microsoft.com/office/drawing/2014/main" val="10002"/>
                  </a:ext>
                </a:extLst>
              </a:tr>
            </a:tbl>
          </a:graphicData>
        </a:graphic>
      </p:graphicFrame>
      <p:graphicFrame>
        <p:nvGraphicFramePr>
          <p:cNvPr id="9" name="Tabella 8"/>
          <p:cNvGraphicFramePr>
            <a:graphicFrameLocks noGrp="1"/>
          </p:cNvGraphicFramePr>
          <p:nvPr/>
        </p:nvGraphicFramePr>
        <p:xfrm>
          <a:off x="177800" y="4146550"/>
          <a:ext cx="8842375" cy="1957387"/>
        </p:xfrm>
        <a:graphic>
          <a:graphicData uri="http://schemas.openxmlformats.org/drawingml/2006/table">
            <a:tbl>
              <a:tblPr firstRow="1" bandRow="1">
                <a:tableStyleId>{5C22544A-7EE6-4342-B048-85BDC9FD1C3A}</a:tableStyleId>
              </a:tblPr>
              <a:tblGrid>
                <a:gridCol w="8842375">
                  <a:extLst>
                    <a:ext uri="{9D8B030D-6E8A-4147-A177-3AD203B41FA5}">
                      <a16:colId xmlns:a16="http://schemas.microsoft.com/office/drawing/2014/main" val="20000"/>
                    </a:ext>
                  </a:extLst>
                </a:gridCol>
              </a:tblGrid>
              <a:tr h="363782">
                <a:tc>
                  <a:txBody>
                    <a:bodyPr/>
                    <a:lstStyle/>
                    <a:p>
                      <a:r>
                        <a:rPr lang="it-IT" sz="1200" dirty="0"/>
                        <a:t>5. </a:t>
                      </a:r>
                      <a:r>
                        <a:rPr lang="it-IT" sz="1200" i="1" dirty="0"/>
                        <a:t>Reverse </a:t>
                      </a:r>
                      <a:r>
                        <a:rPr lang="it-IT" sz="1200" i="1" dirty="0" err="1"/>
                        <a:t>charge</a:t>
                      </a:r>
                      <a:endParaRPr lang="it-IT" sz="1200" i="1" dirty="0"/>
                    </a:p>
                  </a:txBody>
                  <a:tcPr marL="91442" marR="91442" marT="45729" marB="45729"/>
                </a:tc>
                <a:extLst>
                  <a:ext uri="{0D108BD9-81ED-4DB2-BD59-A6C34878D82A}">
                    <a16:rowId xmlns:a16="http://schemas.microsoft.com/office/drawing/2014/main" val="10000"/>
                  </a:ext>
                </a:extLst>
              </a:tr>
              <a:tr h="64020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it-IT" sz="1200" dirty="0">
                          <a:latin typeface="Tahoma" panose="020B0604030504040204" pitchFamily="34" charset="0"/>
                          <a:ea typeface="Tahoma" panose="020B0604030504040204" pitchFamily="34" charset="0"/>
                          <a:cs typeface="Tahoma" panose="020B0604030504040204" pitchFamily="34" charset="0"/>
                        </a:rPr>
                        <a:t>«</a:t>
                      </a:r>
                      <a:r>
                        <a:rPr lang="it-IT" sz="1200" i="1" dirty="0">
                          <a:latin typeface="Tahoma" panose="020B0604030504040204" pitchFamily="34" charset="0"/>
                          <a:ea typeface="Tahoma" panose="020B0604030504040204" pitchFamily="34" charset="0"/>
                          <a:cs typeface="Tahoma" panose="020B0604030504040204" pitchFamily="34" charset="0"/>
                        </a:rPr>
                        <a:t>10. La facoltà di cui al comma 2 può essere esercitata, ricorrendo i presupposti di cui a tale disposizione, anche dai cessionari e committenti debitori dell’imposta ai sensi dell’art. 17…»</a:t>
                      </a:r>
                    </a:p>
                    <a:p>
                      <a:endParaRPr lang="it-IT" sz="1200" dirty="0"/>
                    </a:p>
                  </a:txBody>
                  <a:tcPr marL="91442" marR="91442" marT="45729" marB="45729"/>
                </a:tc>
                <a:extLst>
                  <a:ext uri="{0D108BD9-81ED-4DB2-BD59-A6C34878D82A}">
                    <a16:rowId xmlns:a16="http://schemas.microsoft.com/office/drawing/2014/main" val="10001"/>
                  </a:ext>
                </a:extLst>
              </a:tr>
              <a:tr h="953405">
                <a:tc>
                  <a:txBody>
                    <a:bodyPr/>
                    <a:lstStyle/>
                    <a:p>
                      <a:endParaRPr lang="it-IT" sz="1200" dirty="0"/>
                    </a:p>
                  </a:txBody>
                  <a:tcPr marL="91442" marR="91442" marT="45729" marB="45729"/>
                </a:tc>
                <a:extLst>
                  <a:ext uri="{0D108BD9-81ED-4DB2-BD59-A6C34878D82A}">
                    <a16:rowId xmlns:a16="http://schemas.microsoft.com/office/drawing/2014/main" val="10002"/>
                  </a:ext>
                </a:extLst>
              </a:tr>
            </a:tbl>
          </a:graphicData>
        </a:graphic>
      </p:graphicFrame>
      <p:sp>
        <p:nvSpPr>
          <p:cNvPr id="12" name="Freccia in giù 11"/>
          <p:cNvSpPr/>
          <p:nvPr/>
        </p:nvSpPr>
        <p:spPr>
          <a:xfrm>
            <a:off x="4119563" y="2487613"/>
            <a:ext cx="763587" cy="52863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it-IT" noProof="1"/>
          </a:p>
        </p:txBody>
      </p:sp>
      <p:sp>
        <p:nvSpPr>
          <p:cNvPr id="13" name="Freccia in giù 12"/>
          <p:cNvSpPr/>
          <p:nvPr/>
        </p:nvSpPr>
        <p:spPr>
          <a:xfrm>
            <a:off x="4119563" y="4924425"/>
            <a:ext cx="763587" cy="5286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it-IT" noProof="1"/>
          </a:p>
        </p:txBody>
      </p:sp>
      <p:sp>
        <p:nvSpPr>
          <p:cNvPr id="96280" name="CasellaDiTesto 13"/>
          <p:cNvSpPr txBox="1">
            <a:spLocks noChangeArrowheads="1"/>
          </p:cNvSpPr>
          <p:nvPr/>
        </p:nvSpPr>
        <p:spPr bwMode="auto">
          <a:xfrm>
            <a:off x="585788" y="5500688"/>
            <a:ext cx="90201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it-IT" altLang="en-US" sz="1200" b="1">
                <a:latin typeface="Tahoma" panose="020B0604030504040204" pitchFamily="34" charset="0"/>
              </a:rPr>
              <a:t>Diritto alla detrazione da variazione anche per cessionari e committenti per operazioni in </a:t>
            </a:r>
            <a:r>
              <a:rPr lang="it-IT" altLang="en-US" sz="1200" b="1" i="1">
                <a:latin typeface="Tahoma" panose="020B0604030504040204" pitchFamily="34" charset="0"/>
              </a:rPr>
              <a:t>reverse charge</a:t>
            </a:r>
            <a:r>
              <a:rPr lang="it-IT" altLang="en-US" sz="1200" b="1">
                <a:latin typeface="Tahoma" panose="020B0604030504040204" pitchFamily="34" charset="0"/>
              </a:rPr>
              <a:t>.</a:t>
            </a:r>
          </a:p>
        </p:txBody>
      </p:sp>
      <p:sp>
        <p:nvSpPr>
          <p:cNvPr id="96281" name="CasellaDiTesto 14"/>
          <p:cNvSpPr txBox="1">
            <a:spLocks noChangeArrowheads="1"/>
          </p:cNvSpPr>
          <p:nvPr/>
        </p:nvSpPr>
        <p:spPr bwMode="auto">
          <a:xfrm>
            <a:off x="133350" y="3063875"/>
            <a:ext cx="9020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it-IT" altLang="en-US" sz="1200" b="1">
                <a:latin typeface="Tahoma" panose="020B0604030504040204" pitchFamily="34" charset="0"/>
              </a:rPr>
              <a:t>Diritto alla detrazione limitato alle prestazioni/cessioni non adempiute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CustomShape 1"/>
          <p:cNvSpPr/>
          <p:nvPr/>
        </p:nvSpPr>
        <p:spPr>
          <a:xfrm>
            <a:off x="827088" y="1771650"/>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endParaRPr lang="it-IT" spc="-1" noProof="1"/>
          </a:p>
          <a:p>
            <a:pPr algn="ctr" fontAlgn="auto"/>
            <a:r>
              <a:rPr lang="it-IT" sz="4400" b="1" spc="-1" noProof="1">
                <a:solidFill>
                  <a:srgbClr val="336699"/>
                </a:solidFill>
                <a:latin typeface="Tahoma"/>
                <a:ea typeface="Tahoma"/>
              </a:rPr>
              <a:t>Separazione</a:t>
            </a:r>
            <a:r>
              <a:rPr lang="it-IT" sz="4400" spc="-1" noProof="1">
                <a:solidFill>
                  <a:srgbClr val="336699"/>
                </a:solidFill>
                <a:latin typeface="Tahoma"/>
                <a:ea typeface="Tahoma"/>
              </a:rPr>
              <a:t> </a:t>
            </a:r>
            <a:r>
              <a:rPr lang="it-IT" sz="4400" b="1" spc="-1" noProof="1">
                <a:solidFill>
                  <a:srgbClr val="336699"/>
                </a:solidFill>
                <a:latin typeface="Tahoma"/>
                <a:ea typeface="Tahoma"/>
              </a:rPr>
              <a:t>delle</a:t>
            </a:r>
            <a:r>
              <a:rPr lang="it-IT" sz="4400" spc="-1" noProof="1">
                <a:solidFill>
                  <a:srgbClr val="336699"/>
                </a:solidFill>
                <a:latin typeface="Tahoma"/>
                <a:ea typeface="Tahoma"/>
              </a:rPr>
              <a:t> </a:t>
            </a:r>
            <a:r>
              <a:rPr lang="it-IT" sz="4400" b="1" spc="-1" noProof="1">
                <a:solidFill>
                  <a:srgbClr val="336699"/>
                </a:solidFill>
                <a:latin typeface="Tahoma"/>
                <a:ea typeface="Tahoma"/>
              </a:rPr>
              <a:t>attività</a:t>
            </a:r>
            <a:endParaRPr lang="it-IT" sz="4400" spc="-1" noProof="1"/>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CustomShape 1"/>
          <p:cNvSpPr/>
          <p:nvPr/>
        </p:nvSpPr>
        <p:spPr>
          <a:xfrm>
            <a:off x="515938" y="1385888"/>
            <a:ext cx="8226425" cy="470852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marL="285750" indent="-283845" algn="just" fontAlgn="auto">
              <a:lnSpc>
                <a:spcPct val="90000"/>
              </a:lnSpc>
              <a:buClr>
                <a:srgbClr val="1F497D"/>
              </a:buClr>
              <a:buFont typeface="Wingdings" panose="05000000000000000000" pitchFamily="2" charset="2"/>
              <a:buChar char=""/>
            </a:pPr>
            <a:r>
              <a:rPr lang="it-IT" sz="1400" b="1" u="sng" spc="-1" noProof="1">
                <a:solidFill>
                  <a:srgbClr val="000000"/>
                </a:solidFill>
                <a:latin typeface="Tahoma"/>
                <a:ea typeface="ヒラギノ角ゴ ProN W6"/>
              </a:rPr>
              <a:t>Principio di base</a:t>
            </a:r>
            <a:r>
              <a:rPr lang="it-IT" sz="1400" spc="-1" noProof="1">
                <a:solidFill>
                  <a:srgbClr val="000000"/>
                </a:solidFill>
                <a:latin typeface="Tahoma"/>
                <a:ea typeface="ヒラギノ角ゴ ProN W6"/>
              </a:rPr>
              <a:t>: Nei confronti dei soggetti che esercitano più attività l'imposta si applica </a:t>
            </a:r>
            <a:r>
              <a:rPr lang="it-IT" sz="1400" b="1" spc="-1" noProof="1">
                <a:solidFill>
                  <a:srgbClr val="3465A4"/>
                </a:solidFill>
                <a:latin typeface="Tahoma"/>
                <a:ea typeface="ヒラギノ角ゴ ProN W6"/>
              </a:rPr>
              <a:t>unitariamente e cumulativamente </a:t>
            </a:r>
            <a:r>
              <a:rPr lang="it-IT" sz="1400" spc="-1" noProof="1">
                <a:solidFill>
                  <a:srgbClr val="000000"/>
                </a:solidFill>
                <a:latin typeface="Tahoma"/>
                <a:ea typeface="ヒラギノ角ゴ ProN W6"/>
              </a:rPr>
              <a:t>per tutte le attività, con riferimento al volume di affari complessivo.</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b="1" u="sng" spc="-1" noProof="1">
                <a:solidFill>
                  <a:srgbClr val="000000"/>
                </a:solidFill>
                <a:latin typeface="Tahoma"/>
                <a:ea typeface="ヒラギノ角ゴ ProN W6"/>
              </a:rPr>
              <a:t>Separazione delle attività</a:t>
            </a:r>
            <a:r>
              <a:rPr lang="it-IT" sz="1400" spc="-1" noProof="1">
                <a:solidFill>
                  <a:srgbClr val="000000"/>
                </a:solidFill>
                <a:latin typeface="Tahoma"/>
                <a:ea typeface="ヒラギノ角ゴ ProN W6"/>
              </a:rPr>
              <a:t>: può essere </a:t>
            </a:r>
            <a:r>
              <a:rPr lang="it-IT" sz="1400" b="1" spc="-1" noProof="1">
                <a:solidFill>
                  <a:srgbClr val="3465A4"/>
                </a:solidFill>
                <a:latin typeface="Tahoma"/>
                <a:ea typeface="ヒラギノ角ゴ ProN W6"/>
              </a:rPr>
              <a:t>facoltativa</a:t>
            </a:r>
            <a:r>
              <a:rPr lang="it-IT" sz="1400" spc="-1" noProof="1">
                <a:solidFill>
                  <a:srgbClr val="000000"/>
                </a:solidFill>
                <a:latin typeface="Tahoma"/>
                <a:ea typeface="ヒラギノ角ゴ ProN W6"/>
              </a:rPr>
              <a:t> (attività diverse nell'ambito di impresa o in alternativa di professioni) o </a:t>
            </a:r>
            <a:r>
              <a:rPr lang="it-IT" sz="1400" b="1" spc="-1" noProof="1">
                <a:solidFill>
                  <a:srgbClr val="3465A4"/>
                </a:solidFill>
                <a:latin typeface="Tahoma"/>
                <a:ea typeface="ヒラギノ角ゴ ProN W6"/>
              </a:rPr>
              <a:t>obbligatoria</a:t>
            </a:r>
            <a:r>
              <a:rPr lang="it-IT" sz="1400" spc="-1" noProof="1">
                <a:solidFill>
                  <a:srgbClr val="000000"/>
                </a:solidFill>
                <a:latin typeface="Tahoma"/>
                <a:ea typeface="ヒラギノ角ゴ ProN W6"/>
              </a:rPr>
              <a:t>.</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Esercizio contemporaneo sia di attività professionali che di attività di impresa;</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Esercizio di attività di commercio al minuto con ventilazione; Esercizio di attività agricole;</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Attività di spettacolo o intrattenimento.</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b="1" u="sng" spc="-1" noProof="1">
                <a:solidFill>
                  <a:srgbClr val="000000"/>
                </a:solidFill>
                <a:latin typeface="Tahoma"/>
                <a:ea typeface="ヒラギノ角ゴ ProN W6"/>
              </a:rPr>
              <a:t>Casi particolari</a:t>
            </a:r>
            <a:r>
              <a:rPr lang="it-IT" sz="1400" u="sng" spc="-1" noProof="1">
                <a:solidFill>
                  <a:srgbClr val="000000"/>
                </a:solidFill>
                <a:latin typeface="Tahoma"/>
                <a:ea typeface="ヒラギノ角ゴ ProN W6"/>
              </a:rPr>
              <a:t>:</a:t>
            </a:r>
            <a:r>
              <a:rPr lang="it-IT" sz="1400" spc="-1" noProof="1">
                <a:solidFill>
                  <a:srgbClr val="000000"/>
                </a:solidFill>
                <a:latin typeface="Tahoma"/>
                <a:ea typeface="ヒラギノ角ゴ ProN W6"/>
              </a:rPr>
              <a:t> immobiliari (per attività di cessioni e locazioni esenti rispetto a cessioni e locazioni imponibili) e gestioni individuali di portafogli.</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b="1" u="sng" spc="-1" noProof="1">
                <a:solidFill>
                  <a:srgbClr val="000000"/>
                </a:solidFill>
                <a:latin typeface="Tahoma"/>
                <a:ea typeface="ヒラギノ角ゴ ProN W6"/>
              </a:rPr>
              <a:t>Effetti della separazione</a:t>
            </a:r>
            <a:r>
              <a:rPr lang="it-IT" sz="1400" spc="-1" noProof="1">
                <a:solidFill>
                  <a:srgbClr val="000000"/>
                </a:solidFill>
                <a:latin typeface="Tahoma"/>
                <a:ea typeface="ヒラギノ角ゴ ProN W6"/>
              </a:rPr>
              <a:t>: possibilità di liquidare l'Iva per ciascuna attività, indipendentemente dalle altre. </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b="1" u="sng" spc="-1" noProof="1">
                <a:solidFill>
                  <a:srgbClr val="000000"/>
                </a:solidFill>
                <a:latin typeface="Tahoma"/>
                <a:ea typeface="ヒラギノ角ゴ ProN W6"/>
              </a:rPr>
              <a:t>Adempimenti</a:t>
            </a:r>
            <a:r>
              <a:rPr lang="it-IT" sz="1400" spc="-1" noProof="1">
                <a:solidFill>
                  <a:srgbClr val="000000"/>
                </a:solidFill>
                <a:latin typeface="Tahoma"/>
                <a:ea typeface="ヒラギノ角ゴ ProN W6"/>
              </a:rPr>
              <a:t>: Occorre tenere registri separati, utilizzare distinte serie numeriche per la numerazione delle fatture; effettuare distinte liquidazioni con un versamento unico; obbligo di “autofatturare” i passaggi interni di beni e servizi al valore normale; per i beni e servizi utilizzati promiscuamente la detrazione dell'Iva sugli acquisti viene ripartita con criteri oggettivi (per i beni non ammortizzabili utilizzati forfettariamente la detrazione non è ammessa).</a:t>
            </a:r>
            <a:endParaRPr lang="it-IT" sz="1400" spc="-1" noProof="1"/>
          </a:p>
          <a:p>
            <a:pPr algn="just" fontAlgn="auto">
              <a:lnSpc>
                <a:spcPct val="90000"/>
              </a:lnSpc>
            </a:pPr>
            <a:endParaRPr lang="it-IT" sz="1400" spc="-1" noProof="1"/>
          </a:p>
          <a:p>
            <a:pPr algn="just" fontAlgn="auto">
              <a:lnSpc>
                <a:spcPct val="90000"/>
              </a:lnSpc>
            </a:pPr>
            <a:endParaRPr lang="it-IT" sz="1400" spc="-1" noProof="1"/>
          </a:p>
          <a:p>
            <a:pPr algn="just" fontAlgn="auto">
              <a:lnSpc>
                <a:spcPct val="90000"/>
              </a:lnSpc>
            </a:pPr>
            <a:endParaRPr lang="it-IT" sz="1400" spc="-1" noProof="1"/>
          </a:p>
        </p:txBody>
      </p:sp>
      <p:sp>
        <p:nvSpPr>
          <p:cNvPr id="349"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Separazione delle attività (Art. 36 D.P.R. 633/1972)</a:t>
            </a:r>
            <a:endParaRPr lang="it-IT" sz="2800" spc="-1" noProof="1"/>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CustomShape 1"/>
          <p:cNvSpPr/>
          <p:nvPr/>
        </p:nvSpPr>
        <p:spPr>
          <a:xfrm>
            <a:off x="827088" y="1771650"/>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r>
              <a:rPr lang="it-IT" sz="4400" b="1" spc="-1" noProof="1">
                <a:solidFill>
                  <a:srgbClr val="336699"/>
                </a:solidFill>
                <a:latin typeface="Tahoma"/>
                <a:ea typeface="Tahoma"/>
              </a:rPr>
              <a:t>Esonero</a:t>
            </a:r>
            <a:r>
              <a:rPr lang="it-IT" sz="4400" spc="-1" noProof="1">
                <a:solidFill>
                  <a:srgbClr val="336699"/>
                </a:solidFill>
                <a:latin typeface="Tahoma"/>
                <a:ea typeface="Tahoma"/>
              </a:rPr>
              <a:t> </a:t>
            </a:r>
            <a:r>
              <a:rPr lang="it-IT" sz="4400" b="1" spc="-1" noProof="1">
                <a:solidFill>
                  <a:srgbClr val="336699"/>
                </a:solidFill>
                <a:latin typeface="Tahoma"/>
                <a:ea typeface="Tahoma"/>
              </a:rPr>
              <a:t>dagli</a:t>
            </a:r>
            <a:r>
              <a:rPr lang="it-IT" sz="4400" spc="-1" noProof="1">
                <a:solidFill>
                  <a:srgbClr val="336699"/>
                </a:solidFill>
                <a:latin typeface="Tahoma"/>
                <a:ea typeface="Tahoma"/>
              </a:rPr>
              <a:t> </a:t>
            </a:r>
            <a:r>
              <a:rPr lang="it-IT" sz="4400" b="1" spc="-1" noProof="1">
                <a:solidFill>
                  <a:srgbClr val="336699"/>
                </a:solidFill>
                <a:latin typeface="Tahoma"/>
                <a:ea typeface="Tahoma"/>
              </a:rPr>
              <a:t>adempimenti</a:t>
            </a:r>
            <a:endParaRPr lang="it-IT" sz="4400" spc="-1" noProof="1"/>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CustomShape 1"/>
          <p:cNvSpPr/>
          <p:nvPr/>
        </p:nvSpPr>
        <p:spPr>
          <a:xfrm>
            <a:off x="8578850" y="6550025"/>
            <a:ext cx="23971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52" name="CustomShape 2"/>
          <p:cNvSpPr/>
          <p:nvPr/>
        </p:nvSpPr>
        <p:spPr>
          <a:xfrm>
            <a:off x="457200" y="1422400"/>
            <a:ext cx="8228013" cy="3844925"/>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r>
              <a:rPr lang="it-IT" sz="1400" spc="-1" noProof="1">
                <a:solidFill>
                  <a:srgbClr val="000000"/>
                </a:solidFill>
                <a:latin typeface="Tahoma"/>
                <a:ea typeface="ヒラギノ角ゴ ProN W6"/>
              </a:rPr>
              <a:t>Coloro che svolgono attività esclusivamente o prevalentemente esenti e non hanno alcun interesse alla detrazione IVA relativa a tale attività, perché la stessa è preclusa o fortemente limitata per effetto delle disposizioni contenute nell’art. 19 e seguenti, possono utilizzare alcune agevolazioni contabili, manifestando l’opzione delle disposizioni contenute nell’art. 36-bis.</a:t>
            </a:r>
            <a:endParaRPr lang="it-IT" sz="1400" spc="-1" noProof="1"/>
          </a:p>
          <a:p>
            <a:pPr algn="just" fontAlgn="auto">
              <a:lnSpc>
                <a:spcPct val="90000"/>
              </a:lnSpc>
            </a:pPr>
            <a:endParaRPr lang="it-IT" sz="1400" spc="-1" noProof="1"/>
          </a:p>
          <a:p>
            <a:pPr algn="just" fontAlgn="auto">
              <a:lnSpc>
                <a:spcPct val="90000"/>
              </a:lnSpc>
            </a:pPr>
            <a:r>
              <a:rPr lang="it-IT" sz="1400" spc="-1" noProof="1">
                <a:solidFill>
                  <a:srgbClr val="000000"/>
                </a:solidFill>
                <a:latin typeface="Tahoma"/>
                <a:ea typeface="ヒラギノ角ゴ ProN W6"/>
              </a:rPr>
              <a:t>Tuttavia:</a:t>
            </a:r>
            <a:endParaRPr lang="it-IT" sz="1400" spc="-1" noProof="1"/>
          </a:p>
          <a:p>
            <a:pPr algn="just" fontAlgn="auto">
              <a:lnSpc>
                <a:spcPct val="90000"/>
              </a:lnSpc>
            </a:pP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l'agevolazione non si applica per le operazioni di cessione di oro da investimento, le prestazioni sanitarie, le prestazioni di ricovero e cura; </a:t>
            </a: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non è ammessa in detrazione l'Iva sugli acquisti; </a:t>
            </a: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resta fermo l'obbligo di fatturare e registrare le eventuali operazioni diverse da quelle esenti; </a:t>
            </a:r>
            <a:endParaRPr lang="it-IT" sz="1400" spc="-1" noProof="1"/>
          </a:p>
          <a:p>
            <a:pPr marL="285750" indent="-283845" algn="just" fontAlgn="auto">
              <a:lnSpc>
                <a:spcPct val="90000"/>
              </a:lnSpc>
              <a:buClr>
                <a:srgbClr val="1F497D"/>
              </a:buClr>
              <a:buFont typeface="Wingdings" panose="05000000000000000000" pitchFamily="2" charset="2"/>
              <a:buChar char=""/>
            </a:pPr>
            <a:r>
              <a:rPr lang="it-IT" sz="1400" spc="-1" noProof="1">
                <a:solidFill>
                  <a:srgbClr val="000000"/>
                </a:solidFill>
                <a:latin typeface="Tahoma"/>
                <a:ea typeface="ヒラギノ角ゴ ProN W6"/>
              </a:rPr>
              <a:t>è possibile l'esonero dalla presentazione della dichiarazione Iva. L’esonero, tuttavia, non ha effetto se il contribuente:</a:t>
            </a:r>
            <a:endParaRPr lang="it-IT" sz="1400" spc="-1" noProof="1"/>
          </a:p>
          <a:p>
            <a:pPr marL="800100" lvl="1" indent="-340995" algn="just" fontAlgn="auto">
              <a:lnSpc>
                <a:spcPct val="90000"/>
              </a:lnSpc>
              <a:buClr>
                <a:srgbClr val="1F497D"/>
              </a:buClr>
              <a:buFont typeface="Arial" panose="020B0604020202020204"/>
              <a:buAutoNum type="arabicParenR"/>
            </a:pPr>
            <a:r>
              <a:rPr lang="it-IT" sz="1400" spc="-1" noProof="1">
                <a:solidFill>
                  <a:srgbClr val="000000"/>
                </a:solidFill>
                <a:latin typeface="Tahoma"/>
                <a:ea typeface="ヒラギノ角ゴ ProN W6"/>
              </a:rPr>
              <a:t>è tenuto alla rettifica della detrazione prevista per gli acquisti di beni ammortizzabili;</a:t>
            </a:r>
            <a:endParaRPr lang="it-IT" sz="1400" spc="-1" noProof="1"/>
          </a:p>
          <a:p>
            <a:pPr marL="800100" lvl="1" indent="-340995" algn="just" fontAlgn="auto">
              <a:lnSpc>
                <a:spcPct val="90000"/>
              </a:lnSpc>
              <a:buClr>
                <a:srgbClr val="1F497D"/>
              </a:buClr>
              <a:buFont typeface="Arial" panose="020B0604020202020204"/>
              <a:buAutoNum type="arabicParenR"/>
            </a:pPr>
            <a:r>
              <a:rPr lang="it-IT" sz="1400" spc="-1" noProof="1">
                <a:solidFill>
                  <a:srgbClr val="000000"/>
                </a:solidFill>
                <a:latin typeface="Tahoma"/>
                <a:ea typeface="ヒラギノ角ゴ ProN W6"/>
              </a:rPr>
              <a:t>ha registrato operazioni intracomunitarie.</a:t>
            </a:r>
            <a:endParaRPr lang="it-IT" sz="1400" spc="-1" noProof="1"/>
          </a:p>
          <a:p>
            <a:pPr algn="just" fontAlgn="auto">
              <a:lnSpc>
                <a:spcPct val="90000"/>
              </a:lnSpc>
            </a:pPr>
            <a:endParaRPr lang="it-IT" sz="1400" spc="-1" noProof="1"/>
          </a:p>
          <a:p>
            <a:pPr algn="just" fontAlgn="auto">
              <a:lnSpc>
                <a:spcPct val="90000"/>
              </a:lnSpc>
            </a:pPr>
            <a:r>
              <a:rPr lang="it-IT" sz="1400" spc="-1" noProof="1">
                <a:solidFill>
                  <a:srgbClr val="000000"/>
                </a:solidFill>
                <a:latin typeface="Tahoma"/>
                <a:ea typeface="ヒラギノ角ゴ ProN W6"/>
              </a:rPr>
              <a:t>È possibile cumulare l'esonero dagli adempimenti con la separazione delle attività.</a:t>
            </a:r>
            <a:endParaRPr lang="it-IT" sz="1400" spc="-1" noProof="1"/>
          </a:p>
          <a:p>
            <a:pPr fontAlgn="auto">
              <a:lnSpc>
                <a:spcPct val="90000"/>
              </a:lnSpc>
            </a:pPr>
            <a:endParaRPr lang="it-IT" sz="1400" spc="-1" noProof="1"/>
          </a:p>
          <a:p>
            <a:pPr algn="just" fontAlgn="auto">
              <a:lnSpc>
                <a:spcPct val="90000"/>
              </a:lnSpc>
            </a:pPr>
            <a:endParaRPr lang="it-IT" sz="1400" spc="-1" noProof="1"/>
          </a:p>
        </p:txBody>
      </p:sp>
      <p:sp>
        <p:nvSpPr>
          <p:cNvPr id="353" name="CustomShape 3"/>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Esonero degli adempimenti (Art. 36-bis D.P.R. 633/1972)</a:t>
            </a:r>
            <a:endParaRPr lang="it-IT" sz="2800" spc="-1" noProof="1"/>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CustomShape 1"/>
          <p:cNvSpPr/>
          <p:nvPr/>
        </p:nvSpPr>
        <p:spPr>
          <a:xfrm>
            <a:off x="827088" y="1781175"/>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r>
              <a:rPr lang="it-IT" sz="4400" b="1" spc="-1" noProof="1">
                <a:solidFill>
                  <a:srgbClr val="336699"/>
                </a:solidFill>
                <a:latin typeface="Tahoma"/>
                <a:ea typeface="Tahoma"/>
              </a:rPr>
              <a:t>Liquidazione e versamenti</a:t>
            </a:r>
            <a:endParaRPr lang="it-IT" sz="4400" spc="-1" noProof="1"/>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 name="CustomShape 1"/>
          <p:cNvSpPr/>
          <p:nvPr/>
        </p:nvSpPr>
        <p:spPr>
          <a:xfrm>
            <a:off x="422275" y="890588"/>
            <a:ext cx="8226425" cy="5645150"/>
          </a:xfrm>
          <a:prstGeom prst="rect">
            <a:avLst/>
          </a:prstGeom>
          <a:noFill/>
          <a:ln w="25560">
            <a:noFill/>
          </a:ln>
        </p:spPr>
        <p:style>
          <a:lnRef idx="0">
            <a:scrgbClr r="0" g="0" b="0"/>
          </a:lnRef>
          <a:fillRef idx="0">
            <a:scrgbClr r="0" g="0" b="0"/>
          </a:fillRef>
          <a:effectRef idx="0">
            <a:scrgbClr r="0" g="0" b="0"/>
          </a:effectRef>
          <a:fontRef idx="minor"/>
        </p:style>
        <p:txBody>
          <a:bodyPr lIns="38160" tIns="38160" rIns="38160" bIns="38160"/>
          <a:lstStyle/>
          <a:p>
            <a:pPr algn="just" fontAlgn="auto">
              <a:lnSpc>
                <a:spcPct val="90000"/>
              </a:lnSpc>
            </a:pPr>
            <a:endParaRPr lang="it-IT" spc="-1" noProof="1"/>
          </a:p>
          <a:p>
            <a:pPr algn="ctr" fontAlgn="auto">
              <a:lnSpc>
                <a:spcPct val="90000"/>
              </a:lnSpc>
            </a:pPr>
            <a:r>
              <a:rPr lang="it-IT" sz="2000" b="1" i="1" spc="-1" noProof="1">
                <a:solidFill>
                  <a:srgbClr val="0047FF"/>
                </a:solidFill>
                <a:latin typeface="Tahoma"/>
                <a:ea typeface="ヒラギノ角ゴ ProN W6"/>
              </a:rPr>
              <a:t> </a:t>
            </a:r>
            <a:endParaRPr lang="it-IT" sz="2000" spc="-1" noProof="1"/>
          </a:p>
          <a:p>
            <a:pPr algn="ctr" fontAlgn="auto">
              <a:lnSpc>
                <a:spcPct val="90000"/>
              </a:lnSpc>
            </a:pPr>
            <a:endParaRPr lang="it-IT" sz="2000" spc="-1" noProof="1"/>
          </a:p>
          <a:p>
            <a:pPr fontAlgn="auto">
              <a:lnSpc>
                <a:spcPct val="90000"/>
              </a:lnSpc>
            </a:pPr>
            <a:endParaRPr lang="it-IT" sz="2000" spc="-1" noProof="1"/>
          </a:p>
          <a:p>
            <a:pPr fontAlgn="auto">
              <a:lnSpc>
                <a:spcPct val="90000"/>
              </a:lnSpc>
            </a:pPr>
            <a:endParaRPr lang="it-IT" sz="2000" spc="-1" noProof="1"/>
          </a:p>
          <a:p>
            <a:pPr algn="ctr" fontAlgn="auto">
              <a:lnSpc>
                <a:spcPct val="90000"/>
              </a:lnSpc>
            </a:pPr>
            <a:r>
              <a:rPr lang="it-IT" i="1" spc="-1" noProof="1">
                <a:solidFill>
                  <a:srgbClr val="000080"/>
                </a:solidFill>
                <a:latin typeface="Tahoma"/>
                <a:ea typeface="Tahoma"/>
              </a:rPr>
              <a:t> </a:t>
            </a:r>
            <a:endParaRPr lang="it-IT" spc="-1" noProof="1"/>
          </a:p>
          <a:p>
            <a:pPr algn="ctr" fontAlgn="auto">
              <a:lnSpc>
                <a:spcPct val="90000"/>
              </a:lnSpc>
            </a:pPr>
            <a:r>
              <a:rPr lang="it-IT" sz="2000" i="1" spc="-1" noProof="1">
                <a:solidFill>
                  <a:srgbClr val="000080"/>
                </a:solidFill>
                <a:latin typeface="Tahoma"/>
                <a:ea typeface="Tahoma"/>
              </a:rPr>
              <a:t>				</a:t>
            </a:r>
            <a:endParaRPr lang="it-IT" sz="2000" spc="-1" noProof="1"/>
          </a:p>
          <a:p>
            <a:pPr algn="just" fontAlgn="auto">
              <a:lnSpc>
                <a:spcPct val="90000"/>
              </a:lnSpc>
            </a:pPr>
            <a:endParaRPr lang="it-IT" sz="2000" spc="-1" noProof="1"/>
          </a:p>
          <a:p>
            <a:pPr algn="just" fontAlgn="auto">
              <a:lnSpc>
                <a:spcPct val="90000"/>
              </a:lnSpc>
            </a:pPr>
            <a:r>
              <a:rPr lang="it-IT" sz="2000" i="1" spc="-1" noProof="1">
                <a:solidFill>
                  <a:srgbClr val="000080"/>
                </a:solidFill>
                <a:latin typeface="Tahoma"/>
                <a:ea typeface="Tahoma"/>
              </a:rPr>
              <a:t> 			</a:t>
            </a:r>
            <a:endParaRPr lang="it-IT" sz="2000" spc="-1" noProof="1"/>
          </a:p>
          <a:p>
            <a:pPr algn="just" fontAlgn="auto">
              <a:lnSpc>
                <a:spcPct val="90000"/>
              </a:lnSpc>
            </a:pPr>
            <a:r>
              <a:rPr lang="it-IT" sz="2000" i="1" spc="-1" noProof="1">
                <a:solidFill>
                  <a:srgbClr val="000080"/>
                </a:solidFill>
                <a:latin typeface="Tahoma"/>
                <a:ea typeface="Tahoma"/>
              </a:rPr>
              <a:t> </a:t>
            </a:r>
            <a:endParaRPr lang="it-IT" sz="2000" spc="-1" noProof="1"/>
          </a:p>
          <a:p>
            <a:pPr algn="ctr" fontAlgn="auto">
              <a:lnSpc>
                <a:spcPct val="90000"/>
              </a:lnSpc>
            </a:pPr>
            <a:endParaRPr lang="it-IT" sz="2000" spc="-1" noProof="1"/>
          </a:p>
          <a:p>
            <a:pPr fontAlgn="auto">
              <a:lnSpc>
                <a:spcPct val="90000"/>
              </a:lnSpc>
            </a:pPr>
            <a:r>
              <a:rPr lang="it-IT" sz="2000" i="1" spc="-1" noProof="1">
                <a:solidFill>
                  <a:srgbClr val="000080"/>
                </a:solidFill>
                <a:latin typeface="Tahoma"/>
                <a:ea typeface="Tahoma"/>
              </a:rPr>
              <a:t>				 														</a:t>
            </a:r>
            <a:endParaRPr lang="it-IT" sz="2000" spc="-1" noProof="1"/>
          </a:p>
          <a:p>
            <a:pPr fontAlgn="auto">
              <a:lnSpc>
                <a:spcPct val="90000"/>
              </a:lnSpc>
            </a:pPr>
            <a:endParaRPr lang="it-IT" sz="2000" spc="-1" noProof="1"/>
          </a:p>
          <a:p>
            <a:pPr algn="just" fontAlgn="auto">
              <a:lnSpc>
                <a:spcPct val="90000"/>
              </a:lnSpc>
            </a:pPr>
            <a:endParaRPr lang="it-IT" sz="2000" spc="-1" noProof="1"/>
          </a:p>
          <a:p>
            <a:pPr algn="ctr" fontAlgn="auto">
              <a:lnSpc>
                <a:spcPct val="90000"/>
              </a:lnSpc>
            </a:pPr>
            <a:endParaRPr lang="it-IT" sz="2000" spc="-1" noProof="1"/>
          </a:p>
          <a:p>
            <a:pPr algn="just" fontAlgn="auto">
              <a:lnSpc>
                <a:spcPct val="90000"/>
              </a:lnSpc>
            </a:pPr>
            <a:r>
              <a:rPr lang="it-IT" sz="2000" i="1" spc="-1" noProof="1">
                <a:solidFill>
                  <a:srgbClr val="000080"/>
                </a:solidFill>
                <a:latin typeface="Tahoma"/>
                <a:ea typeface="Tahoma"/>
              </a:rPr>
              <a:t>      </a:t>
            </a:r>
            <a:endParaRPr lang="it-IT" sz="2000" spc="-1" noProof="1"/>
          </a:p>
          <a:p>
            <a:pPr algn="just" fontAlgn="auto">
              <a:lnSpc>
                <a:spcPct val="90000"/>
              </a:lnSpc>
            </a:pPr>
            <a:endParaRPr lang="it-IT" sz="2000" spc="-1" noProof="1"/>
          </a:p>
        </p:txBody>
      </p:sp>
      <p:sp>
        <p:nvSpPr>
          <p:cNvPr id="356" name="Line 2"/>
          <p:cNvSpPr/>
          <p:nvPr/>
        </p:nvSpPr>
        <p:spPr>
          <a:xfrm>
            <a:off x="7956550" y="6389688"/>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57" name="Line 3"/>
          <p:cNvSpPr/>
          <p:nvPr/>
        </p:nvSpPr>
        <p:spPr>
          <a:xfrm>
            <a:off x="3563938" y="2501900"/>
            <a:ext cx="0" cy="0"/>
          </a:xfrm>
          <a:prstGeom prst="line">
            <a:avLst/>
          </a:prstGeom>
          <a:ln w="25560">
            <a:noFill/>
          </a:ln>
        </p:spPr>
        <p:style>
          <a:lnRef idx="0">
            <a:scrgbClr r="0" g="0" b="0"/>
          </a:lnRef>
          <a:fillRef idx="0">
            <a:scrgbClr r="0" g="0" b="0"/>
          </a:fillRef>
          <a:effectRef idx="0">
            <a:scrgbClr r="0" g="0" b="0"/>
          </a:effectRef>
          <a:fontRef idx="minor"/>
        </p:style>
        <p:txBody>
          <a:bodyPr/>
          <a:lstStyle/>
          <a:p>
            <a:endParaRPr lang="it-IT"/>
          </a:p>
        </p:txBody>
      </p:sp>
      <p:sp>
        <p:nvSpPr>
          <p:cNvPr id="360" name="CustomShape 6"/>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Liquidazione e versamenti</a:t>
            </a:r>
            <a:endParaRPr lang="it-IT" sz="2800" spc="-1" noProof="1"/>
          </a:p>
        </p:txBody>
      </p:sp>
      <p:graphicFrame>
        <p:nvGraphicFramePr>
          <p:cNvPr id="2" name="Tabella 1">
            <a:extLst>
              <a:ext uri="{FF2B5EF4-FFF2-40B4-BE49-F238E27FC236}">
                <a16:creationId xmlns:a16="http://schemas.microsoft.com/office/drawing/2014/main" id="{060DE7AC-ACAA-6DB0-C251-F7988D6FA6E6}"/>
              </a:ext>
            </a:extLst>
          </p:cNvPr>
          <p:cNvGraphicFramePr>
            <a:graphicFrameLocks noGrp="1"/>
          </p:cNvGraphicFramePr>
          <p:nvPr>
            <p:extLst>
              <p:ext uri="{D42A27DB-BD31-4B8C-83A1-F6EECF244321}">
                <p14:modId xmlns:p14="http://schemas.microsoft.com/office/powerpoint/2010/main" val="411127616"/>
              </p:ext>
            </p:extLst>
          </p:nvPr>
        </p:nvGraphicFramePr>
        <p:xfrm>
          <a:off x="837372" y="1689658"/>
          <a:ext cx="7469256" cy="4206940"/>
        </p:xfrm>
        <a:graphic>
          <a:graphicData uri="http://schemas.openxmlformats.org/drawingml/2006/table">
            <a:tbl>
              <a:tblPr/>
              <a:tblGrid>
                <a:gridCol w="1867314">
                  <a:extLst>
                    <a:ext uri="{9D8B030D-6E8A-4147-A177-3AD203B41FA5}">
                      <a16:colId xmlns:a16="http://schemas.microsoft.com/office/drawing/2014/main" val="1006211723"/>
                    </a:ext>
                  </a:extLst>
                </a:gridCol>
                <a:gridCol w="1867314">
                  <a:extLst>
                    <a:ext uri="{9D8B030D-6E8A-4147-A177-3AD203B41FA5}">
                      <a16:colId xmlns:a16="http://schemas.microsoft.com/office/drawing/2014/main" val="3276949001"/>
                    </a:ext>
                  </a:extLst>
                </a:gridCol>
                <a:gridCol w="1867314">
                  <a:extLst>
                    <a:ext uri="{9D8B030D-6E8A-4147-A177-3AD203B41FA5}">
                      <a16:colId xmlns:a16="http://schemas.microsoft.com/office/drawing/2014/main" val="3981178348"/>
                    </a:ext>
                  </a:extLst>
                </a:gridCol>
                <a:gridCol w="1867314">
                  <a:extLst>
                    <a:ext uri="{9D8B030D-6E8A-4147-A177-3AD203B41FA5}">
                      <a16:colId xmlns:a16="http://schemas.microsoft.com/office/drawing/2014/main" val="2612400691"/>
                    </a:ext>
                  </a:extLst>
                </a:gridCol>
              </a:tblGrid>
              <a:tr h="288166">
                <a:tc>
                  <a:txBody>
                    <a:bodyPr/>
                    <a:lstStyle/>
                    <a:p>
                      <a:pPr>
                        <a:lnSpc>
                          <a:spcPts val="1500"/>
                        </a:lnSpc>
                      </a:pPr>
                      <a:r>
                        <a:rPr lang="it-IT" sz="1600" b="1" dirty="0">
                          <a:effectLst/>
                          <a:latin typeface="Google Sans Text"/>
                        </a:rPr>
                        <a:t>Adempimento</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1" dirty="0">
                          <a:effectLst/>
                          <a:latin typeface="Google Sans Text"/>
                        </a:rPr>
                        <a:t>Periodicità</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1">
                          <a:effectLst/>
                          <a:latin typeface="Google Sans Text"/>
                        </a:rPr>
                        <a:t>Scadenza</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1">
                          <a:effectLst/>
                          <a:latin typeface="Google Sans Text"/>
                        </a:rPr>
                        <a:t>Note</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05370253"/>
                  </a:ext>
                </a:extLst>
              </a:tr>
              <a:tr h="633965">
                <a:tc>
                  <a:txBody>
                    <a:bodyPr/>
                    <a:lstStyle/>
                    <a:p>
                      <a:pPr>
                        <a:lnSpc>
                          <a:spcPts val="1500"/>
                        </a:lnSpc>
                      </a:pPr>
                      <a:r>
                        <a:rPr lang="it-IT" sz="1600" b="1" dirty="0">
                          <a:effectLst/>
                          <a:latin typeface="Google Sans Text"/>
                        </a:rPr>
                        <a:t>Liquidazione e Versamento</a:t>
                      </a:r>
                      <a:endParaRPr lang="it-IT" sz="1600" b="0" dirty="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dirty="0">
                          <a:effectLst/>
                          <a:latin typeface="Google Sans Text"/>
                        </a:rPr>
                        <a:t>Mensile</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a:effectLst/>
                          <a:latin typeface="Google Sans Text"/>
                        </a:rPr>
                        <a:t>Entro il giorno </a:t>
                      </a:r>
                      <a:r>
                        <a:rPr lang="it-IT" sz="1600" b="1">
                          <a:effectLst/>
                          <a:latin typeface="Google Sans Text"/>
                        </a:rPr>
                        <a:t>16 del mese successivo</a:t>
                      </a:r>
                      <a:endParaRPr lang="it-IT" sz="1600" b="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endParaRPr lang="it-IT" sz="1400" b="0" dirty="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96689393"/>
                  </a:ext>
                </a:extLst>
              </a:tr>
              <a:tr h="979763">
                <a:tc>
                  <a:txBody>
                    <a:bodyPr/>
                    <a:lstStyle/>
                    <a:p>
                      <a:pPr>
                        <a:lnSpc>
                          <a:spcPts val="1500"/>
                        </a:lnSpc>
                      </a:pPr>
                      <a:r>
                        <a:rPr lang="it-IT" sz="1600" b="1" dirty="0">
                          <a:effectLst/>
                          <a:latin typeface="Google Sans Text"/>
                        </a:rPr>
                        <a:t>Liquidazione e Versamento</a:t>
                      </a:r>
                      <a:endParaRPr lang="it-IT" sz="1600" b="0" dirty="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dirty="0">
                          <a:effectLst/>
                          <a:latin typeface="Google Sans Text"/>
                        </a:rPr>
                        <a:t>Trimestrale</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dirty="0">
                          <a:effectLst/>
                          <a:latin typeface="Google Sans Text"/>
                        </a:rPr>
                        <a:t>16 </a:t>
                      </a:r>
                      <a:r>
                        <a:rPr lang="it-IT" sz="1600" b="0" dirty="0" err="1">
                          <a:effectLst/>
                          <a:latin typeface="Google Sans Text"/>
                        </a:rPr>
                        <a:t>Mag</a:t>
                      </a:r>
                      <a:r>
                        <a:rPr lang="it-IT" sz="1600" b="0" dirty="0">
                          <a:effectLst/>
                          <a:latin typeface="Google Sans Text"/>
                        </a:rPr>
                        <a:t>, 20 Ago, 16 </a:t>
                      </a:r>
                      <a:r>
                        <a:rPr lang="it-IT" sz="1600" b="0" dirty="0" err="1">
                          <a:effectLst/>
                          <a:latin typeface="Google Sans Text"/>
                        </a:rPr>
                        <a:t>Nov</a:t>
                      </a:r>
                      <a:r>
                        <a:rPr lang="it-IT" sz="1600" b="0" dirty="0">
                          <a:effectLst/>
                          <a:latin typeface="Google Sans Text"/>
                        </a:rPr>
                        <a:t>, 16 Mar (saldo)</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400" b="0" dirty="0">
                          <a:effectLst/>
                          <a:latin typeface="Google Sans Text"/>
                        </a:rPr>
                        <a:t>Opzione per contribuenti con volume d'affari ≤ €500.000/€800.000. Interessi +1%.</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6060795"/>
                  </a:ext>
                </a:extLst>
              </a:tr>
              <a:tr h="633965">
                <a:tc>
                  <a:txBody>
                    <a:bodyPr/>
                    <a:lstStyle/>
                    <a:p>
                      <a:pPr>
                        <a:lnSpc>
                          <a:spcPts val="1500"/>
                        </a:lnSpc>
                      </a:pPr>
                      <a:r>
                        <a:rPr lang="it-IT" sz="1600" b="1">
                          <a:effectLst/>
                          <a:latin typeface="Google Sans Text"/>
                        </a:rPr>
                        <a:t>Comunicazione Liquidazioni Periodiche (LIPE)</a:t>
                      </a:r>
                      <a:endParaRPr lang="it-IT" sz="1600" b="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dirty="0">
                          <a:effectLst/>
                          <a:latin typeface="Google Sans Text"/>
                        </a:rPr>
                        <a:t>Trimestrale</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da-DK" sz="1600" b="0" dirty="0">
                          <a:effectLst/>
                          <a:latin typeface="Google Sans Text"/>
                        </a:rPr>
                        <a:t>31 Mag, 30 Set, 30 Nov, 28 Feb (anno succ.)</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400" b="0" dirty="0">
                          <a:effectLst/>
                          <a:latin typeface="Google Sans Text"/>
                        </a:rPr>
                        <a:t>Obbligatoria per quasi tutti i soggetti passivi.</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858443519"/>
                  </a:ext>
                </a:extLst>
              </a:tr>
              <a:tr h="806864">
                <a:tc>
                  <a:txBody>
                    <a:bodyPr/>
                    <a:lstStyle/>
                    <a:p>
                      <a:pPr>
                        <a:lnSpc>
                          <a:spcPts val="1500"/>
                        </a:lnSpc>
                      </a:pPr>
                      <a:r>
                        <a:rPr lang="it-IT" sz="1600" b="1">
                          <a:effectLst/>
                          <a:latin typeface="Google Sans Text"/>
                        </a:rPr>
                        <a:t>Acconto IVA</a:t>
                      </a:r>
                      <a:endParaRPr lang="it-IT" sz="1600" b="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a:effectLst/>
                          <a:latin typeface="Google Sans Text"/>
                        </a:rPr>
                        <a:t>Annuale</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dirty="0">
                          <a:effectLst/>
                          <a:latin typeface="Google Sans Text"/>
                        </a:rPr>
                        <a:t>Entro il </a:t>
                      </a:r>
                      <a:r>
                        <a:rPr lang="it-IT" sz="1600" b="1" dirty="0">
                          <a:effectLst/>
                          <a:latin typeface="Google Sans Text"/>
                        </a:rPr>
                        <a:t>27 dicembre</a:t>
                      </a:r>
                      <a:endParaRPr lang="it-IT" sz="1600" b="0" dirty="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400" b="0" dirty="0">
                          <a:effectLst/>
                          <a:latin typeface="Google Sans Text"/>
                        </a:rPr>
                        <a:t>Calcolato con metodo storico, previsionale o analitico.</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0332485"/>
                  </a:ext>
                </a:extLst>
              </a:tr>
              <a:tr h="633965">
                <a:tc>
                  <a:txBody>
                    <a:bodyPr/>
                    <a:lstStyle/>
                    <a:p>
                      <a:pPr>
                        <a:lnSpc>
                          <a:spcPts val="1500"/>
                        </a:lnSpc>
                      </a:pPr>
                      <a:r>
                        <a:rPr lang="it-IT" sz="1600" b="1">
                          <a:effectLst/>
                          <a:latin typeface="Google Sans Text"/>
                        </a:rPr>
                        <a:t>Dichiarazione Annuale IVA</a:t>
                      </a:r>
                      <a:endParaRPr lang="it-IT" sz="1600" b="0">
                        <a:effectLst/>
                        <a:latin typeface="Google Sans Text"/>
                      </a:endParaRP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a:effectLst/>
                          <a:latin typeface="Google Sans Text"/>
                        </a:rPr>
                        <a:t>Annuale</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600" b="0">
                          <a:effectLst/>
                          <a:latin typeface="Google Sans Text"/>
                        </a:rPr>
                        <a:t>Dal 1° Feb al </a:t>
                      </a:r>
                      <a:r>
                        <a:rPr lang="it-IT" sz="1600" b="1">
                          <a:effectLst/>
                          <a:latin typeface="Google Sans Text"/>
                        </a:rPr>
                        <a:t>30 aprile</a:t>
                      </a:r>
                      <a:r>
                        <a:rPr lang="it-IT" sz="1600" b="0">
                          <a:effectLst/>
                          <a:latin typeface="Google Sans Text"/>
                        </a:rPr>
                        <a:t> dell'anno succ.</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ts val="1500"/>
                        </a:lnSpc>
                      </a:pPr>
                      <a:r>
                        <a:rPr lang="it-IT" sz="1400" b="0" dirty="0">
                          <a:effectLst/>
                          <a:latin typeface="Google Sans Text"/>
                        </a:rPr>
                        <a:t>Modello IVA 2025 per l'anno d'imposta 2024.</a:t>
                      </a:r>
                    </a:p>
                  </a:txBody>
                  <a:tcPr marL="103740" marR="103740" marT="51870" marB="518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83899764"/>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CustomShape 1"/>
          <p:cNvSpPr/>
          <p:nvPr/>
        </p:nvSpPr>
        <p:spPr>
          <a:xfrm>
            <a:off x="503238" y="9525"/>
            <a:ext cx="8228012" cy="1141413"/>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62" name="CustomShape 2"/>
          <p:cNvSpPr/>
          <p:nvPr/>
        </p:nvSpPr>
        <p:spPr>
          <a:xfrm>
            <a:off x="504825" y="995363"/>
            <a:ext cx="8226425" cy="5770562"/>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63" name="CustomShape 3"/>
          <p:cNvSpPr/>
          <p:nvPr/>
        </p:nvSpPr>
        <p:spPr>
          <a:xfrm>
            <a:off x="387350" y="1482725"/>
            <a:ext cx="8228013" cy="541020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285750"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I versamenti periodici vanno effettuati mediante delega ad un istituto (cd. modello F24) entro il giorno 16 del mese successivo a ciascun trimestre per i contribuenti ordinari ed entro il 16 del secondo mese successivo a ciascun trimestre per i contribuenti trimestrali, ad eccezione di quelli «trimestrali per opzione»; </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La delega ha effetto liberatorio per il delegante. </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Acconto Iva da versare entro il 27 dicembre:</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Metodo storico;</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Metodo previsionale;</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Metodo analitico-effettivo.</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Annualmente: conguaglio entro il 16 marzo (o 30 giungo con maggiorazione).</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Obbligo di versamento mediante home banking o intermediari (DL 223/2006).</a:t>
            </a:r>
            <a:endParaRPr lang="it-IT" sz="1400" spc="-1" noProof="1"/>
          </a:p>
          <a:p>
            <a:pPr fontAlgn="auto"/>
            <a:endParaRPr lang="it-IT" sz="1400" spc="-1" noProof="1"/>
          </a:p>
          <a:p>
            <a:pPr marL="285750"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Limiti alla compensazione dell'eventuale eccedenza:</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La compensazione verticale (cd. Iva da Iva) è libera. </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La compensazione orizzontale è libera fino a € 5.000 euro; oltre tale importo occorre attendere il mese successivo alla presentazione della dichiarazione Iva. </a:t>
            </a:r>
            <a:endParaRPr lang="it-IT" sz="1400" spc="-1" noProof="1"/>
          </a:p>
          <a:p>
            <a:pPr marL="742950" lvl="1" indent="-283845" fontAlgn="auto">
              <a:buClr>
                <a:srgbClr val="1F497D"/>
              </a:buClr>
              <a:buFont typeface="Wingdings" panose="05000000000000000000" pitchFamily="2" charset="2"/>
              <a:buChar char=""/>
            </a:pPr>
            <a:r>
              <a:rPr lang="it-IT" sz="1400" spc="-1" noProof="1">
                <a:solidFill>
                  <a:srgbClr val="000000"/>
                </a:solidFill>
                <a:latin typeface="Tahoma"/>
                <a:ea typeface="Tahoma"/>
              </a:rPr>
              <a:t>Mentre per le compensazioni superiori a € 5.000 è richiesta l’apposizione del visto di conformità sulla dichiarazione Iva (novità introdotta con il D.L. 50/2017).</a:t>
            </a:r>
            <a:endParaRPr lang="it-IT" sz="1400" spc="-1" noProof="1"/>
          </a:p>
          <a:p>
            <a:pPr fontAlgn="auto"/>
            <a:endParaRPr lang="it-IT" sz="1400" spc="-1" noProof="1"/>
          </a:p>
        </p:txBody>
      </p:sp>
      <p:sp>
        <p:nvSpPr>
          <p:cNvPr id="364" name="CustomShape 4"/>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Liquidazione e versamenti </a:t>
            </a:r>
            <a:endParaRPr lang="it-IT" sz="2800" spc="-1" noProof="1"/>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CustomShape 1"/>
          <p:cNvSpPr/>
          <p:nvPr/>
        </p:nvSpPr>
        <p:spPr>
          <a:xfrm>
            <a:off x="827088" y="1771650"/>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endParaRPr lang="it-IT" spc="-1" noProof="1"/>
          </a:p>
          <a:p>
            <a:pPr algn="ctr" fontAlgn="auto"/>
            <a:r>
              <a:rPr lang="it-IT" sz="4400" b="1" spc="-1" noProof="1">
                <a:solidFill>
                  <a:srgbClr val="336699"/>
                </a:solidFill>
                <a:latin typeface="Calibri" panose="020F0502020204030204"/>
                <a:ea typeface="ヒラギノ角ゴ ProN W3"/>
              </a:rPr>
              <a:t>Dichiarazione</a:t>
            </a:r>
            <a:endParaRPr lang="it-IT" sz="4400" spc="-1" noProof="1"/>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CustomShape 1"/>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fontAlgn="auto">
              <a:lnSpc>
                <a:spcPct val="112000"/>
              </a:lnSpc>
              <a:spcBef>
                <a:spcPts val="200"/>
              </a:spcBef>
              <a:spcAft>
                <a:spcPts val="1200"/>
              </a:spcAft>
              <a:buFont typeface="Arial" panose="020B0604020202020204" pitchFamily="34" charset="0"/>
              <a:buChar char="•"/>
            </a:pP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Obbligo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prospettare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all'amministrazione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le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operazioni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l'imposta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consentire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controlli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342900" indent="-342900">
              <a:lnSpc>
                <a:spcPct val="112000"/>
              </a:lnSpc>
              <a:spcBef>
                <a:spcPts val="200"/>
              </a:spcBef>
              <a:spcAft>
                <a:spcPts val="1200"/>
              </a:spcAft>
              <a:buFont typeface="Arial" panose="020B0604020202020204" pitchFamily="34" charset="0"/>
              <a:buChar char="•"/>
            </a:pP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pena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nullità</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su</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modello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conforme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sottoscritta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Relativa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all'anno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solare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precedente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contiene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minimi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indispensabili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per:</a:t>
            </a:r>
          </a:p>
          <a:p>
            <a:pPr marL="742950" lvl="1" indent="-285750">
              <a:lnSpc>
                <a:spcPct val="112000"/>
              </a:lnSpc>
              <a:spcBef>
                <a:spcPts val="200"/>
              </a:spcBef>
              <a:spcAft>
                <a:spcPts val="500"/>
              </a:spcAft>
              <a:buFont typeface="Arial" panose="020B0604020202020204" pitchFamily="34" charset="0"/>
              <a:buChar char="•"/>
            </a:pP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individuare</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il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contribuente</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endParaRPr lang="it-IT" sz="1600" dirty="0">
              <a:solidFill>
                <a:srgbClr val="595959"/>
              </a:solidFill>
              <a:latin typeface="Tahoma" panose="020B0604030504040204" pitchFamily="34" charset="0"/>
              <a:ea typeface="Tahoma" panose="020B0604030504040204" pitchFamily="34" charset="0"/>
              <a:cs typeface="Tahoma" panose="020B0604030504040204" pitchFamily="34" charset="0"/>
            </a:endParaRPr>
          </a:p>
          <a:p>
            <a:pPr marL="742950" lvl="1" indent="-285750">
              <a:lnSpc>
                <a:spcPct val="112000"/>
              </a:lnSpc>
              <a:spcBef>
                <a:spcPts val="200"/>
              </a:spcBef>
              <a:spcAft>
                <a:spcPts val="500"/>
              </a:spcAft>
              <a:buFont typeface="Arial" panose="020B0604020202020204" pitchFamily="34" charset="0"/>
              <a:buChar char="•"/>
            </a:pP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determinare</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operazioni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e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imposta</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endParaRPr lang="it-IT" sz="1600" dirty="0">
              <a:solidFill>
                <a:srgbClr val="595959"/>
              </a:solidFill>
              <a:latin typeface="Tahoma" panose="020B0604030504040204" pitchFamily="34" charset="0"/>
              <a:ea typeface="Tahoma" panose="020B0604030504040204" pitchFamily="34" charset="0"/>
              <a:cs typeface="Tahoma" panose="020B0604030504040204" pitchFamily="34" charset="0"/>
            </a:endParaRPr>
          </a:p>
          <a:p>
            <a:pPr marL="742950" lvl="1" indent="-285750">
              <a:lnSpc>
                <a:spcPct val="112000"/>
              </a:lnSpc>
              <a:spcBef>
                <a:spcPts val="200"/>
              </a:spcBef>
              <a:spcAft>
                <a:spcPts val="500"/>
              </a:spcAft>
              <a:buFont typeface="Arial" panose="020B0604020202020204" pitchFamily="34" charset="0"/>
              <a:buChar char="•"/>
            </a:pP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consentire</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controlli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a:t>
            </a:r>
          </a:p>
        </p:txBody>
      </p:sp>
      <p:sp>
        <p:nvSpPr>
          <p:cNvPr id="367" name="CustomShape 2"/>
          <p:cNvSpPr/>
          <p:nvPr/>
        </p:nvSpPr>
        <p:spPr>
          <a:xfrm>
            <a:off x="457200" y="274638"/>
            <a:ext cx="8228013" cy="560387"/>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68" name="CustomShape 3"/>
          <p:cNvSpPr/>
          <p:nvPr/>
        </p:nvSpPr>
        <p:spPr>
          <a:xfrm>
            <a:off x="503238" y="9525"/>
            <a:ext cx="8228012" cy="1141413"/>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69" name="CustomShape 4"/>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a:t>
            </a:r>
            <a:endParaRPr lang="it-IT" sz="2800" spc="-1" noProof="1"/>
          </a:p>
        </p:txBody>
      </p:sp>
      <p:sp>
        <p:nvSpPr>
          <p:cNvPr id="370" name="TextBox 369"/>
          <p:cNvSpPr txBox="1"/>
          <p:nvPr/>
        </p:nvSpPr>
        <p:spPr>
          <a:xfrm>
            <a:off x="8321040" y="6446520"/>
            <a:ext cx="640080" cy="320040"/>
          </a:xfrm>
          <a:prstGeom prst="rect">
            <a:avLst/>
          </a:prstGeom>
          <a:noFill/>
        </p:spPr>
        <p:txBody>
          <a:bodyPr wrap="none">
            <a:spAutoFit/>
          </a:bodyPr>
          <a:lstStyle/>
          <a:p>
            <a:pPr algn="r"/>
            <a:r>
              <a:rPr sz="1000">
                <a:solidFill>
                  <a:srgbClr val="595959"/>
                </a:solidFill>
              </a:rPr>
              <a:t>74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CustomShape 1"/>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algn="just" fontAlgn="auto">
              <a:lnSpc>
                <a:spcPct val="112000"/>
              </a:lnSpc>
              <a:spcBef>
                <a:spcPts val="200"/>
              </a:spcBef>
              <a:spcAft>
                <a:spcPts val="1200"/>
              </a:spcAft>
              <a:buFont typeface="Arial" panose="020B0604020202020204" pitchFamily="34" charset="0"/>
              <a:buChar char="•"/>
            </a:pP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Atto al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contempo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doveroso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collaborativo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funzioni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plurime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342900" indent="-342900">
              <a:lnSpc>
                <a:spcPct val="112000"/>
              </a:lnSpc>
              <a:spcBef>
                <a:spcPts val="200"/>
              </a:spcBef>
              <a:spcAft>
                <a:spcPts val="1200"/>
              </a:spcAft>
              <a:buFont typeface="Arial" panose="020B0604020202020204" pitchFamily="34" charset="0"/>
              <a:buChar char="•"/>
            </a:pP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Funzione</a:t>
            </a:r>
            <a:r>
              <a:rPr sz="1900" i="1"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liquidatoria</a:t>
            </a:r>
            <a:r>
              <a:rPr sz="1900" i="1" dirty="0">
                <a:solidFill>
                  <a:srgbClr val="202020"/>
                </a:solidFill>
                <a:latin typeface="Tahoma" panose="020B0604030504040204" pitchFamily="34" charset="0"/>
                <a:ea typeface="Tahoma" panose="020B0604030504040204" pitchFamily="34" charset="0"/>
                <a:cs typeface="Tahoma" panose="020B0604030504040204" pitchFamily="34" charset="0"/>
              </a:rPr>
              <a:t>/</a:t>
            </a: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riscossiva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imputa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acconti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liquidazioni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presidia il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controllo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erariale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a:p>
            <a:pPr marL="342900" indent="-342900">
              <a:lnSpc>
                <a:spcPct val="112000"/>
              </a:lnSpc>
              <a:spcBef>
                <a:spcPts val="200"/>
              </a:spcBef>
              <a:spcAft>
                <a:spcPts val="1200"/>
              </a:spcAft>
              <a:buFont typeface="Arial" panose="020B0604020202020204" pitchFamily="34" charset="0"/>
              <a:buChar char="•"/>
            </a:pP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Funzione</a:t>
            </a:r>
            <a:r>
              <a:rPr sz="1900" i="1"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riproduttiva</a:t>
            </a:r>
            <a:r>
              <a:rPr sz="1900" i="1" dirty="0">
                <a:solidFill>
                  <a:srgbClr val="202020"/>
                </a:solidFill>
                <a:latin typeface="Tahoma" panose="020B0604030504040204" pitchFamily="34" charset="0"/>
                <a:ea typeface="Tahoma" panose="020B0604030504040204" pitchFamily="34" charset="0"/>
                <a:cs typeface="Tahoma" panose="020B0604030504040204" pitchFamily="34" charset="0"/>
              </a:rPr>
              <a:t>/</a:t>
            </a: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riepilogativa</a:t>
            </a:r>
            <a:r>
              <a:rPr sz="1900" i="1"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già</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comunicati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(LIPE).</a:t>
            </a:r>
          </a:p>
          <a:p>
            <a:pPr marL="342900" indent="-342900">
              <a:lnSpc>
                <a:spcPct val="112000"/>
              </a:lnSpc>
              <a:spcBef>
                <a:spcPts val="200"/>
              </a:spcBef>
              <a:spcAft>
                <a:spcPts val="1200"/>
              </a:spcAft>
              <a:buFont typeface="Arial" panose="020B0604020202020204" pitchFamily="34" charset="0"/>
              <a:buChar char="•"/>
            </a:pP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Profilo</a:t>
            </a:r>
            <a:r>
              <a:rPr sz="1900" i="1"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i="1" dirty="0" err="1">
                <a:solidFill>
                  <a:srgbClr val="202020"/>
                </a:solidFill>
                <a:latin typeface="Tahoma" panose="020B0604030504040204" pitchFamily="34" charset="0"/>
                <a:ea typeface="Tahoma" panose="020B0604030504040204" pitchFamily="34" charset="0"/>
                <a:cs typeface="Tahoma" panose="020B0604030504040204" pitchFamily="34" charset="0"/>
              </a:rPr>
              <a:t>partecipativo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sede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scelte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negoziali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opzioni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vincolanti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fino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revoca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p:txBody>
      </p:sp>
      <p:sp>
        <p:nvSpPr>
          <p:cNvPr id="371"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funzione</a:t>
            </a:r>
            <a:endParaRPr lang="it-IT" sz="2800" spc="-1" noProof="1"/>
          </a:p>
        </p:txBody>
      </p:sp>
      <p:sp>
        <p:nvSpPr>
          <p:cNvPr id="372" name="TextBox 371"/>
          <p:cNvSpPr txBox="1"/>
          <p:nvPr/>
        </p:nvSpPr>
        <p:spPr>
          <a:xfrm>
            <a:off x="8321040" y="6446520"/>
            <a:ext cx="640080" cy="320040"/>
          </a:xfrm>
          <a:prstGeom prst="rect">
            <a:avLst/>
          </a:prstGeom>
          <a:noFill/>
        </p:spPr>
        <p:txBody>
          <a:bodyPr wrap="none">
            <a:spAutoFit/>
          </a:bodyPr>
          <a:lstStyle/>
          <a:p>
            <a:pPr algn="r"/>
            <a:r>
              <a:rPr sz="1000">
                <a:solidFill>
                  <a:srgbClr val="595959"/>
                </a:solidFill>
              </a:rPr>
              <a:t>75</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CustomShape 1"/>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algn="just" fontAlgn="auto">
              <a:lnSpc>
                <a:spcPct val="112000"/>
              </a:lnSpc>
              <a:spcBef>
                <a:spcPts val="200"/>
              </a:spcBef>
              <a:spcAft>
                <a:spcPts val="1200"/>
              </a:spcAft>
              <a:buFont typeface="Arial" panose="020B0604020202020204" pitchFamily="34" charset="0"/>
              <a:buChar char="•"/>
            </a:pP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Tesi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prevalente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dichiarazione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scienza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con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finalità</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liquidatorie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nessuna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componente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confessoria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342900" indent="-342900">
              <a:lnSpc>
                <a:spcPct val="112000"/>
              </a:lnSpc>
              <a:spcBef>
                <a:spcPts val="200"/>
              </a:spcBef>
              <a:spcAft>
                <a:spcPts val="1200"/>
              </a:spcAft>
              <a:buFont typeface="Arial" panose="020B0604020202020204" pitchFamily="34" charset="0"/>
              <a:buChar char="•"/>
            </a:pP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È la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legge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determinare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l'obbligazione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effetti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prescindere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dalla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volontà</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(salvo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opzioni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Costitutiva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non di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effetti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ma della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fattispecie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cui la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legge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collega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gli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effetti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Esonera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l'ufficio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dalla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prova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del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dichiarato</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è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emendabile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e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correggibile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p:txBody>
      </p:sp>
      <p:sp>
        <p:nvSpPr>
          <p:cNvPr id="373"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natura</a:t>
            </a:r>
            <a:endParaRPr lang="it-IT" sz="2800" spc="-1" noProof="1"/>
          </a:p>
        </p:txBody>
      </p:sp>
      <p:sp>
        <p:nvSpPr>
          <p:cNvPr id="374" name="TextBox 373"/>
          <p:cNvSpPr txBox="1"/>
          <p:nvPr/>
        </p:nvSpPr>
        <p:spPr>
          <a:xfrm>
            <a:off x="8321040" y="6446520"/>
            <a:ext cx="640080" cy="320040"/>
          </a:xfrm>
          <a:prstGeom prst="rect">
            <a:avLst/>
          </a:prstGeom>
          <a:noFill/>
        </p:spPr>
        <p:txBody>
          <a:bodyPr wrap="none">
            <a:spAutoFit/>
          </a:bodyPr>
          <a:lstStyle/>
          <a:p>
            <a:pPr algn="r"/>
            <a:r>
              <a:rPr sz="1000">
                <a:solidFill>
                  <a:srgbClr val="595959"/>
                </a:solidFill>
              </a:rPr>
              <a:t>76</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CustomShape 1"/>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algn="just" fontAlgn="auto">
              <a:lnSpc>
                <a:spcPct val="112000"/>
              </a:lnSpc>
              <a:spcBef>
                <a:spcPts val="200"/>
              </a:spcBef>
              <a:spcAft>
                <a:spcPts val="1200"/>
              </a:spcAft>
              <a:buFont typeface="Arial" panose="020B0604020202020204" pitchFamily="34" charset="0"/>
              <a:buChar char="•"/>
            </a:pP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Obbligati: tutti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titolari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di partita IVA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esercenti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impresa/</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arte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professione</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artt</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4-5).</a:t>
            </a:r>
            <a:endParaRPr lang="it-IT" sz="1400" spc="-1" noProof="1">
              <a:latin typeface="Tahoma" panose="020B0604030504040204" pitchFamily="34" charset="0"/>
              <a:ea typeface="Tahoma" panose="020B0604030504040204" pitchFamily="34" charset="0"/>
              <a:cs typeface="Tahoma" panose="020B0604030504040204" pitchFamily="34" charset="0"/>
            </a:endParaRP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Esonerati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tra</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gli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 </a:t>
            </a:r>
            <a:r>
              <a:rPr sz="1900" dirty="0" err="1">
                <a:solidFill>
                  <a:srgbClr val="202020"/>
                </a:solidFill>
                <a:latin typeface="Tahoma" panose="020B0604030504040204" pitchFamily="34" charset="0"/>
                <a:ea typeface="Tahoma" panose="020B0604030504040204" pitchFamily="34" charset="0"/>
                <a:cs typeface="Tahoma" panose="020B0604030504040204" pitchFamily="34" charset="0"/>
              </a:rPr>
              <a:t>altri</a:t>
            </a:r>
            <a:r>
              <a:rPr sz="1900" dirty="0">
                <a:solidFill>
                  <a:srgbClr val="202020"/>
                </a:solidFill>
                <a:latin typeface="Tahoma" panose="020B0604030504040204" pitchFamily="34" charset="0"/>
                <a:ea typeface="Tahoma" panose="020B0604030504040204" pitchFamily="34" charset="0"/>
                <a:cs typeface="Tahoma" panose="020B0604030504040204" pitchFamily="34" charset="0"/>
              </a:rPr>
              <a:t>:</a:t>
            </a:r>
          </a:p>
          <a:p>
            <a:pPr marL="742950" lvl="1" indent="-285750">
              <a:lnSpc>
                <a:spcPct val="112000"/>
              </a:lnSpc>
              <a:spcBef>
                <a:spcPts val="200"/>
              </a:spcBef>
              <a:spcAft>
                <a:spcPts val="500"/>
              </a:spcAft>
              <a:buFont typeface="Arial" panose="020B0604020202020204" pitchFamily="34" charset="0"/>
              <a:buChar char="•"/>
            </a:pP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chi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registra</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solo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operazioni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esenti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art. 10 (salvo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rettifica</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beni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ammortizzabili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forfettari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a:t>
            </a:r>
          </a:p>
          <a:p>
            <a:pPr marL="742950" lvl="1" indent="-285750">
              <a:lnSpc>
                <a:spcPct val="112000"/>
              </a:lnSpc>
              <a:spcBef>
                <a:spcPts val="200"/>
              </a:spcBef>
              <a:spcAft>
                <a:spcPts val="500"/>
              </a:spcAft>
              <a:buFont typeface="Arial" panose="020B0604020202020204" pitchFamily="34" charset="0"/>
              <a:buChar char="•"/>
            </a:pP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produttori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agricoli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con volume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d'affari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 € 7.000;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spettacolo</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intrattenimento</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condizioni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a:t>
            </a:r>
          </a:p>
          <a:p>
            <a:pPr marL="742950" lvl="1" indent="-285750">
              <a:lnSpc>
                <a:spcPct val="112000"/>
              </a:lnSpc>
              <a:spcBef>
                <a:spcPts val="200"/>
              </a:spcBef>
              <a:spcAft>
                <a:spcPts val="500"/>
              </a:spcAft>
              <a:buFont typeface="Arial" panose="020B0604020202020204" pitchFamily="34" charset="0"/>
              <a:buChar char="•"/>
            </a:pP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affitto</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dell'unica</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azienda</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ASD/</a:t>
            </a:r>
            <a:r>
              <a:rPr lang="it-IT" sz="1600" dirty="0">
                <a:solidFill>
                  <a:srgbClr val="595959"/>
                </a:solidFill>
                <a:latin typeface="Tahoma" panose="020B0604030504040204" pitchFamily="34" charset="0"/>
                <a:ea typeface="Tahoma" panose="020B0604030504040204" pitchFamily="34" charset="0"/>
                <a:cs typeface="Tahoma" panose="020B0604030504040204" pitchFamily="34" charset="0"/>
              </a:rPr>
              <a:t>ETS</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/pro loco (l. 398/1991); </a:t>
            </a:r>
            <a:r>
              <a:rPr sz="1600" dirty="0" err="1">
                <a:solidFill>
                  <a:srgbClr val="595959"/>
                </a:solidFill>
                <a:latin typeface="Tahoma" panose="020B0604030504040204" pitchFamily="34" charset="0"/>
                <a:ea typeface="Tahoma" panose="020B0604030504040204" pitchFamily="34" charset="0"/>
                <a:cs typeface="Tahoma" panose="020B0604030504040204" pitchFamily="34" charset="0"/>
              </a:rPr>
              <a:t>soggetti</a:t>
            </a:r>
            <a:r>
              <a:rPr sz="1600" dirty="0">
                <a:solidFill>
                  <a:srgbClr val="595959"/>
                </a:solidFill>
                <a:latin typeface="Tahoma" panose="020B0604030504040204" pitchFamily="34" charset="0"/>
                <a:ea typeface="Tahoma" panose="020B0604030504040204" pitchFamily="34" charset="0"/>
                <a:cs typeface="Tahoma" panose="020B0604030504040204" pitchFamily="34" charset="0"/>
              </a:rPr>
              <a:t> extra-UE ex art. 74-quinquies.</a:t>
            </a:r>
          </a:p>
        </p:txBody>
      </p:sp>
      <p:sp>
        <p:nvSpPr>
          <p:cNvPr id="375"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soggetti obbligati</a:t>
            </a:r>
            <a:endParaRPr lang="it-IT" sz="2800" spc="-1" noProof="1"/>
          </a:p>
        </p:txBody>
      </p:sp>
      <p:sp>
        <p:nvSpPr>
          <p:cNvPr id="376" name="TextBox 375"/>
          <p:cNvSpPr txBox="1"/>
          <p:nvPr/>
        </p:nvSpPr>
        <p:spPr>
          <a:xfrm>
            <a:off x="8321040" y="6446520"/>
            <a:ext cx="640080" cy="320040"/>
          </a:xfrm>
          <a:prstGeom prst="rect">
            <a:avLst/>
          </a:prstGeom>
          <a:noFill/>
        </p:spPr>
        <p:txBody>
          <a:bodyPr wrap="none">
            <a:spAutoFit/>
          </a:bodyPr>
          <a:lstStyle/>
          <a:p>
            <a:pPr algn="r"/>
            <a:r>
              <a:rPr sz="1000">
                <a:solidFill>
                  <a:srgbClr val="595959"/>
                </a:solidFill>
              </a:rPr>
              <a:t>77</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CustomShape 1"/>
          <p:cNvSpPr/>
          <p:nvPr/>
        </p:nvSpPr>
        <p:spPr>
          <a:xfrm>
            <a:off x="62103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algn="just">
              <a:lnSpc>
                <a:spcPct val="112000"/>
              </a:lnSpc>
              <a:spcBef>
                <a:spcPts val="200"/>
              </a:spcBef>
              <a:spcAft>
                <a:spcPts val="1200"/>
              </a:spcAft>
              <a:buFont typeface="Arial" panose="020B0604020202020204" pitchFamily="34" charset="0"/>
              <a:buChar char="•"/>
            </a:pPr>
            <a:r>
              <a:rPr sz="1900" dirty="0" err="1">
                <a:solidFill>
                  <a:srgbClr val="202020"/>
                </a:solidFill>
              </a:rPr>
              <a:t>Presentazione</a:t>
            </a:r>
            <a:r>
              <a:rPr sz="1900" dirty="0">
                <a:solidFill>
                  <a:srgbClr val="202020"/>
                </a:solidFill>
              </a:rPr>
              <a:t> </a:t>
            </a:r>
            <a:r>
              <a:rPr sz="1900" dirty="0" err="1">
                <a:solidFill>
                  <a:srgbClr val="202020"/>
                </a:solidFill>
              </a:rPr>
              <a:t>esclusivamente</a:t>
            </a:r>
            <a:r>
              <a:rPr sz="1900" dirty="0">
                <a:solidFill>
                  <a:srgbClr val="202020"/>
                </a:solidFill>
              </a:rPr>
              <a:t> </a:t>
            </a:r>
            <a:r>
              <a:rPr sz="1900" dirty="0" err="1">
                <a:solidFill>
                  <a:srgbClr val="202020"/>
                </a:solidFill>
              </a:rPr>
              <a:t>telematica</a:t>
            </a:r>
            <a:r>
              <a:rPr sz="1900" dirty="0">
                <a:solidFill>
                  <a:srgbClr val="202020"/>
                </a:solidFill>
              </a:rPr>
              <a:t> (</a:t>
            </a:r>
            <a:r>
              <a:rPr sz="1900" dirty="0" err="1">
                <a:solidFill>
                  <a:srgbClr val="202020"/>
                </a:solidFill>
              </a:rPr>
              <a:t>Entratel</a:t>
            </a:r>
            <a:r>
              <a:rPr sz="1900" dirty="0">
                <a:solidFill>
                  <a:srgbClr val="202020"/>
                </a:solidFill>
              </a:rPr>
              <a:t>/</a:t>
            </a:r>
            <a:r>
              <a:rPr sz="1900" dirty="0" err="1">
                <a:solidFill>
                  <a:srgbClr val="202020"/>
                </a:solidFill>
              </a:rPr>
              <a:t>Fisconline</a:t>
            </a:r>
            <a:r>
              <a:rPr sz="1900" dirty="0">
                <a:solidFill>
                  <a:srgbClr val="202020"/>
                </a:solidFill>
              </a:rPr>
              <a:t> o </a:t>
            </a:r>
            <a:r>
              <a:rPr sz="1900" dirty="0" err="1">
                <a:solidFill>
                  <a:srgbClr val="202020"/>
                </a:solidFill>
              </a:rPr>
              <a:t>intermediari</a:t>
            </a:r>
            <a:r>
              <a:rPr sz="1900" dirty="0">
                <a:solidFill>
                  <a:srgbClr val="202020"/>
                </a:solidFill>
              </a:rPr>
              <a:t>); il </a:t>
            </a:r>
            <a:r>
              <a:rPr sz="1900" dirty="0" err="1">
                <a:solidFill>
                  <a:srgbClr val="202020"/>
                </a:solidFill>
              </a:rPr>
              <a:t>cartaceo</a:t>
            </a:r>
            <a:r>
              <a:rPr sz="1900" dirty="0">
                <a:solidFill>
                  <a:srgbClr val="202020"/>
                </a:solidFill>
              </a:rPr>
              <a:t> è non </a:t>
            </a:r>
            <a:r>
              <a:rPr sz="1900" dirty="0" err="1">
                <a:solidFill>
                  <a:srgbClr val="202020"/>
                </a:solidFill>
              </a:rPr>
              <a:t>conforme</a:t>
            </a:r>
            <a:r>
              <a:rPr sz="1900" dirty="0">
                <a:solidFill>
                  <a:srgbClr val="202020"/>
                </a:solidFill>
              </a:rPr>
              <a:t>.</a:t>
            </a:r>
            <a:endParaRPr lang="it-IT" altLang="en-US" sz="1600" dirty="0"/>
          </a:p>
          <a:p>
            <a:pPr marL="342900" indent="-342900">
              <a:lnSpc>
                <a:spcPct val="112000"/>
              </a:lnSpc>
              <a:spcBef>
                <a:spcPts val="200"/>
              </a:spcBef>
              <a:spcAft>
                <a:spcPts val="1200"/>
              </a:spcAft>
              <a:buFont typeface="Arial" panose="020B0604020202020204" pitchFamily="34" charset="0"/>
              <a:buChar char="•"/>
            </a:pPr>
            <a:r>
              <a:rPr sz="1900" dirty="0">
                <a:solidFill>
                  <a:srgbClr val="202020"/>
                </a:solidFill>
              </a:rPr>
              <a:t>Termine: </a:t>
            </a:r>
            <a:r>
              <a:rPr sz="1900" dirty="0" err="1">
                <a:solidFill>
                  <a:srgbClr val="202020"/>
                </a:solidFill>
              </a:rPr>
              <a:t>tra</a:t>
            </a:r>
            <a:r>
              <a:rPr sz="1900" dirty="0">
                <a:solidFill>
                  <a:srgbClr val="202020"/>
                </a:solidFill>
              </a:rPr>
              <a:t> il 1° </a:t>
            </a:r>
            <a:r>
              <a:rPr sz="1900" dirty="0" err="1">
                <a:solidFill>
                  <a:srgbClr val="202020"/>
                </a:solidFill>
              </a:rPr>
              <a:t>febbraio</a:t>
            </a:r>
            <a:r>
              <a:rPr sz="1900" dirty="0">
                <a:solidFill>
                  <a:srgbClr val="202020"/>
                </a:solidFill>
              </a:rPr>
              <a:t> e il 30 </a:t>
            </a:r>
            <a:r>
              <a:rPr sz="1900" dirty="0" err="1">
                <a:solidFill>
                  <a:srgbClr val="202020"/>
                </a:solidFill>
              </a:rPr>
              <a:t>aprile</a:t>
            </a:r>
            <a:r>
              <a:rPr sz="1900" dirty="0">
                <a:solidFill>
                  <a:srgbClr val="202020"/>
                </a:solidFill>
              </a:rPr>
              <a:t> (art. 8 DPR 322/1998).</a:t>
            </a:r>
          </a:p>
          <a:p>
            <a:pPr marL="342900" indent="-342900">
              <a:lnSpc>
                <a:spcPct val="112000"/>
              </a:lnSpc>
              <a:spcBef>
                <a:spcPts val="200"/>
              </a:spcBef>
              <a:spcAft>
                <a:spcPts val="1200"/>
              </a:spcAft>
              <a:buFont typeface="Arial" panose="020B0604020202020204" pitchFamily="34" charset="0"/>
              <a:buChar char="•"/>
            </a:pPr>
            <a:r>
              <a:rPr sz="1900" dirty="0">
                <a:solidFill>
                  <a:srgbClr val="202020"/>
                </a:solidFill>
              </a:rPr>
              <a:t>Si </a:t>
            </a:r>
            <a:r>
              <a:rPr sz="1900" dirty="0" err="1">
                <a:solidFill>
                  <a:srgbClr val="202020"/>
                </a:solidFill>
              </a:rPr>
              <a:t>considera</a:t>
            </a:r>
            <a:r>
              <a:rPr sz="1900" dirty="0">
                <a:solidFill>
                  <a:srgbClr val="202020"/>
                </a:solidFill>
              </a:rPr>
              <a:t> </a:t>
            </a:r>
            <a:r>
              <a:rPr sz="1900" dirty="0" err="1">
                <a:solidFill>
                  <a:srgbClr val="202020"/>
                </a:solidFill>
              </a:rPr>
              <a:t>presentata</a:t>
            </a:r>
            <a:r>
              <a:rPr sz="1900" dirty="0">
                <a:solidFill>
                  <a:srgbClr val="202020"/>
                </a:solidFill>
              </a:rPr>
              <a:t> alla </a:t>
            </a:r>
            <a:r>
              <a:rPr sz="1900" dirty="0" err="1">
                <a:solidFill>
                  <a:srgbClr val="202020"/>
                </a:solidFill>
              </a:rPr>
              <a:t>ricezione</a:t>
            </a:r>
            <a:r>
              <a:rPr sz="1900" dirty="0">
                <a:solidFill>
                  <a:srgbClr val="202020"/>
                </a:solidFill>
              </a:rPr>
              <a:t> da </a:t>
            </a:r>
            <a:r>
              <a:rPr sz="1900" dirty="0" err="1">
                <a:solidFill>
                  <a:srgbClr val="202020"/>
                </a:solidFill>
              </a:rPr>
              <a:t>parte</a:t>
            </a:r>
            <a:r>
              <a:rPr sz="1900" dirty="0">
                <a:solidFill>
                  <a:srgbClr val="202020"/>
                </a:solidFill>
              </a:rPr>
              <a:t> </a:t>
            </a:r>
            <a:r>
              <a:rPr sz="1900" dirty="0" err="1">
                <a:solidFill>
                  <a:srgbClr val="202020"/>
                </a:solidFill>
              </a:rPr>
              <a:t>dell'Agenzia</a:t>
            </a:r>
            <a:r>
              <a:rPr sz="1900" dirty="0">
                <a:solidFill>
                  <a:srgbClr val="202020"/>
                </a:solidFill>
              </a:rPr>
              <a:t> delle </a:t>
            </a:r>
            <a:r>
              <a:rPr sz="1900" dirty="0" err="1">
                <a:solidFill>
                  <a:srgbClr val="202020"/>
                </a:solidFill>
              </a:rPr>
              <a:t>Entrate</a:t>
            </a:r>
            <a:r>
              <a:rPr sz="1900" dirty="0">
                <a:solidFill>
                  <a:srgbClr val="202020"/>
                </a:solidFill>
              </a:rPr>
              <a:t>.</a:t>
            </a:r>
          </a:p>
        </p:txBody>
      </p:sp>
      <p:sp>
        <p:nvSpPr>
          <p:cNvPr id="377"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termini e modalità</a:t>
            </a:r>
            <a:endParaRPr lang="it-IT" sz="2800" spc="-1" noProof="1"/>
          </a:p>
        </p:txBody>
      </p:sp>
      <p:sp>
        <p:nvSpPr>
          <p:cNvPr id="378" name="TextBox 377"/>
          <p:cNvSpPr txBox="1"/>
          <p:nvPr/>
        </p:nvSpPr>
        <p:spPr>
          <a:xfrm>
            <a:off x="8321040" y="6446520"/>
            <a:ext cx="640080" cy="320040"/>
          </a:xfrm>
          <a:prstGeom prst="rect">
            <a:avLst/>
          </a:prstGeom>
          <a:noFill/>
        </p:spPr>
        <p:txBody>
          <a:bodyPr wrap="none">
            <a:spAutoFit/>
          </a:bodyPr>
          <a:lstStyle/>
          <a:p>
            <a:pPr algn="r"/>
            <a:r>
              <a:rPr sz="1000">
                <a:solidFill>
                  <a:srgbClr val="595959"/>
                </a:solidFill>
              </a:rPr>
              <a:t>78</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CustomShape 1"/>
          <p:cNvSpPr/>
          <p:nvPr/>
        </p:nvSpPr>
        <p:spPr>
          <a:xfrm>
            <a:off x="8578850" y="6550025"/>
            <a:ext cx="23971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79" name="CustomShape 2"/>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algn="just" fontAlgn="auto">
              <a:lnSpc>
                <a:spcPct val="112000"/>
              </a:lnSpc>
              <a:spcBef>
                <a:spcPts val="200"/>
              </a:spcBef>
              <a:spcAft>
                <a:spcPts val="1200"/>
              </a:spcAft>
              <a:buFont typeface="Arial" panose="020B0604020202020204" pitchFamily="34" charset="0"/>
              <a:buChar char="•"/>
            </a:pPr>
            <a:r>
              <a:rPr sz="1900" dirty="0">
                <a:solidFill>
                  <a:srgbClr val="202020"/>
                </a:solidFill>
              </a:rPr>
              <a:t>Valida e </a:t>
            </a:r>
            <a:r>
              <a:rPr sz="1900" dirty="0" err="1">
                <a:solidFill>
                  <a:srgbClr val="202020"/>
                </a:solidFill>
              </a:rPr>
              <a:t>tempestiva</a:t>
            </a:r>
            <a:r>
              <a:rPr sz="1900" dirty="0">
                <a:solidFill>
                  <a:srgbClr val="202020"/>
                </a:solidFill>
              </a:rPr>
              <a:t>: </a:t>
            </a:r>
            <a:r>
              <a:rPr sz="1900" dirty="0" err="1">
                <a:solidFill>
                  <a:srgbClr val="202020"/>
                </a:solidFill>
              </a:rPr>
              <a:t>liquida</a:t>
            </a:r>
            <a:r>
              <a:rPr sz="1900" dirty="0">
                <a:solidFill>
                  <a:srgbClr val="202020"/>
                </a:solidFill>
              </a:rPr>
              <a:t> e </a:t>
            </a:r>
            <a:r>
              <a:rPr sz="1900" dirty="0" err="1">
                <a:solidFill>
                  <a:srgbClr val="202020"/>
                </a:solidFill>
              </a:rPr>
              <a:t>rende</a:t>
            </a:r>
            <a:r>
              <a:rPr sz="1900" dirty="0">
                <a:solidFill>
                  <a:srgbClr val="202020"/>
                </a:solidFill>
              </a:rPr>
              <a:t> </a:t>
            </a:r>
            <a:r>
              <a:rPr sz="1900" dirty="0" err="1">
                <a:solidFill>
                  <a:srgbClr val="202020"/>
                </a:solidFill>
              </a:rPr>
              <a:t>riscuotibile</a:t>
            </a:r>
            <a:r>
              <a:rPr sz="1900" dirty="0">
                <a:solidFill>
                  <a:srgbClr val="202020"/>
                </a:solidFill>
              </a:rPr>
              <a:t> </a:t>
            </a:r>
            <a:r>
              <a:rPr sz="1900" dirty="0" err="1">
                <a:solidFill>
                  <a:srgbClr val="202020"/>
                </a:solidFill>
              </a:rPr>
              <a:t>l'obbligazione</a:t>
            </a:r>
            <a:r>
              <a:rPr sz="1900" dirty="0">
                <a:solidFill>
                  <a:srgbClr val="202020"/>
                </a:solidFill>
              </a:rPr>
              <a:t> (</a:t>
            </a:r>
            <a:r>
              <a:rPr sz="1900" dirty="0" err="1">
                <a:solidFill>
                  <a:srgbClr val="202020"/>
                </a:solidFill>
              </a:rPr>
              <a:t>nessun</a:t>
            </a:r>
            <a:r>
              <a:rPr sz="1900" dirty="0">
                <a:solidFill>
                  <a:srgbClr val="202020"/>
                </a:solidFill>
              </a:rPr>
              <a:t> </a:t>
            </a:r>
            <a:r>
              <a:rPr sz="1900" dirty="0" err="1">
                <a:solidFill>
                  <a:srgbClr val="202020"/>
                </a:solidFill>
              </a:rPr>
              <a:t>effetto</a:t>
            </a:r>
            <a:r>
              <a:rPr sz="1900" dirty="0">
                <a:solidFill>
                  <a:srgbClr val="202020"/>
                </a:solidFill>
              </a:rPr>
              <a:t> </a:t>
            </a:r>
            <a:r>
              <a:rPr sz="1900" dirty="0" err="1">
                <a:solidFill>
                  <a:srgbClr val="202020"/>
                </a:solidFill>
              </a:rPr>
              <a:t>costitutivo</a:t>
            </a:r>
            <a:r>
              <a:rPr sz="1900" dirty="0">
                <a:solidFill>
                  <a:srgbClr val="202020"/>
                </a:solidFill>
              </a:rPr>
              <a:t>).</a:t>
            </a:r>
            <a:endParaRPr lang="it-IT" spc="-1" noProof="1"/>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rPr>
              <a:t>Omessa</a:t>
            </a:r>
            <a:r>
              <a:rPr sz="1900" dirty="0">
                <a:solidFill>
                  <a:srgbClr val="202020"/>
                </a:solidFill>
              </a:rPr>
              <a:t>: </a:t>
            </a:r>
            <a:r>
              <a:rPr sz="1900" dirty="0" err="1">
                <a:solidFill>
                  <a:srgbClr val="202020"/>
                </a:solidFill>
              </a:rPr>
              <a:t>oltre</a:t>
            </a:r>
            <a:r>
              <a:rPr sz="1900" dirty="0">
                <a:solidFill>
                  <a:srgbClr val="202020"/>
                </a:solidFill>
              </a:rPr>
              <a:t> 90 gg → termini di </a:t>
            </a:r>
            <a:r>
              <a:rPr sz="1900" dirty="0" err="1">
                <a:solidFill>
                  <a:srgbClr val="202020"/>
                </a:solidFill>
              </a:rPr>
              <a:t>accertamento</a:t>
            </a:r>
            <a:r>
              <a:rPr sz="1900" dirty="0">
                <a:solidFill>
                  <a:srgbClr val="202020"/>
                </a:solidFill>
              </a:rPr>
              <a:t> </a:t>
            </a:r>
            <a:r>
              <a:rPr sz="1900" dirty="0" err="1">
                <a:solidFill>
                  <a:srgbClr val="202020"/>
                </a:solidFill>
              </a:rPr>
              <a:t>più</a:t>
            </a:r>
            <a:r>
              <a:rPr sz="1900" dirty="0">
                <a:solidFill>
                  <a:srgbClr val="202020"/>
                </a:solidFill>
              </a:rPr>
              <a:t> </a:t>
            </a:r>
            <a:r>
              <a:rPr sz="1900" dirty="0" err="1">
                <a:solidFill>
                  <a:srgbClr val="202020"/>
                </a:solidFill>
              </a:rPr>
              <a:t>lunghi</a:t>
            </a:r>
            <a:r>
              <a:rPr sz="1900" dirty="0">
                <a:solidFill>
                  <a:srgbClr val="202020"/>
                </a:solidFill>
              </a:rPr>
              <a:t> e </a:t>
            </a:r>
            <a:r>
              <a:rPr sz="1900" dirty="0" err="1">
                <a:solidFill>
                  <a:srgbClr val="202020"/>
                </a:solidFill>
              </a:rPr>
              <a:t>sanzioni</a:t>
            </a:r>
            <a:r>
              <a:rPr sz="1900" dirty="0">
                <a:solidFill>
                  <a:srgbClr val="202020"/>
                </a:solidFill>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rPr>
              <a:t>Nulla</a:t>
            </a:r>
            <a:r>
              <a:rPr sz="1900" dirty="0">
                <a:solidFill>
                  <a:srgbClr val="202020"/>
                </a:solidFill>
              </a:rPr>
              <a:t>: </a:t>
            </a:r>
            <a:r>
              <a:rPr sz="1900" dirty="0" err="1">
                <a:solidFill>
                  <a:srgbClr val="202020"/>
                </a:solidFill>
              </a:rPr>
              <a:t>modello</a:t>
            </a:r>
            <a:r>
              <a:rPr sz="1900" dirty="0">
                <a:solidFill>
                  <a:srgbClr val="202020"/>
                </a:solidFill>
              </a:rPr>
              <a:t> non </a:t>
            </a:r>
            <a:r>
              <a:rPr sz="1900" dirty="0" err="1">
                <a:solidFill>
                  <a:srgbClr val="202020"/>
                </a:solidFill>
              </a:rPr>
              <a:t>conforme</a:t>
            </a:r>
            <a:r>
              <a:rPr sz="1900" dirty="0">
                <a:solidFill>
                  <a:srgbClr val="202020"/>
                </a:solidFill>
              </a:rPr>
              <a:t> o non </a:t>
            </a:r>
            <a:r>
              <a:rPr sz="1900" dirty="0" err="1">
                <a:solidFill>
                  <a:srgbClr val="202020"/>
                </a:solidFill>
              </a:rPr>
              <a:t>sottoscritta</a:t>
            </a:r>
            <a:r>
              <a:rPr sz="1900" dirty="0">
                <a:solidFill>
                  <a:srgbClr val="202020"/>
                </a:solidFill>
              </a:rPr>
              <a:t> (</a:t>
            </a:r>
            <a:r>
              <a:rPr sz="1900" dirty="0" err="1">
                <a:solidFill>
                  <a:srgbClr val="202020"/>
                </a:solidFill>
              </a:rPr>
              <a:t>sanabile</a:t>
            </a:r>
            <a:r>
              <a:rPr sz="1900" dirty="0">
                <a:solidFill>
                  <a:srgbClr val="202020"/>
                </a:solidFill>
              </a:rPr>
              <a:t> </a:t>
            </a:r>
            <a:r>
              <a:rPr sz="1900" dirty="0" err="1">
                <a:solidFill>
                  <a:srgbClr val="202020"/>
                </a:solidFill>
              </a:rPr>
              <a:t>entro</a:t>
            </a:r>
            <a:r>
              <a:rPr sz="1900" dirty="0">
                <a:solidFill>
                  <a:srgbClr val="202020"/>
                </a:solidFill>
              </a:rPr>
              <a:t> 30 gg </a:t>
            </a:r>
            <a:r>
              <a:rPr sz="1900" dirty="0" err="1">
                <a:solidFill>
                  <a:srgbClr val="202020"/>
                </a:solidFill>
              </a:rPr>
              <a:t>dalla</a:t>
            </a:r>
            <a:r>
              <a:rPr sz="1900" dirty="0">
                <a:solidFill>
                  <a:srgbClr val="202020"/>
                </a:solidFill>
              </a:rPr>
              <a:t> </a:t>
            </a:r>
            <a:r>
              <a:rPr sz="1900" dirty="0" err="1">
                <a:solidFill>
                  <a:srgbClr val="202020"/>
                </a:solidFill>
              </a:rPr>
              <a:t>richiesta</a:t>
            </a:r>
            <a:r>
              <a:rPr sz="1900" dirty="0">
                <a:solidFill>
                  <a:srgbClr val="202020"/>
                </a:solidFill>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rPr>
              <a:t>Tardiva</a:t>
            </a:r>
            <a:r>
              <a:rPr sz="1900" dirty="0">
                <a:solidFill>
                  <a:srgbClr val="202020"/>
                </a:solidFill>
              </a:rPr>
              <a:t> (≤ 90 gg): </a:t>
            </a:r>
            <a:r>
              <a:rPr sz="1900" dirty="0" err="1">
                <a:solidFill>
                  <a:srgbClr val="202020"/>
                </a:solidFill>
              </a:rPr>
              <a:t>valida</a:t>
            </a:r>
            <a:r>
              <a:rPr sz="1900" dirty="0">
                <a:solidFill>
                  <a:srgbClr val="202020"/>
                </a:solidFill>
              </a:rPr>
              <a:t>, con </a:t>
            </a:r>
            <a:r>
              <a:rPr sz="1900" dirty="0" err="1">
                <a:solidFill>
                  <a:srgbClr val="202020"/>
                </a:solidFill>
              </a:rPr>
              <a:t>sanzione</a:t>
            </a:r>
            <a:r>
              <a:rPr sz="1900" dirty="0">
                <a:solidFill>
                  <a:srgbClr val="202020"/>
                </a:solidFill>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rPr>
              <a:t>Ultratardiva</a:t>
            </a:r>
            <a:r>
              <a:rPr sz="1900" dirty="0">
                <a:solidFill>
                  <a:srgbClr val="202020"/>
                </a:solidFill>
              </a:rPr>
              <a:t> (&gt; 90 gg): </a:t>
            </a:r>
            <a:r>
              <a:rPr sz="1900" dirty="0" err="1">
                <a:solidFill>
                  <a:srgbClr val="202020"/>
                </a:solidFill>
              </a:rPr>
              <a:t>si</a:t>
            </a:r>
            <a:r>
              <a:rPr sz="1900" dirty="0">
                <a:solidFill>
                  <a:srgbClr val="202020"/>
                </a:solidFill>
              </a:rPr>
              <a:t> </a:t>
            </a:r>
            <a:r>
              <a:rPr sz="1900" dirty="0" err="1">
                <a:solidFill>
                  <a:srgbClr val="202020"/>
                </a:solidFill>
              </a:rPr>
              <a:t>considera</a:t>
            </a:r>
            <a:r>
              <a:rPr sz="1900" dirty="0">
                <a:solidFill>
                  <a:srgbClr val="202020"/>
                </a:solidFill>
              </a:rPr>
              <a:t> </a:t>
            </a:r>
            <a:r>
              <a:rPr sz="1900" dirty="0" err="1">
                <a:solidFill>
                  <a:srgbClr val="202020"/>
                </a:solidFill>
              </a:rPr>
              <a:t>omessa</a:t>
            </a:r>
            <a:r>
              <a:rPr sz="1900" dirty="0">
                <a:solidFill>
                  <a:srgbClr val="202020"/>
                </a:solidFill>
              </a:rPr>
              <a:t>, ma è </a:t>
            </a:r>
            <a:r>
              <a:rPr sz="1900" dirty="0" err="1">
                <a:solidFill>
                  <a:srgbClr val="202020"/>
                </a:solidFill>
              </a:rPr>
              <a:t>titolo</a:t>
            </a:r>
            <a:r>
              <a:rPr sz="1900" dirty="0">
                <a:solidFill>
                  <a:srgbClr val="202020"/>
                </a:solidFill>
              </a:rPr>
              <a:t> per la </a:t>
            </a:r>
            <a:r>
              <a:rPr sz="1900" dirty="0" err="1">
                <a:solidFill>
                  <a:srgbClr val="202020"/>
                </a:solidFill>
              </a:rPr>
              <a:t>riscossione</a:t>
            </a:r>
            <a:r>
              <a:rPr sz="1900" dirty="0">
                <a:solidFill>
                  <a:srgbClr val="202020"/>
                </a:solidFill>
              </a:rPr>
              <a:t>.</a:t>
            </a:r>
          </a:p>
        </p:txBody>
      </p:sp>
      <p:sp>
        <p:nvSpPr>
          <p:cNvPr id="380" name="CustomShape 3"/>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effetti</a:t>
            </a:r>
            <a:endParaRPr lang="it-IT" sz="2800" spc="-1" noProof="1"/>
          </a:p>
        </p:txBody>
      </p:sp>
      <p:sp>
        <p:nvSpPr>
          <p:cNvPr id="381" name="TextBox 380"/>
          <p:cNvSpPr txBox="1"/>
          <p:nvPr/>
        </p:nvSpPr>
        <p:spPr>
          <a:xfrm>
            <a:off x="8321040" y="6446520"/>
            <a:ext cx="640080" cy="320040"/>
          </a:xfrm>
          <a:prstGeom prst="rect">
            <a:avLst/>
          </a:prstGeom>
          <a:noFill/>
        </p:spPr>
        <p:txBody>
          <a:bodyPr wrap="none">
            <a:spAutoFit/>
          </a:bodyPr>
          <a:lstStyle/>
          <a:p>
            <a:pPr algn="r"/>
            <a:r>
              <a:rPr sz="1000">
                <a:solidFill>
                  <a:srgbClr val="595959"/>
                </a:solidFill>
              </a:rPr>
              <a:t>79</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CustomShape 1"/>
          <p:cNvSpPr/>
          <p:nvPr/>
        </p:nvSpPr>
        <p:spPr>
          <a:xfrm>
            <a:off x="640080" y="1417320"/>
            <a:ext cx="7955279" cy="4572000"/>
          </a:xfrm>
          <a:prstGeom prst="rect">
            <a:avLst/>
          </a:prstGeom>
          <a:noFill/>
          <a:ln w="25560">
            <a:noFill/>
          </a:ln>
        </p:spPr>
        <p:style>
          <a:lnRef idx="0">
            <a:scrgbClr r="0" g="0" b="0"/>
          </a:lnRef>
          <a:fillRef idx="0">
            <a:scrgbClr r="0" g="0" b="0"/>
          </a:fillRef>
          <a:effectRef idx="0">
            <a:scrgbClr r="0" g="0" b="0"/>
          </a:effectRef>
          <a:fontRef idx="minor"/>
        </p:style>
        <p:txBody>
          <a:bodyPr wrap="square" lIns="38160" tIns="38160" rIns="38160" bIns="38160" anchor="ctr"/>
          <a:lstStyle/>
          <a:p>
            <a:pPr marL="342900" indent="-342900" algn="just" fontAlgn="auto">
              <a:lnSpc>
                <a:spcPct val="112000"/>
              </a:lnSpc>
              <a:spcBef>
                <a:spcPts val="200"/>
              </a:spcBef>
              <a:spcAft>
                <a:spcPts val="1200"/>
              </a:spcAft>
              <a:buFont typeface="Arial" panose="020B0604020202020204" pitchFamily="34" charset="0"/>
              <a:buChar char="•"/>
            </a:pPr>
            <a:r>
              <a:rPr sz="1900" dirty="0" err="1">
                <a:solidFill>
                  <a:srgbClr val="202020"/>
                </a:solidFill>
              </a:rPr>
              <a:t>Correttiva</a:t>
            </a:r>
            <a:r>
              <a:rPr sz="1900" dirty="0">
                <a:solidFill>
                  <a:srgbClr val="202020"/>
                </a:solidFill>
              </a:rPr>
              <a:t> </a:t>
            </a:r>
            <a:r>
              <a:rPr sz="1900" dirty="0" err="1">
                <a:solidFill>
                  <a:srgbClr val="202020"/>
                </a:solidFill>
              </a:rPr>
              <a:t>nei</a:t>
            </a:r>
            <a:r>
              <a:rPr sz="1900" dirty="0">
                <a:solidFill>
                  <a:srgbClr val="202020"/>
                </a:solidFill>
              </a:rPr>
              <a:t> termini: prima della </a:t>
            </a:r>
            <a:r>
              <a:rPr sz="1900" dirty="0" err="1">
                <a:solidFill>
                  <a:srgbClr val="202020"/>
                </a:solidFill>
              </a:rPr>
              <a:t>scadenza</a:t>
            </a:r>
            <a:r>
              <a:rPr sz="1900" dirty="0">
                <a:solidFill>
                  <a:srgbClr val="202020"/>
                </a:solidFill>
              </a:rPr>
              <a:t>, </a:t>
            </a:r>
            <a:r>
              <a:rPr sz="1900" dirty="0" err="1">
                <a:solidFill>
                  <a:srgbClr val="202020"/>
                </a:solidFill>
              </a:rPr>
              <a:t>nuova</a:t>
            </a:r>
            <a:r>
              <a:rPr sz="1900" dirty="0">
                <a:solidFill>
                  <a:srgbClr val="202020"/>
                </a:solidFill>
              </a:rPr>
              <a:t> </a:t>
            </a:r>
            <a:r>
              <a:rPr sz="1900" dirty="0" err="1">
                <a:solidFill>
                  <a:srgbClr val="202020"/>
                </a:solidFill>
              </a:rPr>
              <a:t>dichiarazione</a:t>
            </a:r>
            <a:r>
              <a:rPr sz="1900" dirty="0">
                <a:solidFill>
                  <a:srgbClr val="202020"/>
                </a:solidFill>
              </a:rPr>
              <a:t> completa.</a:t>
            </a:r>
            <a:endParaRPr lang="it-IT" spc="-1" noProof="1"/>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rPr>
              <a:t>Integrativa</a:t>
            </a:r>
            <a:r>
              <a:rPr sz="1900" dirty="0">
                <a:solidFill>
                  <a:srgbClr val="202020"/>
                </a:solidFill>
              </a:rPr>
              <a:t> (dopo la </a:t>
            </a:r>
            <a:r>
              <a:rPr sz="1900" dirty="0" err="1">
                <a:solidFill>
                  <a:srgbClr val="202020"/>
                </a:solidFill>
              </a:rPr>
              <a:t>scadenza</a:t>
            </a:r>
            <a:r>
              <a:rPr sz="1900" dirty="0">
                <a:solidFill>
                  <a:srgbClr val="202020"/>
                </a:solidFill>
              </a:rPr>
              <a:t>): </a:t>
            </a:r>
            <a:r>
              <a:rPr sz="1900" dirty="0" err="1">
                <a:solidFill>
                  <a:srgbClr val="202020"/>
                </a:solidFill>
              </a:rPr>
              <a:t>presuppone</a:t>
            </a:r>
            <a:r>
              <a:rPr sz="1900" dirty="0">
                <a:solidFill>
                  <a:srgbClr val="202020"/>
                </a:solidFill>
              </a:rPr>
              <a:t> </a:t>
            </a:r>
            <a:r>
              <a:rPr sz="1900" dirty="0" err="1">
                <a:solidFill>
                  <a:srgbClr val="202020"/>
                </a:solidFill>
              </a:rPr>
              <a:t>l'originaria</a:t>
            </a:r>
            <a:r>
              <a:rPr sz="1900" dirty="0">
                <a:solidFill>
                  <a:srgbClr val="202020"/>
                </a:solidFill>
              </a:rPr>
              <a:t> </a:t>
            </a:r>
            <a:r>
              <a:rPr sz="1900" dirty="0" err="1">
                <a:solidFill>
                  <a:srgbClr val="202020"/>
                </a:solidFill>
              </a:rPr>
              <a:t>validamente</a:t>
            </a:r>
            <a:r>
              <a:rPr sz="1900" dirty="0">
                <a:solidFill>
                  <a:srgbClr val="202020"/>
                </a:solidFill>
              </a:rPr>
              <a:t> </a:t>
            </a:r>
            <a:r>
              <a:rPr sz="1900" dirty="0" err="1">
                <a:solidFill>
                  <a:srgbClr val="202020"/>
                </a:solidFill>
              </a:rPr>
              <a:t>presentata</a:t>
            </a:r>
            <a:r>
              <a:rPr sz="1900" dirty="0">
                <a:solidFill>
                  <a:srgbClr val="202020"/>
                </a:solidFill>
              </a:rPr>
              <a:t>;</a:t>
            </a:r>
          </a:p>
          <a:p>
            <a:pPr marL="742950" lvl="1" indent="-285750">
              <a:lnSpc>
                <a:spcPct val="112000"/>
              </a:lnSpc>
              <a:spcBef>
                <a:spcPts val="200"/>
              </a:spcBef>
              <a:spcAft>
                <a:spcPts val="500"/>
              </a:spcAft>
              <a:buFont typeface="Arial" panose="020B0604020202020204" pitchFamily="34" charset="0"/>
              <a:buChar char="•"/>
            </a:pPr>
            <a:r>
              <a:rPr sz="1600" dirty="0">
                <a:solidFill>
                  <a:srgbClr val="595959"/>
                </a:solidFill>
              </a:rPr>
              <a:t>a </a:t>
            </a:r>
            <a:r>
              <a:rPr sz="1600" dirty="0" err="1">
                <a:solidFill>
                  <a:srgbClr val="595959"/>
                </a:solidFill>
              </a:rPr>
              <a:t>sfavore</a:t>
            </a:r>
            <a:r>
              <a:rPr sz="1600" dirty="0">
                <a:solidFill>
                  <a:srgbClr val="595959"/>
                </a:solidFill>
              </a:rPr>
              <a:t>: </a:t>
            </a:r>
            <a:r>
              <a:rPr sz="1600" dirty="0" err="1">
                <a:solidFill>
                  <a:srgbClr val="595959"/>
                </a:solidFill>
              </a:rPr>
              <a:t>entro</a:t>
            </a:r>
            <a:r>
              <a:rPr sz="1600" dirty="0">
                <a:solidFill>
                  <a:srgbClr val="595959"/>
                </a:solidFill>
              </a:rPr>
              <a:t> </a:t>
            </a:r>
            <a:r>
              <a:rPr sz="1600" dirty="0" err="1">
                <a:solidFill>
                  <a:srgbClr val="595959"/>
                </a:solidFill>
              </a:rPr>
              <a:t>i</a:t>
            </a:r>
            <a:r>
              <a:rPr sz="1600" dirty="0">
                <a:solidFill>
                  <a:srgbClr val="595959"/>
                </a:solidFill>
              </a:rPr>
              <a:t> termini di </a:t>
            </a:r>
            <a:r>
              <a:rPr sz="1600" dirty="0" err="1">
                <a:solidFill>
                  <a:srgbClr val="595959"/>
                </a:solidFill>
              </a:rPr>
              <a:t>decadenza</a:t>
            </a:r>
            <a:r>
              <a:rPr sz="1600" dirty="0">
                <a:solidFill>
                  <a:srgbClr val="595959"/>
                </a:solidFill>
              </a:rPr>
              <a:t> </a:t>
            </a:r>
            <a:r>
              <a:rPr sz="1600" dirty="0" err="1">
                <a:solidFill>
                  <a:srgbClr val="595959"/>
                </a:solidFill>
              </a:rPr>
              <a:t>dell'accertamento</a:t>
            </a:r>
            <a:r>
              <a:rPr sz="1600" dirty="0">
                <a:solidFill>
                  <a:srgbClr val="595959"/>
                </a:solidFill>
              </a:rPr>
              <a:t>;</a:t>
            </a:r>
          </a:p>
          <a:p>
            <a:pPr marL="742950" lvl="1" indent="-285750">
              <a:lnSpc>
                <a:spcPct val="112000"/>
              </a:lnSpc>
              <a:spcBef>
                <a:spcPts val="200"/>
              </a:spcBef>
              <a:spcAft>
                <a:spcPts val="500"/>
              </a:spcAft>
              <a:buFont typeface="Arial" panose="020B0604020202020204" pitchFamily="34" charset="0"/>
              <a:buChar char="•"/>
            </a:pPr>
            <a:r>
              <a:rPr sz="1600" dirty="0">
                <a:solidFill>
                  <a:srgbClr val="595959"/>
                </a:solidFill>
              </a:rPr>
              <a:t>a </a:t>
            </a:r>
            <a:r>
              <a:rPr sz="1600" dirty="0" err="1">
                <a:solidFill>
                  <a:srgbClr val="595959"/>
                </a:solidFill>
              </a:rPr>
              <a:t>favore</a:t>
            </a:r>
            <a:r>
              <a:rPr sz="1600" dirty="0">
                <a:solidFill>
                  <a:srgbClr val="595959"/>
                </a:solidFill>
              </a:rPr>
              <a:t>: </a:t>
            </a:r>
            <a:r>
              <a:rPr sz="1600" dirty="0" err="1">
                <a:solidFill>
                  <a:srgbClr val="595959"/>
                </a:solidFill>
              </a:rPr>
              <a:t>entro</a:t>
            </a:r>
            <a:r>
              <a:rPr sz="1600" dirty="0">
                <a:solidFill>
                  <a:srgbClr val="595959"/>
                </a:solidFill>
              </a:rPr>
              <a:t> la </a:t>
            </a:r>
            <a:r>
              <a:rPr sz="1600" dirty="0" err="1">
                <a:solidFill>
                  <a:srgbClr val="595959"/>
                </a:solidFill>
              </a:rPr>
              <a:t>dichiarazione</a:t>
            </a:r>
            <a:r>
              <a:rPr sz="1600" dirty="0">
                <a:solidFill>
                  <a:srgbClr val="595959"/>
                </a:solidFill>
              </a:rPr>
              <a:t> del quinto anno </a:t>
            </a:r>
            <a:r>
              <a:rPr sz="1600" dirty="0" err="1">
                <a:solidFill>
                  <a:srgbClr val="595959"/>
                </a:solidFill>
              </a:rPr>
              <a:t>successivo</a:t>
            </a:r>
            <a:r>
              <a:rPr sz="1600" dirty="0">
                <a:solidFill>
                  <a:srgbClr val="595959"/>
                </a:solidFill>
              </a:rPr>
              <a:t>;</a:t>
            </a:r>
          </a:p>
          <a:p>
            <a:pPr marL="742950" lvl="1" indent="-285750">
              <a:lnSpc>
                <a:spcPct val="112000"/>
              </a:lnSpc>
              <a:spcBef>
                <a:spcPts val="200"/>
              </a:spcBef>
              <a:spcAft>
                <a:spcPts val="500"/>
              </a:spcAft>
              <a:buFont typeface="Arial" panose="020B0604020202020204" pitchFamily="34" charset="0"/>
              <a:buChar char="•"/>
            </a:pPr>
            <a:r>
              <a:rPr sz="1600" dirty="0">
                <a:solidFill>
                  <a:srgbClr val="595959"/>
                </a:solidFill>
              </a:rPr>
              <a:t>per </a:t>
            </a:r>
            <a:r>
              <a:rPr sz="1600" dirty="0" err="1">
                <a:solidFill>
                  <a:srgbClr val="595959"/>
                </a:solidFill>
              </a:rPr>
              <a:t>errori</a:t>
            </a:r>
            <a:r>
              <a:rPr sz="1600" dirty="0">
                <a:solidFill>
                  <a:srgbClr val="595959"/>
                </a:solidFill>
              </a:rPr>
              <a:t> non </a:t>
            </a:r>
            <a:r>
              <a:rPr sz="1600" dirty="0" err="1">
                <a:solidFill>
                  <a:srgbClr val="595959"/>
                </a:solidFill>
              </a:rPr>
              <a:t>incidenti</a:t>
            </a:r>
            <a:r>
              <a:rPr sz="1600" dirty="0">
                <a:solidFill>
                  <a:srgbClr val="595959"/>
                </a:solidFill>
              </a:rPr>
              <a:t> </a:t>
            </a:r>
            <a:r>
              <a:rPr sz="1600" dirty="0" err="1">
                <a:solidFill>
                  <a:srgbClr val="595959"/>
                </a:solidFill>
              </a:rPr>
              <a:t>su</a:t>
            </a:r>
            <a:r>
              <a:rPr sz="1600" dirty="0">
                <a:solidFill>
                  <a:srgbClr val="595959"/>
                </a:solidFill>
              </a:rPr>
              <a:t> base </a:t>
            </a:r>
            <a:r>
              <a:rPr sz="1600" dirty="0" err="1">
                <a:solidFill>
                  <a:srgbClr val="595959"/>
                </a:solidFill>
              </a:rPr>
              <a:t>imponibile</a:t>
            </a:r>
            <a:r>
              <a:rPr sz="1600" dirty="0">
                <a:solidFill>
                  <a:srgbClr val="595959"/>
                </a:solidFill>
              </a:rPr>
              <a:t>/</a:t>
            </a:r>
            <a:r>
              <a:rPr sz="1600" dirty="0" err="1">
                <a:solidFill>
                  <a:srgbClr val="595959"/>
                </a:solidFill>
              </a:rPr>
              <a:t>imposta</a:t>
            </a:r>
            <a:r>
              <a:rPr sz="1600" dirty="0">
                <a:solidFill>
                  <a:srgbClr val="595959"/>
                </a:solidFill>
              </a:rPr>
              <a:t>/</a:t>
            </a:r>
            <a:r>
              <a:rPr sz="1600" dirty="0" err="1">
                <a:solidFill>
                  <a:srgbClr val="595959"/>
                </a:solidFill>
              </a:rPr>
              <a:t>versamento</a:t>
            </a:r>
            <a:r>
              <a:rPr sz="1600" dirty="0">
                <a:solidFill>
                  <a:srgbClr val="595959"/>
                </a:solidFill>
              </a:rPr>
              <a:t>.</a:t>
            </a:r>
          </a:p>
        </p:txBody>
      </p:sp>
      <p:sp>
        <p:nvSpPr>
          <p:cNvPr id="382"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rettifica</a:t>
            </a:r>
            <a:endParaRPr lang="it-IT" sz="2800" spc="-1" noProof="1"/>
          </a:p>
        </p:txBody>
      </p:sp>
      <p:sp>
        <p:nvSpPr>
          <p:cNvPr id="383" name="TextBox 382"/>
          <p:cNvSpPr txBox="1"/>
          <p:nvPr/>
        </p:nvSpPr>
        <p:spPr>
          <a:xfrm>
            <a:off x="8321040" y="6446520"/>
            <a:ext cx="640080" cy="320040"/>
          </a:xfrm>
          <a:prstGeom prst="rect">
            <a:avLst/>
          </a:prstGeom>
          <a:noFill/>
        </p:spPr>
        <p:txBody>
          <a:bodyPr wrap="none">
            <a:spAutoFit/>
          </a:bodyPr>
          <a:lstStyle/>
          <a:p>
            <a:pPr algn="r"/>
            <a:r>
              <a:rPr sz="1000">
                <a:solidFill>
                  <a:srgbClr val="595959"/>
                </a:solidFill>
              </a:rPr>
              <a:t>80</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CustomShape 1"/>
          <p:cNvSpPr/>
          <p:nvPr/>
        </p:nvSpPr>
        <p:spPr>
          <a:xfrm>
            <a:off x="640080" y="1417320"/>
            <a:ext cx="7955279" cy="4572000"/>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nchor="ctr"/>
          <a:lstStyle/>
          <a:p>
            <a:pPr marL="342900" indent="-342900" algn="just" fontAlgn="auto">
              <a:lnSpc>
                <a:spcPct val="112000"/>
              </a:lnSpc>
              <a:spcBef>
                <a:spcPts val="200"/>
              </a:spcBef>
              <a:spcAft>
                <a:spcPts val="1200"/>
              </a:spcAft>
              <a:buFont typeface="Arial" panose="020B0604020202020204" pitchFamily="34" charset="0"/>
              <a:buChar char="•"/>
            </a:pPr>
            <a:r>
              <a:rPr sz="1900" dirty="0" err="1">
                <a:solidFill>
                  <a:srgbClr val="202020"/>
                </a:solidFill>
              </a:rPr>
              <a:t>Integrativa</a:t>
            </a:r>
            <a:r>
              <a:rPr sz="1900" dirty="0">
                <a:solidFill>
                  <a:srgbClr val="202020"/>
                </a:solidFill>
              </a:rPr>
              <a:t> «a </a:t>
            </a:r>
            <a:r>
              <a:rPr sz="1900" dirty="0" err="1">
                <a:solidFill>
                  <a:srgbClr val="202020"/>
                </a:solidFill>
              </a:rPr>
              <a:t>sfavore</a:t>
            </a:r>
            <a:r>
              <a:rPr sz="1900" dirty="0">
                <a:solidFill>
                  <a:srgbClr val="202020"/>
                </a:solidFill>
              </a:rPr>
              <a:t>» (</a:t>
            </a:r>
            <a:r>
              <a:rPr sz="1900" dirty="0" err="1">
                <a:solidFill>
                  <a:srgbClr val="202020"/>
                </a:solidFill>
              </a:rPr>
              <a:t>maggior</a:t>
            </a:r>
            <a:r>
              <a:rPr sz="1900" dirty="0">
                <a:solidFill>
                  <a:srgbClr val="202020"/>
                </a:solidFill>
              </a:rPr>
              <a:t> </a:t>
            </a:r>
            <a:r>
              <a:rPr sz="1900" dirty="0" err="1">
                <a:solidFill>
                  <a:srgbClr val="202020"/>
                </a:solidFill>
              </a:rPr>
              <a:t>debito</a:t>
            </a:r>
            <a:r>
              <a:rPr sz="1900" dirty="0">
                <a:solidFill>
                  <a:srgbClr val="202020"/>
                </a:solidFill>
              </a:rPr>
              <a:t>/minor </a:t>
            </a:r>
            <a:r>
              <a:rPr sz="1900" dirty="0" err="1">
                <a:solidFill>
                  <a:srgbClr val="202020"/>
                </a:solidFill>
              </a:rPr>
              <a:t>credito</a:t>
            </a:r>
            <a:r>
              <a:rPr sz="1900" dirty="0">
                <a:solidFill>
                  <a:srgbClr val="202020"/>
                </a:solidFill>
              </a:rPr>
              <a:t>): </a:t>
            </a:r>
            <a:r>
              <a:rPr sz="1900" dirty="0" err="1">
                <a:solidFill>
                  <a:srgbClr val="202020"/>
                </a:solidFill>
              </a:rPr>
              <a:t>entro</a:t>
            </a:r>
            <a:r>
              <a:rPr sz="1900" dirty="0">
                <a:solidFill>
                  <a:srgbClr val="202020"/>
                </a:solidFill>
              </a:rPr>
              <a:t> </a:t>
            </a:r>
            <a:r>
              <a:rPr sz="1900" dirty="0" err="1">
                <a:solidFill>
                  <a:srgbClr val="202020"/>
                </a:solidFill>
              </a:rPr>
              <a:t>i</a:t>
            </a:r>
            <a:r>
              <a:rPr sz="1900" dirty="0">
                <a:solidFill>
                  <a:srgbClr val="202020"/>
                </a:solidFill>
              </a:rPr>
              <a:t> termini di </a:t>
            </a:r>
            <a:r>
              <a:rPr sz="1900" dirty="0" err="1">
                <a:solidFill>
                  <a:srgbClr val="202020"/>
                </a:solidFill>
              </a:rPr>
              <a:t>decadenza</a:t>
            </a:r>
            <a:r>
              <a:rPr sz="1900" dirty="0">
                <a:solidFill>
                  <a:srgbClr val="202020"/>
                </a:solidFill>
              </a:rPr>
              <a:t> </a:t>
            </a:r>
            <a:r>
              <a:rPr sz="1900" dirty="0" err="1">
                <a:solidFill>
                  <a:srgbClr val="202020"/>
                </a:solidFill>
              </a:rPr>
              <a:t>dell'accertamento</a:t>
            </a:r>
            <a:r>
              <a:rPr sz="1900" dirty="0">
                <a:solidFill>
                  <a:srgbClr val="202020"/>
                </a:solidFill>
              </a:rPr>
              <a:t>.</a:t>
            </a:r>
          </a:p>
          <a:p>
            <a:pPr marL="342900" indent="-342900">
              <a:lnSpc>
                <a:spcPct val="112000"/>
              </a:lnSpc>
              <a:spcBef>
                <a:spcPts val="200"/>
              </a:spcBef>
              <a:spcAft>
                <a:spcPts val="1200"/>
              </a:spcAft>
              <a:buFont typeface="Arial" panose="020B0604020202020204" pitchFamily="34" charset="0"/>
              <a:buChar char="•"/>
            </a:pPr>
            <a:r>
              <a:rPr sz="1900" dirty="0" err="1">
                <a:solidFill>
                  <a:srgbClr val="202020"/>
                </a:solidFill>
              </a:rPr>
              <a:t>Integrativa</a:t>
            </a:r>
            <a:r>
              <a:rPr sz="1900" dirty="0">
                <a:solidFill>
                  <a:srgbClr val="202020"/>
                </a:solidFill>
              </a:rPr>
              <a:t> «a </a:t>
            </a:r>
            <a:r>
              <a:rPr sz="1900" dirty="0" err="1">
                <a:solidFill>
                  <a:srgbClr val="202020"/>
                </a:solidFill>
              </a:rPr>
              <a:t>favore</a:t>
            </a:r>
            <a:r>
              <a:rPr sz="1900" dirty="0">
                <a:solidFill>
                  <a:srgbClr val="202020"/>
                </a:solidFill>
              </a:rPr>
              <a:t>» (minor </a:t>
            </a:r>
            <a:r>
              <a:rPr sz="1900" dirty="0" err="1">
                <a:solidFill>
                  <a:srgbClr val="202020"/>
                </a:solidFill>
              </a:rPr>
              <a:t>debito</a:t>
            </a:r>
            <a:r>
              <a:rPr sz="1900" dirty="0">
                <a:solidFill>
                  <a:srgbClr val="202020"/>
                </a:solidFill>
              </a:rPr>
              <a:t>/</a:t>
            </a:r>
            <a:r>
              <a:rPr sz="1900" dirty="0" err="1">
                <a:solidFill>
                  <a:srgbClr val="202020"/>
                </a:solidFill>
              </a:rPr>
              <a:t>maggior</a:t>
            </a:r>
            <a:r>
              <a:rPr sz="1900" dirty="0">
                <a:solidFill>
                  <a:srgbClr val="202020"/>
                </a:solidFill>
              </a:rPr>
              <a:t> </a:t>
            </a:r>
            <a:r>
              <a:rPr sz="1900" dirty="0" err="1">
                <a:solidFill>
                  <a:srgbClr val="202020"/>
                </a:solidFill>
              </a:rPr>
              <a:t>credito</a:t>
            </a:r>
            <a:r>
              <a:rPr sz="1900" dirty="0">
                <a:solidFill>
                  <a:srgbClr val="202020"/>
                </a:solidFill>
              </a:rPr>
              <a:t>): </a:t>
            </a:r>
            <a:r>
              <a:rPr sz="1900" dirty="0" err="1">
                <a:solidFill>
                  <a:srgbClr val="202020"/>
                </a:solidFill>
              </a:rPr>
              <a:t>entro</a:t>
            </a:r>
            <a:r>
              <a:rPr sz="1900" dirty="0">
                <a:solidFill>
                  <a:srgbClr val="202020"/>
                </a:solidFill>
              </a:rPr>
              <a:t> la </a:t>
            </a:r>
            <a:r>
              <a:rPr sz="1900" dirty="0" err="1">
                <a:solidFill>
                  <a:srgbClr val="202020"/>
                </a:solidFill>
              </a:rPr>
              <a:t>dichiarazione</a:t>
            </a:r>
            <a:r>
              <a:rPr sz="1900" dirty="0">
                <a:solidFill>
                  <a:srgbClr val="202020"/>
                </a:solidFill>
              </a:rPr>
              <a:t> del quinto anno </a:t>
            </a:r>
            <a:r>
              <a:rPr sz="1900" dirty="0" err="1">
                <a:solidFill>
                  <a:srgbClr val="202020"/>
                </a:solidFill>
              </a:rPr>
              <a:t>successivo</a:t>
            </a:r>
            <a:r>
              <a:rPr sz="1900" dirty="0">
                <a:solidFill>
                  <a:srgbClr val="202020"/>
                </a:solidFill>
              </a:rPr>
              <a:t>.</a:t>
            </a:r>
          </a:p>
          <a:p>
            <a:pPr marL="342900" indent="-342900">
              <a:lnSpc>
                <a:spcPct val="112000"/>
              </a:lnSpc>
              <a:spcBef>
                <a:spcPts val="200"/>
              </a:spcBef>
              <a:spcAft>
                <a:spcPts val="1200"/>
              </a:spcAft>
              <a:buFont typeface="Arial" panose="020B0604020202020204" pitchFamily="34" charset="0"/>
              <a:buChar char="•"/>
            </a:pPr>
            <a:r>
              <a:rPr sz="1900" dirty="0">
                <a:solidFill>
                  <a:srgbClr val="202020"/>
                </a:solidFill>
              </a:rPr>
              <a:t>Uso del </a:t>
            </a:r>
            <a:r>
              <a:rPr sz="1900" dirty="0" err="1">
                <a:solidFill>
                  <a:srgbClr val="202020"/>
                </a:solidFill>
              </a:rPr>
              <a:t>maggior</a:t>
            </a:r>
            <a:r>
              <a:rPr sz="1900" dirty="0">
                <a:solidFill>
                  <a:srgbClr val="202020"/>
                </a:solidFill>
              </a:rPr>
              <a:t> </a:t>
            </a:r>
            <a:r>
              <a:rPr sz="1900" dirty="0" err="1">
                <a:solidFill>
                  <a:srgbClr val="202020"/>
                </a:solidFill>
              </a:rPr>
              <a:t>credito</a:t>
            </a:r>
            <a:r>
              <a:rPr sz="1900" dirty="0">
                <a:solidFill>
                  <a:srgbClr val="202020"/>
                </a:solidFill>
              </a:rPr>
              <a:t> «a </a:t>
            </a:r>
            <a:r>
              <a:rPr sz="1900" dirty="0" err="1">
                <a:solidFill>
                  <a:srgbClr val="202020"/>
                </a:solidFill>
              </a:rPr>
              <a:t>favore</a:t>
            </a:r>
            <a:r>
              <a:rPr sz="1900" dirty="0">
                <a:solidFill>
                  <a:srgbClr val="202020"/>
                </a:solidFill>
              </a:rPr>
              <a:t>»:</a:t>
            </a:r>
          </a:p>
          <a:p>
            <a:pPr marL="742950" lvl="1" indent="-285750">
              <a:lnSpc>
                <a:spcPct val="112000"/>
              </a:lnSpc>
              <a:spcBef>
                <a:spcPts val="200"/>
              </a:spcBef>
              <a:spcAft>
                <a:spcPts val="500"/>
              </a:spcAft>
              <a:buFont typeface="Arial" panose="020B0604020202020204" pitchFamily="34" charset="0"/>
              <a:buChar char="•"/>
            </a:pPr>
            <a:r>
              <a:rPr sz="1600" dirty="0">
                <a:solidFill>
                  <a:srgbClr val="595959"/>
                </a:solidFill>
              </a:rPr>
              <a:t>se </a:t>
            </a:r>
            <a:r>
              <a:rPr sz="1600" dirty="0" err="1">
                <a:solidFill>
                  <a:srgbClr val="595959"/>
                </a:solidFill>
              </a:rPr>
              <a:t>entro</a:t>
            </a:r>
            <a:r>
              <a:rPr sz="1600" dirty="0">
                <a:solidFill>
                  <a:srgbClr val="595959"/>
                </a:solidFill>
              </a:rPr>
              <a:t> il </a:t>
            </a:r>
            <a:r>
              <a:rPr sz="1600" dirty="0" err="1">
                <a:solidFill>
                  <a:srgbClr val="595959"/>
                </a:solidFill>
              </a:rPr>
              <a:t>termine</a:t>
            </a:r>
            <a:r>
              <a:rPr sz="1600" dirty="0">
                <a:solidFill>
                  <a:srgbClr val="595959"/>
                </a:solidFill>
              </a:rPr>
              <a:t> della </a:t>
            </a:r>
            <a:r>
              <a:rPr sz="1600" dirty="0" err="1">
                <a:solidFill>
                  <a:srgbClr val="595959"/>
                </a:solidFill>
              </a:rPr>
              <a:t>dichiarazione</a:t>
            </a:r>
            <a:r>
              <a:rPr sz="1600" dirty="0">
                <a:solidFill>
                  <a:srgbClr val="595959"/>
                </a:solidFill>
              </a:rPr>
              <a:t> </a:t>
            </a:r>
            <a:r>
              <a:rPr sz="1600" dirty="0" err="1">
                <a:solidFill>
                  <a:srgbClr val="595959"/>
                </a:solidFill>
              </a:rPr>
              <a:t>dell'anno</a:t>
            </a:r>
            <a:r>
              <a:rPr sz="1600" dirty="0">
                <a:solidFill>
                  <a:srgbClr val="595959"/>
                </a:solidFill>
              </a:rPr>
              <a:t> </a:t>
            </a:r>
            <a:r>
              <a:rPr sz="1600" dirty="0" err="1">
                <a:solidFill>
                  <a:srgbClr val="595959"/>
                </a:solidFill>
              </a:rPr>
              <a:t>successivo</a:t>
            </a:r>
            <a:r>
              <a:rPr sz="1600" dirty="0">
                <a:solidFill>
                  <a:srgbClr val="595959"/>
                </a:solidFill>
              </a:rPr>
              <a:t> → subito in </a:t>
            </a:r>
            <a:r>
              <a:rPr sz="1600" dirty="0" err="1">
                <a:solidFill>
                  <a:srgbClr val="595959"/>
                </a:solidFill>
              </a:rPr>
              <a:t>compensazione</a:t>
            </a:r>
            <a:r>
              <a:rPr sz="1600" dirty="0">
                <a:solidFill>
                  <a:srgbClr val="595959"/>
                </a:solidFill>
              </a:rPr>
              <a:t>/</a:t>
            </a:r>
            <a:r>
              <a:rPr sz="1600" dirty="0" err="1">
                <a:solidFill>
                  <a:srgbClr val="595959"/>
                </a:solidFill>
              </a:rPr>
              <a:t>detrazione</a:t>
            </a:r>
            <a:r>
              <a:rPr sz="1600" dirty="0">
                <a:solidFill>
                  <a:srgbClr val="595959"/>
                </a:solidFill>
              </a:rPr>
              <a:t>;</a:t>
            </a:r>
          </a:p>
          <a:p>
            <a:pPr marL="742950" lvl="1" indent="-285750">
              <a:lnSpc>
                <a:spcPct val="112000"/>
              </a:lnSpc>
              <a:spcBef>
                <a:spcPts val="200"/>
              </a:spcBef>
              <a:spcAft>
                <a:spcPts val="500"/>
              </a:spcAft>
              <a:buFont typeface="Arial" panose="020B0604020202020204" pitchFamily="34" charset="0"/>
              <a:buChar char="•"/>
            </a:pPr>
            <a:r>
              <a:rPr sz="1600" dirty="0">
                <a:solidFill>
                  <a:srgbClr val="595959"/>
                </a:solidFill>
              </a:rPr>
              <a:t>se </a:t>
            </a:r>
            <a:r>
              <a:rPr sz="1600" dirty="0" err="1">
                <a:solidFill>
                  <a:srgbClr val="595959"/>
                </a:solidFill>
              </a:rPr>
              <a:t>oltre</a:t>
            </a:r>
            <a:r>
              <a:rPr sz="1600" dirty="0">
                <a:solidFill>
                  <a:srgbClr val="595959"/>
                </a:solidFill>
              </a:rPr>
              <a:t> → </a:t>
            </a:r>
            <a:r>
              <a:rPr sz="1600" dirty="0" err="1">
                <a:solidFill>
                  <a:srgbClr val="595959"/>
                </a:solidFill>
              </a:rPr>
              <a:t>utilizzo</a:t>
            </a:r>
            <a:r>
              <a:rPr sz="1600" dirty="0">
                <a:solidFill>
                  <a:srgbClr val="595959"/>
                </a:solidFill>
              </a:rPr>
              <a:t> </a:t>
            </a:r>
            <a:r>
              <a:rPr sz="1600" dirty="0" err="1">
                <a:solidFill>
                  <a:srgbClr val="595959"/>
                </a:solidFill>
              </a:rPr>
              <a:t>posticipato</a:t>
            </a:r>
            <a:r>
              <a:rPr sz="1600" dirty="0">
                <a:solidFill>
                  <a:srgbClr val="595959"/>
                </a:solidFill>
              </a:rPr>
              <a:t> (F24 </a:t>
            </a:r>
            <a:r>
              <a:rPr sz="1600" dirty="0" err="1">
                <a:solidFill>
                  <a:srgbClr val="595959"/>
                </a:solidFill>
              </a:rPr>
              <a:t>dall'anno</a:t>
            </a:r>
            <a:r>
              <a:rPr sz="1600" dirty="0">
                <a:solidFill>
                  <a:srgbClr val="595959"/>
                </a:solidFill>
              </a:rPr>
              <a:t> </a:t>
            </a:r>
            <a:r>
              <a:rPr sz="1600" dirty="0" err="1">
                <a:solidFill>
                  <a:srgbClr val="595959"/>
                </a:solidFill>
              </a:rPr>
              <a:t>successivo</a:t>
            </a:r>
            <a:r>
              <a:rPr sz="1600" dirty="0">
                <a:solidFill>
                  <a:srgbClr val="595959"/>
                </a:solidFill>
              </a:rPr>
              <a:t>; o </a:t>
            </a:r>
            <a:r>
              <a:rPr sz="1600" dirty="0" err="1">
                <a:solidFill>
                  <a:srgbClr val="595959"/>
                </a:solidFill>
              </a:rPr>
              <a:t>rimborso</a:t>
            </a:r>
            <a:r>
              <a:rPr sz="1600" dirty="0">
                <a:solidFill>
                  <a:srgbClr val="595959"/>
                </a:solidFill>
              </a:rPr>
              <a:t> ex art. 30).</a:t>
            </a:r>
          </a:p>
        </p:txBody>
      </p:sp>
      <p:sp>
        <p:nvSpPr>
          <p:cNvPr id="384" name="CustomShape 2"/>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integrativa: dopo le modifiche del DL 193/2016</a:t>
            </a:r>
            <a:endParaRPr lang="it-IT" sz="2800" spc="-1" noProof="1"/>
          </a:p>
        </p:txBody>
      </p:sp>
      <p:sp>
        <p:nvSpPr>
          <p:cNvPr id="385" name="TextBox 384"/>
          <p:cNvSpPr txBox="1"/>
          <p:nvPr/>
        </p:nvSpPr>
        <p:spPr>
          <a:xfrm>
            <a:off x="8321040" y="6446520"/>
            <a:ext cx="640080" cy="320040"/>
          </a:xfrm>
          <a:prstGeom prst="rect">
            <a:avLst/>
          </a:prstGeom>
          <a:noFill/>
        </p:spPr>
        <p:txBody>
          <a:bodyPr wrap="none">
            <a:spAutoFit/>
          </a:bodyPr>
          <a:lstStyle/>
          <a:p>
            <a:pPr algn="r"/>
            <a:r>
              <a:rPr sz="1000">
                <a:solidFill>
                  <a:srgbClr val="595959"/>
                </a:solidFill>
              </a:rPr>
              <a:t>81</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CustomShape 1"/>
          <p:cNvSpPr/>
          <p:nvPr/>
        </p:nvSpPr>
        <p:spPr>
          <a:xfrm>
            <a:off x="827088" y="1771650"/>
            <a:ext cx="7415212" cy="3186113"/>
          </a:xfrm>
          <a:prstGeom prst="rect">
            <a:avLst/>
          </a:prstGeom>
          <a:noFill/>
          <a:ln>
            <a:noFill/>
          </a:ln>
        </p:spPr>
        <p:style>
          <a:lnRef idx="0">
            <a:scrgbClr r="0" g="0" b="0"/>
          </a:lnRef>
          <a:fillRef idx="0">
            <a:scrgbClr r="0" g="0" b="0"/>
          </a:fillRef>
          <a:effectRef idx="0">
            <a:scrgbClr r="0" g="0" b="0"/>
          </a:effectRef>
          <a:fontRef idx="minor"/>
        </p:style>
        <p:txBody>
          <a:bodyPr lIns="38160" tIns="38160" rIns="38160" bIns="38160" anchorCtr="1"/>
          <a:lstStyle/>
          <a:p>
            <a:pPr algn="ctr" fontAlgn="auto"/>
            <a:endParaRPr lang="it-IT" spc="-1" noProof="1"/>
          </a:p>
          <a:p>
            <a:pPr algn="ctr" fontAlgn="auto"/>
            <a:endParaRPr lang="it-IT" spc="-1" noProof="1"/>
          </a:p>
          <a:p>
            <a:pPr algn="ctr" fontAlgn="auto"/>
            <a:r>
              <a:rPr lang="it-IT" sz="4400" b="1" spc="-1" noProof="1">
                <a:solidFill>
                  <a:srgbClr val="336699"/>
                </a:solidFill>
                <a:latin typeface="Tahoma"/>
                <a:ea typeface="Tahoma"/>
              </a:rPr>
              <a:t>Altri regimi</a:t>
            </a:r>
            <a:endParaRPr lang="it-IT" sz="4400" spc="-1" noProof="1"/>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CustomShape 1"/>
          <p:cNvSpPr/>
          <p:nvPr/>
        </p:nvSpPr>
        <p:spPr>
          <a:xfrm>
            <a:off x="8578850" y="6550025"/>
            <a:ext cx="34766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87" name="CustomShape 2"/>
          <p:cNvSpPr/>
          <p:nvPr/>
        </p:nvSpPr>
        <p:spPr>
          <a:xfrm>
            <a:off x="504825" y="995363"/>
            <a:ext cx="8226425" cy="5770562"/>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88" name="CustomShape 3"/>
          <p:cNvSpPr/>
          <p:nvPr/>
        </p:nvSpPr>
        <p:spPr>
          <a:xfrm>
            <a:off x="504825" y="1363663"/>
            <a:ext cx="8226425" cy="5041900"/>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285750" indent="-283845" algn="just" fontAlgn="auto">
              <a:buClr>
                <a:srgbClr val="1F497D"/>
              </a:buClr>
              <a:buFont typeface="Wingdings" panose="05000000000000000000" pitchFamily="2" charset="2"/>
              <a:buChar char=""/>
            </a:pPr>
            <a:r>
              <a:rPr lang="it-IT" sz="1600" spc="-1" noProof="1">
                <a:solidFill>
                  <a:srgbClr val="000000"/>
                </a:solidFill>
                <a:latin typeface="Tahoma"/>
              </a:rPr>
              <a:t>Secondo l'art. 35 del DPR 633/72, i soggetti che intraprendono un'attività d'impresa, di arte o professione nel territorio dello Stato, o vi istituiscono una stabile organizzazione, devono darne comunicazione all'Agenzia delle Entrate:	</a:t>
            </a:r>
            <a:endParaRPr lang="it-IT" sz="1600" spc="-1" noProof="1"/>
          </a:p>
          <a:p>
            <a:pPr algn="just" fontAlgn="auto"/>
            <a:endParaRPr lang="it-IT" sz="1600" spc="-1" noProof="1"/>
          </a:p>
          <a:p>
            <a:pPr marL="743585" lvl="1" indent="-284480" algn="just" fontAlgn="auto">
              <a:buClr>
                <a:srgbClr val="1F497D"/>
              </a:buClr>
              <a:buFont typeface="Wingdings" panose="05000000000000000000" pitchFamily="2" charset="2"/>
              <a:buChar char=""/>
            </a:pPr>
            <a:r>
              <a:rPr lang="it-IT" sz="1600" spc="-1" noProof="1">
                <a:solidFill>
                  <a:srgbClr val="000000"/>
                </a:solidFill>
                <a:latin typeface="Tahoma"/>
              </a:rPr>
              <a:t>entro i successivi trenta giorni;</a:t>
            </a:r>
            <a:endParaRPr lang="it-IT" sz="1600" spc="-1" noProof="1"/>
          </a:p>
          <a:p>
            <a:pPr marL="743585" lvl="1" indent="-284480" algn="just" fontAlgn="auto">
              <a:buClr>
                <a:srgbClr val="1F497D"/>
              </a:buClr>
              <a:buFont typeface="Wingdings" panose="05000000000000000000" pitchFamily="2" charset="2"/>
              <a:buChar char=""/>
            </a:pPr>
            <a:r>
              <a:rPr lang="it-IT" sz="1600" spc="-1" noProof="1">
                <a:solidFill>
                  <a:srgbClr val="000000"/>
                </a:solidFill>
                <a:latin typeface="Tahoma"/>
              </a:rPr>
              <a:t>utilizzando gli appositi modelli predisposti dall'Agenzia medesima (ossia i modelli AA9/12, per le persone fisiche, e AA7/10, per i soggetti diversi dalle persone fisiche).</a:t>
            </a:r>
            <a:endParaRPr lang="it-IT" sz="1600" spc="-1" noProof="1"/>
          </a:p>
          <a:p>
            <a:pPr marL="635" algn="just" fontAlgn="auto"/>
            <a:endParaRPr lang="it-IT" sz="1600" spc="-1" noProof="1"/>
          </a:p>
          <a:p>
            <a:pPr marL="285750" indent="-283845" algn="just" fontAlgn="auto">
              <a:buClr>
                <a:srgbClr val="1F497D"/>
              </a:buClr>
              <a:buFont typeface="Wingdings" panose="05000000000000000000" pitchFamily="2" charset="2"/>
              <a:buChar char=""/>
            </a:pPr>
            <a:r>
              <a:rPr lang="it-IT" sz="1600" spc="-1" noProof="1">
                <a:solidFill>
                  <a:srgbClr val="000000"/>
                </a:solidFill>
                <a:latin typeface="Tahoma"/>
              </a:rPr>
              <a:t>I soggetti diversi dalle persone fisiche non obbligati alla presentazione della dichiarazione di inizio attività IVA (ad esempio, enti, associazioni che non esercitano alcuna attività rilevante ai fini IVA) devono presentare il modello AA5/6 per richiedere l'attribuzione del numero di codice fiscale, nonché per comunicare l'avvenuta estinzione, fusione, trasformazione.</a:t>
            </a:r>
            <a:endParaRPr lang="it-IT" sz="1600" spc="-1" noProof="1"/>
          </a:p>
          <a:p>
            <a:pPr fontAlgn="auto"/>
            <a:endParaRPr lang="it-IT" sz="1600" spc="-1" noProof="1"/>
          </a:p>
          <a:p>
            <a:pPr fontAlgn="auto"/>
            <a:endParaRPr lang="it-IT" sz="1600" spc="-1" noProof="1"/>
          </a:p>
          <a:p>
            <a:pPr marL="635" fontAlgn="auto"/>
            <a:r>
              <a:rPr lang="it-IT" sz="1600" spc="-1" noProof="1">
                <a:solidFill>
                  <a:srgbClr val="000000"/>
                </a:solidFill>
                <a:latin typeface="Tahoma"/>
              </a:rPr>
              <a:t>	</a:t>
            </a:r>
            <a:endParaRPr lang="it-IT" sz="1600" spc="-1" noProof="1"/>
          </a:p>
          <a:p>
            <a:pPr marL="635" fontAlgn="auto"/>
            <a:r>
              <a:rPr lang="it-IT" sz="1600" spc="-1" noProof="1">
                <a:solidFill>
                  <a:srgbClr val="000000"/>
                </a:solidFill>
                <a:latin typeface="Tahoma"/>
              </a:rPr>
              <a:t>          IL MODELLO CONTIENE:</a:t>
            </a:r>
            <a:endParaRPr lang="it-IT" sz="1600" spc="-1" noProof="1"/>
          </a:p>
          <a:p>
            <a:pPr marL="635" fontAlgn="auto"/>
            <a:endParaRPr lang="it-IT" sz="1600" spc="-1" noProof="1"/>
          </a:p>
        </p:txBody>
      </p:sp>
      <p:sp>
        <p:nvSpPr>
          <p:cNvPr id="389" name="CustomShape 4"/>
          <p:cNvSpPr/>
          <p:nvPr/>
        </p:nvSpPr>
        <p:spPr>
          <a:xfrm>
            <a:off x="4222750" y="4699000"/>
            <a:ext cx="4508500" cy="1604963"/>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fontAlgn="auto"/>
            <a:endParaRPr lang="it-IT" spc="-1" noProof="1"/>
          </a:p>
          <a:p>
            <a:pPr fontAlgn="auto"/>
            <a:r>
              <a:rPr lang="it-IT" sz="1400" spc="-1" noProof="1">
                <a:solidFill>
                  <a:srgbClr val="000000"/>
                </a:solidFill>
                <a:latin typeface="Tahoma"/>
                <a:ea typeface="Tahoma"/>
              </a:rPr>
              <a:t>- Generalità</a:t>
            </a:r>
            <a:endParaRPr lang="it-IT" sz="1400" spc="-1" noProof="1"/>
          </a:p>
          <a:p>
            <a:pPr fontAlgn="auto"/>
            <a:r>
              <a:rPr lang="it-IT" sz="1400" spc="-1" noProof="1">
                <a:solidFill>
                  <a:srgbClr val="000000"/>
                </a:solidFill>
                <a:latin typeface="Tahoma"/>
                <a:ea typeface="Tahoma"/>
              </a:rPr>
              <a:t>- Residenza</a:t>
            </a:r>
            <a:endParaRPr lang="it-IT" sz="1400" spc="-1" noProof="1"/>
          </a:p>
          <a:p>
            <a:pPr fontAlgn="auto"/>
            <a:r>
              <a:rPr lang="it-IT" sz="1400" spc="-1" noProof="1">
                <a:solidFill>
                  <a:srgbClr val="000000"/>
                </a:solidFill>
                <a:latin typeface="Tahoma"/>
                <a:ea typeface="Tahoma"/>
              </a:rPr>
              <a:t>- Domicilio fiscale</a:t>
            </a:r>
            <a:endParaRPr lang="it-IT" sz="1400" spc="-1" noProof="1"/>
          </a:p>
          <a:p>
            <a:pPr fontAlgn="auto"/>
            <a:r>
              <a:rPr lang="it-IT" sz="1400" spc="-1" noProof="1">
                <a:solidFill>
                  <a:srgbClr val="000000"/>
                </a:solidFill>
                <a:latin typeface="Tahoma"/>
                <a:ea typeface="Tahoma"/>
              </a:rPr>
              <a:t>- Natura giuridica</a:t>
            </a:r>
            <a:endParaRPr lang="it-IT" sz="1400" spc="-1" noProof="1"/>
          </a:p>
          <a:p>
            <a:pPr fontAlgn="auto"/>
            <a:r>
              <a:rPr lang="it-IT" sz="1400" spc="-1" noProof="1">
                <a:solidFill>
                  <a:srgbClr val="000000"/>
                </a:solidFill>
                <a:latin typeface="Tahoma"/>
                <a:ea typeface="Tahoma"/>
              </a:rPr>
              <a:t>- Denominazione</a:t>
            </a:r>
            <a:endParaRPr lang="it-IT" sz="1400" spc="-1" noProof="1"/>
          </a:p>
          <a:p>
            <a:pPr fontAlgn="auto"/>
            <a:r>
              <a:rPr lang="it-IT" sz="1400" spc="-1" noProof="1">
                <a:solidFill>
                  <a:srgbClr val="000000"/>
                </a:solidFill>
                <a:latin typeface="Tahoma"/>
                <a:ea typeface="Tahoma"/>
              </a:rPr>
              <a:t>- Tipo ed oggetto della attività</a:t>
            </a:r>
            <a:endParaRPr lang="it-IT" sz="1400" spc="-1" noProof="1"/>
          </a:p>
          <a:p>
            <a:pPr fontAlgn="auto"/>
            <a:r>
              <a:rPr lang="it-IT" sz="1400" spc="-1" noProof="1">
                <a:solidFill>
                  <a:srgbClr val="000000"/>
                </a:solidFill>
                <a:latin typeface="Tahoma"/>
                <a:ea typeface="Tahoma"/>
              </a:rPr>
              <a:t>- Luogo di conservazione delle scritture contabili (ecc.)</a:t>
            </a:r>
            <a:endParaRPr lang="it-IT" sz="1400" spc="-1" noProof="1"/>
          </a:p>
          <a:p>
            <a:pPr fontAlgn="auto"/>
            <a:endParaRPr lang="it-IT" sz="1400" spc="-1" noProof="1"/>
          </a:p>
        </p:txBody>
      </p:sp>
      <p:sp>
        <p:nvSpPr>
          <p:cNvPr id="390"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Dichiarazione inizio attività</a:t>
            </a:r>
            <a:endParaRPr lang="it-IT" sz="2800" spc="-1" noProof="1"/>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CustomShape 1"/>
          <p:cNvSpPr/>
          <p:nvPr/>
        </p:nvSpPr>
        <p:spPr>
          <a:xfrm>
            <a:off x="8578850" y="6550025"/>
            <a:ext cx="347663" cy="252413"/>
          </a:xfrm>
          <a:prstGeom prst="rect">
            <a:avLst/>
          </a:prstGeom>
          <a:noFill/>
          <a:ln>
            <a:noFill/>
          </a:ln>
        </p:spPr>
        <p:style>
          <a:lnRef idx="0">
            <a:scrgbClr r="0" g="0" b="0"/>
          </a:lnRef>
          <a:fillRef idx="0">
            <a:scrgbClr r="0" g="0" b="0"/>
          </a:fillRef>
          <a:effectRef idx="0">
            <a:scrgbClr r="0" g="0" b="0"/>
          </a:effectRef>
          <a:fontRef idx="minor"/>
        </p:style>
        <p:txBody>
          <a:bodyPr/>
          <a:lstStyle/>
          <a:p>
            <a:endParaRPr lang="it-IT"/>
          </a:p>
        </p:txBody>
      </p:sp>
      <p:sp>
        <p:nvSpPr>
          <p:cNvPr id="392" name="CustomShape 2"/>
          <p:cNvSpPr/>
          <p:nvPr/>
        </p:nvSpPr>
        <p:spPr>
          <a:xfrm>
            <a:off x="504825" y="995363"/>
            <a:ext cx="8226425" cy="5770562"/>
          </a:xfrm>
          <a:prstGeom prst="rect">
            <a:avLst/>
          </a:prstGeom>
          <a:noFill/>
          <a:ln w="25560">
            <a:noFill/>
          </a:ln>
        </p:spPr>
        <p:style>
          <a:lnRef idx="0">
            <a:scrgbClr r="0" g="0" b="0"/>
          </a:lnRef>
          <a:fillRef idx="0">
            <a:scrgbClr r="0" g="0" b="0"/>
          </a:fillRef>
          <a:effectRef idx="0">
            <a:scrgbClr r="0" g="0" b="0"/>
          </a:effectRef>
          <a:fontRef idx="minor"/>
        </p:style>
        <p:txBody>
          <a:bodyPr/>
          <a:lstStyle/>
          <a:p>
            <a:endParaRPr lang="it-IT"/>
          </a:p>
        </p:txBody>
      </p:sp>
      <p:sp>
        <p:nvSpPr>
          <p:cNvPr id="393" name="CustomShape 3"/>
          <p:cNvSpPr/>
          <p:nvPr/>
        </p:nvSpPr>
        <p:spPr>
          <a:xfrm>
            <a:off x="349250" y="1444625"/>
            <a:ext cx="8228013" cy="5411788"/>
          </a:xfrm>
          <a:prstGeom prst="rect">
            <a:avLst/>
          </a:prstGeom>
          <a:noFill/>
          <a:ln w="25560">
            <a:noFill/>
          </a:ln>
        </p:spPr>
        <p:style>
          <a:lnRef idx="0">
            <a:scrgbClr r="0" g="0" b="0"/>
          </a:lnRef>
          <a:fillRef idx="0">
            <a:scrgbClr r="0" g="0" b="0"/>
          </a:fillRef>
          <a:effectRef idx="0">
            <a:scrgbClr r="0" g="0" b="0"/>
          </a:effectRef>
          <a:fontRef idx="minor"/>
        </p:style>
        <p:txBody>
          <a:bodyPr lIns="0" tIns="0" rIns="0" bIns="0"/>
          <a:lstStyle/>
          <a:p>
            <a:pPr marL="635" fontAlgn="auto"/>
            <a:endParaRPr lang="it-IT" spc="-1" noProof="1"/>
          </a:p>
          <a:p>
            <a:pPr marL="285750" lvl="1" indent="-283845" fontAlgn="auto">
              <a:buClr>
                <a:srgbClr val="1F497D"/>
              </a:buClr>
              <a:buFont typeface="Wingdings" panose="05000000000000000000" pitchFamily="2" charset="2"/>
              <a:buChar char=""/>
            </a:pPr>
            <a:r>
              <a:rPr lang="it-IT" sz="1600" spc="-1" noProof="1">
                <a:solidFill>
                  <a:srgbClr val="000000"/>
                </a:solidFill>
                <a:latin typeface="Tahoma"/>
              </a:rPr>
              <a:t>Gli obblighi formali cui sono tenuti i soggetti passivi dell’ IVA variano in funzione del volume di affari.</a:t>
            </a:r>
            <a:endParaRPr lang="it-IT" sz="1600" spc="-1" noProof="1"/>
          </a:p>
          <a:p>
            <a:pPr marL="4572000" fontAlgn="auto"/>
            <a:endParaRPr lang="it-IT" sz="1600" spc="-1" noProof="1"/>
          </a:p>
          <a:p>
            <a:pPr marL="4572000" fontAlgn="auto"/>
            <a:endParaRPr lang="it-IT" sz="1600" spc="-1" noProof="1"/>
          </a:p>
          <a:p>
            <a:pPr marL="3494405" fontAlgn="auto"/>
            <a:r>
              <a:rPr lang="it-IT" sz="1600" spc="-1" noProof="1">
                <a:solidFill>
                  <a:srgbClr val="000000"/>
                </a:solidFill>
                <a:latin typeface="Tahoma"/>
              </a:rPr>
              <a:t>Ammontare complessivo delle cessioni di beni e delle prestazioni di servizi che rientrano nel campo di applicazione del tributo effettuate nel corso dell’anno solare.</a:t>
            </a:r>
            <a:endParaRPr lang="it-IT" sz="1600" spc="-1" noProof="1"/>
          </a:p>
          <a:p>
            <a:pPr marL="3494405" fontAlgn="auto"/>
            <a:endParaRPr lang="it-IT" sz="1600" spc="-1" noProof="1"/>
          </a:p>
          <a:p>
            <a:pPr marL="215900" indent="-214630" fontAlgn="auto">
              <a:buClr>
                <a:srgbClr val="1F497D"/>
              </a:buClr>
              <a:buFont typeface="Wingdings" panose="05000000000000000000" pitchFamily="2" charset="2"/>
              <a:buChar char=""/>
            </a:pPr>
            <a:r>
              <a:rPr lang="it-IT" sz="1400" spc="-1" noProof="1">
                <a:solidFill>
                  <a:srgbClr val="000000"/>
                </a:solidFill>
                <a:latin typeface="Tahoma"/>
              </a:rPr>
              <a:t>Operazioni imponibili (artt. 2 e 3);</a:t>
            </a:r>
            <a:endParaRPr lang="it-IT" sz="1400" spc="-1" noProof="1"/>
          </a:p>
          <a:p>
            <a:pPr marL="215900" indent="-214630" fontAlgn="auto">
              <a:buClr>
                <a:srgbClr val="1F497D"/>
              </a:buClr>
              <a:buFont typeface="Wingdings" panose="05000000000000000000" pitchFamily="2" charset="2"/>
              <a:buChar char=""/>
            </a:pPr>
            <a:r>
              <a:rPr lang="it-IT" sz="1400" spc="-1" noProof="1">
                <a:solidFill>
                  <a:srgbClr val="000000"/>
                </a:solidFill>
                <a:latin typeface="Tahoma"/>
              </a:rPr>
              <a:t>Non imponibili (artt. 8, 8-bis, 9, 38-quater, 71 e 72 del D.P.R. 633/1972, art. 41 D.L. 331/1993;</a:t>
            </a:r>
            <a:endParaRPr lang="it-IT" sz="1400" spc="-1" noProof="1"/>
          </a:p>
          <a:p>
            <a:pPr marL="215900" indent="-214630" fontAlgn="auto">
              <a:buClr>
                <a:srgbClr val="1F497D"/>
              </a:buClr>
              <a:buFont typeface="Wingdings" panose="05000000000000000000" pitchFamily="2" charset="2"/>
              <a:buChar char=""/>
            </a:pPr>
            <a:r>
              <a:rPr lang="it-IT" sz="1400" spc="-1" noProof="1">
                <a:solidFill>
                  <a:srgbClr val="000000"/>
                </a:solidFill>
                <a:latin typeface="Tahoma"/>
              </a:rPr>
              <a:t>Esenti art. 10;</a:t>
            </a:r>
            <a:endParaRPr lang="it-IT" sz="1400" spc="-1" noProof="1"/>
          </a:p>
          <a:p>
            <a:pPr marL="215900" indent="-214630" fontAlgn="auto">
              <a:buClr>
                <a:srgbClr val="1F497D"/>
              </a:buClr>
              <a:buFont typeface="Wingdings" panose="05000000000000000000" pitchFamily="2" charset="2"/>
              <a:buChar char=""/>
            </a:pPr>
            <a:r>
              <a:rPr lang="it-IT" sz="1400" spc="-1" noProof="1">
                <a:solidFill>
                  <a:srgbClr val="000000"/>
                </a:solidFill>
                <a:latin typeface="Tahoma"/>
              </a:rPr>
              <a:t>Non soggette ad imposta per carenza del requisito della territorialità ai sensi dell’art. 21 comma 6 bis;</a:t>
            </a:r>
            <a:endParaRPr lang="it-IT" sz="1400" spc="-1" noProof="1"/>
          </a:p>
          <a:p>
            <a:pPr marL="215900" indent="-214630" fontAlgn="auto">
              <a:buClr>
                <a:srgbClr val="1F497D"/>
              </a:buClr>
              <a:buFont typeface="Wingdings" panose="05000000000000000000" pitchFamily="2" charset="2"/>
              <a:buChar char=""/>
            </a:pPr>
            <a:r>
              <a:rPr lang="it-IT" sz="1400" spc="-1" noProof="1">
                <a:solidFill>
                  <a:srgbClr val="000000"/>
                </a:solidFill>
                <a:latin typeface="Tahoma"/>
              </a:rPr>
              <a:t>Operazioni inesistente art. 21 comma 7;</a:t>
            </a:r>
            <a:endParaRPr lang="it-IT" sz="1400" spc="-1" noProof="1"/>
          </a:p>
          <a:p>
            <a:pPr marL="215900" indent="-214630" fontAlgn="auto">
              <a:buClr>
                <a:srgbClr val="1F497D"/>
              </a:buClr>
              <a:buFont typeface="Wingdings" panose="05000000000000000000" pitchFamily="2" charset="2"/>
              <a:buChar char=""/>
            </a:pPr>
            <a:r>
              <a:rPr lang="it-IT" sz="1400" spc="-1" noProof="1">
                <a:solidFill>
                  <a:srgbClr val="000000"/>
                </a:solidFill>
                <a:latin typeface="Tahoma"/>
              </a:rPr>
              <a:t>Soggette ad IVA ma senza applicazione dell’imposta;</a:t>
            </a:r>
            <a:endParaRPr lang="it-IT" sz="1400" spc="-1" noProof="1"/>
          </a:p>
          <a:p>
            <a:pPr marL="215900" indent="-214630" fontAlgn="auto">
              <a:buClr>
                <a:srgbClr val="1F497D"/>
              </a:buClr>
              <a:buFont typeface="Wingdings" panose="05000000000000000000" pitchFamily="2" charset="2"/>
              <a:buChar char=""/>
            </a:pPr>
            <a:r>
              <a:rPr lang="it-IT" sz="1400" i="1" spc="-1" noProof="1">
                <a:solidFill>
                  <a:srgbClr val="000000"/>
                </a:solidFill>
                <a:latin typeface="Tahoma"/>
              </a:rPr>
              <a:t>Reverse charge </a:t>
            </a:r>
            <a:r>
              <a:rPr lang="it-IT" sz="1400" spc="-1" noProof="1">
                <a:solidFill>
                  <a:srgbClr val="000000"/>
                </a:solidFill>
                <a:latin typeface="Tahoma"/>
              </a:rPr>
              <a:t>comma 5, 6, 7, 8 e 9 art. 17 del D.P.R. 633/1972.</a:t>
            </a:r>
            <a:endParaRPr lang="it-IT" sz="1400" spc="-1" noProof="1"/>
          </a:p>
        </p:txBody>
      </p:sp>
      <p:sp>
        <p:nvSpPr>
          <p:cNvPr id="394" name="CustomShape 4"/>
          <p:cNvSpPr/>
          <p:nvPr/>
        </p:nvSpPr>
        <p:spPr>
          <a:xfrm>
            <a:off x="720725" y="2787650"/>
            <a:ext cx="2578100" cy="379413"/>
          </a:xfrm>
          <a:prstGeom prst="rect">
            <a:avLst/>
          </a:prstGeom>
          <a:ln>
            <a:solidFill>
              <a:srgbClr val="46AAC4"/>
            </a:solidFill>
            <a:round/>
          </a:ln>
          <a:effectLst>
            <a:outerShdw blurRad="40000" dist="20000" dir="5400000" rotWithShape="0">
              <a:srgbClr val="000000">
                <a:alpha val="38000"/>
              </a:srgbClr>
            </a:outerShdw>
          </a:effectLst>
        </p:spPr>
        <p:style>
          <a:lnRef idx="1">
            <a:schemeClr val="accent5"/>
          </a:lnRef>
          <a:fillRef idx="2">
            <a:schemeClr val="accent5"/>
          </a:fillRef>
          <a:effectRef idx="1">
            <a:schemeClr val="accent5"/>
          </a:effectRef>
          <a:fontRef idx="minor"/>
        </p:style>
        <p:txBody>
          <a:bodyPr lIns="90000" tIns="45000" rIns="90000" bIns="45000" anchor="ctr"/>
          <a:lstStyle/>
          <a:p>
            <a:pPr algn="ctr" fontAlgn="auto"/>
            <a:r>
              <a:rPr lang="it-IT" sz="1400" spc="-1" noProof="1">
                <a:solidFill>
                  <a:srgbClr val="000000"/>
                </a:solidFill>
                <a:latin typeface="Tahoma"/>
                <a:ea typeface="Tahoma"/>
              </a:rPr>
              <a:t>VOLUME D’ AFFARI</a:t>
            </a:r>
            <a:endParaRPr lang="it-IT" sz="1400" spc="-1" noProof="1"/>
          </a:p>
        </p:txBody>
      </p:sp>
      <p:sp>
        <p:nvSpPr>
          <p:cNvPr id="395" name="CustomShape 5"/>
          <p:cNvSpPr/>
          <p:nvPr/>
        </p:nvSpPr>
        <p:spPr>
          <a:xfrm>
            <a:off x="3092450" y="98425"/>
            <a:ext cx="6013450" cy="944563"/>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ctr"/>
          <a:lstStyle/>
          <a:p>
            <a:pPr algn="ctr" fontAlgn="auto"/>
            <a:r>
              <a:rPr lang="it-IT" sz="2800" b="1" spc="-1" noProof="1">
                <a:solidFill>
                  <a:srgbClr val="FFFFFF"/>
                </a:solidFill>
                <a:latin typeface="Ubuntu" panose="020B0604030602030204"/>
              </a:rPr>
              <a:t>Volume d’affari</a:t>
            </a:r>
            <a:endParaRPr lang="it-IT" sz="2800" spc="-1" noProof="1"/>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ipologia xmlns="956cd894-b996-4c11-b5f1-5e0de6e60782" xsi:nil="true"/>
    <lcf76f155ced4ddcb4097134ff3c332f xmlns="956cd894-b996-4c11-b5f1-5e0de6e60782">
      <Terms xmlns="http://schemas.microsoft.com/office/infopath/2007/PartnerControls"/>
    </lcf76f155ced4ddcb4097134ff3c332f>
    <TaxCatchAll xmlns="e6a95ae9-6f37-4005-b57e-bfea1e9f778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1951927D82004E4AAFD54DD5590269AD" ma:contentTypeVersion="21" ma:contentTypeDescription="Creare un nuovo documento." ma:contentTypeScope="" ma:versionID="49a04186c8bf87bbe7b12ef054f878f7">
  <xsd:schema xmlns:xsd="http://www.w3.org/2001/XMLSchema" xmlns:xs="http://www.w3.org/2001/XMLSchema" xmlns:p="http://schemas.microsoft.com/office/2006/metadata/properties" xmlns:ns2="956cd894-b996-4c11-b5f1-5e0de6e60782" xmlns:ns3="e6a95ae9-6f37-4005-b57e-bfea1e9f778e" targetNamespace="http://schemas.microsoft.com/office/2006/metadata/properties" ma:root="true" ma:fieldsID="cc0895b9788b6164bb26ddb9145374ef" ns2:_="" ns3:_="">
    <xsd:import namespace="956cd894-b996-4c11-b5f1-5e0de6e60782"/>
    <xsd:import namespace="e6a95ae9-6f37-4005-b57e-bfea1e9f778e"/>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Tipologia"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6cd894-b996-4c11-b5f1-5e0de6e607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description=""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Tipologia" ma:index="17" nillable="true" ma:displayName="Tipologia" ma:internalName="Tipologia">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indexed="true"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Tag immagine" ma:readOnly="false" ma:fieldId="{5cf76f15-5ced-4ddc-b409-7134ff3c332f}" ma:taxonomyMulti="true" ma:sspId="550eb1d7-83b1-415e-a69d-b2abb21670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a95ae9-6f37-4005-b57e-bfea1e9f778e" elementFormDefault="qualified">
    <xsd:import namespace="http://schemas.microsoft.com/office/2006/documentManagement/types"/>
    <xsd:import namespace="http://schemas.microsoft.com/office/infopath/2007/PartnerControls"/>
    <xsd:element name="SharedWithUsers" ma:index="15"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Condiviso con dettagli" ma:internalName="SharedWithDetails" ma:readOnly="true">
      <xsd:simpleType>
        <xsd:restriction base="dms:Note">
          <xsd:maxLength value="255"/>
        </xsd:restriction>
      </xsd:simpleType>
    </xsd:element>
    <xsd:element name="TaxCatchAll" ma:index="24" nillable="true" ma:displayName="Taxonomy Catch All Column" ma:hidden="true" ma:list="{2423b142-971c-4e80-a347-cc3fe39bc47e}" ma:internalName="TaxCatchAll" ma:showField="CatchAllData" ma:web="e6a95ae9-6f37-4005-b57e-bfea1e9f77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ACC5DF-817F-4AA8-89E7-DF858E413116}">
  <ds:schemaRefs>
    <ds:schemaRef ds:uri="http://schemas.microsoft.com/office/2006/metadata/properties"/>
    <ds:schemaRef ds:uri="http://schemas.microsoft.com/office/infopath/2007/PartnerControls"/>
    <ds:schemaRef ds:uri="956cd894-b996-4c11-b5f1-5e0de6e60782"/>
    <ds:schemaRef ds:uri="e6a95ae9-6f37-4005-b57e-bfea1e9f778e"/>
  </ds:schemaRefs>
</ds:datastoreItem>
</file>

<file path=customXml/itemProps2.xml><?xml version="1.0" encoding="utf-8"?>
<ds:datastoreItem xmlns:ds="http://schemas.openxmlformats.org/officeDocument/2006/customXml" ds:itemID="{DB7EED2F-E963-430D-99E8-C081DB011CE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6cd894-b996-4c11-b5f1-5e0de6e60782"/>
    <ds:schemaRef ds:uri="e6a95ae9-6f37-4005-b57e-bfea1e9f77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33A78F5-9AEC-4886-9929-683BFF2617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667</TotalTime>
  <Words>12073</Words>
  <Application>Microsoft Office PowerPoint</Application>
  <PresentationFormat>Presentazione su schermo (4:3)</PresentationFormat>
  <Paragraphs>1285</Paragraphs>
  <Slides>84</Slides>
  <Notes>46</Notes>
  <HiddenSlides>0</HiddenSlides>
  <MMClips>0</MMClips>
  <ScaleCrop>false</ScaleCrop>
  <HeadingPairs>
    <vt:vector size="6" baseType="variant">
      <vt:variant>
        <vt:lpstr>Caratteri utilizzati</vt:lpstr>
      </vt:variant>
      <vt:variant>
        <vt:i4>9</vt:i4>
      </vt:variant>
      <vt:variant>
        <vt:lpstr>Tema</vt:lpstr>
      </vt:variant>
      <vt:variant>
        <vt:i4>3</vt:i4>
      </vt:variant>
      <vt:variant>
        <vt:lpstr>Titoli diapositive</vt:lpstr>
      </vt:variant>
      <vt:variant>
        <vt:i4>84</vt:i4>
      </vt:variant>
    </vt:vector>
  </HeadingPairs>
  <TitlesOfParts>
    <vt:vector size="96" baseType="lpstr">
      <vt:lpstr>Arial</vt:lpstr>
      <vt:lpstr>Arial,Sans-Serif</vt:lpstr>
      <vt:lpstr>Calibri</vt:lpstr>
      <vt:lpstr>Google Sans Text</vt:lpstr>
      <vt:lpstr>Segoe UI</vt:lpstr>
      <vt:lpstr>Tahoma</vt:lpstr>
      <vt:lpstr>Times New Roman</vt:lpstr>
      <vt:lpstr>Ubuntu</vt:lpstr>
      <vt:lpstr>Wingdings</vt:lpstr>
      <vt:lpstr>Office Theme</vt:lpstr>
      <vt:lpstr>Office Theme</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
  <cp:lastModifiedBy>Luca Bonfanti</cp:lastModifiedBy>
  <cp:revision>454</cp:revision>
  <dcterms:created xsi:type="dcterms:W3CDTF">2023-06-14T10:25:50Z</dcterms:created>
  <dcterms:modified xsi:type="dcterms:W3CDTF">2026-06-26T12:50:23Z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r8>0</vt:r8>
  </property>
  <property fmtid="{D5CDD505-2E9C-101B-9397-08002B2CF9AE}" pid="4" name="HyperlinksChanged">
    <vt:bool>false</vt:bool>
  </property>
  <property fmtid="{D5CDD505-2E9C-101B-9397-08002B2CF9AE}" pid="5" name="LinksUpToDate">
    <vt:bool>false</vt:bool>
  </property>
  <property fmtid="{D5CDD505-2E9C-101B-9397-08002B2CF9AE}" pid="6" name="MMClips">
    <vt:r8>0</vt:r8>
  </property>
  <property fmtid="{D5CDD505-2E9C-101B-9397-08002B2CF9AE}" pid="7" name="Notes">
    <vt:r8>30</vt:r8>
  </property>
  <property fmtid="{D5CDD505-2E9C-101B-9397-08002B2CF9AE}" pid="8" name="PresentationFormat">
    <vt:lpwstr>Presentazione su schermo (4:3)</vt:lpwstr>
  </property>
  <property fmtid="{D5CDD505-2E9C-101B-9397-08002B2CF9AE}" pid="9" name="ScaleCrop">
    <vt:bool>false</vt:bool>
  </property>
  <property fmtid="{D5CDD505-2E9C-101B-9397-08002B2CF9AE}" pid="10" name="ShareDoc">
    <vt:bool>false</vt:bool>
  </property>
  <property fmtid="{D5CDD505-2E9C-101B-9397-08002B2CF9AE}" pid="11" name="Slides">
    <vt:r8>86</vt:r8>
  </property>
  <property fmtid="{D5CDD505-2E9C-101B-9397-08002B2CF9AE}" pid="12" name="KSOProductBuildVer">
    <vt:lpwstr>1033-11.1.0.9505</vt:lpwstr>
  </property>
  <property fmtid="{D5CDD505-2E9C-101B-9397-08002B2CF9AE}" pid="13" name="Order">
    <vt:lpwstr>15400.0000000000</vt:lpwstr>
  </property>
  <property fmtid="{D5CDD505-2E9C-101B-9397-08002B2CF9AE}" pid="14" name="ContentTypeId">
    <vt:lpwstr>0x0101001951927D82004E4AAFD54DD5590269AD</vt:lpwstr>
  </property>
  <property fmtid="{D5CDD505-2E9C-101B-9397-08002B2CF9AE}" pid="15" name="MediaServiceImageTags">
    <vt:lpwstr/>
  </property>
</Properties>
</file>